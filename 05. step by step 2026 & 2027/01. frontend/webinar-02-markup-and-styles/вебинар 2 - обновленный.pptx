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92" r:id="rId4"/>
    <p:sldId id="275" r:id="rId5"/>
    <p:sldId id="276" r:id="rId6"/>
    <p:sldId id="277" r:id="rId7"/>
    <p:sldId id="293" r:id="rId8"/>
    <p:sldId id="297" r:id="rId9"/>
    <p:sldId id="294" r:id="rId10"/>
    <p:sldId id="295" r:id="rId11"/>
    <p:sldId id="296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60" r:id="rId27"/>
    <p:sldId id="274" r:id="rId2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Inter" panose="02000503000000020004" pitchFamily="2" charset="0"/>
      <p:regular r:id="rId35"/>
      <p:bold r:id="rId36"/>
      <p:italic r:id="rId37"/>
      <p:boldItalic r:id="rId38"/>
    </p:embeddedFont>
    <p:embeddedFont>
      <p:font typeface="Inter Medium" panose="02000503000000020004" pitchFamily="2" charset="0"/>
      <p:regular r:id="rId39"/>
      <p:italic r:id="rId40"/>
    </p:embeddedFont>
    <p:embeddedFont>
      <p:font typeface="Montserrat" panose="00000500000000000000" pitchFamily="2" charset="-52"/>
      <p:regular r:id="rId41"/>
      <p:bold r:id="rId42"/>
      <p:italic r:id="rId43"/>
      <p:boldItalic r:id="rId44"/>
    </p:embeddedFont>
    <p:embeddedFont>
      <p:font typeface="Montserrat ExtraBold" panose="00000900000000000000" pitchFamily="2" charset="-52"/>
      <p:bold r:id="rId45"/>
      <p:boldItalic r:id="rId46"/>
    </p:embeddedFont>
    <p:embeddedFont>
      <p:font typeface="Montserrat SemiBold" panose="00000700000000000000" pitchFamily="2" charset="-52"/>
      <p:bold r:id="rId47"/>
      <p:boldItalic r:id="rId48"/>
    </p:embeddedFont>
    <p:embeddedFont>
      <p:font typeface="Proxima Nova" panose="020B0604020202020204" charset="0"/>
      <p:regular r:id="rId49"/>
      <p:bold r:id="rId50"/>
      <p:italic r:id="rId51"/>
      <p:boldItalic r:id="rId52"/>
    </p:embeddedFont>
    <p:embeddedFont>
      <p:font typeface="PT Sans Caption" panose="020B0603020203020204" pitchFamily="34" charset="-52"/>
      <p:regular r:id="rId53"/>
      <p:bold r:id="rId54"/>
    </p:embeddedFont>
    <p:embeddedFont>
      <p:font typeface="Segoe UI Symbol" panose="020B0502040204020203" pitchFamily="34" charset="0"/>
      <p:regular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5">
          <p15:clr>
            <a:srgbClr val="747775"/>
          </p15:clr>
        </p15:guide>
        <p15:guide id="2" pos="723">
          <p15:clr>
            <a:srgbClr val="747775"/>
          </p15:clr>
        </p15:guide>
        <p15:guide id="3" pos="5037">
          <p15:clr>
            <a:srgbClr val="747775"/>
          </p15:clr>
        </p15:guide>
        <p15:guide id="4" pos="1152">
          <p15:clr>
            <a:srgbClr val="747775"/>
          </p15:clr>
        </p15:guide>
        <p15:guide id="5" pos="4608">
          <p15:clr>
            <a:srgbClr val="747775"/>
          </p15:clr>
        </p15:guide>
        <p15:guide id="6" orient="horz" pos="1440">
          <p15:clr>
            <a:srgbClr val="747775"/>
          </p15:clr>
        </p15:guide>
        <p15:guide id="7" orient="horz" pos="1728">
          <p15:clr>
            <a:srgbClr val="747775"/>
          </p15:clr>
        </p15:guide>
        <p15:guide id="8" pos="2808">
          <p15:clr>
            <a:srgbClr val="747775"/>
          </p15:clr>
        </p15:guide>
        <p15:guide id="9" orient="horz" pos="2448">
          <p15:clr>
            <a:srgbClr val="747775"/>
          </p15:clr>
        </p15:guide>
        <p15:guide id="10" orient="horz" pos="2735">
          <p15:clr>
            <a:srgbClr val="747775"/>
          </p15:clr>
        </p15:guide>
        <p15:guide id="11" orient="horz" pos="1080">
          <p15:clr>
            <a:srgbClr val="747775"/>
          </p15:clr>
        </p15:guide>
        <p15:guide id="12" orient="horz" pos="868">
          <p15:clr>
            <a:srgbClr val="747775"/>
          </p15:clr>
        </p15:guide>
        <p15:guide id="13" orient="horz" pos="2391" userDrawn="1">
          <p15:clr>
            <a:srgbClr val="747775"/>
          </p15:clr>
        </p15:guide>
        <p15:guide id="14" pos="288">
          <p15:clr>
            <a:srgbClr val="747775"/>
          </p15:clr>
        </p15:guide>
        <p15:guide id="15" pos="5278">
          <p15:clr>
            <a:srgbClr val="747775"/>
          </p15:clr>
        </p15:guide>
        <p15:guide id="16" pos="5184">
          <p15:clr>
            <a:srgbClr val="747775"/>
          </p15:clr>
        </p15:guide>
        <p15:guide id="17" orient="horz" pos="2304">
          <p15:clr>
            <a:srgbClr val="747775"/>
          </p15:clr>
        </p15:guide>
        <p15:guide id="18" pos="427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F03"/>
    <a:srgbClr val="434343"/>
    <a:srgbClr val="F26101"/>
    <a:srgbClr val="F97316"/>
    <a:srgbClr val="FA9046"/>
    <a:srgbClr val="F88B06"/>
    <a:srgbClr val="FFFFFF"/>
    <a:srgbClr val="FF6102"/>
    <a:srgbClr val="FF600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89" autoAdjust="0"/>
  </p:normalViewPr>
  <p:slideViewPr>
    <p:cSldViewPr snapToGrid="0">
      <p:cViewPr varScale="1">
        <p:scale>
          <a:sx n="89" d="100"/>
          <a:sy n="89" d="100"/>
        </p:scale>
        <p:origin x="948" y="49"/>
      </p:cViewPr>
      <p:guideLst>
        <p:guide orient="horz" pos="145"/>
        <p:guide pos="723"/>
        <p:guide pos="5037"/>
        <p:guide pos="1152"/>
        <p:guide pos="4608"/>
        <p:guide orient="horz" pos="1440"/>
        <p:guide orient="horz" pos="1728"/>
        <p:guide pos="2808"/>
        <p:guide orient="horz" pos="2448"/>
        <p:guide orient="horz" pos="2735"/>
        <p:guide orient="horz" pos="1080"/>
        <p:guide orient="horz" pos="868"/>
        <p:guide orient="horz" pos="2391"/>
        <p:guide pos="288"/>
        <p:guide pos="5278"/>
        <p:guide pos="5184"/>
        <p:guide orient="horz" pos="2304"/>
        <p:guide pos="4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2973" y="7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0" Type="http://schemas.openxmlformats.org/officeDocument/2006/relationships/font" Target="fonts/font20.fntdata"/><Relationship Id="rId55" Type="http://schemas.openxmlformats.org/officeDocument/2006/relationships/font" Target="fonts/font2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3" Type="http://schemas.openxmlformats.org/officeDocument/2006/relationships/font" Target="fonts/font2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2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1.fntdata"/><Relationship Id="rId54" Type="http://schemas.openxmlformats.org/officeDocument/2006/relationships/font" Target="fonts/font2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openxmlformats.org/officeDocument/2006/relationships/font" Target="fonts/font19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52" Type="http://schemas.openxmlformats.org/officeDocument/2006/relationships/font" Target="fonts/font2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A7DFBAC-B63D-5280-65B6-B690638518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34C276-34E3-4752-F41F-A3446FF2C3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7336A-A1AA-4037-A276-A09C8A017BD3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8F3828-288C-03B8-F09E-18B8EFBEC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2E26C3A-FE45-0464-1707-5D99E0D66A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F0CBC-02B0-408E-89CC-D1E0D82861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840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6031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6d0507c3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6d0507c3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d0507c3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6d0507c3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F8C70B8F-B0FF-D376-584D-F24F346B242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>
            <a:extLst>
              <a:ext uri="{FF2B5EF4-FFF2-40B4-BE49-F238E27FC236}">
                <a16:creationId xmlns:a16="http://schemas.microsoft.com/office/drawing/2014/main" id="{D27988DF-5EA2-0147-1D2F-7D331508A08A}"/>
              </a:ext>
            </a:extLst>
          </p:cNvPr>
          <p:cNvSpPr/>
          <p:nvPr userDrawn="1"/>
        </p:nvSpPr>
        <p:spPr>
          <a:xfrm>
            <a:off x="6379159" y="259712"/>
            <a:ext cx="2510249" cy="386122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9;p13">
            <a:extLst>
              <a:ext uri="{FF2B5EF4-FFF2-40B4-BE49-F238E27FC236}">
                <a16:creationId xmlns:a16="http://schemas.microsoft.com/office/drawing/2014/main" id="{A0746FE1-7909-364E-106E-A03CFF905756}"/>
              </a:ext>
            </a:extLst>
          </p:cNvPr>
          <p:cNvSpPr/>
          <p:nvPr userDrawn="1"/>
        </p:nvSpPr>
        <p:spPr>
          <a:xfrm>
            <a:off x="7371081" y="4703888"/>
            <a:ext cx="1518328" cy="2307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Вебинар </a:t>
            </a:r>
            <a:r>
              <a:rPr lang="en-US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2</a:t>
            </a: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  / сл. </a:t>
            </a:r>
            <a:fld id="{D36D2716-0227-4748-B575-C0F681545F9F}" type="slidenum">
              <a:rPr lang="ru-RU" sz="900" b="0" smtClean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‹#›</a:t>
            </a:fld>
            <a:endParaRPr lang="ru-RU" sz="800" b="0">
              <a:solidFill>
                <a:schemeClr val="bg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40F6D521-5D86-6760-69D6-E71DE65F9DE3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7" name="Рисунок 6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9277216-7C7E-E7C1-68E9-2B49D803E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" name="Рисунок 7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8B6CC871-C4C7-BC3A-E4B2-04FB22C86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Рисунок 8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C45FD2B-5227-0D3D-1188-E08C76CFD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9;p13">
            <a:extLst>
              <a:ext uri="{FF2B5EF4-FFF2-40B4-BE49-F238E27FC236}">
                <a16:creationId xmlns:a16="http://schemas.microsoft.com/office/drawing/2014/main" id="{1097012B-1A8E-82B3-5458-F0856BCC8605}"/>
              </a:ext>
            </a:extLst>
          </p:cNvPr>
          <p:cNvSpPr/>
          <p:nvPr userDrawn="1"/>
        </p:nvSpPr>
        <p:spPr>
          <a:xfrm>
            <a:off x="7371081" y="4703888"/>
            <a:ext cx="1518328" cy="2307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Вебинар </a:t>
            </a:r>
            <a:r>
              <a:rPr lang="en-US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2</a:t>
            </a: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  / сл. </a:t>
            </a:r>
            <a:fld id="{D36D2716-0227-4748-B575-C0F681545F9F}" type="slidenum">
              <a:rPr lang="ru-RU" sz="900" b="0" smtClean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lang="ru-RU" sz="800" b="0">
              <a:solidFill>
                <a:schemeClr val="bg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106C148-16DA-11C2-72A6-2DA0FE60F5D4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5" name="Рисунок 4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310B86E-76FD-A323-DB10-4DD1D36E2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Рисунок 5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D4C76F9-53BE-88AC-A08A-6079C4847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" name="Рисунок 6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C4AA954-2B31-6C9A-8DB6-0A9C91B37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58560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358944C-C36B-53B2-E5FE-1A8017A396DF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3" name="Рисунок 2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0689A308-1BDC-8C47-FBF9-706C2D72D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" name="Рисунок 4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9C37A5D0-2C6A-2A78-9DF0-BDA00CE1C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Рисунок 5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DA38D3F9-EBE5-61E2-0F17-68765F661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764802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60" r:id="rId3"/>
    <p:sldLayoutId id="2147483661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CAC3359-0D1C-2648-A3CE-8FD94D6624EC}"/>
              </a:ext>
            </a:extLst>
          </p:cNvPr>
          <p:cNvGrpSpPr/>
          <p:nvPr/>
        </p:nvGrpSpPr>
        <p:grpSpPr>
          <a:xfrm>
            <a:off x="4094651" y="586050"/>
            <a:ext cx="5344770" cy="3994915"/>
            <a:chOff x="3873362" y="383111"/>
            <a:chExt cx="5344770" cy="3994915"/>
          </a:xfrm>
        </p:grpSpPr>
        <p:pic>
          <p:nvPicPr>
            <p:cNvPr id="21" name="Рисунок 20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6B1608C3-64B6-A327-1599-2AAD5398E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0" name="Рисунок 19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AB0EF07-2DC6-D314-2F23-DA864CFB1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" name="Рисунок 18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CBD80F8B-785E-2918-7419-1A8EC472B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4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7" name="Рисунок 16" hidden="1">
            <a:extLst>
              <a:ext uri="{FF2B5EF4-FFF2-40B4-BE49-F238E27FC236}">
                <a16:creationId xmlns:a16="http://schemas.microsoft.com/office/drawing/2014/main" id="{667CD691-B117-44B3-3B0E-B39C202898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 trans="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162497">
            <a:off x="3524075" y="-36569"/>
            <a:ext cx="4877481" cy="4877481"/>
          </a:xfrm>
          <a:prstGeom prst="rect">
            <a:avLst/>
          </a:prstGeom>
          <a:ln>
            <a:noFill/>
          </a:ln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4C36EF06-1A0C-80A6-7B2B-DED85B0CE9D3}"/>
              </a:ext>
            </a:extLst>
          </p:cNvPr>
          <p:cNvGrpSpPr>
            <a:grpSpLocks noChangeAspect="1"/>
          </p:cNvGrpSpPr>
          <p:nvPr/>
        </p:nvGrpSpPr>
        <p:grpSpPr>
          <a:xfrm>
            <a:off x="883906" y="1263674"/>
            <a:ext cx="9501187" cy="3444540"/>
            <a:chOff x="485609" y="1513539"/>
            <a:chExt cx="9501187" cy="344454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C1C879-E7C0-BAF6-283A-AFB7548671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5609" y="1513539"/>
              <a:ext cx="9048750" cy="161583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ru-RU" sz="100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ОСНОВЫ ВЕРСТКИ</a:t>
              </a:r>
              <a:r>
                <a:rPr lang="ru-RU" sz="1050">
                  <a:solidFill>
                    <a:schemeClr val="bg2">
                      <a:lumMod val="60000"/>
                      <a:lumOff val="4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 </a:t>
              </a:r>
              <a:r>
                <a:rPr lang="ru-RU" sz="1050" b="1" i="0">
                  <a:solidFill>
                    <a:schemeClr val="bg2">
                      <a:lumMod val="40000"/>
                      <a:lumOff val="60000"/>
                    </a:schemeClr>
                  </a:solidFill>
                  <a:effectLst/>
                  <a:latin typeface="Arial" panose="020B0604020202020204" pitchFamily="34" charset="0"/>
                </a:rPr>
                <a:t>• </a:t>
              </a:r>
              <a:r>
                <a:rPr lang="en-US" sz="100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HTML</a:t>
              </a:r>
              <a:r>
                <a:rPr lang="ru-RU" sz="1000" b="1" i="0">
                  <a:solidFill>
                    <a:schemeClr val="bg2">
                      <a:lumMod val="40000"/>
                      <a:lumOff val="60000"/>
                    </a:schemeClr>
                  </a:solidFill>
                  <a:effectLst/>
                  <a:latin typeface="Arial" panose="020B0604020202020204" pitchFamily="34" charset="0"/>
                </a:rPr>
                <a:t> • </a:t>
              </a:r>
              <a:r>
                <a:rPr lang="ru-RU" sz="100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 </a:t>
              </a:r>
              <a:r>
                <a:rPr lang="en-US" sz="90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CSS</a:t>
              </a:r>
              <a:endParaRPr sz="900">
                <a:solidFill>
                  <a:schemeClr val="bg2">
                    <a:lumMod val="40000"/>
                    <a:lumOff val="60000"/>
                  </a:schemeClr>
                </a:solidFill>
                <a:latin typeface="Montserrat" panose="00000500000000000000" pitchFamily="2" charset="-52"/>
                <a:ea typeface="Inter SemiBold" panose="02000503000000020004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13DFB2-196B-9781-3BB6-B9E6C2AD5D1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5609" y="1836705"/>
              <a:ext cx="9501187" cy="184665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000" b="0" i="0" u="none" err="1">
                  <a:solidFill>
                    <a:srgbClr val="F26101"/>
                  </a:solidFill>
                  <a:latin typeface="Montserrat ExtraBold"/>
                </a:rPr>
                <a:t>Проектирование</a:t>
              </a:r>
              <a:r>
                <a:rPr sz="4000" b="0" i="0" u="none">
                  <a:solidFill>
                    <a:srgbClr val="F26101"/>
                  </a:solidFill>
                  <a:latin typeface="Montserrat ExtraBold"/>
                </a:rPr>
                <a:t> </a:t>
              </a:r>
              <a:endParaRPr lang="ru-RU" sz="4000" b="0" i="0" u="none">
                <a:solidFill>
                  <a:srgbClr val="F26101"/>
                </a:solidFill>
                <a:latin typeface="Montserrat ExtraBold"/>
              </a:endParaRPr>
            </a:p>
            <a:p>
              <a:pPr algn="l"/>
              <a:r>
                <a:rPr sz="4000" b="0" i="0" u="none">
                  <a:solidFill>
                    <a:srgbClr val="F26101"/>
                  </a:solidFill>
                  <a:latin typeface="Montserrat ExtraBold"/>
                </a:rPr>
                <a:t>и </a:t>
              </a:r>
              <a:r>
                <a:rPr sz="4000" b="0" i="0" u="none" err="1">
                  <a:solidFill>
                    <a:srgbClr val="F26101"/>
                  </a:solidFill>
                  <a:latin typeface="Montserrat ExtraBold"/>
                </a:rPr>
                <a:t>разработка</a:t>
              </a:r>
              <a:r>
                <a:rPr sz="4000" b="0" i="0" u="none">
                  <a:solidFill>
                    <a:srgbClr val="F26101"/>
                  </a:solidFill>
                  <a:latin typeface="Montserrat ExtraBold"/>
                </a:rPr>
                <a:t> </a:t>
              </a:r>
              <a:r>
                <a:rPr sz="4000" b="0" i="0" u="none" err="1">
                  <a:solidFill>
                    <a:srgbClr val="F26101"/>
                  </a:solidFill>
                  <a:latin typeface="Montserrat ExtraBold"/>
                </a:rPr>
                <a:t>интерфейсов</a:t>
              </a:r>
              <a:r>
                <a:rPr sz="4000" b="0" i="0" u="none">
                  <a:solidFill>
                    <a:srgbClr val="F26101"/>
                  </a:solidFill>
                  <a:latin typeface="Montserrat ExtraBold"/>
                </a:rPr>
                <a:t> </a:t>
              </a:r>
              <a:r>
                <a:rPr sz="4000" b="0" i="0" u="none" err="1">
                  <a:solidFill>
                    <a:srgbClr val="F26101"/>
                  </a:solidFill>
                  <a:latin typeface="Montserrat ExtraBold"/>
                </a:rPr>
                <a:t>пользователя</a:t>
              </a:r>
              <a:endParaRPr sz="4000" b="0" i="0" u="none">
                <a:solidFill>
                  <a:srgbClr val="F26101"/>
                </a:solidFill>
                <a:latin typeface="Montserrat ExtraBold"/>
              </a:endParaRPr>
            </a:p>
          </p:txBody>
        </p:sp>
        <p:sp>
          <p:nvSpPr>
            <p:cNvPr id="11" name="Rounded Rectangle 6">
              <a:extLst>
                <a:ext uri="{FF2B5EF4-FFF2-40B4-BE49-F238E27FC236}">
                  <a16:creationId xmlns:a16="http://schemas.microsoft.com/office/drawing/2014/main" id="{FEDD9253-159E-2190-4737-EF5F83889817}"/>
                </a:ext>
              </a:extLst>
            </p:cNvPr>
            <p:cNvSpPr/>
            <p:nvPr/>
          </p:nvSpPr>
          <p:spPr>
            <a:xfrm>
              <a:off x="528139" y="4261815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460AF5-DC82-A01F-35B1-F0D212A47FA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40697" y="4471214"/>
              <a:ext cx="9048750" cy="4868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Преподаватель</a:t>
              </a:r>
              <a:br>
                <a:rPr lang="ru-RU" sz="1200" b="0" i="0" u="none">
                  <a:solidFill>
                    <a:srgbClr val="000000"/>
                  </a:solidFill>
                  <a:latin typeface="Inter"/>
                </a:rPr>
              </a:b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Коляда</a:t>
              </a:r>
              <a:r>
                <a:rPr sz="1200" b="0" i="0" u="none">
                  <a:solidFill>
                    <a:srgbClr val="1E293B"/>
                  </a:solidFill>
                  <a:latin typeface="Inter Medium"/>
                </a:rPr>
                <a:t> </a:t>
              </a: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Никита</a:t>
              </a:r>
              <a:r>
                <a:rPr sz="1200" b="0" i="0" u="none">
                  <a:solidFill>
                    <a:srgbClr val="1E293B"/>
                  </a:solidFill>
                  <a:latin typeface="Inter Medium"/>
                </a:rPr>
                <a:t> </a:t>
              </a: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Владимирович</a:t>
              </a:r>
              <a:endParaRPr sz="1200" b="0" i="0" u="none">
                <a:solidFill>
                  <a:srgbClr val="1E293B"/>
                </a:solidFill>
                <a:latin typeface="Inter Medium"/>
              </a:endParaRPr>
            </a:p>
          </p:txBody>
        </p:sp>
      </p:grpSp>
      <p:sp>
        <p:nvSpPr>
          <p:cNvPr id="3" name="Google Shape;59;p13">
            <a:extLst>
              <a:ext uri="{FF2B5EF4-FFF2-40B4-BE49-F238E27FC236}">
                <a16:creationId xmlns:a16="http://schemas.microsoft.com/office/drawing/2014/main" id="{917E88D5-EA94-D5A3-686B-9D40CD1F594B}"/>
              </a:ext>
            </a:extLst>
          </p:cNvPr>
          <p:cNvSpPr/>
          <p:nvPr/>
        </p:nvSpPr>
        <p:spPr>
          <a:xfrm>
            <a:off x="7576356" y="4477514"/>
            <a:ext cx="1257300" cy="230700"/>
          </a:xfrm>
          <a:prstGeom prst="roundRect">
            <a:avLst>
              <a:gd name="adj" fmla="val 50000"/>
            </a:avLst>
          </a:prstGeom>
          <a:solidFill>
            <a:srgbClr val="43434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lt1"/>
                </a:solidFill>
                <a:latin typeface="PT Sans Caption" panose="020B0603020203020204" pitchFamily="34" charset="-52"/>
                <a:ea typeface="Proxima Nova"/>
                <a:cs typeface="Proxima Nova"/>
                <a:sym typeface="Proxima Nova"/>
              </a:rPr>
              <a:t>Вебинар 2 </a:t>
            </a:r>
            <a:endParaRPr sz="1000">
              <a:solidFill>
                <a:schemeClr val="lt1"/>
              </a:solidFill>
              <a:latin typeface="PT Sans Caption" panose="020B0603020203020204" pitchFamily="34" charset="-52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200184-121F-F05C-E93D-FAE98D6B282D}"/>
              </a:ext>
            </a:extLst>
          </p:cNvPr>
          <p:cNvSpPr/>
          <p:nvPr/>
        </p:nvSpPr>
        <p:spPr>
          <a:xfrm>
            <a:off x="1354281" y="1683158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395AA1B-3D46-8B23-C8C6-17018076BAB4}"/>
              </a:ext>
            </a:extLst>
          </p:cNvPr>
          <p:cNvSpPr/>
          <p:nvPr/>
        </p:nvSpPr>
        <p:spPr>
          <a:xfrm>
            <a:off x="1354281" y="2339341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A6399EB-F240-72CC-3353-A3A41459B334}"/>
              </a:ext>
            </a:extLst>
          </p:cNvPr>
          <p:cNvSpPr/>
          <p:nvPr/>
        </p:nvSpPr>
        <p:spPr>
          <a:xfrm>
            <a:off x="1354281" y="2995524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DA3E706-14A3-9E5E-0150-993D92615B2B}"/>
              </a:ext>
            </a:extLst>
          </p:cNvPr>
          <p:cNvSpPr/>
          <p:nvPr/>
        </p:nvSpPr>
        <p:spPr>
          <a:xfrm>
            <a:off x="1354281" y="3651707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0" name="Picture 11">
            <a:extLst>
              <a:ext uri="{FF2B5EF4-FFF2-40B4-BE49-F238E27FC236}">
                <a16:creationId xmlns:a16="http://schemas.microsoft.com/office/drawing/2014/main" id="{FE3CD0C6-B8FE-3432-6AEB-7276B21E5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618" y="1216879"/>
            <a:ext cx="361950" cy="285750"/>
          </a:xfrm>
          <a:prstGeom prst="rect">
            <a:avLst/>
          </a:prstGeom>
        </p:spPr>
      </p:pic>
      <p:sp>
        <p:nvSpPr>
          <p:cNvPr id="11" name="TextBox 12">
            <a:extLst>
              <a:ext uri="{FF2B5EF4-FFF2-40B4-BE49-F238E27FC236}">
                <a16:creationId xmlns:a16="http://schemas.microsoft.com/office/drawing/2014/main" id="{6021423E-1547-B118-B6ED-FFA0E250049B}"/>
              </a:ext>
            </a:extLst>
          </p:cNvPr>
          <p:cNvSpPr txBox="1"/>
          <p:nvPr/>
        </p:nvSpPr>
        <p:spPr>
          <a:xfrm>
            <a:off x="2021031" y="1169850"/>
            <a:ext cx="34099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0" i="0" u="none">
                <a:solidFill>
                  <a:srgbClr val="222222"/>
                </a:solidFill>
                <a:latin typeface="Montserrat SemiBold"/>
              </a:rPr>
              <a:t>1. Теоретический блок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5312261A-8473-F36D-CEA1-EF3D6CBA49EE}"/>
              </a:ext>
            </a:extLst>
          </p:cNvPr>
          <p:cNvSpPr txBox="1"/>
          <p:nvPr/>
        </p:nvSpPr>
        <p:spPr>
          <a:xfrm>
            <a:off x="2021031" y="1388925"/>
            <a:ext cx="3409950" cy="160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66666"/>
                </a:solidFill>
                <a:latin typeface="Inter"/>
              </a:rPr>
              <a:t>Структура документа, семантика HTML5 и основы CSS</a:t>
            </a:r>
          </a:p>
        </p:txBody>
      </p:sp>
      <p:pic>
        <p:nvPicPr>
          <p:cNvPr id="13" name="Picture 14">
            <a:extLst>
              <a:ext uri="{FF2B5EF4-FFF2-40B4-BE49-F238E27FC236}">
                <a16:creationId xmlns:a16="http://schemas.microsoft.com/office/drawing/2014/main" id="{DB7D649D-035F-23D7-8FE0-62D36D4C2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618" y="1873062"/>
            <a:ext cx="361950" cy="285750"/>
          </a:xfrm>
          <a:prstGeom prst="rect">
            <a:avLst/>
          </a:prstGeom>
        </p:spPr>
      </p:pic>
      <p:sp>
        <p:nvSpPr>
          <p:cNvPr id="14" name="TextBox 15">
            <a:extLst>
              <a:ext uri="{FF2B5EF4-FFF2-40B4-BE49-F238E27FC236}">
                <a16:creationId xmlns:a16="http://schemas.microsoft.com/office/drawing/2014/main" id="{FDCDC837-9B52-2ABD-BE72-B99F4CA2105A}"/>
              </a:ext>
            </a:extLst>
          </p:cNvPr>
          <p:cNvSpPr txBox="1"/>
          <p:nvPr/>
        </p:nvSpPr>
        <p:spPr>
          <a:xfrm>
            <a:off x="2021031" y="1826033"/>
            <a:ext cx="4257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0" i="0" u="none">
                <a:solidFill>
                  <a:srgbClr val="222222"/>
                </a:solidFill>
                <a:latin typeface="Montserrat SemiBold"/>
              </a:rPr>
              <a:t>2. Настройка окружения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38F3EAC1-CF94-CC80-E491-0A0A8AA37276}"/>
              </a:ext>
            </a:extLst>
          </p:cNvPr>
          <p:cNvSpPr txBox="1"/>
          <p:nvPr/>
        </p:nvSpPr>
        <p:spPr>
          <a:xfrm>
            <a:off x="2021031" y="2045108"/>
            <a:ext cx="4257675" cy="160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66666"/>
                </a:solidFill>
                <a:latin typeface="Inter"/>
              </a:rPr>
              <a:t>Подготовка редактора кода (IDE) и организация файловой структуры</a:t>
            </a:r>
          </a:p>
        </p:txBody>
      </p:sp>
      <p:pic>
        <p:nvPicPr>
          <p:cNvPr id="16" name="Picture 17">
            <a:extLst>
              <a:ext uri="{FF2B5EF4-FFF2-40B4-BE49-F238E27FC236}">
                <a16:creationId xmlns:a16="http://schemas.microsoft.com/office/drawing/2014/main" id="{6FCC824B-76CC-4AF8-9619-51A75DC9B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6668" y="2529246"/>
            <a:ext cx="323850" cy="285750"/>
          </a:xfrm>
          <a:prstGeom prst="rect">
            <a:avLst/>
          </a:prstGeom>
        </p:spPr>
      </p:pic>
      <p:sp>
        <p:nvSpPr>
          <p:cNvPr id="17" name="TextBox 18">
            <a:extLst>
              <a:ext uri="{FF2B5EF4-FFF2-40B4-BE49-F238E27FC236}">
                <a16:creationId xmlns:a16="http://schemas.microsoft.com/office/drawing/2014/main" id="{B44B7737-0986-B05E-A142-78D0B4A97F3F}"/>
              </a:ext>
            </a:extLst>
          </p:cNvPr>
          <p:cNvSpPr txBox="1"/>
          <p:nvPr/>
        </p:nvSpPr>
        <p:spPr>
          <a:xfrm>
            <a:off x="2021031" y="2482216"/>
            <a:ext cx="41624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0" i="0" u="none">
                <a:solidFill>
                  <a:srgbClr val="222222"/>
                </a:solidFill>
                <a:latin typeface="Montserrat SemiBold"/>
              </a:rPr>
              <a:t>3. Практическая разработка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40344B22-C18D-2718-3D60-543000748FD6}"/>
              </a:ext>
            </a:extLst>
          </p:cNvPr>
          <p:cNvSpPr txBox="1"/>
          <p:nvPr/>
        </p:nvSpPr>
        <p:spPr>
          <a:xfrm>
            <a:off x="2021031" y="2701291"/>
            <a:ext cx="4162425" cy="160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66666"/>
                </a:solidFill>
                <a:latin typeface="Inter"/>
              </a:rPr>
              <a:t>Верстка универсальных блоков: шапка (header), навигация, подвал</a:t>
            </a:r>
          </a:p>
        </p:txBody>
      </p:sp>
      <p:pic>
        <p:nvPicPr>
          <p:cNvPr id="19" name="Picture 20">
            <a:extLst>
              <a:ext uri="{FF2B5EF4-FFF2-40B4-BE49-F238E27FC236}">
                <a16:creationId xmlns:a16="http://schemas.microsoft.com/office/drawing/2014/main" id="{80BE5282-4324-BB0D-B278-5DB149B206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5718" y="3185429"/>
            <a:ext cx="285750" cy="285750"/>
          </a:xfrm>
          <a:prstGeom prst="rect">
            <a:avLst/>
          </a:prstGeom>
        </p:spPr>
      </p:pic>
      <p:sp>
        <p:nvSpPr>
          <p:cNvPr id="20" name="TextBox 21">
            <a:extLst>
              <a:ext uri="{FF2B5EF4-FFF2-40B4-BE49-F238E27FC236}">
                <a16:creationId xmlns:a16="http://schemas.microsoft.com/office/drawing/2014/main" id="{B6E465BC-260C-26E3-31D6-0C45C4AE6C2D}"/>
              </a:ext>
            </a:extLst>
          </p:cNvPr>
          <p:cNvSpPr txBox="1"/>
          <p:nvPr/>
        </p:nvSpPr>
        <p:spPr>
          <a:xfrm>
            <a:off x="2021031" y="3138399"/>
            <a:ext cx="36385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0" i="0" u="none">
                <a:solidFill>
                  <a:srgbClr val="222222"/>
                </a:solidFill>
                <a:latin typeface="Montserrat SemiBold"/>
              </a:rPr>
              <a:t>4. Разбор типичных ошибок</a:t>
            </a:r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F0038057-42C9-F769-C0C5-F9AB41E8587B}"/>
              </a:ext>
            </a:extLst>
          </p:cNvPr>
          <p:cNvSpPr txBox="1"/>
          <p:nvPr/>
        </p:nvSpPr>
        <p:spPr>
          <a:xfrm>
            <a:off x="2021031" y="3357474"/>
            <a:ext cx="3638550" cy="160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66666"/>
                </a:solidFill>
                <a:latin typeface="Inter"/>
              </a:rPr>
              <a:t>Анализ проблем с позиционированием и код-ревью работ</a:t>
            </a:r>
          </a:p>
        </p:txBody>
      </p:sp>
      <p:pic>
        <p:nvPicPr>
          <p:cNvPr id="22" name="Picture 23">
            <a:extLst>
              <a:ext uri="{FF2B5EF4-FFF2-40B4-BE49-F238E27FC236}">
                <a16:creationId xmlns:a16="http://schemas.microsoft.com/office/drawing/2014/main" id="{3EC1D119-6080-BDF3-AF83-63F592656C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6668" y="3841612"/>
            <a:ext cx="323850" cy="285750"/>
          </a:xfrm>
          <a:prstGeom prst="rect">
            <a:avLst/>
          </a:prstGeom>
        </p:spPr>
      </p:pic>
      <p:sp>
        <p:nvSpPr>
          <p:cNvPr id="23" name="TextBox 24">
            <a:extLst>
              <a:ext uri="{FF2B5EF4-FFF2-40B4-BE49-F238E27FC236}">
                <a16:creationId xmlns:a16="http://schemas.microsoft.com/office/drawing/2014/main" id="{E915CC21-797D-8D4A-4DA5-A5A9A395DDD8}"/>
              </a:ext>
            </a:extLst>
          </p:cNvPr>
          <p:cNvSpPr txBox="1"/>
          <p:nvPr/>
        </p:nvSpPr>
        <p:spPr>
          <a:xfrm>
            <a:off x="2021031" y="3794582"/>
            <a:ext cx="42100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0" i="0" u="none">
                <a:solidFill>
                  <a:srgbClr val="222222"/>
                </a:solidFill>
                <a:latin typeface="Montserrat SemiBold"/>
              </a:rPr>
              <a:t>5. Результат и итоги</a:t>
            </a:r>
          </a:p>
        </p:txBody>
      </p:sp>
      <p:sp>
        <p:nvSpPr>
          <p:cNvPr id="24" name="TextBox 25">
            <a:extLst>
              <a:ext uri="{FF2B5EF4-FFF2-40B4-BE49-F238E27FC236}">
                <a16:creationId xmlns:a16="http://schemas.microsoft.com/office/drawing/2014/main" id="{27AC8D58-8C59-EA0F-D299-B0D5290F9D54}"/>
              </a:ext>
            </a:extLst>
          </p:cNvPr>
          <p:cNvSpPr txBox="1"/>
          <p:nvPr/>
        </p:nvSpPr>
        <p:spPr>
          <a:xfrm>
            <a:off x="2021031" y="4013657"/>
            <a:ext cx="4210050" cy="160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66666"/>
                </a:solidFill>
                <a:latin typeface="Inter"/>
              </a:rPr>
              <a:t>Сборка готового шаблона, рефлексия и выдача домашнего задания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9000" y="259715"/>
            <a:ext cx="165100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ПЛАН ЗАНЯТИЯ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6667500" y="259079"/>
            <a:ext cx="22225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ТЕОРИЯ: HTML И 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Что такое HTML и CSS и по каким правилам они пишутся?</a:t>
            </a:r>
          </a:p>
        </p:txBody>
      </p:sp>
      <p:sp>
        <p:nvSpPr>
          <p:cNvPr id="4" name="Rounded Rectangle HTML"/>
          <p:cNvSpPr/>
          <p:nvPr/>
        </p:nvSpPr>
        <p:spPr>
          <a:xfrm>
            <a:off x="304800" y="711200"/>
            <a:ext cx="4127500" cy="1625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Header HTML"/>
          <p:cNvSpPr txBox="1"/>
          <p:nvPr/>
        </p:nvSpPr>
        <p:spPr>
          <a:xfrm>
            <a:off x="482600" y="787400"/>
            <a:ext cx="3746500" cy="20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 1: index.html (Разметка страницы)</a:t>
            </a:r>
          </a:p>
        </p:txBody>
      </p:sp>
      <p:sp>
        <p:nvSpPr>
          <p:cNvPr id="6" name="Rectangle Line HTML"/>
          <p:cNvSpPr/>
          <p:nvPr/>
        </p:nvSpPr>
        <p:spPr>
          <a:xfrm>
            <a:off x="457200" y="10160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Code HTML"/>
          <p:cNvSpPr txBox="1"/>
          <p:nvPr/>
        </p:nvSpPr>
        <p:spPr>
          <a:xfrm>
            <a:off x="457200" y="1079500"/>
            <a:ext cx="38227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&lt;!-- 1. HTML: Каркас и теги элемента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&lt;</a:t>
            </a:r>
            <a:r>
              <a:rPr sz="800">
                <a:solidFill>
                  <a:srgbClr val="F472B6"/>
                </a:solidFill>
                <a:latin typeface="Consolas"/>
              </a:rPr>
              <a:t>button </a:t>
            </a:r>
            <a:r>
              <a:rPr sz="800">
                <a:solidFill>
                  <a:srgbClr val="A78BFA"/>
                </a:solidFill>
                <a:latin typeface="Consolas"/>
              </a:rPr>
              <a:t>class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FCD34D"/>
                </a:solidFill>
                <a:latin typeface="Consolas"/>
              </a:rPr>
              <a:t>"btn-login" </a:t>
            </a:r>
            <a:r>
              <a:rPr sz="800">
                <a:solidFill>
                  <a:srgbClr val="A78BFA"/>
                </a:solidFill>
                <a:latin typeface="Consolas"/>
              </a:rPr>
              <a:t>id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FCD34D"/>
                </a:solidFill>
                <a:latin typeface="Consolas"/>
              </a:rPr>
              <a:t>"submitBtn"</a:t>
            </a:r>
            <a:r>
              <a:rPr sz="8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Войти в профиль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&lt;/</a:t>
            </a:r>
            <a:r>
              <a:rPr sz="800">
                <a:solidFill>
                  <a:srgbClr val="F472B6"/>
                </a:solidFill>
                <a:latin typeface="Consolas"/>
              </a:rPr>
              <a:t>button</a:t>
            </a:r>
            <a:r>
              <a:rPr sz="8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Теги, атрибуты и контент. Только разметка! --&gt;</a:t>
            </a:r>
          </a:p>
        </p:txBody>
      </p:sp>
      <p:sp>
        <p:nvSpPr>
          <p:cNvPr id="8" name="Rounded Rectangle CSS"/>
          <p:cNvSpPr/>
          <p:nvPr/>
        </p:nvSpPr>
        <p:spPr>
          <a:xfrm>
            <a:off x="304800" y="2514600"/>
            <a:ext cx="4127500" cy="1981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Header CSS"/>
          <p:cNvSpPr txBox="1"/>
          <p:nvPr/>
        </p:nvSpPr>
        <p:spPr>
          <a:xfrm>
            <a:off x="482600" y="2590800"/>
            <a:ext cx="3746500" cy="20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 2: css/style.css (Стили оформления)</a:t>
            </a:r>
          </a:p>
        </p:txBody>
      </p:sp>
      <p:sp>
        <p:nvSpPr>
          <p:cNvPr id="10" name="Rectangle Line CSS"/>
          <p:cNvSpPr/>
          <p:nvPr/>
        </p:nvSpPr>
        <p:spPr>
          <a:xfrm>
            <a:off x="457200" y="28194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Code CSS"/>
          <p:cNvSpPr txBox="1"/>
          <p:nvPr/>
        </p:nvSpPr>
        <p:spPr>
          <a:xfrm>
            <a:off x="457200" y="2882900"/>
            <a:ext cx="3822700" cy="154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CSS: Правило стилизации селектора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.btn-login</a:t>
            </a:r>
            <a:r>
              <a:rPr sz="800">
                <a:solidFill>
                  <a:srgbClr val="D4D4D8"/>
                </a:solidFill>
                <a:latin typeface="Consolas"/>
              </a:rPr>
              <a:t>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#fe6002</a:t>
            </a:r>
            <a:r>
              <a:rPr sz="800">
                <a:solidFill>
                  <a:srgbClr val="71717A"/>
                </a:solidFill>
                <a:latin typeface="Consolas"/>
              </a:rPr>
              <a:t>; /* Фон кнопки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71717A"/>
                </a:solidFill>
                <a:latin typeface="Consolas"/>
              </a:rPr>
              <a:t>;            /* Цвет текста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12px 24px</a:t>
            </a:r>
            <a:r>
              <a:rPr sz="800">
                <a:solidFill>
                  <a:srgbClr val="71717A"/>
                </a:solidFill>
                <a:latin typeface="Consolas"/>
              </a:rPr>
              <a:t>;       /* Внутр. поля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6px</a:t>
            </a:r>
            <a:r>
              <a:rPr sz="800">
                <a:solidFill>
                  <a:srgbClr val="71717A"/>
                </a:solidFill>
                <a:latin typeface="Consolas"/>
              </a:rPr>
              <a:t>;         /* Скругление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12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ФУНДАМЕНТАЛЬНЫЕ ПРАВИЛА ВЕРСТКИ</a:t>
            </a:r>
          </a:p>
        </p:txBody>
      </p:sp>
      <p:sp>
        <p:nvSpPr>
          <p:cNvPr id="13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HTML — язык гипертекстовой разметки: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Это «скелет» страницы. Он создает структуру документа: заголовки, параграфы, кнопки, формы и ссылки. HTML не выполняет вычислений — он размечает смысл.</a:t>
            </a:r>
          </a:p>
        </p:txBody>
      </p:sp>
      <p:sp>
        <p:nvSpPr>
          <p:cNvPr id="16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CSS — каскадные таблицы стилей: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Это «одежда» и оформление. CSS управляет цветами, шрифтами, фоном, отступами, позиционированием (Flexbox) и адаптивностью под смартфоны.</a:t>
            </a:r>
          </a:p>
        </p:txBody>
      </p:sp>
      <p:sp>
        <p:nvSpPr>
          <p:cNvPr id="18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4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Правила написания HTML (Теги и атрибуты):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Большинство тегов парные: &lt;тег&gt;...&lt;/тег&gt;. Внутри открывающего тега задаются атрибуты (класс, id, ссылка). Теги должны строго закрываться в правильном порядке!</a:t>
            </a:r>
          </a:p>
        </p:txBody>
      </p:sp>
      <p:sp>
        <p:nvSpPr>
          <p:cNvPr id="20" name="Rounded Rectangle 15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16"/>
          <p:cNvSpPr txBox="1"/>
          <p:nvPr/>
        </p:nvSpPr>
        <p:spPr>
          <a:xfrm>
            <a:off x="5003800" y="31242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Правила написания CSS (Селектор и свойства):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Синтаксис: селектор { свойство: значение; }. Селектор (.btn-login) указывает, кому задать стиль, двоеточие отделяет значение, а точка с запятой «;» обязательна!</a:t>
            </a:r>
          </a:p>
        </p:txBody>
      </p:sp>
      <p:sp>
        <p:nvSpPr>
          <p:cNvPr id="22" name="Rounded Rectangle 17"/>
          <p:cNvSpPr/>
          <p:nvPr/>
        </p:nvSpPr>
        <p:spPr>
          <a:xfrm>
            <a:off x="4826000" y="38227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8"/>
          <p:cNvSpPr txBox="1"/>
          <p:nvPr/>
        </p:nvSpPr>
        <p:spPr>
          <a:xfrm>
            <a:off x="5003800" y="37846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Принцип разделения ответственности: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Разметка хранится в index.html, а дизайн — в css/style.css. Разделение структуры и стиля делает код профессиональным, чистым и удобным для командной работы.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правильно организовать файлы в веб-разработке?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Файловая система: smart-office / basic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CD34D"/>
                </a:solidFill>
                <a:latin typeface="Consolas"/>
              </a:rPr>
              <a:t>📁 smart-office / basic/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📄 </a:t>
            </a:r>
            <a:r>
              <a:rPr sz="800">
                <a:solidFill>
                  <a:srgbClr val="38BDF8"/>
                </a:solidFill>
                <a:latin typeface="Consolas"/>
              </a:rPr>
              <a:t>index.html</a:t>
            </a:r>
            <a:r>
              <a:rPr sz="800">
                <a:solidFill>
                  <a:srgbClr val="71717A"/>
                </a:solidFill>
                <a:latin typeface="Consolas"/>
              </a:rPr>
              <a:t>        # Главная разметка страницы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css/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# Стили оформления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  └── 📄 </a:t>
            </a:r>
            <a:r>
              <a:rPr sz="800">
                <a:solidFill>
                  <a:srgbClr val="4ADE80"/>
                </a:solidFill>
                <a:latin typeface="Consolas"/>
              </a:rPr>
              <a:t>style.css</a:t>
            </a:r>
            <a:r>
              <a:rPr sz="800">
                <a:solidFill>
                  <a:srgbClr val="71717A"/>
                </a:solidFill>
                <a:latin typeface="Consolas"/>
              </a:rPr>
              <a:t>        # Таблица каскадных стилей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js/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 # Клиентские скрипты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  └── 📄 </a:t>
            </a:r>
            <a:r>
              <a:rPr sz="800">
                <a:solidFill>
                  <a:srgbClr val="4ADE80"/>
                </a:solidFill>
                <a:latin typeface="Consolas"/>
              </a:rPr>
              <a:t>script.js</a:t>
            </a:r>
            <a:r>
              <a:rPr sz="800">
                <a:solidFill>
                  <a:srgbClr val="71717A"/>
                </a:solidFill>
                <a:latin typeface="Consolas"/>
              </a:rPr>
              <a:t>       # Интерактивная логика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└──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img/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# Графика и медиафайлы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├── 🖼️ </a:t>
            </a:r>
            <a:r>
              <a:rPr sz="800">
                <a:solidFill>
                  <a:srgbClr val="D4D4D8"/>
                </a:solidFill>
                <a:latin typeface="Consolas"/>
              </a:rPr>
              <a:t>logo.svg</a:t>
            </a:r>
            <a:r>
              <a:rPr sz="800">
                <a:solidFill>
                  <a:srgbClr val="71717A"/>
                </a:solidFill>
                <a:latin typeface="Consolas"/>
              </a:rPr>
              <a:t>        # Векторный логотип бренда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└── 🖼️ </a:t>
            </a:r>
            <a:r>
              <a:rPr sz="800">
                <a:solidFill>
                  <a:srgbClr val="D4D4D8"/>
                </a:solidFill>
                <a:latin typeface="Consolas"/>
              </a:rPr>
              <a:t>no-image.svg</a:t>
            </a:r>
            <a:r>
              <a:rPr sz="800">
                <a:solidFill>
                  <a:srgbClr val="71717A"/>
                </a:solidFill>
                <a:latin typeface="Consolas"/>
              </a:rPr>
              <a:t>    # Заглушка для фото комнат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ПРИНЦИП ЧИСТОЙ АРХИТЕКТУРЫ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Файл index.html в корне: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Браузер по умолчанию ищет именно index.html как стартовую страницу. Он лежит в корне проекта.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034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7653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Изоляция стилей в папке css/: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Стили хранятся в файле style.css. Это разделяет разметку (HTML) и визуальный дизайн (CSS).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374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336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Папка js/ для скриптов: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Здесь хранятся файлы JavaScript (script.js). В них пишется логика: клики, слайдеры, фильтры и интерактив.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035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2997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Графика в папке img/: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Все логотипы, иконки и фото комнат лежат отдельно, чтобы не засорять корень проекта.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6068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5687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Относительные пути к файлам: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 коде мы пишем путь от текущей папки: css/style.css, js/script.js, img/logo.svg.</a:t>
            </a:r>
          </a:p>
        </p:txBody>
      </p:sp>
      <p:sp>
        <p:nvSpPr>
          <p:cNvPr id="20" name="Google Shape;69;p14">
            <a:extLst>
              <a:ext uri="{FF2B5EF4-FFF2-40B4-BE49-F238E27FC236}">
                <a16:creationId xmlns:a16="http://schemas.microsoft.com/office/drawing/2014/main" id="{71A23B6C-F869-B64D-42C7-20AD29731627}"/>
              </a:ext>
            </a:extLst>
          </p:cNvPr>
          <p:cNvSpPr/>
          <p:nvPr/>
        </p:nvSpPr>
        <p:spPr>
          <a:xfrm>
            <a:off x="6869927" y="259712"/>
            <a:ext cx="2019481" cy="286388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200" b="0">
                <a:solidFill>
                  <a:srgbClr val="FFFFFF"/>
                </a:solidFill>
                <a:latin typeface="Inter"/>
              </a:rPr>
              <a:t>СТРУКТУРА ПРОЕКТА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Из каких смысловых блоков строится современный сайт?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(семантический каркас)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&lt;!DOCTYPE html&gt;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&lt;html </a:t>
            </a:r>
            <a:r>
              <a:rPr sz="800">
                <a:solidFill>
                  <a:srgbClr val="A78BFA"/>
                </a:solidFill>
                <a:latin typeface="Consolas"/>
              </a:rPr>
              <a:t>lang=</a:t>
            </a:r>
            <a:r>
              <a:rPr sz="800">
                <a:solidFill>
                  <a:srgbClr val="FCD34D"/>
                </a:solidFill>
                <a:latin typeface="Consolas"/>
              </a:rPr>
              <a:t>"ru"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&lt;head&gt;</a:t>
            </a:r>
            <a:r>
              <a:rPr sz="800">
                <a:solidFill>
                  <a:srgbClr val="71717A"/>
                </a:solidFill>
                <a:latin typeface="Consolas"/>
              </a:rPr>
              <a:t> ... </a:t>
            </a:r>
            <a:r>
              <a:rPr sz="800">
                <a:solidFill>
                  <a:srgbClr val="F472B6"/>
                </a:solidFill>
                <a:latin typeface="Consolas"/>
              </a:rPr>
              <a:t>&lt;/head&gt;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&lt;body&gt;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&lt;!-- 1. Шапка сайта (лого + меню)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&lt;header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"header"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header-container"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&lt;/header&gt;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&lt;!-- 2. Главный уникальный контент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&lt;main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"main"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&lt;section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"hero-section"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&gt;...&lt;/section&gt;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&lt;/main&gt;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&lt;!-- 3. Подвал сайта (копирайт и контакты)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&lt;footer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&gt;...&lt;/footer&gt;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&lt;/body&gt;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&lt;/html&gt;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СЕМАНТИЧЕСКИЕ ТЕГИ HTML5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Зачем нужны &lt;header&gt;, &lt;main&gt;, &lt;footer&gt;?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Раньше сайты верстали сплошными тегами &lt;div&gt;. Семантические теги делают код понятным людям, поисковикам и скринридерам.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&lt;header&gt; (Шапка):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Верхняя часть страницы: содержит бренд, логотип, навигационные ссылки по разделам и кнопки профиля.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&lt;main&gt; (Главный блок):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Центральная область. Здесь располагается уникальное содержимое страницы, не повторяющееся на других вкладках.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&lt;footer&gt; (Подвал):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Нижняя часть сайта: юридическая информация, авторские права (копирайт), контакты техподдержки и соцсети.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67550" y="259715"/>
            <a:ext cx="182245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HTML5 СЕМАНТИКА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Что подключается в невидимой части документа?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(настройка &lt;head&gt;)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&lt;meta </a:t>
            </a:r>
            <a:r>
              <a:rPr sz="800">
                <a:solidFill>
                  <a:srgbClr val="A78BFA"/>
                </a:solidFill>
                <a:latin typeface="Consolas"/>
              </a:rPr>
              <a:t>charset=</a:t>
            </a:r>
            <a:r>
              <a:rPr sz="800">
                <a:solidFill>
                  <a:srgbClr val="FCD34D"/>
                </a:solidFill>
                <a:latin typeface="Consolas"/>
              </a:rPr>
              <a:t>"UTF-8"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&lt;meta </a:t>
            </a:r>
            <a:r>
              <a:rPr sz="800">
                <a:solidFill>
                  <a:srgbClr val="A78BFA"/>
                </a:solidFill>
                <a:latin typeface="Consolas"/>
              </a:rPr>
              <a:t>name=</a:t>
            </a:r>
            <a:r>
              <a:rPr sz="800">
                <a:solidFill>
                  <a:srgbClr val="FCD34D"/>
                </a:solidFill>
                <a:latin typeface="Consolas"/>
              </a:rPr>
              <a:t>"viewport"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  </a:t>
            </a:r>
            <a:r>
              <a:rPr sz="800">
                <a:solidFill>
                  <a:srgbClr val="A78BFA"/>
                </a:solidFill>
                <a:latin typeface="Consolas"/>
              </a:rPr>
              <a:t>content=</a:t>
            </a:r>
            <a:r>
              <a:rPr sz="800">
                <a:solidFill>
                  <a:srgbClr val="FCD34D"/>
                </a:solidFill>
                <a:latin typeface="Consolas"/>
              </a:rPr>
              <a:t>"width=device-width, initial-scale=1.0"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&lt;title&gt;</a:t>
            </a:r>
            <a:r>
              <a:rPr sz="800">
                <a:solidFill>
                  <a:srgbClr val="D4D4D8"/>
                </a:solidFill>
                <a:latin typeface="Consolas"/>
              </a:rPr>
              <a:t>СмартОфис — Бронирование</a:t>
            </a:r>
            <a:r>
              <a:rPr sz="800">
                <a:solidFill>
                  <a:srgbClr val="F472B6"/>
                </a:solidFill>
                <a:latin typeface="Consolas"/>
              </a:rPr>
              <a:t>&lt;/title&gt;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Подключение шрифта Inter из Google Fonts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"preconnect"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"https://fonts.googleapis.com"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"preconnect"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"https://fonts.gstatic.com"</a:t>
            </a:r>
            <a:r>
              <a:rPr sz="800">
                <a:solidFill>
                  <a:srgbClr val="F472B6"/>
                </a:solidFill>
                <a:latin typeface="Consolas"/>
              </a:rPr>
              <a:t> crossorigin&gt;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"https://fonts.googleapis.com/css2?family=Inter:wght@400;500;600;700;800&amp;display=swap"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 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"stylesheet"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Подключение таблицы стилей и иконки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"stylesheet"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"css/style.css"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"icon"</a:t>
            </a:r>
            <a:r>
              <a:rPr sz="800">
                <a:solidFill>
                  <a:srgbClr val="A78BFA"/>
                </a:solidFill>
                <a:latin typeface="Consolas"/>
              </a:rPr>
              <a:t> type=</a:t>
            </a:r>
            <a:r>
              <a:rPr sz="800">
                <a:solidFill>
                  <a:srgbClr val="FCD34D"/>
                </a:solidFill>
                <a:latin typeface="Consolas"/>
              </a:rPr>
              <a:t>"image/svg+xml"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"img/logo.svg"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&lt;/head&gt;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СЛУЖЕБНЫЕ МЕТАТЕГИ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Кодировка UTF-8: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Указывает браузеру стандарт символов. Без &lt;meta charset="UTF-8"&gt; кириллические буквы превратятся в иероглифы.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92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5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Метатег Viewport: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Говорит браузеру отображать страницу в масштабе 1:1 в соответствии с реальной шириной экрана экрана устройства.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52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14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Google Fonts (Inter):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Шрифт Inter — мировой стандарт интерфейсов (Figma, Linear). preconnect заранее открывает скоростное соединение с сервером.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63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25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Фавикон сайта (Favicon):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Векторная иконка img/logo.svg в теге &lt;link rel="icon"&gt; украшает вкладку в браузере и закладки.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СЛУЖЕБНЫЙ БЛОК &lt;HEAD&gt;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4972050" y="259079"/>
            <a:ext cx="39179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СХЕМА: BLOCK vs FLEXBOX vs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В чем визуальная разница блочного потока, Flexbox и CSS Grid?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Montserrat"/>
              </a:rPr>
              <a:t>1. BLOCK (Поток)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Вертикальный стек друг под друга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5400"/>
            <a:ext cx="2362200" cy="12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80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Родитель: width: 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800" y="16510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1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22606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2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8800" y="28702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3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Свойство по умолчанию:
</a:t>
            </a:r>
            <a:r>
              <a:rPr sz="750">
                <a:solidFill>
                  <a:srgbClr val="D4D4D8"/>
                </a:solidFill>
                <a:latin typeface="Inter"/>
              </a:rPr>
              <a:t>Каждый тег занимает всю ширину строки и переносит следующий элемент вниз.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85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909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4ADE80"/>
                </a:solidFill>
                <a:latin typeface="Montserrat"/>
              </a:rPr>
              <a:t>2. FLEXBOX (1D)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Вдоль одной оси (строка / колонка)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1295400"/>
            <a:ext cx="2362200" cy="127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909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417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display: flex; gap: 8px;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2500" y="1651000"/>
            <a:ext cx="2159000" cy="228600"/>
          </a:xfrm>
          <a:prstGeom prst="roundRect">
            <a:avLst>
              <a:gd name="adj" fmla="val 20000"/>
            </a:avLst>
          </a:prstGeom>
          <a:solidFill>
            <a:srgbClr val="132A1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750" b="1">
                <a:solidFill>
                  <a:srgbClr val="4ADE80"/>
                </a:solidFill>
                <a:latin typeface="Consolas"/>
              </a:rPr>
              <a:t>ГЛАВНАЯ ОСЬ X (row) ──►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925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1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auto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91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2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flex: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657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3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auto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92500" y="3022600"/>
            <a:ext cx="2159000" cy="482600"/>
          </a:xfrm>
          <a:prstGeom prst="rect">
            <a:avLst/>
          </a:prstGeom>
          <a:solidFill>
            <a:srgbClr val="18222A"/>
          </a:solidFill>
          <a:ln w="9525">
            <a:solidFill>
              <a:srgbClr val="2D3A45"/>
            </a:solidFill>
          </a:ln>
        </p:spPr>
        <p:txBody>
          <a:bodyPr wrap="square" rtlCol="0" anchor="ctr"/>
          <a:lstStyle/>
          <a:p>
            <a:pPr algn="ctr"/>
            <a:r>
              <a:rPr sz="700">
                <a:solidFill>
                  <a:srgbClr val="D4D4D8"/>
                </a:solidFill>
                <a:latin typeface="Consolas"/>
              </a:rPr>
              <a:t>justify-content: space-between;
align-items: center;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09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Одномерное управление (1D):
</a:t>
            </a:r>
            <a:r>
              <a:rPr sz="750">
                <a:solidFill>
                  <a:srgbClr val="D4D4D8"/>
                </a:solidFill>
                <a:latin typeface="Inter"/>
              </a:rPr>
              <a:t>Идеально выстраивает элементы в одну линию (шапка, меню, ряд кнопок) и делит пустоту.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46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A78BFA"/>
                </a:solidFill>
                <a:latin typeface="Montserrat"/>
              </a:rPr>
              <a:t>3. CSS GRID (2D)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Строки + Столбцы (Сетка матрица)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4600" y="1295400"/>
            <a:ext cx="2362200" cy="127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246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754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grid-template-columns: 1fr 1fr;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26200" y="16764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1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1 / row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16764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2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2 / row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26200" y="25908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3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1 / row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25908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4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2 / row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6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Двумерная матрица (2D):
</a:t>
            </a:r>
            <a:r>
              <a:rPr sz="750">
                <a:solidFill>
                  <a:srgbClr val="D4D4D8"/>
                </a:solidFill>
                <a:latin typeface="Inter"/>
              </a:rPr>
              <a:t>Управляет строками и колонками одновременно. Идеально для каталогов карточек и фото.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295900" y="259079"/>
            <a:ext cx="35941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ТЕОРИЯ: ВЫБОР МОДЕЛИ ВЕРСТКИ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Какую модель верстки выбрать для конкретной задачи сайта?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(Выбор модели)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ОБЫЧНЫЙ ТЕКСТ И АБЗАЦЫ (Block)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.article-text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block</a:t>
            </a:r>
            <a:r>
              <a:rPr sz="800">
                <a:solidFill>
                  <a:srgbClr val="71717A"/>
                </a:solidFill>
                <a:latin typeface="Consolas"/>
              </a:rPr>
              <a:t>; /* Поток сверху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ШАПКА И НАВИГАЦИЯ В РЯД (Flexbox)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.header-nav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71717A"/>
                </a:solidFill>
                <a:latin typeface="Consolas"/>
              </a:rPr>
              <a:t>; /* Разнос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3. КАТАЛОГ КОМНАТ 3x3 (CSS Grid)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.rooms-grid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grid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grid-template-columns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repeat(3, 1fr)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71717A"/>
                </a:solidFill>
                <a:latin typeface="Consolas"/>
              </a:rPr>
              <a:t>; /* Отступы сетки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ПРАВИЛА И СЦЕНАРИИ ПРИМЕНЕНИЯ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Dot 0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Bullet 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Block — для текстовых смысловых блоков: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Теги &lt;p&gt;, &lt;h1&gt;, &lt;div&gt; по умолчанию блочные. Они естественным образом формируют классический вертикальный поток документа для чтения.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Bullet 1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Flexbox — для линейных цепочек (1D):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Идеален, когда элементы нужно расположить вдоль одной оси: шапка сайта, меню ссылок, строка с тегами или кнопка с иконкой.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Bullet 2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CSS Grid — для сложных сеток каталогов (2D):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Используется, когда нужно контролировать и строки, и столбцы одновременно: галерея фото, витрина товаров, сетка переговорных комнат.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Bullet 3"/>
          <p:cNvSpPr txBox="1"/>
          <p:nvPr/>
        </p:nvSpPr>
        <p:spPr>
          <a:xfrm>
            <a:off x="5003800" y="312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Командная работа технологий: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Grid организует общую 3-колоночную сетку каталога, Flexbox центрирует содержимое внутри каждой карточки, а Block держит описание.</a:t>
            </a:r>
          </a:p>
        </p:txBody>
      </p:sp>
      <p:sp>
        <p:nvSpPr>
          <p:cNvPr id="18" name="Rounded Rectangle Dot 4"/>
          <p:cNvSpPr/>
          <p:nvPr/>
        </p:nvSpPr>
        <p:spPr>
          <a:xfrm>
            <a:off x="4826000" y="3797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Bullet 4"/>
          <p:cNvSpPr txBox="1"/>
          <p:nvPr/>
        </p:nvSpPr>
        <p:spPr>
          <a:xfrm>
            <a:off x="5003800" y="37592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Итог: как выбирать инструмент: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Ряд кнопок или выравнивание шапки? → Flexbox. Матрица карточек 3х3 или дашборд? → Grid. Стандартный текст статьи? → Block!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БЛОЧНАЯ МОДЕЛЬ: BOX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устроена блочная модель и почему важен box-sizing?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(Box Model Anatomy)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АНАТОМИЯ ЛЮБОГО HTML-ЭЛЕМЕНТА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 АНАТОМИЯ БЛОЧНОЙ КОРОБКИ 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┌───────────────────────────────────┐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MARGIN (Внешний отступ от соседей)│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┌─────────────────────────────┐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│  │ BORDER (Видимая рамка/грань)│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┌───────────────────────┐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CD34D"/>
                </a:solidFill>
                <a:latin typeface="Consolas"/>
              </a:rPr>
              <a:t>│  │  │ PADDING (Внутр. поля)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│  ┌─────────────────┐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│  │  │  │     CONTENT     │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│  │  │  │ (Текст, иконка) │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│  └─────────────────┘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└───────────────────────┘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└─────────────────────────────┘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└───────────────────────────────────┘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Главное правило сброса в начале CSS: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*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box-sizing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border-box</a:t>
            </a:r>
            <a:r>
              <a:rPr sz="800">
                <a:solidFill>
                  <a:srgbClr val="71717A"/>
                </a:solidFill>
                <a:latin typeface="Consolas"/>
              </a:rPr>
              <a:t>; /* Честный расчет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Content (Контент / Содержимое):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Сердцевина элемента — сам текст, изображение или векторная иконка. Его базовые размеры определяются свойствами width и height.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4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03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Padding (Внутренние поля):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Воздушная подушка безопасности внутри блока от контента до его рамки. Заливается фоновым цветом блока (background-color).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476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38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Border (Граница / Рамка):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Линия, очерчивающая блок. Имеет толщину, стиль и цвет (например, border: 1px solid #fe6002). Завершает физическое тело элемента.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1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0734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Margin (Внешние отступы):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Пространство снаружи блока, отталкивающее соседей. Margin всегда абсолютно прозрачен и не имеет цвета фона.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211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683000"/>
            <a:ext cx="3619500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Спасение через box-sizing: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Без этого правила любой padding раздувает блок наружу и ломает верстку. С border-box ширина 300px всегда строго 300px!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FLEXBOX: ОДНОМЕРНЫЙ МАКЕТ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работает Flexbox и почему он незаменим в верстке?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(Flexbox Syntax)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МЕХАНИКА И СИЛА ТЕХНОЛОГИИ FLEXBOX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РОДИТЕЛЬ (Flex-контейнер)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.navbar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71717A"/>
                </a:solidFill>
                <a:latin typeface="Consolas"/>
              </a:rPr>
              <a:t>; /* Включаем флекс-режим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row</a:t>
            </a:r>
            <a:r>
              <a:rPr sz="800">
                <a:solidFill>
                  <a:srgbClr val="71717A"/>
                </a:solidFill>
                <a:latin typeface="Consolas"/>
              </a:rPr>
              <a:t>;     /* Ось X: слева направо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71717A"/>
                </a:solidFill>
                <a:latin typeface="Consolas"/>
              </a:rPr>
              <a:t>; /* Разнос краев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71717A"/>
                </a:solidFill>
                <a:latin typeface="Consolas"/>
              </a:rPr>
              <a:t>;        /* Центр по высоте Y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20px</a:t>
            </a:r>
            <a:r>
              <a:rPr sz="800">
                <a:solidFill>
                  <a:srgbClr val="71717A"/>
                </a:solidFill>
                <a:latin typeface="Consolas"/>
              </a:rPr>
              <a:t>;                /* Шаг между детьми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ПОТОМОК (Flex-элемент)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.main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</a:t>
            </a:r>
            <a:r>
              <a:rPr sz="800">
                <a:solidFill>
                  <a:srgbClr val="71717A"/>
                </a:solidFill>
                <a:latin typeface="Consolas"/>
              </a:rPr>
              <a:t>; /* Занимает всю пустоту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.logo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flex-shrink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71717A"/>
                </a:solidFill>
                <a:latin typeface="Consolas"/>
              </a:rPr>
              <a:t>; /* Не сжиматься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Родитель (Container) и дети (Items):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display: flex пишется у родительского блока, но мгновенно подчиняет всех прямых потомков, выстраивая их в ряд.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Главная (Main) и поперечная (Cross) оси: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умолчанию элементы строятся слева направо (row). Но с flex-direction: column ось легко поворачивается сверху вниз.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Выравнивание: justify-content и align-items: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justify-content выравнивает вдоль главной оси (center, space-between), а align-items — центрирует по высоте без костылей.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12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gap — идеальные отступы: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Заменяет мучения с margin-right и :last-child. Одной командой gap: 20px создает равные промежутки между дочерними блоками.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97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7592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Магический flex: 1 (Жадное растяжение):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Говорит элементу: «Забери всё свободное место!». Именно благодаря этому блок .main выталкивает футер в самый низ экрана.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CSS GRID: ДВУМЕРНЫЕ СЕТКИ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Когда и зачем использовать CSS Grid вместо Flexbox?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(CSS Grid Syntax)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ДВУМЕРНЫЙ СЕТОЧНЫЙ КАРКАС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СЕТОЧНЫЙ КОНТЕЙНЕР (Grid)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.rooms-catalog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grid</a:t>
            </a:r>
            <a:r>
              <a:rPr sz="800">
                <a:solidFill>
                  <a:srgbClr val="71717A"/>
                </a:solidFill>
                <a:latin typeface="Consolas"/>
              </a:rPr>
              <a:t>; /* Включаем 2D-сетку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3 равные колонки по 1 доле (fr):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grid-template-columns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repeat(3, 1fr)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71717A"/>
                </a:solidFill>
                <a:latin typeface="Consolas"/>
              </a:rPr>
              <a:t>; /* Отступ строк и колонок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ОСОБАЯ КАРТОЧКА (Grid-элемент)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.card-featured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grid-column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span 2</a:t>
            </a:r>
            <a:r>
              <a:rPr sz="800">
                <a:solidFill>
                  <a:srgbClr val="71717A"/>
                </a:solidFill>
                <a:latin typeface="Consolas"/>
              </a:rPr>
              <a:t>; /* Растянуть на 2 ячейки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.card-full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grid-column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 / -1</a:t>
            </a:r>
            <a:r>
              <a:rPr sz="800">
                <a:solidFill>
                  <a:srgbClr val="71717A"/>
                </a:solidFill>
                <a:latin typeface="Consolas"/>
              </a:rPr>
              <a:t>; /* На всю ширину ряда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Двумерная координатная плоскость (2D):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Grid одновременно управляет и строками, и столбцами. Элементы распределяются по ячейкам, как на шахматной доске.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Шаблон колонок: repeat(3, 1fr):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Команда repeat(3, 1fr) делит ширину родителя на 3 абсолютно равные колонки. Браузер сам пересчитывает ширину ячеек!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638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Единица измерения fr (Fraction):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Доля от свободного места. Шаблон 1fr 2fr создаст две колонки, где правая будет ровно в два раза шире левой.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1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0734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Объединение ячеек через span: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grid-column: span 2 позволяет карточке переговорной или баннеру занять сразу две ячейки, не ломая соседей.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7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73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Где применяется в веб-разработке: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Витрины интернет-магазинов, каталоги комнат и услуг, галереи фото и дашборды с графиками создаются именно на CSS Grid!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Зачем сбрасывать стандартные отступы браузеров?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(базовый сброс)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СБРОС СТИЛЕЙ И БАЗОВЫЕ НАСТРОЙКИ        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Селектор * выбирает абсолютно все теги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*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Включаем padding и border в общую ширину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box-sizing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border-box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Сбрасываем браузерные внешние отступы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Сбрасываем браузерные внутренние поля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МАГИЯ BOX-SIZING: BORDER-BOX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Проблема браузерных стилей: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 каждого браузера (Chrome, Safari, Firefox, Edge) свои отступы для &lt;body&gt;, &lt;h1&gt;, &lt;p&gt;, &lt;ul&gt;. Сброс делает их одинаковыми.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Что делает margin: 0; padding: 0;?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Убирает паразитные белые поля по краям экрана и у списков, давая нам полный контроль над каждым пикселем.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Главное свойство — box-sizing: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умолчанию (content-box) если блоку шириной 100px задать padding: 20px, он станет 140px! Это ломает сетку верстки.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Результат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Ширина блока всегда остается ровно 100px, а внутренние отступы аккуратно сжимают контент внутри него.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CSS: СБРОС СТИЛЕЙ (*)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настроить тело страницы и заложить прижатие подвала?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(body)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body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Базовый шрифт и цвет текста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font-family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'Inter', sans-serif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line-height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1.5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Flexbox-раскладка для прижатия футера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100vh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1200px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ФУНДАМЕНТ СТРАНИЦЫ (BODY)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font-family: 'Inter', sans-serif: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Браузер использует загруженный шрифт Inter, а если интернета нет — системный шрифт без засечек sans-serif.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line-height: 1.5 (Интерлиньяж):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Полуторный межстрочный интервал делает даже длинный текст легким и приятным для чтения студентами.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78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40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min-height: 100vh (Высота viewport):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100vh означает 100% высоты экрана. Страница гарантированно не сожмется, даже если на ней всего одно слово.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63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25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display: flex; flex-direction: column: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Выстраивает шапку, контент и футер вертикально друг под другом, подготавливая почву для идеального прижатия футера.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БАЗОВЫЕ НАСТРОЙКИ BODY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удержать контент в центре экрана на любом мониторе?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(.container)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Ограничивающий и центрирующий контейнер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Фиксированная ширина контентной зоны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1200px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Автоматическое центрирование по горизонтали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 auto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Внутренние поля безопасности слева и справа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 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АНАТОМИЯ КЛАССА .CONTAINER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width: 1200px (Ширина контента):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На мониторах 2K и 4K текст без контейнера растянулся бы на 2 метра. 1200px — золотой стандарт читаемости.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Секрет margin: 0 auto: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Первое значение (0) — отступы сверху и снизу. Второе (auto) — браузер делит оставшееся место поровну слева и справа!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28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90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padding: 0 15px (Боковые поля):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окно уменьшится, текст не упрется в край экрана, а сохранит эстетичный зазор в 15 пикселей.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Где применяется: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Мы оборачиваем в .container контент внутри &lt;header&gt;, &lt;main&gt; и &lt;footer&gt;, выстраивая всю страницу по единой линейке.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ЦЕНТРИРУЮЩИЙ КОНТЕЙНЕР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структурировать элементы внутри шапки сайта?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(&lt;header&gt;)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"header"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header-container"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Логотип со ссылкой на Главную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"index.html"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"logo"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&lt;img </a:t>
            </a:r>
            <a:r>
              <a:rPr sz="800">
                <a:solidFill>
                  <a:srgbClr val="A78BFA"/>
                </a:solidFill>
                <a:latin typeface="Consolas"/>
              </a:rPr>
              <a:t>src=</a:t>
            </a:r>
            <a:r>
              <a:rPr sz="800">
                <a:solidFill>
                  <a:srgbClr val="FCD34D"/>
                </a:solidFill>
                <a:latin typeface="Consolas"/>
              </a:rPr>
              <a:t>"img/logo.svg"</a:t>
            </a:r>
            <a:r>
              <a:rPr sz="800">
                <a:solidFill>
                  <a:srgbClr val="A78BFA"/>
                </a:solidFill>
                <a:latin typeface="Consolas"/>
              </a:rPr>
              <a:t> alt=</a:t>
            </a:r>
            <a:r>
              <a:rPr sz="800">
                <a:solidFill>
                  <a:srgbClr val="FCD34D"/>
                </a:solidFill>
                <a:latin typeface="Consolas"/>
              </a:rPr>
              <a:t>"Логотип"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"logo-icon"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&lt;span&gt;</a:t>
            </a:r>
            <a:r>
              <a:rPr sz="800">
                <a:solidFill>
                  <a:srgbClr val="D4D4D8"/>
                </a:solidFill>
                <a:latin typeface="Consolas"/>
              </a:rPr>
              <a:t>СмартОфис</a:t>
            </a:r>
            <a:r>
              <a:rPr sz="800">
                <a:solidFill>
                  <a:srgbClr val="F472B6"/>
                </a:solidFill>
                <a:latin typeface="Consolas"/>
              </a:rPr>
              <a:t>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&lt;/a&gt;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Навигационное меню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&lt;nav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"nav"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&lt;ul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"nav-list"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"index.html"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 active"</a:t>
            </a:r>
            <a:r>
              <a:rPr sz="800">
                <a:solidFill>
                  <a:srgbClr val="F472B6"/>
                </a:solidFill>
                <a:latin typeface="Consolas"/>
              </a:rPr>
              <a:t>&gt;Главная&lt;/a&gt;&lt;/li&gt;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"pages/catalog.html"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"nav-link"</a:t>
            </a:r>
            <a:r>
              <a:rPr sz="800">
                <a:solidFill>
                  <a:srgbClr val="F472B6"/>
                </a:solidFill>
                <a:latin typeface="Consolas"/>
              </a:rPr>
              <a:t>&gt;Каталог&lt;/a&gt;&lt;/li&gt;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"pages/login.html"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 nav-btn"</a:t>
            </a:r>
            <a:r>
              <a:rPr sz="800">
                <a:solidFill>
                  <a:srgbClr val="F472B6"/>
                </a:solidFill>
                <a:latin typeface="Consolas"/>
              </a:rPr>
              <a:t>&gt;Войти&lt;/a&gt;&lt;/li&gt;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&lt;/ul&gt;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&lt;/nav&gt;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&lt;/header&gt;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СТРУКТУРА И ВЛОЖЕННОСТЬ ШАПКИ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Двухуровневая обертка: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Внешний тег &lt;header&gt; отвечает за фон и нижнюю границу на всю ширину. Внутренний .header-container центрирует элементы.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Логотип как ссылка (&lt;a&gt;):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Логотип объединяет SVG-иконку и текст. Клик по любой его части перезагружает сайт или возвращает пользователя на главную.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Семантический тег &lt;nav&gt;: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Группирует основные ссылки сайта. Поисковые роботы сразу понимают, что здесь находится карта разделов.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Класс .active и кнопка .nav-btn: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.active показывает пользователю, на какой странице он находится. .nav-btn превращает третью ссылку в акцентную кнопку.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1860" y="259715"/>
            <a:ext cx="289814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ШАПКА САЙТА (HEADER): 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разнести логотип и меню по противоположным краям?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(header flexbox)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1px solid #dddddd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18px 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.header-container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.logo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text-decoration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.logo-icon { width: 32px; height: 32px;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СИЛА FLEXBOX В ДЕЙСТВИИ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display: flex (Включаем гибкую сетку):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Превращает .header-container в флекс-контейнер. Все прямые потомки (логотип и меню) встают в одну ровную линию.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justify-content: space-between: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Главный трюк верстки! Первый элемент (лого) прижимается к левой стенке, последний (меню) — к правой стенке.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align-items: center: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Выравнивает элементы по вертикальной оси. Логотип и кнопки встают строго по центру без ручных отступов.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gap: 10px в .logo: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Современный способ задать отступ ровно в 10px между иконкой логотипа и текстом бренда без margin-right.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1860" y="259715"/>
            <a:ext cx="289814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ШАПКА САЙТА: CSS &amp; FLEXBOX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оформить ссылки, состояния hover и кнопку «Войти»?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(навигация)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.nav-list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list-style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71717A"/>
                </a:solidFill>
                <a:latin typeface="Consolas"/>
              </a:rPr>
              <a:t>; /* Убираем маркеры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.nav-link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text-decoration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8px 14px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500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.nav-link:hover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#eaf2ff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.nav-btn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.nav-btn:hover { background-color: #0056b3;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СТИЛИЗАЦИЯ И ИНТЕРАКТИВНОСТЬ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list-style: none: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Убирает браузерные черные точки у тегов &lt;li&gt;. Меню превращается в аккуратную группу кнопок.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Псевдокласс :hover: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Срабатывает в момент наведения курсора мыши. Ссылка меняет цвет на синий и получает легкий голубой фон #eaf2ff.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78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40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Кнопка призыва к действию (.nav-btn):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Класс .nav-btn окрашивает кнопку «Войти» в насыщенный цвет #007bff с белым текстом, делая её заметной.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border-radius: 4px: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Легкое скругление углов придает элементам интерфейса современный мягкий вид.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4070" y="259715"/>
            <a:ext cx="299593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НАВИГАЦИОННОЕ МЕНЮ И КНОПКА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сверстать эффектный презентационный заголовок?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(Hero)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Главный баннер (Hero-блок)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&lt;section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"hero-section"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&lt;h1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"hero-title"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Портал бронирования офисных комнат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"brand-highlight"</a:t>
            </a:r>
            <a:r>
              <a:rPr sz="800">
                <a:solidFill>
                  <a:srgbClr val="F472B6"/>
                </a:solidFill>
                <a:latin typeface="Consolas"/>
              </a:rPr>
              <a:t>&gt;«СмартОфис»&lt;/span&gt;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&lt;/h1&gt;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"hero-bottom"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&lt;/section&gt;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Стили гигантского заголовка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.hero-title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line-height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0.95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letter-spacing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-0.04em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.brand-highlight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ПЛАКАТНАЯ ТИПОГРАФИКА HERO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Единственный заголовок &lt;h1&gt;: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стандартам веб-доступности и поисковых систем Google/Яндекс на странице должен быть только один &lt;h1&gt;.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font-size: 108px: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Смелый плакатный размер сразу приковывает внимание студента и формирует премиальное ощущение от сервиса.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line-height: 0.95 и letter-spacing: -0.04em: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 экстремально больших шрифтах буквы разъезжаются. Отрицательный кернинг и плотный интерлиньяж делают текст монолитным.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Подсветка бренда через &lt;span&gt;: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Тег &lt;span&gt; позволяет изменить цвет слова «СмартОфис» на фирменный синий, не разбивая заголовок на части.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96280" y="259715"/>
            <a:ext cx="309372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ГЛАВНЫЙ ЭКРАН (HERO SECTION)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скомпоновать цифры и показатели сервиса в одну линию?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(Metrics)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"hero-bottom"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&lt;p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"hero-subtitle"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Удобный выбор и быстрое бронирование...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"hero-metrics"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"metric-item"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"metric-val"</a:t>
            </a:r>
            <a:r>
              <a:rPr sz="800">
                <a:solidFill>
                  <a:srgbClr val="F472B6"/>
                </a:solidFill>
                <a:latin typeface="Consolas"/>
              </a:rPr>
              <a:t>&gt;24/7&lt;/span&gt;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"metric-lbl"</a:t>
            </a:r>
            <a:r>
              <a:rPr sz="800">
                <a:solidFill>
                  <a:srgbClr val="F472B6"/>
                </a:solidFill>
                <a:latin typeface="Consolas"/>
              </a:rPr>
              <a:t>&gt;Доступ&lt;/span&gt;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"metric-item"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"metric-val"</a:t>
            </a:r>
            <a:r>
              <a:rPr sz="800">
                <a:solidFill>
                  <a:srgbClr val="F472B6"/>
                </a:solidFill>
                <a:latin typeface="Consolas"/>
              </a:rPr>
              <a:t>&gt;от 250 ₽&lt;/span&gt;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"metric-lbl"</a:t>
            </a:r>
            <a:r>
              <a:rPr sz="800">
                <a:solidFill>
                  <a:srgbClr val="F472B6"/>
                </a:solidFill>
                <a:latin typeface="Consolas"/>
              </a:rPr>
              <a:t>&gt;Почасовая аренда&lt;/span&gt;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.hero-bottom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border-top: 2px solid #222222; padding-top: 20px;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display: flex; justify-content: space-between;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.metric-val { font-size: 20px; font-weight: 800; color: #007bff;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АРХИТЕКТУРА НИЖНЕЙ ЧАСТИ HERO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Графическая черта border-top: 2px solid: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Контрастная черная линия отделяет масштабный заголовок от подробностей, задавая строгий журнальный стиль.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Раскладка justify-content: space-between: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Подзаголовок аккуратно размещается слева (max-width: 600px), а метрики выстраиваются в правой части экрана.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28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90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Вертикальная колонка .metric-item: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display: flex; flex-direction: column ставит яркую цифру 24/7 строго над маленькой подписью «Доступ».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40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302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Контраст типографики: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Значение (.metric-val): 20px, жирный шрифт 800, синий цвет. Подпись (.metric-lbl): 12px, серый нейтральный цвет #777777.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9650" y="259715"/>
            <a:ext cx="280035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БЛОК ПРЕИМУЩЕСТВ И МЕТРИК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Зачем в стилях классы .page-title и .page-subtitle?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(.page-title)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СТИЛИ ДЛЯ ВНУТРЕННИХ СТРАНИЦ ПРОЕКТА     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Главный заголовок страниц Каталога и Входа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.page-title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letter-spacing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-0.02em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text-align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Серый центрированный подзаголовок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.page-subtitle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#666666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text-align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ПРОЕКТИРОВАНИЕ НА ОПЕРЕЖЕНИЕ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Задел для следующих вебинаров: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На 3 и 4 вебинарах мы создадим catalog.html и login.html. Классы .page-title и .page-subtitle уже готовы для них!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text-align: center: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Центрирует текст по горизонтали внутри контейнера, создавая симметричную шапку внутренних разделов.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Принцип DRY (Don't Repeat Yourself):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Мы не пишем заново оформление заголовков для каждой страницы. Мы создаем единый переиспользуемый класс.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Визуальная иерархия: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Крупный жирный заголовок 28px и деликатный серый подзаголовок 15px создают гармоничную композицию.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2910" y="259715"/>
            <a:ext cx="33870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УНИВЕРСАЛЬНЫЕ ЗАГОЛОВКИ СТРАНИЦ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оформить кликабельные контакты и юридический блок?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(footer)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&lt;footer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footer-container"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Левая колонка: описание и копирайт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"footer-info"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&lt;p&gt;&lt;strong&gt;СмартОфис&lt;/strong&gt; — Сервис бронирования&lt;/p&gt;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&lt;p&gt;© 2026 СмартОфис. Все права защищены.&lt;/p&gt;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Правая колонка: интерактивные контакты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"footer-contacts"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&lt;p&gt;Email: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"mailto:info@smartoffice.ru"</a:t>
            </a:r>
            <a:r>
              <a:rPr sz="800">
                <a:solidFill>
                  <a:srgbClr val="D4D4D8"/>
                </a:solidFill>
                <a:latin typeface="Consolas"/>
              </a:rPr>
              <a:t>&gt;info@smartoffice.ru&lt;/a&gt;&lt;/p&gt;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&lt;p&gt;Телефон: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"tel:+78005553535"</a:t>
            </a:r>
            <a:r>
              <a:rPr sz="800">
                <a:solidFill>
                  <a:srgbClr val="D4D4D8"/>
                </a:solidFill>
                <a:latin typeface="Consolas"/>
              </a:rPr>
              <a:t>&gt;+7 (800) 555-35-35&lt;/a&gt;&lt;/p&gt;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&lt;/footer&gt;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.footer { background-color: #f8f9fa; border-top: 1px solid #dddddd; padding: 25px 0;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.footer-contacts a { color: #007bff; text-decoration: none;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СТАНДАРТЫ ОФОРМЛЕНИЯ ПОДВАЛА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Протокол mailto: в ссылках: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 клике на ссылку href="mailto:..." устройство пользователя автоматически открывает почтовую программу с заполненным адресом.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68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30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Протокол tel: для быстрых звонков: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Ссылка href="tel:+78005553535" на смартфонах сразу запускает набор телефонного номера. Это стандарт мобильного UX.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705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67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&lt;strong&gt; для акцента: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Выделяет название сервиса жирным шрифтом в первом абзаце футера.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Фон #f8f9fa и разделитель #dddddd: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Мягкий светлый фон и тонкая верхняя рамка деликатно завершают страницу в самом низу.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ПОДВАЛ САЙТА (FOOTER)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Почему футер не улетает вверх при малом количестве контента?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(Sticky Footer)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1: Тело сайта тянется минимум на 100vh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body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100vh</a:t>
            </a:r>
            <a:r>
              <a:rPr sz="800">
                <a:solidFill>
                  <a:srgbClr val="71717A"/>
                </a:solidFill>
                <a:latin typeface="Consolas"/>
              </a:rPr>
              <a:t>; /* 100% высоты окна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2: Блок main забирает всё свободное место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.main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</a:t>
            </a:r>
            <a:r>
              <a:rPr sz="800">
                <a:solidFill>
                  <a:srgbClr val="71717A"/>
                </a:solidFill>
                <a:latin typeface="Consolas"/>
              </a:rPr>
              <a:t>; /* Жадно растягивается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40px 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3: Подвал гарантированно прижат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.footer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margin-top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auto</a:t>
            </a:r>
            <a:r>
              <a:rPr sz="800">
                <a:solidFill>
                  <a:srgbClr val="71717A"/>
                </a:solidFill>
                <a:latin typeface="Consolas"/>
              </a:rPr>
              <a:t>; /* Выталкивается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МЕХАНИКА «ЛИПКОГО» ПОДВАЛА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Классическая беда новичков: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на странице мало текста, футер поднимается к середине монитора, а под ним висит пустота. Это выглядит непрофессионально.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1: body на 100vh: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Окно браузера делится на флекс-колонку, которая всегда занимает как минимум 100% высоты экрана.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2: flex: 1 для .main: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Магическое свойство flex: 1 говорит браузеру: «Растяни блок main на всю оставшуюся пустоту страницы».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3: margin-top: auto: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Финальная страховка. Футер выталкивается в самый нижний край экрана при любом объеме информации!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5121" y="259715"/>
            <a:ext cx="3484879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ТЕХНИКА FLEXBOX: ПРИЖАТИЕ ФУТЕРА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работают всплывающие системные уведомления?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(Toast &amp; Animation)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Контейнер прикреплен к правому нижнему углу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.toast-container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position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fixed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right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z-index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.toast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14px 18px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6px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animation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toastFadeIn 0.3s ease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.toast-success { border-left: 4px solid #28a745;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.toast-danger  { border-left: 4px solid #dc3545;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Плавная анимация всплытия снизу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@keyframes toastFadeIn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  from { opacity: 0; transform: translateY(15px);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  to   { opacity: 1; transform: translateY(0);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ПОЗИЦИОНИРОВАНИЕ И ЭФФЕКТЫ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position: fixed (Фиксация на экране):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Контейнер уведомлений вырван из общего потока и привязан к углу монитора. При прокрутке страницы он остается на месте.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z-index: 1000: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Определяет слой по высоте. Значение 1000 гарантирует, что всплывающее сообщение перекроет любой другой элемент сайта.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Цветовой индикатор статуса: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border-left: 4px solid #28a745 красит левую грань в зеленый при успехе и в красный #dc3545 при ошибке.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Анимация @keyframes toastFadeIn: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Сообщение появляется из прозрачности (opacity: 0 -&gt; 1) и сдвигается на 15px снизу вверх за треть секунды (0.3s).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5121" y="259715"/>
            <a:ext cx="3484879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TOAST-УВЕДОМЛЕНИЯ И CSS-АНИМАЦИИ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На чем чаще всего спотыкаются студенты при первой верстке?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Забыли rel="stylesheet"</a:t>
            </a:r>
          </a:p>
        </p:txBody>
      </p:sp>
      <p:sp>
        <p:nvSpPr>
          <p:cNvPr id="5" name="Rectangle 4"/>
          <p:cNvSpPr/>
          <p:nvPr/>
        </p:nvSpPr>
        <p:spPr>
          <a:xfrm>
            <a:off x="482600" y="1117600"/>
            <a:ext cx="37719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2600" y="1193800"/>
            <a:ext cx="37719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Написали &lt;link href="css/style.css"&gt; без атрибута rel="stylesheet".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Браузер скачает файл, но не поймет, что это таблица стилей. Обязательно пишите rel="stylesheet"!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3300" y="838200"/>
            <a:ext cx="38354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Опечатка в пути к стилям или иконке</a:t>
            </a:r>
          </a:p>
        </p:txBody>
      </p:sp>
      <p:sp>
        <p:nvSpPr>
          <p:cNvPr id="8" name="Rectangle 7"/>
          <p:cNvSpPr/>
          <p:nvPr/>
        </p:nvSpPr>
        <p:spPr>
          <a:xfrm>
            <a:off x="4813300" y="1117600"/>
            <a:ext cx="3835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13300" y="1193800"/>
            <a:ext cx="38354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Указали href="style.css" вместо правильного относительного пути href="css/style.css".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Стили лежат во вложенной папке css/. Проверяйте пути в проводнике VS Code или WebStorm.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794000"/>
            <a:ext cx="3771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Незакрытые парные теги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2600" y="3073400"/>
            <a:ext cx="37719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600" y="3149600"/>
            <a:ext cx="37719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Забыли закрыть тег &lt;/div&gt;, &lt;header&gt;, &lt;section&gt; или &lt;ul&gt;.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Один незакрытый тег ломает всю сетку Flexbox дальше по коду. Пользуйтесь подсветкой парных тегов в 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3300" y="2794000"/>
            <a:ext cx="38354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Пропустили сброс box-sizing: border-box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13300" y="3073400"/>
            <a:ext cx="3835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13300" y="3149600"/>
            <a:ext cx="38354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Не написали сброс * { box-sizing: border-box; } в самом начале CSS.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Любой padding и border будут увеличивать ширину блоков, создавая неприятный горизонтальный скролл.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РАЗБОР ТИПИЧНЫХ ОШИБОК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убедиться, что код вебинара написан на 100% правильно?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3600"/>
            <a:ext cx="7620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6F03"/>
                </a:solidFill>
                <a:latin typeface="Montserrat"/>
              </a:rPr>
              <a:t>ЧЕК-ЛИСТ ГОТОВНОСТИ ПРАКТИЧЕСКОЙ ЧАСТИ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68400"/>
            <a:ext cx="7772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3208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462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200" y="12954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Файловая структура проекта организована корректно: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Файл index.html находится в корне, таблица стилей в папке css/style.css, векторный логотип в img/logo.svg.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050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304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200" y="18796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Кодировка и шрифты подключены без сбоев: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Указан &lt;meta charset="UTF-8"&gt;, шрифт Inter подгружается из Google Fonts, текст не содержит символов-кракозябр.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892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5146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200" y="24638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Семантический каркас страницы валиден: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Использованы семантические теги HTML5: &lt;header&gt;, &lt;nav&gt;, &lt;main&gt;, &lt;section class="hero-section"&gt;, &lt;footer&gt;.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734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0988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200" y="30480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Контент центрирован внутри .container на 1200px: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Шапка, hero-блок и футер аккуратно держатся по центру экрана с полями безопасности благодаря margin: 0 auto.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6830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200" y="36322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Футер надежно прижат к низу страницы: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Благодаря связке body { min-height: 100vh; flex-direction: column; } и main { flex: 1; } футер никогда не зависает в воздухе.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98490" y="259715"/>
            <a:ext cx="319151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ИТОГИ И ЧЕК-ЛИСТ САМОПРОВЕРКИ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7269BFD-DAB1-1A37-6DFD-0F7DAC1CDC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85" b="1"/>
          <a:stretch/>
        </p:blipFill>
        <p:spPr>
          <a:xfrm>
            <a:off x="1014672" y="1027450"/>
            <a:ext cx="7114656" cy="331495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2" name="Rounded Rectangle 11"/>
          <p:cNvSpPr/>
          <p:nvPr/>
        </p:nvSpPr>
        <p:spPr>
          <a:xfrm>
            <a:off x="7239000" y="259715"/>
            <a:ext cx="165100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РЕЗУЛЬТАТ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/>
          <p:nvPr/>
        </p:nvSpPr>
        <p:spPr>
          <a:xfrm>
            <a:off x="1147350" y="1375225"/>
            <a:ext cx="6849300" cy="2282400"/>
          </a:xfrm>
          <a:prstGeom prst="roundRect">
            <a:avLst>
              <a:gd name="adj" fmla="val 11015"/>
            </a:avLst>
          </a:prstGeom>
          <a:gradFill flip="none" rotWithShape="1"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10800000" scaled="1"/>
            <a:tileRect/>
          </a:gradFill>
          <a:ln>
            <a:noFill/>
          </a:ln>
          <a:effectLst>
            <a:outerShdw blurRad="142875" dist="9525" dir="600000" algn="ctr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1828800" y="1734203"/>
            <a:ext cx="54864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ДО </a:t>
            </a:r>
            <a:r>
              <a:rPr lang="ru-RU" sz="2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ВСТРЕЧИ</a:t>
            </a:r>
            <a:r>
              <a:rPr lang="en" sz="30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! </a:t>
            </a:r>
            <a:endParaRPr sz="3000">
              <a:solidFill>
                <a:schemeClr val="lt1"/>
              </a:solidFill>
              <a:latin typeface="Montserrat ExtraBold" panose="00000900000000000000" pitchFamily="2" charset="-52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УВИДИМСЯ НА СЛЕДУЮЩЕМ ЗАНЯТИИ</a:t>
            </a:r>
            <a:endParaRPr sz="1800">
              <a:solidFill>
                <a:schemeClr val="lt1"/>
              </a:solidFill>
              <a:latin typeface="Montserrat ExtraBold" panose="00000900000000000000" pitchFamily="2" charset="-52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Другая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00B0F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Другая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B0F0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2461</TotalTime>
  <Words>5609</Words>
  <Application>Microsoft Office PowerPoint</Application>
  <PresentationFormat>Экран (16:9)</PresentationFormat>
  <Paragraphs>688</Paragraphs>
  <Slides>27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9" baseType="lpstr">
      <vt:lpstr>Arial</vt:lpstr>
      <vt:lpstr>Montserrat SemiBold</vt:lpstr>
      <vt:lpstr>Consolas</vt:lpstr>
      <vt:lpstr>PT Sans Caption</vt:lpstr>
      <vt:lpstr>Inter Medium</vt:lpstr>
      <vt:lpstr>Segoe UI Symbol</vt:lpstr>
      <vt:lpstr>Montserrat ExtraBold</vt:lpstr>
      <vt:lpstr>Montserrat</vt:lpstr>
      <vt:lpstr>Calibri</vt:lpstr>
      <vt:lpstr>Inter</vt:lpstr>
      <vt:lpstr>Proxima Nova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mrsky1001</dc:creator>
  <cp:lastModifiedBy>Keith Allison</cp:lastModifiedBy>
  <cp:revision>260</cp:revision>
  <dcterms:modified xsi:type="dcterms:W3CDTF">2026-09-06T15:57:19Z</dcterms:modified>
</cp:coreProperties>
</file>