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60" r:id="rId4"/>
    <p:sldId id="274" r:id="rId5"/>
  </p:sldIdLst>
  <p:sldSz cx="9144000" cy="5143500" type="screen16x9"/>
  <p:notesSz cx="6858000" cy="9144000"/>
  <p:embeddedFontLst>
    <p:embeddedFont>
      <p:font typeface="Inter" panose="02000503000000020004" pitchFamily="2" charset="0"/>
      <p:regular r:id="rId8"/>
      <p:bold r:id="rId9"/>
      <p:italic r:id="rId10"/>
      <p:boldItalic r:id="rId11"/>
    </p:embeddedFont>
    <p:embeddedFont>
      <p:font typeface="Inter Medium" panose="02000503000000020004" pitchFamily="2" charset="0"/>
      <p:regular r:id="rId12"/>
      <p:italic r:id="rId13"/>
    </p:embeddedFont>
    <p:embeddedFont>
      <p:font typeface="Montserrat" panose="00000500000000000000" pitchFamily="2" charset="-52"/>
      <p:regular r:id="rId14"/>
      <p:bold r:id="rId15"/>
      <p:italic r:id="rId16"/>
      <p:boldItalic r:id="rId17"/>
    </p:embeddedFont>
    <p:embeddedFont>
      <p:font typeface="Montserrat ExtraBold" panose="00000900000000000000" pitchFamily="2" charset="-52"/>
      <p:bold r:id="rId18"/>
      <p:boldItalic r:id="rId19"/>
    </p:embeddedFont>
    <p:embeddedFont>
      <p:font typeface="Montserrat SemiBold" panose="00000700000000000000" pitchFamily="2" charset="-52"/>
      <p:bold r:id="rId20"/>
      <p:boldItalic r:id="rId21"/>
    </p:embeddedFont>
    <p:embeddedFont>
      <p:font typeface="Proxima Nova" panose="020B0604020202020204" charset="0"/>
      <p:regular r:id="rId22"/>
      <p:bold r:id="rId23"/>
      <p:italic r:id="rId24"/>
      <p:boldItalic r:id="rId25"/>
    </p:embeddedFont>
    <p:embeddedFont>
      <p:font typeface="PT Sans Caption" panose="020B0603020203020204" pitchFamily="34" charset="-52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747775"/>
          </p15:clr>
        </p15:guide>
        <p15:guide id="2" pos="723">
          <p15:clr>
            <a:srgbClr val="747775"/>
          </p15:clr>
        </p15:guide>
        <p15:guide id="3" pos="5037">
          <p15:clr>
            <a:srgbClr val="747775"/>
          </p15:clr>
        </p15:guide>
        <p15:guide id="4" pos="1152">
          <p15:clr>
            <a:srgbClr val="747775"/>
          </p15:clr>
        </p15:guide>
        <p15:guide id="5" pos="4608">
          <p15:clr>
            <a:srgbClr val="747775"/>
          </p15:clr>
        </p15:guide>
        <p15:guide id="6" orient="horz" pos="1440">
          <p15:clr>
            <a:srgbClr val="747775"/>
          </p15:clr>
        </p15:guide>
        <p15:guide id="7" orient="horz" pos="1728">
          <p15:clr>
            <a:srgbClr val="747775"/>
          </p15:clr>
        </p15:guide>
        <p15:guide id="8" pos="2808">
          <p15:clr>
            <a:srgbClr val="747775"/>
          </p15:clr>
        </p15:guide>
        <p15:guide id="9" orient="horz" pos="2448">
          <p15:clr>
            <a:srgbClr val="747775"/>
          </p15:clr>
        </p15:guide>
        <p15:guide id="10" orient="horz" pos="2735">
          <p15:clr>
            <a:srgbClr val="747775"/>
          </p15:clr>
        </p15:guide>
        <p15:guide id="11" orient="horz" pos="1080">
          <p15:clr>
            <a:srgbClr val="747775"/>
          </p15:clr>
        </p15:guide>
        <p15:guide id="12" orient="horz" pos="868">
          <p15:clr>
            <a:srgbClr val="747775"/>
          </p15:clr>
        </p15:guide>
        <p15:guide id="13" orient="horz" pos="2391" userDrawn="1">
          <p15:clr>
            <a:srgbClr val="747775"/>
          </p15:clr>
        </p15:guide>
        <p15:guide id="14" pos="288">
          <p15:clr>
            <a:srgbClr val="747775"/>
          </p15:clr>
        </p15:guide>
        <p15:guide id="15" pos="5278">
          <p15:clr>
            <a:srgbClr val="747775"/>
          </p15:clr>
        </p15:guide>
        <p15:guide id="16" pos="5184">
          <p15:clr>
            <a:srgbClr val="747775"/>
          </p15:clr>
        </p15:guide>
        <p15:guide id="17" orient="horz" pos="2304">
          <p15:clr>
            <a:srgbClr val="747775"/>
          </p15:clr>
        </p15:guide>
        <p15:guide id="18" pos="42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3"/>
    <a:srgbClr val="434343"/>
    <a:srgbClr val="F26101"/>
    <a:srgbClr val="F97316"/>
    <a:srgbClr val="FA9046"/>
    <a:srgbClr val="F88B06"/>
    <a:srgbClr val="FFFFFF"/>
    <a:srgbClr val="FF6102"/>
    <a:srgbClr val="FF60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89" autoAdjust="0"/>
  </p:normalViewPr>
  <p:slideViewPr>
    <p:cSldViewPr snapToGrid="0">
      <p:cViewPr varScale="1">
        <p:scale>
          <a:sx n="136" d="100"/>
          <a:sy n="136" d="100"/>
        </p:scale>
        <p:origin x="824" y="71"/>
      </p:cViewPr>
      <p:guideLst>
        <p:guide orient="horz" pos="145"/>
        <p:guide pos="723"/>
        <p:guide pos="5037"/>
        <p:guide pos="1152"/>
        <p:guide pos="4608"/>
        <p:guide orient="horz" pos="1440"/>
        <p:guide orient="horz" pos="1728"/>
        <p:guide pos="2808"/>
        <p:guide orient="horz" pos="2448"/>
        <p:guide orient="horz" pos="2735"/>
        <p:guide orient="horz" pos="1080"/>
        <p:guide orient="horz" pos="868"/>
        <p:guide orient="horz" pos="2391"/>
        <p:guide pos="288"/>
        <p:guide pos="5278"/>
        <p:guide pos="5184"/>
        <p:guide orient="horz" pos="2304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73" y="7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font" Target="fonts/font9.fntdata"/><Relationship Id="rId17" Type="http://schemas.openxmlformats.org/officeDocument/2006/relationships/font" Target="fonts/font10.fntdata"/><Relationship Id="rId18" Type="http://schemas.openxmlformats.org/officeDocument/2006/relationships/font" Target="fonts/font11.fntdata"/><Relationship Id="rId19" Type="http://schemas.openxmlformats.org/officeDocument/2006/relationships/font" Target="fonts/font12.fntdata"/><Relationship Id="rId20" Type="http://schemas.openxmlformats.org/officeDocument/2006/relationships/font" Target="fonts/font13.fntdata"/><Relationship Id="rId21" Type="http://schemas.openxmlformats.org/officeDocument/2006/relationships/font" Target="fonts/font14.fntdata"/><Relationship Id="rId22" Type="http://schemas.openxmlformats.org/officeDocument/2006/relationships/font" Target="fonts/font15.fntdata"/><Relationship Id="rId23" Type="http://schemas.openxmlformats.org/officeDocument/2006/relationships/font" Target="fonts/font16.fntdata"/><Relationship Id="rId24" Type="http://schemas.openxmlformats.org/officeDocument/2006/relationships/font" Target="fonts/font17.fntdata"/><Relationship Id="rId25" Type="http://schemas.openxmlformats.org/officeDocument/2006/relationships/font" Target="fonts/font18.fntdata"/><Relationship Id="rId26" Type="http://schemas.openxmlformats.org/officeDocument/2006/relationships/font" Target="fonts/font19.fntdata"/><Relationship Id="rId27" Type="http://schemas.openxmlformats.org/officeDocument/2006/relationships/font" Target="fonts/font20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7.xml"/><Relationship Id="rId35" Type="http://schemas.openxmlformats.org/officeDocument/2006/relationships/slide" Target="slides/slide8.xml"/><Relationship Id="rId36" Type="http://schemas.openxmlformats.org/officeDocument/2006/relationships/slide" Target="slides/slide9.xml"/><Relationship Id="rId37" Type="http://schemas.openxmlformats.org/officeDocument/2006/relationships/slide" Target="slides/slide10.xml"/><Relationship Id="rId38" Type="http://schemas.openxmlformats.org/officeDocument/2006/relationships/slide" Target="slides/slide11.xml"/><Relationship Id="rId39" Type="http://schemas.openxmlformats.org/officeDocument/2006/relationships/slide" Target="slides/slide12.xml"/><Relationship Id="rId40" Type="http://schemas.openxmlformats.org/officeDocument/2006/relationships/slide" Target="slides/slide13.xml"/><Relationship Id="rId41" Type="http://schemas.openxmlformats.org/officeDocument/2006/relationships/slide" Target="slides/slide14.xml"/><Relationship Id="rId42" Type="http://schemas.openxmlformats.org/officeDocument/2006/relationships/slide" Target="slides/slide15.xml"/><Relationship Id="rId43" Type="http://schemas.openxmlformats.org/officeDocument/2006/relationships/slide" Target="slides/slide16.xml"/><Relationship Id="rId44" Type="http://schemas.openxmlformats.org/officeDocument/2006/relationships/slide" Target="slides/slide17.xml"/><Relationship Id="rId45" Type="http://schemas.openxmlformats.org/officeDocument/2006/relationships/slide" Target="slides/slide18.xml"/><Relationship Id="rId46" Type="http://schemas.openxmlformats.org/officeDocument/2006/relationships/slide" Target="slides/slide19.xml"/><Relationship Id="rId47" Type="http://schemas.openxmlformats.org/officeDocument/2006/relationships/slide" Target="slides/slide20.xml"/><Relationship Id="rId48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7DFBAC-B63D-5280-65B6-B690638518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4C276-34E3-4752-F41F-A3446FF2C3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336A-A1AA-4037-A276-A09C8A017BD3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F3828-288C-03B8-F09E-18B8EFBEC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26C3A-FE45-0464-1707-5D99E0D66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0CBC-02B0-408E-89CC-D1E0D8286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0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d0507c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d0507c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d0507c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d0507c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F8C70B8F-B0FF-D376-584D-F24F346B242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D27988DF-5EA2-0147-1D2F-7D331508A08A}"/>
              </a:ext>
            </a:extLst>
          </p:cNvPr>
          <p:cNvSpPr/>
          <p:nvPr userDrawn="1"/>
        </p:nvSpPr>
        <p:spPr>
          <a:xfrm>
            <a:off x="6379159" y="259712"/>
            <a:ext cx="2510249" cy="38612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A0746FE1-7909-364E-106E-A03CFF905756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2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0F6D521-5D86-6760-69D6-E71DE65F9DE3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9277216-7C7E-E7C1-68E9-2B49D803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Рисунок 7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8B6CC871-C4C7-BC3A-E4B2-04FB22C8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Рисунок 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C45FD2B-5227-0D3D-1188-E08C76C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1097012B-1A8E-82B3-5458-F0856BCC8605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2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6C148-16DA-11C2-72A6-2DA0FE60F5D4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310B86E-76FD-A323-DB10-4DD1D36E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D4C76F9-53BE-88AC-A08A-6079C484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C4AA954-2B31-6C9A-8DB6-0A9C91B37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8560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58944C-C36B-53B2-E5FE-1A8017A396DF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3" name="Рисунок 2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0689A308-1BDC-8C47-FBF9-706C2D72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9C37A5D0-2C6A-2A78-9DF0-BDA00CE1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A38D3F9-EBE5-61E2-0F17-68765F66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648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2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CAC3359-0D1C-2648-A3CE-8FD94D6624EC}"/>
              </a:ext>
            </a:extLst>
          </p:cNvPr>
          <p:cNvGrpSpPr/>
          <p:nvPr/>
        </p:nvGrpSpPr>
        <p:grpSpPr>
          <a:xfrm>
            <a:off x="4094651" y="586050"/>
            <a:ext cx="5344770" cy="3994915"/>
            <a:chOff x="3873362" y="383111"/>
            <a:chExt cx="5344770" cy="3994915"/>
          </a:xfrm>
        </p:grpSpPr>
        <p:pic>
          <p:nvPicPr>
            <p:cNvPr id="21" name="Рисунок 20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B1608C3-64B6-A327-1599-2AAD5398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Рисунок 19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AB0EF07-2DC6-D314-2F23-DA864CFB1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Рисунок 1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BD80F8B-785E-2918-7419-1A8EC472B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4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7" name="Рисунок 16" hidden="1">
            <a:extLst>
              <a:ext uri="{FF2B5EF4-FFF2-40B4-BE49-F238E27FC236}">
                <a16:creationId xmlns:a16="http://schemas.microsoft.com/office/drawing/2014/main" id="{667CD691-B117-44B3-3B0E-B39C20289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497">
            <a:off x="3524075" y="-36569"/>
            <a:ext cx="4877481" cy="4877481"/>
          </a:xfrm>
          <a:prstGeom prst="rect">
            <a:avLst/>
          </a:prstGeom>
          <a:ln>
            <a:noFill/>
          </a:ln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C36EF06-1A0C-80A6-7B2B-DED85B0CE9D3}"/>
              </a:ext>
            </a:extLst>
          </p:cNvPr>
          <p:cNvGrpSpPr>
            <a:grpSpLocks noChangeAspect="1"/>
          </p:cNvGrpSpPr>
          <p:nvPr/>
        </p:nvGrpSpPr>
        <p:grpSpPr>
          <a:xfrm>
            <a:off x="883906" y="1263674"/>
            <a:ext cx="9501187" cy="3444540"/>
            <a:chOff x="485609" y="1513539"/>
            <a:chExt cx="9501187" cy="34445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C1C879-E7C0-BAF6-283A-AFB7548671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513539"/>
              <a:ext cx="9048750" cy="16158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ru-RU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ОСНОВЫ ВЕРСТКИ</a:t>
              </a:r>
              <a:r>
                <a:rPr lang="ru-RU" sz="1050">
                  <a:solidFill>
                    <a:schemeClr val="bg2">
                      <a:lumMod val="60000"/>
                      <a:lumOff val="4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 </a:t>
              </a:r>
              <a:r>
                <a:rPr lang="ru-RU" sz="1050" b="1" i="0">
                  <a:solidFill>
                    <a:schemeClr val="bg2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</a:rPr>
                <a:t>• </a:t>
              </a:r>
              <a:r>
                <a:rPr lang="en-US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HTML</a:t>
              </a:r>
              <a:endParaRPr sz="900">
                <a:solidFill>
                  <a:schemeClr val="bg2">
                    <a:lumMod val="40000"/>
                    <a:lumOff val="6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13DFB2-196B-9781-3BB6-B9E6C2AD5D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836705"/>
              <a:ext cx="9501187" cy="1846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Проектирование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endParaRPr lang="ru-RU" sz="4000" b="0" i="0" u="none">
                <a:solidFill>
                  <a:srgbClr val="F26101"/>
                </a:solidFill>
                <a:latin typeface="Montserrat ExtraBold"/>
              </a:endParaRPr>
            </a:p>
            <a:p>
              <a:pPr algn="l"/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и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разработка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интерфейсов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пользователя</a:t>
              </a:r>
              <a:endParaRPr sz="4000" b="0" i="0" u="none">
                <a:solidFill>
                  <a:srgbClr val="F26101"/>
                </a:solidFill>
                <a:latin typeface="Montserrat ExtraBold"/>
              </a:endParaRPr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FEDD9253-159E-2190-4737-EF5F83889817}"/>
                </a:ext>
              </a:extLst>
            </p:cNvPr>
            <p:cNvSpPr/>
            <p:nvPr/>
          </p:nvSpPr>
          <p:spPr>
            <a:xfrm>
              <a:off x="528139" y="426181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60AF5-DC82-A01F-35B1-F0D212A47FA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40697" y="4471214"/>
              <a:ext cx="9048750" cy="4868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Преподаватель</a:t>
              </a:r>
              <a:br>
                <a:rPr lang="ru-RU" sz="1200" b="0" i="0" u="none">
                  <a:solidFill>
                    <a:srgbClr val="000000"/>
                  </a:solidFill>
                  <a:latin typeface="Inter"/>
                </a:rPr>
              </a:b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Коляда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Никита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Владимирович</a:t>
              </a:r>
              <a:endParaRPr sz="1200" b="0" i="0" u="none">
                <a:solidFill>
                  <a:srgbClr val="1E293B"/>
                </a:solidFill>
                <a:latin typeface="Inter Medium"/>
              </a:endParaRPr>
            </a:p>
          </p:txBody>
        </p:sp>
      </p:grpSp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917E88D5-EA94-D5A3-686B-9D40CD1F594B}"/>
              </a:ext>
            </a:extLst>
          </p:cNvPr>
          <p:cNvSpPr/>
          <p:nvPr/>
        </p:nvSpPr>
        <p:spPr>
          <a:xfrm>
            <a:off x="7576356" y="4477514"/>
            <a:ext cx="1257300" cy="230700"/>
          </a:xfrm>
          <a:prstGeom prst="roundRect">
            <a:avLst>
              <a:gd name="adj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PT Sans Caption" panose="020B0603020203020204" pitchFamily="34" charset="-52"/>
                <a:ea typeface="Proxima Nova"/>
                <a:cs typeface="Proxima Nova"/>
                <a:sym typeface="Proxima Nova"/>
              </a:rPr>
              <a:t>Вебинар 2 </a:t>
            </a:r>
            <a:endParaRPr sz="1000">
              <a:solidFill>
                <a:schemeClr val="lt1"/>
              </a:solidFill>
              <a:latin typeface="PT Sans Caption" panose="020B0603020203020204" pitchFamily="34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58B89B-2C2C-FF42-63AA-D4BF5F186C9B}"/>
              </a:ext>
            </a:extLst>
          </p:cNvPr>
          <p:cNvSpPr txBox="1"/>
          <p:nvPr/>
        </p:nvSpPr>
        <p:spPr>
          <a:xfrm>
            <a:off x="6852005" y="287078"/>
            <a:ext cx="160813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ПЛАН ЗАНЯТИЯ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200184-121F-F05C-E93D-FAE98D6B282D}"/>
              </a:ext>
            </a:extLst>
          </p:cNvPr>
          <p:cNvSpPr/>
          <p:nvPr/>
        </p:nvSpPr>
        <p:spPr>
          <a:xfrm>
            <a:off x="1354281" y="1683158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395AA1B-3D46-8B23-C8C6-17018076BAB4}"/>
              </a:ext>
            </a:extLst>
          </p:cNvPr>
          <p:cNvSpPr/>
          <p:nvPr/>
        </p:nvSpPr>
        <p:spPr>
          <a:xfrm>
            <a:off x="1354281" y="2339341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6399EB-F240-72CC-3353-A3A41459B334}"/>
              </a:ext>
            </a:extLst>
          </p:cNvPr>
          <p:cNvSpPr/>
          <p:nvPr/>
        </p:nvSpPr>
        <p:spPr>
          <a:xfrm>
            <a:off x="1354281" y="2995524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DA3E706-14A3-9E5E-0150-993D92615B2B}"/>
              </a:ext>
            </a:extLst>
          </p:cNvPr>
          <p:cNvSpPr/>
          <p:nvPr/>
        </p:nvSpPr>
        <p:spPr>
          <a:xfrm>
            <a:off x="1354281" y="3651707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FE3CD0C6-B8FE-3432-6AEB-7276B21E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18" y="1216879"/>
            <a:ext cx="361950" cy="28575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6021423E-1547-B118-B6ED-FFA0E250049B}"/>
              </a:ext>
            </a:extLst>
          </p:cNvPr>
          <p:cNvSpPr txBox="1"/>
          <p:nvPr/>
        </p:nvSpPr>
        <p:spPr>
          <a:xfrm>
            <a:off x="2021031" y="1169850"/>
            <a:ext cx="3409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1. Теоретический блок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312261A-8473-F36D-CEA1-EF3D6CBA49EE}"/>
              </a:ext>
            </a:extLst>
          </p:cNvPr>
          <p:cNvSpPr txBox="1"/>
          <p:nvPr/>
        </p:nvSpPr>
        <p:spPr>
          <a:xfrm>
            <a:off x="2021031" y="1388925"/>
            <a:ext cx="340995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Структура документа, семантика HTML5 и основы CSS</a:t>
            </a:r>
          </a:p>
        </p:txBody>
      </p:sp>
      <p:pic>
        <p:nvPicPr>
          <p:cNvPr id="13" name="Picture 14">
            <a:extLst>
              <a:ext uri="{FF2B5EF4-FFF2-40B4-BE49-F238E27FC236}">
                <a16:creationId xmlns:a16="http://schemas.microsoft.com/office/drawing/2014/main" id="{DB7D649D-035F-23D7-8FE0-62D36D4C2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618" y="1873062"/>
            <a:ext cx="361950" cy="285750"/>
          </a:xfrm>
          <a:prstGeom prst="rect">
            <a:avLst/>
          </a:prstGeom>
        </p:spPr>
      </p:pic>
      <p:sp>
        <p:nvSpPr>
          <p:cNvPr id="14" name="TextBox 15">
            <a:extLst>
              <a:ext uri="{FF2B5EF4-FFF2-40B4-BE49-F238E27FC236}">
                <a16:creationId xmlns:a16="http://schemas.microsoft.com/office/drawing/2014/main" id="{FDCDC837-9B52-2ABD-BE72-B99F4CA2105A}"/>
              </a:ext>
            </a:extLst>
          </p:cNvPr>
          <p:cNvSpPr txBox="1"/>
          <p:nvPr/>
        </p:nvSpPr>
        <p:spPr>
          <a:xfrm>
            <a:off x="2021031" y="1826033"/>
            <a:ext cx="4257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2. Настройка окружения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8F3EAC1-CF94-CC80-E491-0A0A8AA37276}"/>
              </a:ext>
            </a:extLst>
          </p:cNvPr>
          <p:cNvSpPr txBox="1"/>
          <p:nvPr/>
        </p:nvSpPr>
        <p:spPr>
          <a:xfrm>
            <a:off x="2021031" y="2045108"/>
            <a:ext cx="4257675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Подготовка редактора кода (IDE) и организация файловой структуры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6FCC824B-76CC-4AF8-9619-51A75DC9B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668" y="2529246"/>
            <a:ext cx="323850" cy="285750"/>
          </a:xfrm>
          <a:prstGeom prst="rect">
            <a:avLst/>
          </a:prstGeom>
        </p:spPr>
      </p:pic>
      <p:sp>
        <p:nvSpPr>
          <p:cNvPr id="17" name="TextBox 18">
            <a:extLst>
              <a:ext uri="{FF2B5EF4-FFF2-40B4-BE49-F238E27FC236}">
                <a16:creationId xmlns:a16="http://schemas.microsoft.com/office/drawing/2014/main" id="{B44B7737-0986-B05E-A142-78D0B4A97F3F}"/>
              </a:ext>
            </a:extLst>
          </p:cNvPr>
          <p:cNvSpPr txBox="1"/>
          <p:nvPr/>
        </p:nvSpPr>
        <p:spPr>
          <a:xfrm>
            <a:off x="2021031" y="2482216"/>
            <a:ext cx="4162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3. Практическая разработка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0344B22-C18D-2718-3D60-543000748FD6}"/>
              </a:ext>
            </a:extLst>
          </p:cNvPr>
          <p:cNvSpPr txBox="1"/>
          <p:nvPr/>
        </p:nvSpPr>
        <p:spPr>
          <a:xfrm>
            <a:off x="2021031" y="2701291"/>
            <a:ext cx="4162425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Верстка универсальных блоков: шапка (header), навигация, подвал</a:t>
            </a:r>
          </a:p>
        </p:txBody>
      </p:sp>
      <p:pic>
        <p:nvPicPr>
          <p:cNvPr id="19" name="Picture 20">
            <a:extLst>
              <a:ext uri="{FF2B5EF4-FFF2-40B4-BE49-F238E27FC236}">
                <a16:creationId xmlns:a16="http://schemas.microsoft.com/office/drawing/2014/main" id="{80BE5282-4324-BB0D-B278-5DB149B20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718" y="3185429"/>
            <a:ext cx="285750" cy="285750"/>
          </a:xfrm>
          <a:prstGeom prst="rect">
            <a:avLst/>
          </a:prstGeom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B6E465BC-260C-26E3-31D6-0C45C4AE6C2D}"/>
              </a:ext>
            </a:extLst>
          </p:cNvPr>
          <p:cNvSpPr txBox="1"/>
          <p:nvPr/>
        </p:nvSpPr>
        <p:spPr>
          <a:xfrm>
            <a:off x="2021031" y="3138399"/>
            <a:ext cx="3638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4. Разбор типичных ошибок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0038057-42C9-F769-C0C5-F9AB41E8587B}"/>
              </a:ext>
            </a:extLst>
          </p:cNvPr>
          <p:cNvSpPr txBox="1"/>
          <p:nvPr/>
        </p:nvSpPr>
        <p:spPr>
          <a:xfrm>
            <a:off x="2021031" y="3357474"/>
            <a:ext cx="363855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Анализ проблем с позиционированием и код-ревью работ</a:t>
            </a:r>
          </a:p>
        </p:txBody>
      </p:sp>
      <p:pic>
        <p:nvPicPr>
          <p:cNvPr id="22" name="Picture 23">
            <a:extLst>
              <a:ext uri="{FF2B5EF4-FFF2-40B4-BE49-F238E27FC236}">
                <a16:creationId xmlns:a16="http://schemas.microsoft.com/office/drawing/2014/main" id="{3EC1D119-6080-BDF3-AF83-63F592656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668" y="3841612"/>
            <a:ext cx="323850" cy="285750"/>
          </a:xfrm>
          <a:prstGeom prst="rect">
            <a:avLst/>
          </a:prstGeom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E915CC21-797D-8D4A-4DA5-A5A9A395DDD8}"/>
              </a:ext>
            </a:extLst>
          </p:cNvPr>
          <p:cNvSpPr txBox="1"/>
          <p:nvPr/>
        </p:nvSpPr>
        <p:spPr>
          <a:xfrm>
            <a:off x="2021031" y="3794582"/>
            <a:ext cx="421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5. Результат и итоги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7AC8D58-8C59-EA0F-D299-B0D5290F9D54}"/>
              </a:ext>
            </a:extLst>
          </p:cNvPr>
          <p:cNvSpPr txBox="1"/>
          <p:nvPr/>
        </p:nvSpPr>
        <p:spPr>
          <a:xfrm>
            <a:off x="2021031" y="4013657"/>
            <a:ext cx="421005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Сборка готового шаблона, рефлексия и выдача домашнего задания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7269BFD-DAB1-1A37-6DFD-0F7DAC1CDC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5" b="1"/>
          <a:stretch/>
        </p:blipFill>
        <p:spPr>
          <a:xfrm>
            <a:off x="1014672" y="1027450"/>
            <a:ext cx="7114656" cy="331495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2B89E32-2C76-E977-8CF0-C0A0FB5058D0}"/>
              </a:ext>
            </a:extLst>
          </p:cNvPr>
          <p:cNvSpPr txBox="1"/>
          <p:nvPr/>
        </p:nvSpPr>
        <p:spPr>
          <a:xfrm>
            <a:off x="7037954" y="287078"/>
            <a:ext cx="12362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РЕЗУЛЬТАТ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1147350" y="1375225"/>
            <a:ext cx="6849300" cy="2282400"/>
          </a:xfrm>
          <a:prstGeom prst="roundRect">
            <a:avLst>
              <a:gd name="adj" fmla="val 11015"/>
            </a:avLst>
          </a:prstGeom>
          <a:gradFill flip="none" rotWithShape="1"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10800000" scaled="1"/>
            <a:tileRect/>
          </a:gradFill>
          <a:ln>
            <a:noFill/>
          </a:ln>
          <a:effectLst>
            <a:outerShdw blurRad="142875" dist="9525" dir="600000" algn="ctr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828800" y="1734203"/>
            <a:ext cx="5486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ДО </a:t>
            </a:r>
            <a:r>
              <a:rPr lang="ru-RU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ВСТРЕЧИ</a:t>
            </a:r>
            <a:r>
              <a:rPr lang="en" sz="30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! </a:t>
            </a:r>
            <a:endParaRPr sz="30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УВИДИМСЯ НА СЛЕДУЮЩЕМ ЗАНЯТИИ</a:t>
            </a:r>
            <a:endParaRPr sz="18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21749226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СТРУКТУРА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Как правильно организовать файлы в веб-разработке?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Файловая система: smart-office / basic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📁 smart-office / basic/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📄 </a:t>
            </a:r>
            <a:r>
              <a:rPr sz="800">
                <a:solidFill>
                  <a:srgbClr val="38BDF8"/>
                </a:solidFill>
                <a:latin typeface="Consolas"/>
              </a:rPr>
              <a:t>index.html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Главная разметка страницы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css/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Стили оформления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style.css</a:t>
            </a:r>
            <a:r>
              <a:rPr sz="800">
                <a:solidFill>
                  <a:srgbClr val="71717A"/>
                </a:solidFill>
                <a:latin typeface="Consolas"/>
              </a:rPr>
              <a:t>        # Таблица каскадных стилей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└──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img/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Графика и медиафайлы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├──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logo.svg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Векторный логотип бренда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└──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no-image.svg</a:t>
            </a:r>
            <a:r>
              <a:rPr sz="800">
                <a:solidFill>
                  <a:srgbClr val="71717A"/>
                </a:solidFill>
                <a:latin typeface="Consolas"/>
              </a:rPr>
              <a:t>    # Заглушка для фото комнат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ПРИНЦИП ЧИСТОЙ АРХИТЕКТУРЫ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 index.html в корне: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по умолчанию ищет именно index.html как стартовую страницу. Он должен лежать в корне проекта.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968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930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Изоляция стилей в папке css/: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выносим правила оформления в отдельный файл style.css. Это разделяет структуру (HTML) и внешний вид (CSS).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705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667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Графика в папке img/: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Все логотипы, фоны и фотографии хранятся отдельно, чтобы код и ресурсы не перемешивались.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390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352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Относительные пути: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коде мы пишем путь от текущей папки: css/style.css и img/logo.svg. При переносе сайта ничего не сломается.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HTML5 СЕМАНТИКА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Из каких смысловых блоков строится современный сайт?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(семантический каркас)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&lt;html </a:t>
            </a:r>
            <a:r>
              <a:rPr sz="800">
                <a:solidFill>
                  <a:srgbClr val="A78BFA"/>
                </a:solidFill>
                <a:latin typeface="Consolas"/>
              </a:rPr>
              <a:t>lang=</a:t>
            </a:r>
            <a:r>
              <a:rPr sz="800">
                <a:solidFill>
                  <a:srgbClr val="FCD34D"/>
                </a:solidFill>
                <a:latin typeface="Consolas"/>
              </a:rPr>
              <a:t>"ru"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  <a:r>
              <a:rPr sz="800">
                <a:solidFill>
                  <a:srgbClr val="71717A"/>
                </a:solidFill>
                <a:latin typeface="Consolas"/>
              </a:rPr>
              <a:t> ... </a:t>
            </a: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&lt;!-- 1. Шапка сайта (лого + меню)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&lt;/header&gt;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&lt;!-- 2. Главный уникальный контент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&lt;main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"main"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&lt;/main&gt;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&lt;!-- 3. Подвал сайта (копирайт и контакты)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&lt;/html&gt;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СЕМАНТИЧЕСКИЕ ТЕГИ HTML5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Зачем нужны &lt;header&gt;, &lt;main&gt;, &lt;footer&gt;?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Раньше сайты верстали сплошными тегами &lt;div&gt;. Семантические теги делают код понятным людям, поисковикам и скринридерам.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&lt;header&gt; (Шапка):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Верхняя часть страницы: содержит бренд, логотип, навигационные ссылки по разделам и кнопки профиля.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&lt;main&gt; (Главный блок):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Центральная область. Здесь располагается уникальное содержимое страницы, не повторяющееся на других вкладках.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&lt;footer&gt; (Подвал):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Нижняя часть сайта: юридическая информация, авторские права (копирайт), контакты техподдержки и соцсети.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СЛУЖЕБНЫЙ БЛОК &lt;HEAD&gt;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Что подключается в невидимой части документа?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(настройка &lt;head&gt;)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charset=</a:t>
            </a:r>
            <a:r>
              <a:rPr sz="800">
                <a:solidFill>
                  <a:srgbClr val="FCD34D"/>
                </a:solidFill>
                <a:latin typeface="Consolas"/>
              </a:rPr>
              <a:t>"UTF-8"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name=</a:t>
            </a:r>
            <a:r>
              <a:rPr sz="800">
                <a:solidFill>
                  <a:srgbClr val="FCD34D"/>
                </a:solidFill>
                <a:latin typeface="Consolas"/>
              </a:rPr>
              <a:t>"viewport"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content=</a:t>
            </a:r>
            <a:r>
              <a:rPr sz="800">
                <a:solidFill>
                  <a:srgbClr val="FCD34D"/>
                </a:solidFill>
                <a:latin typeface="Consolas"/>
              </a:rPr>
              <a:t>"width=device-width, initial-scale=1.0"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&lt;title&gt;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 — Бронирование</a:t>
            </a:r>
            <a:r>
              <a:rPr sz="800">
                <a:solidFill>
                  <a:srgbClr val="F472B6"/>
                </a:solidFill>
                <a:latin typeface="Consolas"/>
              </a:rPr>
              <a:t>&lt;/title&gt;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шрифта Inter из Google Fonts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"https://fonts.gstatic.com"</a:t>
            </a:r>
            <a:r>
              <a:rPr sz="800">
                <a:solidFill>
                  <a:srgbClr val="F472B6"/>
                </a:solidFill>
                <a:latin typeface="Consolas"/>
              </a:rPr>
              <a:t> crossorigin&gt;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"https://fonts.googleapis.com/css2?family=Inter:wght@400;500;600;700;800&amp;display=swap"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таблицы стилей и иконки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"css/style.css"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"icon"</a:t>
            </a:r>
            <a:r>
              <a:rPr sz="800">
                <a:solidFill>
                  <a:srgbClr val="A78BFA"/>
                </a:solidFill>
                <a:latin typeface="Consolas"/>
              </a:rPr>
              <a:t> type=</a:t>
            </a:r>
            <a:r>
              <a:rPr sz="800">
                <a:solidFill>
                  <a:srgbClr val="FCD34D"/>
                </a:solidFill>
                <a:latin typeface="Consolas"/>
              </a:rPr>
              <a:t>"image/svg+xml"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СЛУЖЕБНЫЕ МЕТАТЕГИ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UTF-8: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Указывает браузеру стандарт символов. Без &lt;meta charset="UTF-8"&gt; кириллические буквы превратятся в иероглифы.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892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85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Метатег Viewport: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браузеру отображать страницу в масштабе 1:1 в соответствии с реальной шириной экрана экрана устройства.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552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514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Google Fonts (Inter):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Шрифт Inter — мировой стандарт интерфейсов (Figma, Linear). preconnect заранее открывает скоростное соединение с сервером.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Фавикон сайта (Favicon):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Векторная иконка img/logo.svg в теге &lt;link rel="icon"&gt; украшает вкладку в браузере и закладки.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CSS: СБРОС СТИЛЕЙ (*)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Зачем сбрасывать стандартные отступы браузеров?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(базовый сброс)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СБРОС СТИЛЕЙ И БАЗОВЫЕ НАСТРОЙКИ   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Селектор * выбирает абсолютно все теги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Включаем padding и border в общую ширину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внешние отступы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внутренние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МАГИЯ BOX-SIZING: BORDER-BOX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Проблема браузерных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 каждого браузера (Chrome, Safari, Firefox, Edge) свои отступы для &lt;body&gt;, &lt;h1&gt;, &lt;p&gt;, &lt;ul&gt;. Сброс делает их одинаковыми.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Что делает margin: 0; padding: 0;?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паразитные белые поля по краям экрана и у списков, давая нам полный контроль над каждым пикселем.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Главное свойство —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(content-box) если блоку шириной 100px задать padding: 20px, он станет 140px! Это ломает сетку верстки.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Результат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Ширина блока всегда остается ровно 100px, а внутренние отступы аккуратно сжимают контент внутри него.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БАЗОВЫЕ НАСТРОЙКИ 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Как настроить тело страницы и заложить прижатие подвала?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Базовый шрифт и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font-family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'Inter', sans-serif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1.5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Flexbox-раскладка для прижатия футера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 СТРАНИЦЫ (BODY)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font-family: 'Inter', sans-serif: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использует загруженный шрифт Inter, а если интернета нет — системный шрифт без засечек sans-serif.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1.5 (Интерлиньяж):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Полуторный межстрочный интервал делает даже длинный текст легким и приятным для чтения школьниками.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min-height: 100vh (Высота viewport):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100vh означает 100% высоты экрана. Страница гарантированно не сожмется, даже если на ней всего одно слово.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flex; flex-direction: column: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Выстраивает шапку, контент и футер вертикально друг под другом, подготавливая почву для идеального прижатия футера.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ЦЕНТРИРУЮЩИЙ КОНТЕЙНЕР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Как удержать контент в центре экрана на любом мониторе?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(.container)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Ограничивающий и центрирующий контейнер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Фиксированная ширина контентной зоны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Автоматическое центрирование по горизонтали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auto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Внутренние поля безопасности слева и справа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КЛАССА .CONTAINER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width: 1200px (Ширина контента):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мониторах 2K и 4K текст без контейнера растянулся бы на 2 метра. 1200px — золотой стандарт читаемости.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Секрет margin: 0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Первое значение (0) — отступы сверху и снизу. Второе (auto) — браузер делит оставшееся место поровну слева и справа!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padding: 0 15px (Боковые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окно уменьшится, текст не упрется в край экрана, а сохранит эстетичный зазор в 15 пикселей.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оборачиваем в .container контент внутри &lt;header&gt;, &lt;main&gt; и &lt;footer&gt;, выстраивая всю страницу по единой линейке.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ШАПКА САЙТА (HEADER): 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Как структурировать элементы внутри шапки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(&lt;header&gt;)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Логотип со ссылкой на Главную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&lt;img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A78BFA"/>
                </a:solidFill>
                <a:latin typeface="Consolas"/>
              </a:rPr>
              <a:t> alt=</a:t>
            </a:r>
            <a:r>
              <a:rPr sz="800">
                <a:solidFill>
                  <a:srgbClr val="FCD34D"/>
                </a:solidFill>
                <a:latin typeface="Consolas"/>
              </a:rPr>
              <a:t>"Логотип"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"logo-icon"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</a:t>
            </a:r>
            <a:r>
              <a:rPr sz="800">
                <a:solidFill>
                  <a:srgbClr val="F472B6"/>
                </a:solidFill>
                <a:latin typeface="Consolas"/>
              </a:rPr>
              <a:t>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Навигационное меню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&lt;nav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&lt;ul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"nav-list"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active"</a:t>
            </a:r>
            <a:r>
              <a:rPr sz="800">
                <a:solidFill>
                  <a:srgbClr val="F472B6"/>
                </a:solidFill>
                <a:latin typeface="Consolas"/>
              </a:rPr>
              <a:t>&gt;Главная&lt;/a&gt;&lt;/li&gt;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"nav-link"</a:t>
            </a:r>
            <a:r>
              <a:rPr sz="800">
                <a:solidFill>
                  <a:srgbClr val="F472B6"/>
                </a:solidFill>
                <a:latin typeface="Consolas"/>
              </a:rPr>
              <a:t>&gt;Каталог&lt;/a&gt;&lt;/li&gt;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"pages/login.html"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nav-btn"</a:t>
            </a:r>
            <a:r>
              <a:rPr sz="800">
                <a:solidFill>
                  <a:srgbClr val="F472B6"/>
                </a:solidFill>
                <a:latin typeface="Consolas"/>
              </a:rPr>
              <a:t>&gt;Войти&lt;/a&gt;&lt;/li&gt;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&lt;/ul&gt;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&lt;/nav&gt;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&lt;/header&gt;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СТРУКТУРА И ВЛОЖЕННОСТЬ ШАПКИ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Двухуровневая обертка: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Внешний тег &lt;header&gt; отвечает за фон и нижнюю границу на всю ширину. Внутренний .header-container центрирует элементы.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Логотип как ссылка (&lt;a&gt;):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Логотип объединяет SVG-иконку и текст. Клик по любой его части перезагружает сайт или возвращает пользователя на главную.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тег &lt;nav&gt;: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Группирует основные ссылки сайта. Поисковые роботы сразу понимают, что здесь находится карта разделов.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 .active и кнопка .nav-btn: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.active показывает пользователю, на какой странице он находится. .nav-btn превращает третью ссылку в акцентную кнопку.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ШАПКА САЙТА: CSS &amp; FLEXBOX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Как разнести логотип и меню по противоположным краям?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(header flexbox)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#dddddd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18px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.logo-icon { width: 32px; height: 32px;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СИЛА FLEXBOX В ДЕЙСТВИИ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 (Включаем гибкую сетку):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Превращает .header-container в флекс-контейнер. Все прямые потомки (логотип и меню) встают в одну ровную линию.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Главный трюк верстки! Первый элемент (лого) прижимается к левой стенке, последний (меню) — к правой стенке.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align-items: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Выравнивает элементы по вертикальной оси. Логотип и кнопки встают строго по центру без ручных отступов.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gap: 10px в .logo: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Современный способ задать отступ ровно в 10px между иконкой логотипа и текстом бренда без margin-right.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НАВИГАЦИОННОЕ МЕНЮ И КНОПКА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Как оформить ссылки, состояния hover и кнопку «Войти»?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(навигация)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list-style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71717A"/>
                </a:solidFill>
                <a:latin typeface="Consolas"/>
              </a:rPr>
              <a:t>; /* Убираем маркеры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 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500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.nav-link:hover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#eaf2ff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.nav-btn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.nav-btn:hover { background-color: #0056b3;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СТИЛИЗАЦИЯ И ИНТЕРАКТИВНОСТЬ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list-style: none: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браузерные черные точки у тегов &lt;li&gt;. Меню превращается в аккуратную группу кнопок.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866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Псевдокласс :hover: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Срабатывает в момент наведения курсора мыши. Ссылка меняет цвет на синий и получает легкий голубой фон #eaf2ff.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Кнопка призыва к действию (.nav-btn):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Класс .nav-btn окрашивает кнопку «Войти» в насыщенный цвет #007bff с белым текстом, делая её заметной.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border-radius: 4px: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Легкое скругление углов придает элементам интерфейса современный мягкий вид.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ГЛАВНЫЙ ЭКРАН (HERO SECTION)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Как сверстать эффектный презентационный заголовок?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(Hero)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Главный баннер (Hero-блок)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&lt;h1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Портал бронирования офисных комнат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"brand-highlight"</a:t>
            </a:r>
            <a:r>
              <a:rPr sz="800">
                <a:solidFill>
                  <a:srgbClr val="F472B6"/>
                </a:solidFill>
                <a:latin typeface="Consolas"/>
              </a:rPr>
              <a:t>&gt;«СмартОфис»&lt;/span&gt;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&lt;/h1&gt;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гигантского заголовка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0.95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-0.04em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.brand-highlight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ПЛАКАТНАЯ ТИПОГРАФИКА HERO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Единственный заголовок &lt;h1&gt;: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стандартам веб-доступности и поисковых систем Google/Яндекс на странице должен быть только один &lt;h1&gt;.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font-size: 108px: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Смелый плакатный размер сразу приковывает внимание школьника и формирует премиальное ощущение от сервиса.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0.95 и letter-spacing: -0.04em: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экстремально больших шрифтах буквы разъезжаются. Отрицательный кернинг и плотный интерлиньяж делают текст монолитным.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Подсветка бренда через &lt;span&gt;: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 &lt;span&gt; позволяет изменить цвет слова «СмартОфис» на фирменный синий, не разбивая заголовок на части.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БЛОК ПРЕИМУЩЕСТВ И МЕТРИК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Как скомпоновать цифры и показатели сервиса в одну линию?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(Metrics)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&lt;p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"hero-subtitle"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Удобный выбор и быстрое бронирование...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"hero-metrics"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&gt;24/7&lt;/span&gt;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&gt;Доступ&lt;/span&gt;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&gt;от 250 ₽&lt;/span&gt;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&gt;Почасовая аренда&lt;/span&gt;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.hero-bottom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border-top: 2px solid #222222; padding-top: 20px;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display: flex; justify-content: space-between;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.metric-val { font-size: 20px; font-weight: 800; color: #007bff;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АРХИТЕКТУРА НИЖНЕЙ ЧАСТИ HERO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Графическая черта border-top: 2px solid: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Контрастная черная линия отделяет масштабный заголовок от подробностей, задавая строгий журнальный стиль.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Раскладка 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Подзаголовок аккуратно размещается слева (max-width: 600px), а метрики выстраиваются в правой части экрана.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Вертикальная колонка .metric-item: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flex; flex-direction: column ставит яркую цифру 24/7 строго над маленькой подписью «Доступ».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340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302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Контраст типографики: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(.metric-val): 20px, жирный шрифт 800, синий цвет. Подпись (.metric-lbl): 12px, серый нейтральный цвет #777777.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УНИВЕРСАЛЬНЫЕ ЗАГОЛОВКИ СТРАНИЦ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Зачем в стилях классы .page-title и .page-subtitle?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(.page-title)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ДЛЯ ВНУТРЕННИХ СТРАНИЦ ПРОЕКТА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Главный заголовок страниц Каталога и Входа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-0.02em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Серый центрированный подзаголовок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.page-subtitle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#666666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ПРОЕКТИРОВАНИЕ НА ОПЕРЕЖЕНИЕ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Задел для следующих вебинаров: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3 и 4 вебинарах мы создадим catalog.html и login.html. Классы .page-title и .page-subtitle уже готовы для них!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text-align: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Центрирует текст по горизонтали внутри контейнера, создавая симметричную шапку внутренних разделов.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DRY (Don't Repeat Yourself):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не пишем заново оформление заголовков для каждой страницы. Мы создаем единый переиспользуемый класс.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Визуальная иерархия: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Крупный жирный заголовок 28px и деликатный серый подзаголовок 15px создают гармоничную композицию.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ПОДВАЛ САЙТА (FOOTER)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Как оформить кликабельные контакты и юридический блок?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footer-container"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Левая колонка: описание и копирайт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"footer-info"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&lt;p&gt;&lt;strong&gt;СмартОфис&lt;/strong&gt; — Сервис бронирования&lt;/p&gt;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&lt;p&gt;© 2026 СмартОфис. Все права защищены.&lt;/p&gt;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Правая колонка: интерактивные контакты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"footer-contacts"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&lt;p&gt;Email: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"mailto:info@smartoffice.ru"</a:t>
            </a:r>
            <a:r>
              <a:rPr sz="800">
                <a:solidFill>
                  <a:srgbClr val="D4D4D8"/>
                </a:solidFill>
                <a:latin typeface="Consolas"/>
              </a:rPr>
              <a:t>&gt;info@smartoffice.ru&lt;/a&gt;&lt;/p&gt;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&lt;p&gt;Телефон: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"tel:+78005553535"</a:t>
            </a:r>
            <a:r>
              <a:rPr sz="800">
                <a:solidFill>
                  <a:srgbClr val="D4D4D8"/>
                </a:solidFill>
                <a:latin typeface="Consolas"/>
              </a:rPr>
              <a:t>&gt;+7 (800) 555-35-35&lt;/a&gt;&lt;/p&gt;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 { background-color: #f8f9fa; border-top: 1px solid #dddddd; padding: 25px 0;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.footer-contacts a { color: #007bff; text-decoration: none;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СТАНДАРТЫ ОФОРМЛЕНИЯ ПОДВАЛА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mailto: в ссылках: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клике на ссылку href="mailto:..." устройство пользователя автоматически открывает почтовую программу с заполненным адресом.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968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930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tel: для быстрых звонков: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Ссылка href="tel:+78005553535" на смартфонах сразу запускает набор телефонного номера. Это стандарт мобильного UX.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705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667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&lt;strong&gt; для акцента: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Выделяет название сервиса жирным шрифтом в первом абзаце футера.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Фон #f8f9fa и разделитель #dddddd: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Мягкий светлый фон и тонкая верхняя рамка деликатно завершают страницу в самом низу.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ТЕХНИКА FLEXBOX: ПРИЖАТИЕ ФУТЕРА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Почему футер не улетает вверх при малом количестве контента?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(Sticky 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1: Тело сайта тянется минимум на 100vh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71717A"/>
                </a:solidFill>
                <a:latin typeface="Consolas"/>
              </a:rPr>
              <a:t>; /* 100% высоты окна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2: Блок main забирает всё свободное место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Жадно растягивается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40px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3: Подвал гарантированно прижат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.footer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auto</a:t>
            </a:r>
            <a:r>
              <a:rPr sz="800">
                <a:solidFill>
                  <a:srgbClr val="71717A"/>
                </a:solidFill>
                <a:latin typeface="Consolas"/>
              </a:rPr>
              <a:t>; /* Выталкивается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«ЛИПКОГО» ПОДВАЛА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Классическая беда новичков: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на странице мало текста, футер поднимается к середине монитора, а под ним висит пустота. Это выглядит непрофессионально.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1: body на 100vh: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Окно браузера делится на флекс-колонку, которая всегда занимает как минимум 100% высоты экрана.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2: flex: 1 для .main: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Магическое свойство flex: 1 говорит браузеру: «Растяни блок main на всю оставшуюся пустоту страницы».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3: margin-top: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Финальная страховка. Футер выталкивается в самый нижний край экрана при любом объеме информации!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TOAST-УВЕДОМЛЕНИЯ И CSS-АНИМАЦИИ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Как работают всплывающие системные уведомления?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(Toast &amp; Animation)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Контейнер прикреплен к правому нижнему углу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position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fixed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right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z-index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14px 18px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animation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toastFadeIn 0.3s ease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.toast-success { border-left: 4px solid #28a745;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.toast-danger  { border-left: 4px solid #dc3545;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Плавная анимация всплытия снизу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@keyframes toastFadeIn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from { opacity: 0; transform: translateY(15px);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to   { opacity: 1; transform: translateY(0);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ПОЗИЦИОНИРОВАНИЕ И ЭФФЕКТЫ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position: fixed (Фиксация на экране):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Контейнер уведомлений вырван из общего потока и привязан к углу монитора. При прокрутке страницы он остается на месте.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z-index: 1000: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Определяет слой по высоте. Значение 1000 гарантирует, что всплывающее сообщение перекроет любой другой элемент сайта.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Цветовой индикатор статуса: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border-left: 4px solid #28a745 красит левую грань в зеленый при успехе и в красный #dc3545 при ошибке.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Анимация @keyframes toastFadeIn: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Сообщение появляется из прозрачности (opacity: 0 -&gt; 1) и сдвигается на 15px снизу вверх за треть секунды (0.3s).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РАЗБОР ТИПИЧНЫХ ОШИБОК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На чем чаще всего спотыкаются школьники при первой верстке?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18034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Забыли rel="stylesheet"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1176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1938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Написали &lt;link href="css/style.css"&gt; без атрибута rel="stylesheet".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Браузер скачает файл, но не поймет, что это таблица стилей. Обязательно пишите rel="stylesheet"!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5500" y="711200"/>
            <a:ext cx="4191000" cy="18034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3300" y="8382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Опечатка в пути к стилям или иконке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3300" y="11176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3300" y="11938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Указали href="style.css" вместо правильного относительного пути href="css/style.css".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Стили лежат во вложенной папке css/. Проверяйте пути в проводнике VS Code или WebStorm.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2667000"/>
            <a:ext cx="4127500" cy="18034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600" y="27940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Незакрытые парные теги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2600" y="30734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600" y="31496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Забыли закрыть тег &lt;/div&gt;, &lt;header&gt;, &lt;section&gt; или &lt;ul&gt;.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Один незакрытый тег ломает всю сетку Flexbox дальше по коду. Пользуйтесь подсветкой парных тегов в 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35500" y="2667000"/>
            <a:ext cx="4191000" cy="18034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3300" y="27940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Пропустили сброс box-sizing: border-box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13300" y="30734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3300" y="31496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Не написали сброс * { box-sizing: border-box; } в самом начале CSS.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Любой padding и border будут увеличивать ширину блоков, создавая неприятный горизонтальный скролл.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0" y="279400"/>
            <a:ext cx="46990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222222"/>
                </a:solidFill>
                <a:latin typeface="Inter"/>
              </a:rPr>
              <a:t>ИТОГИ И ЧЕК-ЛИСТ САМОПРОВЕРКИ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444444"/>
                </a:solidFill>
                <a:latin typeface="Montserrat"/>
              </a:rPr>
              <a:t>Как убедиться, что код вебинара написан на 100% правильно?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1800" y="711200"/>
            <a:ext cx="8280400" cy="3784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636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ЧЕК-ЛИСТ ГОТОВНОСТИ ПРАКТИЧЕСКОЙ ЧАСТИ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68400"/>
            <a:ext cx="7772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08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46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200" y="1295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Файловая структура проекта организована корректно: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Файл index.html находится в корне, таблица стилей в папке css/style.css, векторный логотип в img/logo.svg.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050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04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200" y="18796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и шрифты подключены без сбоев: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Указан &lt;meta charset="UTF-8"&gt;, шрифт Inter подгружается из Google Fonts, текст не содержит символов-кракозябр.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892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146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200" y="24638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каркас страницы валиден: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Использованы семантические теги HTML5: &lt;header&gt;, &lt;nav&gt;, &lt;main&gt;, &lt;section class="hero-section"&gt;, &lt;footer&gt;.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734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988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200" y="30480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Контент центрирован внутри .container на 1200px: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Шапка, hero-блок и футер аккуратно держатся по центру экрана с полями безопасности благодаря margin: 0 auto.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576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830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200" y="36322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Футер надежно прижат к низу страницы: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Благодаря связке body { min-height: 100vh; flex-direction: column; } и main { flex: 1; } футер никогда не зависает в воздухе.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Другая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B0F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B0F0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2396</TotalTime>
  <Words>93</Words>
  <Application>Microsoft Office PowerPoint</Application>
  <PresentationFormat>Экран (16:9)</PresentationFormat>
  <Paragraphs>19</Paragraphs>
  <Slides>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4" baseType="lpstr">
      <vt:lpstr>Inter</vt:lpstr>
      <vt:lpstr>Inter Medium</vt:lpstr>
      <vt:lpstr>Montserrat SemiBold</vt:lpstr>
      <vt:lpstr>PT Sans Caption</vt:lpstr>
      <vt:lpstr>Montserrat ExtraBold</vt:lpstr>
      <vt:lpstr>Montserrat</vt:lpstr>
      <vt:lpstr>Arial</vt:lpstr>
      <vt:lpstr>Calibri</vt:lpstr>
      <vt:lpstr>Proxima Nova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mrsky1001</dc:creator>
  <cp:lastModifiedBy>Keith Allison</cp:lastModifiedBy>
  <cp:revision>254</cp:revision>
  <dcterms:modified xsi:type="dcterms:W3CDTF">2026-09-05T17:37:56Z</dcterms:modified>
</cp:coreProperties>
</file>