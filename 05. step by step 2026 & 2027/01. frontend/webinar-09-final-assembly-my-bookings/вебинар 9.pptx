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9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9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400" b="1">
                  <a:latin typeface="Montserrat"/>
                </a:rPr>
                <a:t>ИТОГОВАЯ СБОРКА И РЕВЬЮ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Вебинар 9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1. Анализ типичных ошибок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Ошибки в DOM, null pointer, обработчиках событий и утечках памяти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2. Закрепление материала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HTML5 семантика, адаптивный CSS и компонентная архитектура JS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3. Файловая архитектура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Структура каталогов, относительные пути и разделение модулей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4. Подготовка к защите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Демонстрация сценариев, чек-лист 100 баллов и защита кода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latin typeface="Montserrat"/>
              </a:rPr>
              <a:t>5. Практика: Итоговый проект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latin typeface="Inter"/>
              </a:rPr>
              <a:t>Сборка страницы «Мои бронирования» и финальное ревью приложения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9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Финальная сборка веб-приложения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проверка на существование элемента в DOM обязательна при многостраничной структуре?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Защита от ошибки TypeError: null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Ошибка: скрипт запущен на странице без слайдера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slider = document.querySelector(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Consolas"/>
              </a:rPr>
              <a:t>// ПАДЕНИЕ: Uncaught TypeError: Cannot read properties of null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slider.addEventListener(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D4D4D8"/>
                </a:solidFill>
                <a:latin typeface="Consolas"/>
              </a:rPr>
              <a:t>, handler);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НАДЕЖНО: обязательный Guard Clause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initSlider()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slides = 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'.slide'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(!slides.length)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Логика инициализируется только при наличии элементов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startAutoPlay();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Типичная ошибка: null pointer в DOM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Общий файл main.js: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Единый скрипт подключается ко всем 7 страницам, но элементы слайдера есть только на главной.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Остановка скрипта:
</a:t>
            </a:r>
            <a:r>
              <a:rPr sz="850" b="0">
                <a:solidFill>
                  <a:srgbClr val="555555"/>
                </a:solidFill>
                <a:latin typeface="Inter"/>
              </a:rPr>
              <a:t>Необработанная ошибка обращения к null блокирует выполнение всех последующих функций.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Паттерн Guard Clause:
</a:t>
            </a:r>
            <a:r>
              <a:rPr sz="850" b="0">
                <a:solidFill>
                  <a:srgbClr val="555555"/>
                </a:solidFill>
                <a:latin typeface="Inter"/>
              </a:rPr>
              <a:t>Каждая функция модуля обязана начинаться с проверки наличия контейнера в DOM через if (!el) return.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консоли:
</a:t>
            </a:r>
            <a:r>
              <a:rPr sz="850" b="0">
                <a:solidFill>
                  <a:srgbClr val="555555"/>
                </a:solidFill>
                <a:latin typeface="Inter"/>
              </a:rPr>
              <a:t>В консоли разработчика (F12) на любой странице должно быть ровно ноль ошибок.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 каким последствиям приводит прямая мутация исходных массивов данных в веб-приложениях?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Иммутабельность vs Мутация данных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DC2626"/>
                </a:solidFill>
                <a:latin typeface="Consolas"/>
              </a:rPr>
              <a:t>// ОШИБКА: метод .sort() мутирует оригинальный массив!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sortRoomsUnsafe()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OFFICE_ROOMS.sort((a, b) =&gt; a.price - b.price);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Теперь исходный порядок комнат безвозвратно утерян!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ПРАВИЛЬНО: поверхностное клонирование через спред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sortRoomsSafe()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copy = [...OFFICE_ROOMS];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copy.sort((a, b) =&gt; a.price - b.price);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renderCatalog(copy);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data.js защищен!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Мутация данных и побочные эффекты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Потеря эталона: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мутировать массив в data.js, пользователь не сможет сбросить фильтры к исходному состоянию.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Спред-оператор [...]:
</a:t>
            </a:r>
            <a:r>
              <a:rPr sz="850" b="0">
                <a:solidFill>
                  <a:srgbClr val="555555"/>
                </a:solidFill>
                <a:latin typeface="Inter"/>
              </a:rPr>
              <a:t>Создает копию массива верхнего уровня, сохраняя первоначальный список комнат нетронутым.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Предсказуемость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Функции сортировки и фильтрации должны быть чистыми: получать данные и возвращать новую выборку.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Безопасность состояния: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Глобальные константы приложения остаются стабильными на протяжении всей сессии работы.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5217160" y="259079"/>
            <a:ext cx="36728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АРХИТЕКТУРА И СВЯЗИ ПРОЕКТА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модульное разделение JavaScript и данных обеспечивает масштабируемость проекта?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СЛОЙ ДАННЫХ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data.js &amp; localStorage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ЯДРО ПРИЛОЖЕНИЯ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main.js &amp; Обработчики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СТРАНИЦЫ ИНТЕРФЕЙСА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7 связанных HTML-файлов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61AFEF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const OFFICE_ROOMS = [...];
const MOCK_BOOKINGS = [...];
localStorage.getItem('user');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Эталонный массив каталога комнат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Хранение активных заявок аренды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Изоляция данных от бизнес-логики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Сохранение сессии в браузере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61AFEF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Единый источник истины (SSOT)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74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D19A66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initSlider();
initCatalogFilters();
initBookingCalc();
initMyBookings();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74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Безопасная инициализация модулей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Защита от ошибок null при смене страниц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Динамические фильтры и сортировка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События input и живой расчет цены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D19A66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Всплывающие нотификации (Toasts)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1371600"/>
            <a:ext cx="2362200" cy="711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750">
                <a:solidFill>
                  <a:srgbClr val="D4D4D8"/>
                </a:solidFill>
                <a:latin typeface="Consolas"/>
              </a:rPr>
              <a:t>index.html -&gt; catalog.html
-&gt; room-details.html?id=1
-&gt; booking.html?room=1
-&gt; my-bookings.html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159000"/>
            <a:ext cx="23622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7 семантических страниц HTML5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Бесшовная передача ID через URL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Единая сквозная шапка и футер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Авторизация и страница кабинета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• </a:t>
            </a:r>
            <a:r>
              <a:rPr sz="850">
                <a:solidFill>
                  <a:srgbClr val="FFFFFF"/>
                </a:solidFill>
                <a:latin typeface="Inter"/>
              </a:rPr>
              <a:t>Полный цикл аренды от клика до чека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АНАЛИЗ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В чем главное преимущество делегирования событий при частой перерисовке списков в DOM?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Делегирование событий в каталоге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Неэффективно: вешать слушатель на каждую новую кнопку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document.querySelectorAll(</a:t>
            </a:r>
            <a:r>
              <a:rPr sz="850" b="0">
                <a:solidFill>
                  <a:srgbClr val="98C379"/>
                </a:solidFill>
                <a:latin typeface="Consolas"/>
              </a:rPr>
              <a:t>'.card-btn'</a:t>
            </a:r>
            <a:r>
              <a:rPr sz="850" b="0">
                <a:solidFill>
                  <a:srgbClr val="D4D4D8"/>
                </a:solidFill>
                <a:latin typeface="Consolas"/>
              </a:rPr>
              <a:t>).forEach(...);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ЭФФЕКТИВНО: Делегирование на родительском контейнере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catalogGrid.addEventListener(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'click'</a:t>
            </a:r>
            <a:r>
              <a:rPr sz="850" b="0">
                <a:solidFill>
                  <a:srgbClr val="61AFEF"/>
                </a:solidFill>
                <a:latin typeface="Consolas"/>
              </a:rPr>
              <a:t>,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btn = e.target.closest(</a:t>
            </a:r>
            <a:r>
              <a:rPr sz="850" b="0">
                <a:solidFill>
                  <a:srgbClr val="98C379"/>
                </a:solidFill>
                <a:latin typeface="Consolas"/>
              </a:rPr>
              <a:t>'.btn-book'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(!btn)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roomId = btn.dataset.id;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window.location.href = `booking.html?room=${roomId}`;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Управление обработчиками событий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Проблема перерисовки: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каждом поиске или сортировке innerHTML перезаписывается, и прямые слушатели уничтожаются.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Всплытие (Event Bubbling):
</a:t>
            </a:r>
            <a:r>
              <a:rPr sz="850" b="0">
                <a:solidFill>
                  <a:srgbClr val="555555"/>
                </a:solidFill>
                <a:latin typeface="Inter"/>
              </a:rPr>
              <a:t>Событие click поднимается от кнопки к контейнеру, где перехватывается единственным обработчиком.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e.target.closest():
</a:t>
            </a:r>
            <a:r>
              <a:rPr sz="850" b="0">
                <a:solidFill>
                  <a:srgbClr val="555555"/>
                </a:solidFill>
                <a:latin typeface="Inter"/>
              </a:rPr>
              <a:t>Точно определяет целевую кнопку внутри карточки, даже если клик пришелся по вложенной иконке.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Экономия ресурсов:
</a:t>
            </a:r>
            <a:r>
              <a:rPr sz="850" b="0">
                <a:solidFill>
                  <a:srgbClr val="555555"/>
                </a:solidFill>
                <a:latin typeface="Inter"/>
              </a:rPr>
              <a:t>Один слушатель на сетку вместо десятков обработчиков предотвращает утечки оперативной памяти.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Какую роль семантическая разметка играет в реальных проектах и техническом аудите?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Семантическое ядро интерфейса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Стандарт семантики портала СмартОфис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&lt;header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class="header"&gt;</a:t>
            </a:r>
            <a:r>
              <a:rPr sz="850" b="0">
                <a:solidFill>
                  <a:srgbClr val="5C6370"/>
                </a:solidFill>
                <a:latin typeface="Consolas"/>
              </a:rPr>
              <a:t>&lt;!-- Шапка и навигация --&gt;</a:t>
            </a:r>
            <a:r>
              <a:rPr sz="850" b="0">
                <a:solidFill>
                  <a:srgbClr val="E06C75"/>
                </a:solidFill>
                <a:latin typeface="Consolas"/>
              </a:rPr>
              <a:t>&lt;/header&gt;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class="main"&gt;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class="container"&gt;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&lt;h1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class="page-title"&gt;Мои бронирования&lt;/h1&gt;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&lt;section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class="bookings-section"&gt;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class="bookings-list" id="myBookingsList"&gt;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      &lt;!-- Динамические карточки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&lt;/section&gt;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&lt;/main&gt;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&lt;footer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class="footer"&gt;</a:t>
            </a:r>
            <a:r>
              <a:rPr sz="850" b="0">
                <a:solidFill>
                  <a:srgbClr val="5C6370"/>
                </a:solidFill>
                <a:latin typeface="Consolas"/>
              </a:rPr>
              <a:t>&lt;!-- Контакты и копирайт --&gt;</a:t>
            </a:r>
            <a:r>
              <a:rPr sz="850" b="0">
                <a:solidFill>
                  <a:srgbClr val="E06C75"/>
                </a:solidFill>
                <a:latin typeface="Consolas"/>
              </a:rPr>
              <a:t>&lt;/footer&gt;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HTML5 разметка коммерческого уровня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Семантические ориентиры:
</a:t>
            </a:r>
            <a:r>
              <a:rPr sz="850" b="0">
                <a:solidFill>
                  <a:srgbClr val="555555"/>
                </a:solidFill>
                <a:latin typeface="Inter"/>
              </a:rPr>
              <a:t>Теги header, nav, main, section и footer однозначно структурируют документ для браузера.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Иерархия заголовков:
</a:t>
            </a:r>
            <a:r>
              <a:rPr sz="850" b="0">
                <a:solidFill>
                  <a:srgbClr val="555555"/>
                </a:solidFill>
                <a:latin typeface="Inter"/>
              </a:rPr>
              <a:t>Строго один тег &lt;h1&gt; на страницу, четкая вложенность &lt;h2&gt; и &lt;h3&gt; внутри карточек и блоков.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Доступность (a11y):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Скринридеры безошибочно озвучивают интерфейс незрячим пользователям без лишних костылей.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SEO-оптимизация: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Поисковые роботы корректно индексируют контент страниц, повышая позицию сайта в поисковой выдаче.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Когда в верстке интерфейса эффективнее использовать CSS Grid, а когда Flexbox?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Комбинация Flexbox и Grid сеток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1. CSS Grid для двумерной витрины каталога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.catalog-grid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grid;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grid-template-columns: </a:t>
            </a:r>
            <a:r>
              <a:rPr sz="850" b="0">
                <a:solidFill>
                  <a:srgbClr val="98C379"/>
                </a:solidFill>
                <a:latin typeface="Consolas"/>
              </a:rPr>
              <a:t>repeat(auto-fit, minmax(280px, 1fr));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gap: </a:t>
            </a:r>
            <a:r>
              <a:rPr sz="850" b="0">
                <a:solidFill>
                  <a:srgbClr val="D19A66"/>
                </a:solidFill>
                <a:latin typeface="Consolas"/>
              </a:rPr>
              <a:t>24px;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2. Flexbox для одномерного тулбара и карточки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.booking-item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flex;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justify-content: </a:t>
            </a:r>
            <a:r>
              <a:rPr sz="850" b="0">
                <a:solidFill>
                  <a:srgbClr val="98C379"/>
                </a:solidFill>
                <a:latin typeface="Consolas"/>
              </a:rPr>
              <a:t>space-between;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align-items: </a:t>
            </a:r>
            <a:r>
              <a:rPr sz="850" b="0">
                <a:solidFill>
                  <a:srgbClr val="98C379"/>
                </a:solidFill>
                <a:latin typeface="Consolas"/>
              </a:rPr>
              <a:t>center;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Современная верстка без костылей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CSS Grid для каталога:
</a:t>
            </a:r>
            <a:r>
              <a:rPr sz="850" b="0">
                <a:solidFill>
                  <a:srgbClr val="555555"/>
                </a:solidFill>
                <a:latin typeface="Inter"/>
              </a:rPr>
              <a:t>Автоматическая раскладка repeat(auto-fit, minmax) адаптирует колонки под любую ширину экрана.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Flexbox для компонентов: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Идеально распределяет пространство в шапке, тулбаре поиска, карточках и строках бронирования.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Отказ от флоатов: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Полное отсутствие устаревших float и clearfix: верстка остается гибкой и предсказуемой.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CSS-переменные :root:
</a:t>
            </a:r>
            <a:r>
              <a:rPr sz="850" b="0">
                <a:solidFill>
                  <a:srgbClr val="555555"/>
                </a:solidFill>
                <a:latin typeface="Inter"/>
              </a:rPr>
              <a:t>Централизованное управление цветовой палитрой (#007bff, #28a745) и радиусами скругления.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504940" y="259079"/>
            <a:ext cx="23850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ЗАКРЕПЛЕНИЕ МАТЕРИАЛА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синтаксические конструкции ES6+ повышают читаемость и поддерживаемость кодовой базы?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Современный синтаксис ES6+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Деструктуризация параметров объекта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renderBookingCard({ id, roomTitle, date, hours, totalPrice })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98C379"/>
                </a:solidFill>
                <a:latin typeface="Consolas"/>
              </a:rPr>
              <a:t>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class="booking-item"&gt;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&lt;h3&gt;${roomTitle}&lt;/h3&gt;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&lt;p&gt;Дата: ${date} | Время: ${hours} ч. | Заказ №${id}&lt;/p&gt;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class="price-block"&gt;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class="price"&gt;${totalPrice} ₽&lt;/span&gt;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class="badge-success"&gt;Подтверждено&lt;/span&gt;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Чистый JavaScript без библиотек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Шаблонные строки: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Интерполяция ${...} позволяет создавать читаемую HTML-разметку прямо в коде функций рендеринга.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Деструктуризация: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Извлечение нужных свойств объекта прямо в аргументах функции делает сигнатуру прозрачной.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Стрелочные функции:
</a:t>
            </a:r>
            <a:r>
              <a:rPr sz="850" b="0">
                <a:solidFill>
                  <a:srgbClr val="555555"/>
                </a:solidFill>
                <a:latin typeface="Inter"/>
              </a:rPr>
              <a:t>Компактный синтаксис для методов массивов map(), filter(), sort() и обработчиков событий.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Стандарты ES6+: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Полный отказ от устаревшего var в пользу блочных и неизменяемых let / const.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ФАЙЛОВАЯ АРХИТЕКТУРА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изоляция статических страниц в папку pages/ упрощает масштабирование портала?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Эталонная структура проекта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smartoffice-portal/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├── index.html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Главная (Hero, слайдер, топ)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├── pages/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Дополнительные страницы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catalog.html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Каталог комнат и фильтры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room-details.html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Страница конкретного офиса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booking.html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Калькулятор бронирования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my-bookings.html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Личный кабинет (заказы)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├── login.html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Форма входа в систему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│   └── register.html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Форма регистрации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├── css/style.css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Единый файл стилей проекта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├── js/   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Скрипты и структуры данных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│   ├── data.js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Мок-данные и база комнат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│   └── main.js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Бизнес-логика приложения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└── img/                    </a:t>
            </a:r>
            <a:r>
              <a:rPr sz="850" b="0">
                <a:solidFill>
                  <a:srgbClr val="5C6370"/>
                </a:solidFill>
                <a:latin typeface="Consolas"/>
              </a:rPr>
              <a:t># Иконки SVG и фото комнат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Организация файлов веб-приложения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Единая точка входа: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Файл index.html располагается в корневом каталоге и открывается веб-сервером по умолчанию.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Папка pages/: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вложенные страницы изолированы в отдельной директории, устраняя хаос в корне проекта.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Разделение логики: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Файл data.js отвечает исключительно за структуры данных, а main.js — за интерактивность и DOM.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Медиа-ресурсы img/: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векторные и растровые изображения собраны в одном месте с унифицированными именами.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ФАЙЛОВАЯ АРХИТЕКТУРА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корректно организовать относительные пути в стилях и скриптах для вложенных страниц?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Правила относительной адресации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&lt;!-- 1. Из корневого index.html: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&lt;link rel="stylesheet" href="css/style.css"&gt;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&lt;script src="js/data.js" defer&gt;&lt;/script&gt;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&lt;a href="pages/catalog.html"&gt;Каталог&lt;/a&gt;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&lt;!-- 2. Из вложенного файла pages/my-bookings.html: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&lt;link rel="stylesheet" href="../css/style.css"&gt;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&lt;script src="../js/data.js" defer&gt;&lt;/script&gt;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&lt;img src="../img/logo.svg" alt="Логотип"&gt;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&lt;a href="../index.html"&gt;Главная&lt;/a&gt;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&lt;a href="catalog.html"&gt;Каталог (соседний файл)&lt;/a&gt;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Навигация и относительные пути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Символ выхода ../:
</a:t>
            </a:r>
            <a:r>
              <a:rPr sz="850" b="0">
                <a:solidFill>
                  <a:srgbClr val="555555"/>
                </a:solidFill>
                <a:latin typeface="Inter"/>
              </a:rPr>
              <a:t>Две точки со слешем поднимают браузер на один уровень вверх — из папки pages/ в корень проекта.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Соседние файлы:
</a:t>
            </a:r>
            <a:r>
              <a:rPr sz="850" b="0">
                <a:solidFill>
                  <a:srgbClr val="555555"/>
                </a:solidFill>
                <a:latin typeface="Inter"/>
              </a:rPr>
              <a:t>Ссылки между страницами внутри pages/ оформляются без префикса (например: href="catalog.html").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Опасность абсолютных путей:
</a:t>
            </a:r>
            <a:r>
              <a:rPr sz="850" b="0">
                <a:solidFill>
                  <a:srgbClr val="555555"/>
                </a:solidFill>
                <a:latin typeface="Inter"/>
              </a:rPr>
              <a:t>Пути от корня (/css/style.css) ломаются при открытии проекта локально или на поддоменах.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 defer:
</a:t>
            </a:r>
            <a:r>
              <a:rPr sz="850" b="0">
                <a:solidFill>
                  <a:srgbClr val="555555"/>
                </a:solidFill>
                <a:latin typeface="Inter"/>
              </a:rPr>
              <a:t>Гарантирует загрузку скриптов после полного построения DOM-дерева страницы в браузере.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5514341" y="259079"/>
            <a:ext cx="3375659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ЭКЗАМЕНАЦИОННЫЙ ЧЕК-ЛИСТ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критерии являются ключевыми при оценке качества и стабильности веб-приложения?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61AFEF"/>
                </a:solidFill>
                <a:latin typeface="Montserrat"/>
              </a:rPr>
              <a:t>1. СЕМАНТИКА И ВЕРСТКА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1-3 (30 баллов)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19A66"/>
                </a:solidFill>
                <a:latin typeface="Montserrat"/>
              </a:rPr>
              <a:t>2. ИНТЕРАКТИВНОСТЬ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4-6 (40 баллов)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98C379"/>
                </a:solidFill>
                <a:latin typeface="Montserrat"/>
              </a:rPr>
              <a:t>3. БИЗНЕС-ЛОГИКА И UX</a:t>
            </a:r>
          </a:p>
          <a:p>
            <a:r>
              <a:rPr sz="850">
                <a:solidFill>
                  <a:srgbClr val="9EA2AC"/>
                </a:solidFill>
                <a:latin typeface="Inter"/>
              </a:rPr>
              <a:t>Критерии 7-10 (30 баллов)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61AFEF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1: 30 БАЛЛОВ
Качество верстки и 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1. Структура проекта (10 б.): 7 страниц, папки css, js, img, относительные пути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2. Семантика и стили (10 б.): теги header, nav, main, footer, шрифт Inter, палитра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61AFEF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3. Главная страница (10 б.): Hero-баннер, 3 карточки популярных комнат, object-fit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74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D19A66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2: 40 БАЛЛОВ
Интерактивные интерфейсы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74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4. Слайдер на главной (10 б.): автопрокрутка 3с, стрелки, индикаторы, сброс таймера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5. Динамический каталог (15 б.): рендер из OFFICE_ROOMS через map(), карточки</a:t>
            </a:r>
          </a:p>
          <a:p>
            <a:pPr>
              <a:spcAft>
                <a:spcPts val="600"/>
              </a:spcAft>
            </a:pPr>
            <a:r>
              <a:rPr>
                <a:solidFill>
                  <a:srgbClr val="D19A66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6. Страница комнаты (15 б.): динамическая загрузка по ?id=..., галерея, характеристики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1371600"/>
            <a:ext cx="2362200" cy="584200"/>
          </a:xfrm>
          <a:prstGeom prst="roundRect">
            <a:avLst>
              <a:gd name="adj" fmla="val 5000"/>
            </a:avLst>
          </a:prstGeom>
          <a:solidFill>
            <a:srgbClr val="1F232A"/>
          </a:solidFill>
          <a:ln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800">
                <a:solidFill>
                  <a:srgbClr val="D4D4D8"/>
                </a:solidFill>
                <a:latin typeface="Consolas"/>
              </a:rPr>
              <a:t>ИТОГО ЗА БЛОК 3: 30 БАЛЛОВ
Бизнес-логика, UX и чистота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7600" y="2032000"/>
            <a:ext cx="2362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7. Поиск и сортировка (10 б.): живой фильтр по имени и сортировка цен (asc/desc)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8. Валидация форм (10 б.): индикация .is-invalid, проверка пароля, тосты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9. Калькулятор брони (5 б.): живой пересчет price * hours, автовыбор комнаты</a:t>
            </a:r>
          </a:p>
          <a:p>
            <a:pPr>
              <a:spcAft>
                <a:spcPts val="400"/>
              </a:spcAft>
            </a:pPr>
            <a:r>
              <a:rPr>
                <a:solidFill>
                  <a:srgbClr val="98C379"/>
                </a:solidFill>
              </a:rPr>
              <a:t>✔ </a:t>
            </a:r>
            <a:r>
              <a:rPr sz="850">
                <a:solidFill>
                  <a:srgbClr val="FFFFFF"/>
                </a:solidFill>
                <a:latin typeface="Inter"/>
              </a:rPr>
              <a:t>10. Кабинет и чистота (5 б.): список броней, empty state, 0 ошибок в консоли F12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ПОДГОТОВКА К ЗАЩИТЕ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структурировать выступление на защите, чтобы показать все сильные стороны проекта?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Сквозной пользовательский сценарий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Сценарий демонстрации на защите проекта: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1. Главная страница: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Демонстрация Hero-баннера и автослайдера (3 сек)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Ручное переключение слайдов стрелками и точками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2. Каталог комнат: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Живой поиск: ввод 'Focus' -&gt; мгновенная фильтрация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Сортировка по цене: возрастание / убывание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3. Страница комнаты (room-details.html?id=...):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Переход по ссылке, чтение параметров URL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4. Калькулятор бронирования: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Автовыбор комнаты, ввод часов -&gt; пересчет цены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5. Кабинет 'Мои бронирования':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- Проверка созданной заявки в истории заказов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План успешной демонстрации проекта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Пользовательская история: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Показывайте проект не как разрозненный код, а как законченный коммерческий сценарий клиента.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Интерактивный отклик:
</a:t>
            </a:r>
            <a:r>
              <a:rPr sz="850" b="0">
                <a:solidFill>
                  <a:srgbClr val="555555"/>
                </a:solidFill>
                <a:latin typeface="Inter"/>
              </a:rPr>
              <a:t>Обратите внимание комиссии на скорость работы интерфейса: фильтрация и расчеты без перезагрузок.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Обработка ошибок: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Продемонстрируйте валидацию пустых полей формы и отображение блока Empty State в поиске.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Уверенность в коде:
</a:t>
            </a:r>
            <a:r>
              <a:rPr sz="850" b="0">
                <a:solidFill>
                  <a:srgbClr val="555555"/>
                </a:solidFill>
                <a:latin typeface="Inter"/>
              </a:rPr>
              <a:t>Будьте готовы открыть любой скрипт и объяснить, какая функция отвечает за конкретное действие.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ПОДГОТОВКА К ЗАЩИТЕ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 каким техническим вопросам преподавателя нужно быть готовым в процессе защиты?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Типовые вопросы на защите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1: Как работает поиск комнат?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q = input.value.toLowerCase().trim();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res = data.filter(r =&gt; r.title.toLowerCase().includes(q));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2: Как сохраняется сессия пользователя?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localStorage.setItem(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, email);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3: Зачем нужен URLSearchParams?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id = new URLSearchParams(location.search).get('id');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Вопрос 4: Как очистить интервал слайдера?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clearInterval(sliderTimer);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Технические аргументы для комиссии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Чистый JavaScript:
</a:t>
            </a:r>
            <a:r>
              <a:rPr sz="850" b="0">
                <a:solidFill>
                  <a:srgbClr val="555555"/>
                </a:solidFill>
                <a:latin typeface="Inter"/>
              </a:rPr>
              <a:t>Обоснуйте, почему проект собран на Vanilla JS: максимальная производительность и понимание базы.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Событийная модель:
</a:t>
            </a:r>
            <a:r>
              <a:rPr sz="850" b="0">
                <a:solidFill>
                  <a:srgbClr val="555555"/>
                </a:solidFill>
                <a:latin typeface="Inter"/>
              </a:rPr>
              <a:t>Поясните разницу между событиями change (выбор из списка) и input (живой ввод с клавиатуры).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Хранилище localStorage:
</a:t>
            </a:r>
            <a:r>
              <a:rPr sz="850" b="0">
                <a:solidFill>
                  <a:srgbClr val="555555"/>
                </a:solidFill>
                <a:latin typeface="Inter"/>
              </a:rPr>
              <a:t>Объясните, почему данные сессии не сбрасываются при закрытии вкладки или перезагрузке страницы.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маршрутов: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Расскажите, как скрипт блокирует доступ к оформлению брони для неавторизованных гостей.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ЛИЧНЫЙ КАБИНЕТ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Зачем для истории заказов выделять отдельный семантический контейнер с уникальным id?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Разметка pages/my-bookings.html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&lt;!-- Контейнер личного кабинета пользователя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class="main"&gt;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&lt;div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class="container"&gt;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&lt;h1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class="page-title"&gt;Мои бронирования&lt;/h1&gt;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&lt;p</a:t>
            </a:r>
            <a:r>
              <a:rPr sz="850" b="0">
                <a:solidFill>
                  <a:srgbClr val="D4D4D8"/>
                </a:solidFill>
                <a:latin typeface="Consolas"/>
              </a:rPr>
              <a:t> class="page-subtitle"&gt;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История ваших заявок на аренду рабочих пространств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  &lt;!-- Точка монтирования списка броней --&gt;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  &lt;div</a:t>
            </a:r>
            <a:r>
              <a:rPr sz="850" b="0">
                <a:solidFill>
                  <a:srgbClr val="D19A66"/>
                </a:solidFill>
                <a:latin typeface="Consolas"/>
              </a:rPr>
              <a:t> class="bookings-list" id="myBookingsList"&gt;&lt;/div&gt;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E06C75"/>
                </a:solidFill>
                <a:latin typeface="Consolas"/>
              </a:rPr>
              <a:t>&lt;/main&gt;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Страница истории бронирований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Целевой контейнер:
</a:t>
            </a:r>
            <a:r>
              <a:rPr sz="850" b="0">
                <a:solidFill>
                  <a:srgbClr val="555555"/>
                </a:solidFill>
                <a:latin typeface="Inter"/>
              </a:rPr>
              <a:t>Элемент #myBookingsList служит точкой динамического рендеринга карточек из массива MOCK_BOOKINGS.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Заголовок и подзаголовок:
</a:t>
            </a:r>
            <a:r>
              <a:rPr sz="850" b="0">
                <a:solidFill>
                  <a:srgbClr val="555555"/>
                </a:solidFill>
                <a:latin typeface="Inter"/>
              </a:rPr>
              <a:t>Четкая смысловая иерархия страницы информирует пользователя о назначении раздела кабинета.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Стилистическое единство:
</a:t>
            </a:r>
            <a:r>
              <a:rPr sz="850" b="0">
                <a:solidFill>
                  <a:srgbClr val="555555"/>
                </a:solidFill>
                <a:latin typeface="Inter"/>
              </a:rPr>
              <a:t>Классы container, main, page-title используют общие правила оформления из style.css.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Изолированный компонент:
</a:t>
            </a:r>
            <a:r>
              <a:rPr sz="850" b="0">
                <a:solidFill>
                  <a:srgbClr val="555555"/>
                </a:solidFill>
                <a:latin typeface="Inter"/>
              </a:rPr>
              <a:t>Верстка подготовлена как для отображения заполненного списка, так и для Empty State.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ЛИЧНЫЙ КАБИНЕТ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реализовать базовую защиту приватных страниц от неавторизованного доступа на клиенте?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Проверка авторизации в кабинете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initMyBookings()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container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'myBookingsList'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(!container || </a:t>
            </a:r>
            <a:r>
              <a:rPr sz="850" b="0">
                <a:solidFill>
                  <a:srgbClr val="C678DD"/>
                </a:solidFill>
                <a:latin typeface="Consolas"/>
              </a:rPr>
              <a:t>typeof</a:t>
            </a:r>
            <a:r>
              <a:rPr sz="850" b="0">
                <a:solidFill>
                  <a:srgbClr val="D4D4D8"/>
                </a:solidFill>
                <a:latin typeface="Consolas"/>
              </a:rPr>
              <a:t> MOCK_BOOKINGS === </a:t>
            </a:r>
            <a:r>
              <a:rPr sz="850" b="0">
                <a:solidFill>
                  <a:srgbClr val="98C379"/>
                </a:solidFill>
                <a:latin typeface="Consolas"/>
              </a:rPr>
              <a:t>'undefined'</a:t>
            </a:r>
            <a:r>
              <a:rPr sz="850" b="0">
                <a:solidFill>
                  <a:srgbClr val="D4D4D8"/>
                </a:solidFill>
                <a:latin typeface="Consolas"/>
              </a:rPr>
              <a:t>)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Защита приватного раздела: проверка сессии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currentUser = localStorage.getItem(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(!currentUser)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Редирект неавторизованного пользователя на вход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window.location.href = </a:t>
            </a:r>
            <a:r>
              <a:rPr sz="850" b="0">
                <a:solidFill>
                  <a:srgbClr val="98C379"/>
                </a:solidFill>
                <a:latin typeface="Consolas"/>
              </a:rPr>
              <a:t>'login.html'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  // Пользователь авторизован — запускаем рендеринг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renderBookings(container);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Клиентский контроль доступа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Чтение localStorage:
</a:t>
            </a:r>
            <a:r>
              <a:rPr sz="850" b="0">
                <a:solidFill>
                  <a:srgbClr val="555555"/>
                </a:solidFill>
                <a:latin typeface="Inter"/>
              </a:rPr>
              <a:t>Ключ currentUser хранит признак активной сессии (email или статус авторизации пользователя).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Автоматический редирект: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гость пытается зайти по прямой ссылке в кабинет, браузер мгновенно направляет его на login.html.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сбоя MOCK_BOOKINGS: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typeof гарантирует отсутствие фатальных ошибок, если файл data.js не загрузился.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Приватный пользовательский опыт:
</a:t>
            </a:r>
            <a:r>
              <a:rPr sz="850" b="0">
                <a:solidFill>
                  <a:srgbClr val="555555"/>
                </a:solidFill>
                <a:latin typeface="Inter"/>
              </a:rPr>
              <a:t>Личная информация и история бронирований доступны только после успешной авторизации.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метод map() позволяет лаконично преобразовать массив объектов броней в готовый DOM?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Рендеринг истории бронирований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renderBookings(container)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(!MOCK_BOOKINGS || MOCK_BOOKINGS.length === 0)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container.innerHTML = </a:t>
            </a:r>
            <a:r>
              <a:rPr sz="850" b="0">
                <a:solidFill>
                  <a:srgbClr val="98C379"/>
                </a:solidFill>
                <a:latin typeface="Consolas"/>
              </a:rPr>
              <a:t>'&lt;div class="empty-message"&gt;У вас пока нет бронирований&lt;/div&gt;'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container.innerHTML = MOCK_BOOKINGS.map(item =&gt;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class="booking-item"&gt;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&lt;h3&gt;${item.roomTitle}&lt;/h3&gt;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&lt;div class="meta"&gt;Дата: &lt;strong&gt;${item.date}&lt;/strong&gt; | ${item.hours} ч. | №${item.id}&lt;/div&gt;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class="summary"&gt;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&lt;div class="price"&gt;${item.totalPrice} ₽&lt;/div&gt;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&lt;span class="badge-confirmed"&gt;Подтверждено&lt;/span&gt;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`).join('');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Генерация карточек в кабинете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Декларативный подход: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map() трансформирует каждый объект заявки в готовую HTML-строку карточки брони.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Склейка методом join(''):
</a:t>
            </a:r>
            <a:r>
              <a:rPr sz="850" b="0">
                <a:solidFill>
                  <a:srgbClr val="555555"/>
                </a:solidFill>
                <a:latin typeface="Inter"/>
              </a:rPr>
              <a:t>Объединяет элементы массива в единый HTML-фрагмент без разделительных запятых.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Быстродействие:
</a:t>
            </a:r>
            <a:r>
              <a:rPr sz="850" b="0">
                <a:solidFill>
                  <a:srgbClr val="555555"/>
                </a:solidFill>
                <a:latin typeface="Inter"/>
              </a:rPr>
              <a:t>Единоразовое присвоение innerHTML обновляет DOM за один цикл перерисовки браузера.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Связка с датой и временем: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видит точную дату, длительность и присвоенный 5-значный номер заказа.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оформление статуса заявки цветовым бейджем повышает информативность интерфейса?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Стилизация карточки бронирования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/* Стили элемента бронирования в style.css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.booking-item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background: </a:t>
            </a:r>
            <a:r>
              <a:rPr sz="850" b="0">
                <a:solidFill>
                  <a:srgbClr val="D4D4D8"/>
                </a:solidFill>
                <a:latin typeface="Consolas"/>
              </a:rPr>
              <a:t>#ffffff;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border: </a:t>
            </a:r>
            <a:r>
              <a:rPr sz="850" b="0">
                <a:solidFill>
                  <a:srgbClr val="98C379"/>
                </a:solidFill>
                <a:latin typeface="Consolas"/>
              </a:rPr>
              <a:t>1px solid #e2e8f0;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border-radius: </a:t>
            </a:r>
            <a:r>
              <a:rPr sz="850" b="0">
                <a:solidFill>
                  <a:srgbClr val="D19A66"/>
                </a:solidFill>
                <a:latin typeface="Consolas"/>
              </a:rPr>
              <a:t>8px;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padding: </a:t>
            </a:r>
            <a:r>
              <a:rPr sz="850" b="0">
                <a:solidFill>
                  <a:srgbClr val="D19A66"/>
                </a:solidFill>
                <a:latin typeface="Consolas"/>
              </a:rPr>
              <a:t>18px 24px;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margin-bottom: </a:t>
            </a:r>
            <a:r>
              <a:rPr sz="850" b="0">
                <a:solidFill>
                  <a:srgbClr val="D19A66"/>
                </a:solidFill>
                <a:latin typeface="Consolas"/>
              </a:rPr>
              <a:t>16px;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 b="0">
                <a:solidFill>
                  <a:srgbClr val="D4D4D8"/>
                </a:solidFill>
                <a:latin typeface="Consolas"/>
              </a:rPr>
              <a:t>flex;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justify-content: </a:t>
            </a:r>
            <a:r>
              <a:rPr sz="850" b="0">
                <a:solidFill>
                  <a:srgbClr val="98C379"/>
                </a:solidFill>
                <a:latin typeface="Consolas"/>
              </a:rPr>
              <a:t>space-between;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align-items: </a:t>
            </a:r>
            <a:r>
              <a:rPr sz="850" b="0">
                <a:solidFill>
                  <a:srgbClr val="98C379"/>
                </a:solidFill>
                <a:latin typeface="Consolas"/>
              </a:rPr>
              <a:t>center;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.badge-confirmed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color: </a:t>
            </a:r>
            <a:r>
              <a:rPr sz="850" b="0">
                <a:solidFill>
                  <a:srgbClr val="D4D4D8"/>
                </a:solidFill>
                <a:latin typeface="Consolas"/>
              </a:rPr>
              <a:t>#28a745; </a:t>
            </a:r>
            <a:r>
              <a:rPr sz="850" b="0">
                <a:solidFill>
                  <a:srgbClr val="5C6370"/>
                </a:solidFill>
                <a:latin typeface="Consolas"/>
              </a:rPr>
              <a:t>/* Зеленый акцент успеха */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font-size: </a:t>
            </a:r>
            <a:r>
              <a:rPr sz="850" b="0">
                <a:solidFill>
                  <a:srgbClr val="D19A66"/>
                </a:solidFill>
                <a:latin typeface="Consolas"/>
              </a:rPr>
              <a:t>12px;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  font-weight: </a:t>
            </a:r>
            <a:r>
              <a:rPr sz="850" b="0">
                <a:solidFill>
                  <a:srgbClr val="D19A66"/>
                </a:solidFill>
                <a:latin typeface="Consolas"/>
              </a:rPr>
              <a:t>600;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Визуальное оформление кабинета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Карточная компоновка:
</a:t>
            </a:r>
            <a:r>
              <a:rPr sz="850" b="0">
                <a:solidFill>
                  <a:srgbClr val="555555"/>
                </a:solidFill>
                <a:latin typeface="Inter"/>
              </a:rPr>
              <a:t>Белый фон, тонкая граница #e2e8f0 и скругление углов создают легкий современный стиль.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Двустороннее выравнивание: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Слева располагаются детали офиса и дата, справа — крупная цена и статус подтверждения.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Цветовая дифференциация:
</a:t>
            </a:r>
            <a:r>
              <a:rPr sz="850" b="0">
                <a:solidFill>
                  <a:srgbClr val="555555"/>
                </a:solidFill>
                <a:latin typeface="Inter"/>
              </a:rPr>
              <a:t>Статус «Подтверждено» выделен зеленым цветом (#28a745), давая мгновенный позитивный отклик.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Типографика Inter:
</a:t>
            </a:r>
            <a:r>
              <a:rPr sz="850" b="0">
                <a:solidFill>
                  <a:srgbClr val="555555"/>
                </a:solidFill>
                <a:latin typeface="Inter"/>
              </a:rPr>
              <a:t>Четкий контраст между полужирными заголовками комнат и аккуратными мета-данными серым цветом.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отсутствие Empty State считается критической ошибкой в пользовательских интерфейсах?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Обработка пустого состояния (Empty State)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Защита от пустого белого экрана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(!MOCK_BOOKINGS || MOCK_BOOKINGS.length === 0)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container.innerHTML = `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&lt;div class="empty-message"&gt;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&lt;div class="empty-icon"&gt;📅&lt;/div&gt;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&lt;h2&gt;У вас пока нет активных бронирований&lt;/h2&gt;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&lt;p&gt;Выберите подходящее рабочее пространство в каталоге&lt;/p&gt;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&lt;a href="catalog.html" class="btn btn-primary"&gt;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  Перейти в каталог комнат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  &lt;/a&gt;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&lt;/div&gt;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`;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return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UX пустого состояния кабинета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Понятная обратная связь:
</a:t>
            </a:r>
            <a:r>
              <a:rPr sz="850" b="0">
                <a:solidFill>
                  <a:srgbClr val="555555"/>
                </a:solidFill>
                <a:latin typeface="Inter"/>
              </a:rPr>
              <a:t>Вместо пустого белого пространства пользователь видит дружелюбное сообщение с иконкой.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Призыв к действию (CTA):
</a:t>
            </a:r>
            <a:r>
              <a:rPr sz="850" b="0">
                <a:solidFill>
                  <a:srgbClr val="555555"/>
                </a:solidFill>
                <a:latin typeface="Inter"/>
              </a:rPr>
              <a:t>Кнопка «Перейти в каталог» помогает посетителю продолжить сценарий, не теряясь на странице.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Критерий чек-листа:
</a:t>
            </a:r>
            <a:r>
              <a:rPr sz="850" b="0">
                <a:solidFill>
                  <a:srgbClr val="555555"/>
                </a:solidFill>
                <a:latin typeface="Inter"/>
              </a:rPr>
              <a:t>Экзаменационная комиссия специально проверяет реакцию интерфейса на пустой массив данных.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Профессиональный UX: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направляет пользователя к следующему шагу при любых граничных состояниях.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динамическое управление классами и стилями навигации отражает статус пользователя?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Сквозная навигация портала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function</a:t>
            </a:r>
            <a:r>
              <a:rPr sz="850" b="0">
                <a:solidFill>
                  <a:srgbClr val="61AFEF"/>
                </a:solidFill>
                <a:latin typeface="Consolas"/>
              </a:rPr>
              <a:t> updateAuthNav()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user = localStorage.getItem(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navItem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'myBookingsNavItem'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btn = document.getElementById(</a:t>
            </a:r>
            <a:r>
              <a:rPr sz="850" b="0">
                <a:solidFill>
                  <a:srgbClr val="98C379"/>
                </a:solidFill>
                <a:latin typeface="Consolas"/>
              </a:rPr>
              <a:t>'authNavBtn'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if</a:t>
            </a:r>
            <a:r>
              <a:rPr sz="850" b="0">
                <a:solidFill>
                  <a:srgbClr val="D4D4D8"/>
                </a:solidFill>
                <a:latin typeface="Consolas"/>
              </a:rPr>
              <a:t> (user)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navItem.style.display = </a:t>
            </a:r>
            <a:r>
              <a:rPr sz="850" b="0">
                <a:solidFill>
                  <a:srgbClr val="98C379"/>
                </a:solidFill>
                <a:latin typeface="Consolas"/>
              </a:rPr>
              <a:t>'block'</a:t>
            </a:r>
            <a:r>
              <a:rPr sz="850" b="0">
                <a:solidFill>
                  <a:srgbClr val="5C6370"/>
                </a:solidFill>
                <a:latin typeface="Consolas"/>
              </a:rPr>
              <a:t>; </a:t>
            </a:r>
            <a:r>
              <a:rPr sz="850" b="0">
                <a:solidFill>
                  <a:srgbClr val="5C6370"/>
                </a:solidFill>
                <a:latin typeface="Consolas"/>
              </a:rPr>
              <a:t>// Показываем кабинет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btn.textContent = </a:t>
            </a:r>
            <a:r>
              <a:rPr sz="850" b="0">
                <a:solidFill>
                  <a:srgbClr val="98C379"/>
                </a:solidFill>
                <a:latin typeface="Consolas"/>
              </a:rPr>
              <a:t>'Выйти'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btn.onclick =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  e.preventDefault();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  localStorage.removeItem(</a:t>
            </a:r>
            <a:r>
              <a:rPr sz="850" b="0">
                <a:solidFill>
                  <a:srgbClr val="98C379"/>
                </a:solidFill>
                <a:latin typeface="Consolas"/>
              </a:rPr>
              <a:t>'currentUser'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    window.location.reload();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 </a:t>
            </a:r>
            <a:r>
              <a:rPr sz="850" b="0">
                <a:solidFill>
                  <a:srgbClr val="C678DD"/>
                </a:solidFill>
                <a:latin typeface="Consolas"/>
              </a:rPr>
              <a:t>else</a:t>
            </a:r>
            <a:r>
              <a:rPr sz="850" b="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navItem.style.display = </a:t>
            </a:r>
            <a:r>
              <a:rPr sz="850" b="0">
                <a:solidFill>
                  <a:srgbClr val="98C379"/>
                </a:solidFill>
                <a:latin typeface="Consolas"/>
              </a:rPr>
              <a:t>'none'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  btn.textContent = </a:t>
            </a:r>
            <a:r>
              <a:rPr sz="850" b="0">
                <a:solidFill>
                  <a:srgbClr val="98C379"/>
                </a:solidFill>
                <a:latin typeface="Consolas"/>
              </a:rPr>
              <a:t>'Войти'</a:t>
            </a:r>
            <a:r>
              <a:rPr sz="850" b="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Синхронизация шапки сайта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Управление состоянием:
</a:t>
            </a:r>
            <a:r>
              <a:rPr sz="850" b="0">
                <a:solidFill>
                  <a:srgbClr val="555555"/>
                </a:solidFill>
                <a:latin typeface="Inter"/>
              </a:rPr>
              <a:t>Шапка сайта на всех 7 страницах автоматически переключается между гостевым и авторским режимами.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Пункт «Мои бронирования»:
</a:t>
            </a:r>
            <a:r>
              <a:rPr sz="850" b="0">
                <a:solidFill>
                  <a:srgbClr val="555555"/>
                </a:solidFill>
                <a:latin typeface="Inter"/>
              </a:rPr>
              <a:t>Отображается только в том случае, если пользователь вошел в систему под своей учетной записью.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Кнопка «Выйти»:
</a:t>
            </a:r>
            <a:r>
              <a:rPr sz="850" b="0">
                <a:solidFill>
                  <a:srgbClr val="555555"/>
                </a:solidFill>
                <a:latin typeface="Inter"/>
              </a:rPr>
              <a:t>Стирает сессию из localStorage, показывает уведомление и перезагружает интерфейс в гостевой режим.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Подсветка активной ссылки: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initNavigation() сопоставляет location.pathname и добавляет класс active текущей вкладке.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метод unshift() предпочтительнее push() при добавлении свежих пользовательских заказов?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Бесшовное добавление заказа в историю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Обработчик отправки формы booking.html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form.addEventListener(</a:t>
            </a:r>
            <a:r>
              <a:rPr sz="850" b="0">
                <a:solidFill>
                  <a:srgbClr val="98C379"/>
                </a:solidFill>
                <a:latin typeface="Consolas"/>
              </a:rPr>
              <a:t>'submit'</a:t>
            </a:r>
            <a:r>
              <a:rPr sz="850" b="0">
                <a:solidFill>
                  <a:srgbClr val="61AFEF"/>
                </a:solidFill>
                <a:latin typeface="Consolas"/>
              </a:rPr>
              <a:t>, (e) =&gt;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e.preventDefault();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orderNumber = Math.floor(10000 + Math.random() * 90000);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</a:t>
            </a:r>
            <a:r>
              <a:rPr sz="850" b="0">
                <a:solidFill>
                  <a:srgbClr val="5C6370"/>
                </a:solidFill>
                <a:latin typeface="Consolas"/>
              </a:rPr>
              <a:t>// unshift() добавляет новую бронь в начало списка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MOCK_BOOKINGS.unshift({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id: String(orderNumber),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roomTitle: selectedRoom.title,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    date: bookingDateInput.value,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    hours: bookingHours,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19A66"/>
                </a:solidFill>
                <a:latin typeface="Consolas"/>
              </a:rPr>
              <a:t>    totalPrice: finalCalculatedPrice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61AFEF"/>
                </a:solidFill>
                <a:latin typeface="Consolas"/>
              </a:rPr>
              <a:t>  showNotification(`Заказ №${orderNumber} успешно оформлен!`, 'success');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setTimeout(() =&gt; window.location.href = 'my-bookings.html', 1000);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Полный сквозной цикл бронирования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Хронологический порядок: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unshift() ставит свежую бронь на первое место, чтобы клиент сразу увидел ее в кабинете.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Генерация ID заказа:
</a:t>
            </a:r>
            <a:r>
              <a:rPr sz="850" b="0">
                <a:solidFill>
                  <a:srgbClr val="555555"/>
                </a:solidFill>
                <a:latin typeface="Inter"/>
              </a:rPr>
              <a:t>Случайный 5-значный номер заказа симулирует реальную серверную систему управления заявками.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Компонент всплывающих тостов: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Всплывающее зеленое уведомление подтверждает успех бронирования перед автоматическим переходом.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Автоматический переход:
</a:t>
            </a:r>
            <a:r>
              <a:rPr sz="850" b="0">
                <a:solidFill>
                  <a:srgbClr val="555555"/>
                </a:solidFill>
                <a:latin typeface="Inter"/>
              </a:rPr>
              <a:t>Задержка setTimeout плавно переводит пользователя на страницу истории его бронирований.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ПРАКТИКА: СБОРКА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методическая самопроверка по чек-листу исключает потерю баллов на итоговой защите?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Предзащитный аудит проекта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Контрольный чек-лист самопроверки (100 баллов):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1. Файловая структура: 7 страниц, папки css/js/img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2. Семантика и стили: теги HTML5, шрифт Inter, палитра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3. Главная страница: Hero + популярные комнаты   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4. Слайдер на главной: автоскролл 3с + кнопки   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5. Каталог комнат: динамический рендер из данных    (15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6. Страница комнаты: загрузка по query-параметру ?id (15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7. Поиск и сортировка: живой фильтр + кнопки цен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8. Валидация форм: регулярки, .is-invalid, тосты     (10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9. Калькулятор: мгновенный расчет часов и тарифа      (5 б.)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98C379"/>
                </a:solidFill>
                <a:latin typeface="Consolas"/>
              </a:rPr>
              <a:t>[OK] 10. Мои бронирования: кабинет + 0 ошибок в F12        (5 б.)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Финальная приемка и контроль качества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100 из 100 баллов: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Все 10 экзаменационных требований реализованы и протестированы во всех популярных браузерах.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Тестирование граничных условий: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Проверены пустой ввод, несуществующий ID комнаты в URL (?id=999) и неверный пароль.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Адаптивная верстка:
</a:t>
            </a:r>
            <a:r>
              <a:rPr sz="850" b="0">
                <a:solidFill>
                  <a:srgbClr val="555555"/>
                </a:solidFill>
                <a:latin typeface="Inter"/>
              </a:rPr>
              <a:t>Интерфейс корректно отображается как на экранах ноутбуков (1440px), так и на смартфонах.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Готовность к защите: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Проект полностью упакован, содержит чистый код и готов к публичной защите перед экспертами.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КУРСА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навыки разработки интерфейсов станут фундаментом для изучения фреймворков (React, Vue)?</a:t>
            </a:r>
          </a:p>
        </p:txBody>
      </p:sp>
      <p:sp>
        <p:nvSpPr>
          <p:cNvPr id="5" name="Rounded Rectangle 1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Left Title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ontserrat"/>
              </a:rPr>
              <a:t>Стек компетенций фронтенд-разработчика</a:t>
            </a:r>
          </a:p>
        </p:txBody>
      </p:sp>
      <p:sp>
        <p:nvSpPr>
          <p:cNvPr id="7" name="Rounded Rectangle Code Box"/>
          <p:cNvSpPr/>
          <p:nvPr/>
        </p:nvSpPr>
        <p:spPr>
          <a:xfrm>
            <a:off x="482600" y="1117600"/>
            <a:ext cx="3771900" cy="3225800"/>
          </a:xfrm>
          <a:prstGeom prst="roundRect">
            <a:avLst>
              <a:gd name="adj" fmla="val 3000"/>
            </a:avLst>
          </a:prstGeom>
          <a:solidFill>
            <a:srgbClr val="1F232A"/>
          </a:solidFill>
          <a:ln w="12700">
            <a:solidFill>
              <a:srgbClr val="363B4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Code Text"/>
          <p:cNvSpPr txBox="1"/>
          <p:nvPr/>
        </p:nvSpPr>
        <p:spPr>
          <a:xfrm>
            <a:off x="609600" y="1219200"/>
            <a:ext cx="3517900" cy="302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 b="0">
                <a:solidFill>
                  <a:srgbClr val="5C6370"/>
                </a:solidFill>
                <a:latin typeface="Consolas"/>
              </a:rPr>
              <a:t>// Портфолио студента: стек технологий фронтенда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C678DD"/>
                </a:solidFill>
                <a:latin typeface="Consolas"/>
              </a:rPr>
              <a:t>const</a:t>
            </a:r>
            <a:r>
              <a:rPr sz="850" b="0">
                <a:solidFill>
                  <a:srgbClr val="D4D4D8"/>
                </a:solidFill>
                <a:latin typeface="Consolas"/>
              </a:rPr>
              <a:t> FRONTEND_STACK = {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markup: </a:t>
            </a:r>
            <a:r>
              <a:rPr sz="850" b="0">
                <a:solidFill>
                  <a:srgbClr val="98C379"/>
                </a:solidFill>
                <a:latin typeface="Consolas"/>
              </a:rPr>
              <a:t>'HTML5 Semantic, Forms, Validation, SEO, a11y'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styling: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'CSS3, Flexbox, Grid, Custom Properties, Responsive'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scripting: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'JavaScript ES6+, DOM API, Event Delegation'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dataHandling: </a:t>
            </a:r>
            <a:r>
              <a:rPr sz="850" b="0">
                <a:solidFill>
                  <a:srgbClr val="98C379"/>
                </a:solidFill>
                <a:latin typeface="Consolas"/>
              </a:rPr>
              <a:t>'Arrays, Objects, map, filter, sort, immutability'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architecture: </a:t>
            </a:r>
            <a:r>
              <a:rPr sz="850" b="0">
                <a:solidFill>
                  <a:srgbClr val="98C379"/>
                </a:solidFill>
                <a:latin typeface="Consolas"/>
              </a:rPr>
              <a:t>'Multi-page SPA elements, URL params, localStorage'</a:t>
            </a:r>
            <a:r>
              <a:rPr sz="850" b="0">
                <a:solidFill>
                  <a:srgbClr val="D4D4D8"/>
                </a:solidFill>
                <a:latin typeface="Consolas"/>
              </a:rPr>
              <a:t>,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  project: </a:t>
            </a:r>
            <a:r>
              <a:rPr sz="850" b="0">
                <a:solidFill>
                  <a:srgbClr val="D19A66"/>
                </a:solidFill>
                <a:latin typeface="Consolas"/>
              </a:rPr>
              <a:t>'Портал СмартОфис (7 полноценных страниц)'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};</a:t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 b="0">
                <a:solidFill>
                  <a:srgbClr val="D4D4D8"/>
                </a:solidFill>
                <a:latin typeface="Consolas"/>
              </a:rPr>
              <a:t>console.log(</a:t>
            </a:r>
            <a:r>
              <a:rPr sz="850" b="0">
                <a:solidFill>
                  <a:srgbClr val="98C379"/>
                </a:solidFill>
                <a:latin typeface="Consolas"/>
              </a:rPr>
              <a:t>'Финальная сборка веб-приложения завершена!'</a:t>
            </a:r>
            <a:r>
              <a:rPr sz="850" b="0">
                <a:solidFill>
                  <a:srgbClr val="D4D4D8"/>
                </a:solidFill>
                <a:latin typeface="Consolas"/>
              </a:rPr>
              <a:t>);</a:t>
            </a:r>
          </a:p>
        </p:txBody>
      </p:sp>
      <p:sp>
        <p:nvSpPr>
          <p:cNvPr id="9" name="TextBox Right Title"/>
          <p:cNvSpPr txBox="1"/>
          <p:nvPr/>
        </p:nvSpPr>
        <p:spPr>
          <a:xfrm>
            <a:off x="4635500" y="711200"/>
            <a:ext cx="4254500" cy="279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181A1F"/>
                </a:solidFill>
                <a:latin typeface="Montserrat"/>
              </a:rPr>
              <a:t>Чему мы научились за курс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028700"/>
            <a:ext cx="42545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181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1430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Путь от нуля до портала:
</a:t>
            </a:r>
            <a:r>
              <a:rPr sz="850" b="0">
                <a:solidFill>
                  <a:srgbClr val="555555"/>
                </a:solidFill>
                <a:latin typeface="Inter"/>
              </a:rPr>
              <a:t>От первых тегов &lt;div&gt; и стилей текста до сложного коммерческого многостраничного приложения.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79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7526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Глубокое понимание базы:
</a:t>
            </a:r>
            <a:r>
              <a:rPr sz="850" b="0">
                <a:solidFill>
                  <a:srgbClr val="555555"/>
                </a:solidFill>
                <a:latin typeface="Inter"/>
              </a:rPr>
              <a:t>Уверенная работа с чистым DOM и событиями без зависимости от тяжелых сторонних фреймворков.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00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3622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Архитектурное мышление:
</a:t>
            </a:r>
            <a:r>
              <a:rPr sz="850" b="0">
                <a:solidFill>
                  <a:srgbClr val="555555"/>
                </a:solidFill>
                <a:latin typeface="Inter"/>
              </a:rPr>
              <a:t>Умение проектировать структуры данных, организовывать файловую систему и разделять модули.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099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2971800"/>
            <a:ext cx="4076700" cy="53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Готовое портфолио: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Полноценный проект «СмартОфис» готов для размещения на GitHub и демонстрации работодателям.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