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98" r:id="rId60"/>
    <p:sldId id="299" r:id="rId61"/>
    <p:sldId id="300" r:id="rId62"/>
    <p:sldId id="301" r:id="rId63"/>
    <p:sldId id="302" r:id="rId64"/>
    <p:sldId id="303" r:id="rId65"/>
    <p:sldId id="304" r:id="rId66"/>
    <p:sldId id="305" r:id="rId67"/>
    <p:sldId id="306" r:id="rId68"/>
    <p:sldId id="307" r:id="rId69"/>
    <p:sldId id="308" r:id="rId70"/>
    <p:sldId id="309" r:id="rId71"/>
    <p:sldId id="310" r:id="rId72"/>
    <p:sldId id="311" r:id="rId73"/>
    <p:sldId id="312" r:id="rId74"/>
    <p:sldId id="313" r:id="rId75"/>
    <p:sldId id="314" r:id="rId76"/>
    <p:sldId id="315" r:id="rId77"/>
    <p:sldId id="316" r:id="rId78"/>
    <p:sldId id="317" r:id="rId79"/>
    <p:sldId id="318" r:id="rId80"/>
    <p:sldId id="260" r:id="rId27"/>
    <p:sldId id="274" r:id="rId2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Inter" panose="02000503000000020004" pitchFamily="2" charset="0"/>
      <p:regular r:id="rId35"/>
      <p:bold r:id="rId36"/>
      <p:italic r:id="rId37"/>
      <p:boldItalic r:id="rId38"/>
    </p:embeddedFont>
    <p:embeddedFont>
      <p:font typeface="Inter Medium" panose="02000503000000020004" pitchFamily="2" charset="0"/>
      <p:regular r:id="rId39"/>
      <p:italic r:id="rId40"/>
    </p:embeddedFont>
    <p:embeddedFont>
      <p:font typeface="Montserrat" panose="00000500000000000000" pitchFamily="2" charset="-52"/>
      <p:regular r:id="rId41"/>
      <p:bold r:id="rId42"/>
      <p:italic r:id="rId43"/>
      <p:boldItalic r:id="rId44"/>
    </p:embeddedFont>
    <p:embeddedFont>
      <p:font typeface="Montserrat ExtraBold" panose="00000900000000000000" pitchFamily="2" charset="-52"/>
      <p:bold r:id="rId45"/>
      <p:boldItalic r:id="rId46"/>
    </p:embeddedFont>
    <p:embeddedFont>
      <p:font typeface="Montserrat SemiBold" panose="00000700000000000000" pitchFamily="2" charset="-52"/>
      <p:bold r:id="rId47"/>
      <p:boldItalic r:id="rId48"/>
    </p:embeddedFont>
    <p:embeddedFont>
      <p:font typeface="Proxima Nova" panose="020B0604020202020204" charset="0"/>
      <p:regular r:id="rId49"/>
      <p:bold r:id="rId50"/>
      <p:italic r:id="rId51"/>
      <p:boldItalic r:id="rId52"/>
    </p:embeddedFont>
    <p:embeddedFont>
      <p:font typeface="PT Sans Caption" panose="020B0603020203020204" pitchFamily="34" charset="-52"/>
      <p:regular r:id="rId53"/>
      <p:bold r:id="rId54"/>
    </p:embeddedFont>
    <p:embeddedFont>
      <p:font typeface="Segoe UI Symbol" panose="020B0502040204020203" pitchFamily="34" charset="0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5">
          <p15:clr>
            <a:srgbClr val="747775"/>
          </p15:clr>
        </p15:guide>
        <p15:guide id="2" pos="723">
          <p15:clr>
            <a:srgbClr val="747775"/>
          </p15:clr>
        </p15:guide>
        <p15:guide id="3" pos="5037">
          <p15:clr>
            <a:srgbClr val="747775"/>
          </p15:clr>
        </p15:guide>
        <p15:guide id="4" pos="1152">
          <p15:clr>
            <a:srgbClr val="747775"/>
          </p15:clr>
        </p15:guide>
        <p15:guide id="5" pos="4608">
          <p15:clr>
            <a:srgbClr val="747775"/>
          </p15:clr>
        </p15:guide>
        <p15:guide id="6" orient="horz" pos="1440">
          <p15:clr>
            <a:srgbClr val="747775"/>
          </p15:clr>
        </p15:guide>
        <p15:guide id="7" orient="horz" pos="1728">
          <p15:clr>
            <a:srgbClr val="747775"/>
          </p15:clr>
        </p15:guide>
        <p15:guide id="8" pos="2808">
          <p15:clr>
            <a:srgbClr val="747775"/>
          </p15:clr>
        </p15:guide>
        <p15:guide id="9" orient="horz" pos="2448">
          <p15:clr>
            <a:srgbClr val="747775"/>
          </p15:clr>
        </p15:guide>
        <p15:guide id="10" orient="horz" pos="2735">
          <p15:clr>
            <a:srgbClr val="747775"/>
          </p15:clr>
        </p15:guide>
        <p15:guide id="11" orient="horz" pos="1080">
          <p15:clr>
            <a:srgbClr val="747775"/>
          </p15:clr>
        </p15:guide>
        <p15:guide id="12" orient="horz" pos="868">
          <p15:clr>
            <a:srgbClr val="747775"/>
          </p15:clr>
        </p15:guide>
        <p15:guide id="13" orient="horz" pos="2391" userDrawn="1">
          <p15:clr>
            <a:srgbClr val="747775"/>
          </p15:clr>
        </p15:guide>
        <p15:guide id="14" pos="288">
          <p15:clr>
            <a:srgbClr val="747775"/>
          </p15:clr>
        </p15:guide>
        <p15:guide id="15" pos="5278">
          <p15:clr>
            <a:srgbClr val="747775"/>
          </p15:clr>
        </p15:guide>
        <p15:guide id="16" pos="5184">
          <p15:clr>
            <a:srgbClr val="747775"/>
          </p15:clr>
        </p15:guide>
        <p15:guide id="17" orient="horz" pos="2304">
          <p15:clr>
            <a:srgbClr val="747775"/>
          </p15:clr>
        </p15:guide>
        <p15:guide id="18" pos="427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03"/>
    <a:srgbClr val="434343"/>
    <a:srgbClr val="F26101"/>
    <a:srgbClr val="F97316"/>
    <a:srgbClr val="FA9046"/>
    <a:srgbClr val="F88B06"/>
    <a:srgbClr val="FFFFFF"/>
    <a:srgbClr val="FF6102"/>
    <a:srgbClr val="FF60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89" autoAdjust="0"/>
  </p:normalViewPr>
  <p:slideViewPr>
    <p:cSldViewPr snapToGrid="0">
      <p:cViewPr varScale="1">
        <p:scale>
          <a:sx n="136" d="100"/>
          <a:sy n="136" d="100"/>
        </p:scale>
        <p:origin x="443" y="93"/>
      </p:cViewPr>
      <p:guideLst>
        <p:guide orient="horz" pos="145"/>
        <p:guide pos="723"/>
        <p:guide pos="5037"/>
        <p:guide pos="1152"/>
        <p:guide pos="4608"/>
        <p:guide orient="horz" pos="1440"/>
        <p:guide orient="horz" pos="1728"/>
        <p:guide pos="2808"/>
        <p:guide orient="horz" pos="2448"/>
        <p:guide orient="horz" pos="2735"/>
        <p:guide orient="horz" pos="1080"/>
        <p:guide orient="horz" pos="868"/>
        <p:guide orient="horz" pos="2391"/>
        <p:guide pos="288"/>
        <p:guide pos="5278"/>
        <p:guide pos="5184"/>
        <p:guide orient="horz" pos="2304"/>
        <p:guide pos="4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973" y="7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39" Type="http://schemas.openxmlformats.org/officeDocument/2006/relationships/font" Target="fonts/font9.fntdata"/><Relationship Id="rId40" Type="http://schemas.openxmlformats.org/officeDocument/2006/relationships/font" Target="fonts/font10.fntdata"/><Relationship Id="rId41" Type="http://schemas.openxmlformats.org/officeDocument/2006/relationships/font" Target="fonts/font11.fntdata"/><Relationship Id="rId42" Type="http://schemas.openxmlformats.org/officeDocument/2006/relationships/font" Target="fonts/font12.fntdata"/><Relationship Id="rId43" Type="http://schemas.openxmlformats.org/officeDocument/2006/relationships/font" Target="fonts/font13.fntdata"/><Relationship Id="rId44" Type="http://schemas.openxmlformats.org/officeDocument/2006/relationships/font" Target="fonts/font14.fntdata"/><Relationship Id="rId45" Type="http://schemas.openxmlformats.org/officeDocument/2006/relationships/font" Target="fonts/font15.fntdata"/><Relationship Id="rId46" Type="http://schemas.openxmlformats.org/officeDocument/2006/relationships/font" Target="fonts/font16.fntdata"/><Relationship Id="rId47" Type="http://schemas.openxmlformats.org/officeDocument/2006/relationships/font" Target="fonts/font17.fntdata"/><Relationship Id="rId48" Type="http://schemas.openxmlformats.org/officeDocument/2006/relationships/font" Target="fonts/font18.fntdata"/><Relationship Id="rId49" Type="http://schemas.openxmlformats.org/officeDocument/2006/relationships/font" Target="fonts/font19.fntdata"/><Relationship Id="rId50" Type="http://schemas.openxmlformats.org/officeDocument/2006/relationships/font" Target="fonts/font20.fntdata"/><Relationship Id="rId51" Type="http://schemas.openxmlformats.org/officeDocument/2006/relationships/font" Target="fonts/font21.fntdata"/><Relationship Id="rId52" Type="http://schemas.openxmlformats.org/officeDocument/2006/relationships/font" Target="fonts/font22.fntdata"/><Relationship Id="rId53" Type="http://schemas.openxmlformats.org/officeDocument/2006/relationships/font" Target="fonts/font23.fntdata"/><Relationship Id="rId54" Type="http://schemas.openxmlformats.org/officeDocument/2006/relationships/font" Target="fonts/font24.fntdata"/><Relationship Id="rId55" Type="http://schemas.openxmlformats.org/officeDocument/2006/relationships/font" Target="fonts/font25.fntdata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openxmlformats.org/officeDocument/2006/relationships/slide" Target="slides/slide28.xml"/><Relationship Id="rId61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32.xml"/><Relationship Id="rId65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37.xml"/><Relationship Id="rId70" Type="http://schemas.openxmlformats.org/officeDocument/2006/relationships/slide" Target="slides/slide38.xml"/><Relationship Id="rId71" Type="http://schemas.openxmlformats.org/officeDocument/2006/relationships/slide" Target="slides/slide39.xml"/><Relationship Id="rId72" Type="http://schemas.openxmlformats.org/officeDocument/2006/relationships/slide" Target="slides/slide40.xml"/><Relationship Id="rId73" Type="http://schemas.openxmlformats.org/officeDocument/2006/relationships/slide" Target="slides/slide41.xml"/><Relationship Id="rId74" Type="http://schemas.openxmlformats.org/officeDocument/2006/relationships/slide" Target="slides/slide42.xml"/><Relationship Id="rId75" Type="http://schemas.openxmlformats.org/officeDocument/2006/relationships/slide" Target="slides/slide43.xml"/><Relationship Id="rId76" Type="http://schemas.openxmlformats.org/officeDocument/2006/relationships/slide" Target="slides/slide44.xml"/><Relationship Id="rId77" Type="http://schemas.openxmlformats.org/officeDocument/2006/relationships/slide" Target="slides/slide45.xml"/><Relationship Id="rId78" Type="http://schemas.openxmlformats.org/officeDocument/2006/relationships/slide" Target="slides/slide46.xml"/><Relationship Id="rId79" Type="http://schemas.openxmlformats.org/officeDocument/2006/relationships/slide" Target="slides/slide47.xml"/><Relationship Id="rId80" Type="http://schemas.openxmlformats.org/officeDocument/2006/relationships/slide" Target="slides/slide4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A7DFBAC-B63D-5280-65B6-B690638518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34C276-34E3-4752-F41F-A3446FF2C3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336A-A1AA-4037-A276-A09C8A017BD3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8F3828-288C-03B8-F09E-18B8EFBEC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E26C3A-FE45-0464-1707-5D99E0D66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F0CBC-02B0-408E-89CC-D1E0D8286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8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03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d0507c3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d0507c3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d0507c3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d0507c3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F8C70B8F-B0FF-D376-584D-F24F346B242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D27988DF-5EA2-0147-1D2F-7D331508A08A}"/>
              </a:ext>
            </a:extLst>
          </p:cNvPr>
          <p:cNvSpPr/>
          <p:nvPr userDrawn="1"/>
        </p:nvSpPr>
        <p:spPr>
          <a:xfrm>
            <a:off x="6379159" y="259712"/>
            <a:ext cx="2510249" cy="38612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A0746FE1-7909-364E-106E-A03CFF905756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5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0F6D521-5D86-6760-69D6-E71DE65F9DE3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9277216-7C7E-E7C1-68E9-2B49D803E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Рисунок 7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8B6CC871-C4C7-BC3A-E4B2-04FB22C8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Рисунок 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C45FD2B-5227-0D3D-1188-E08C76CFD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1097012B-1A8E-82B3-5458-F0856BCC8605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5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106C148-16DA-11C2-72A6-2DA0FE60F5D4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310B86E-76FD-A323-DB10-4DD1D36E2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D4C76F9-53BE-88AC-A08A-6079C484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C4AA954-2B31-6C9A-8DB6-0A9C91B37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8560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358944C-C36B-53B2-E5FE-1A8017A396DF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3" name="Рисунок 2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0689A308-1BDC-8C47-FBF9-706C2D72D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9C37A5D0-2C6A-2A78-9DF0-BDA00CE1C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DA38D3F9-EBE5-61E2-0F17-68765F661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6480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0" r:id="rId3"/>
    <p:sldLayoutId id="2147483661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microsoft.com/office/2007/relationships/hdphoto" Target="../media/hdphoto2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CAC3359-0D1C-2648-A3CE-8FD94D6624EC}"/>
              </a:ext>
            </a:extLst>
          </p:cNvPr>
          <p:cNvGrpSpPr/>
          <p:nvPr/>
        </p:nvGrpSpPr>
        <p:grpSpPr>
          <a:xfrm>
            <a:off x="4094651" y="586050"/>
            <a:ext cx="5344770" cy="3994915"/>
            <a:chOff x="3873362" y="383111"/>
            <a:chExt cx="5344770" cy="3994915"/>
          </a:xfrm>
        </p:grpSpPr>
        <p:pic>
          <p:nvPicPr>
            <p:cNvPr id="21" name="Рисунок 20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6B1608C3-64B6-A327-1599-2AAD5398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Рисунок 19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AB0EF07-2DC6-D314-2F23-DA864CFB1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Рисунок 1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BD80F8B-785E-2918-7419-1A8EC472B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4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7" name="Рисунок 16" hidden="1">
            <a:extLst>
              <a:ext uri="{FF2B5EF4-FFF2-40B4-BE49-F238E27FC236}">
                <a16:creationId xmlns:a16="http://schemas.microsoft.com/office/drawing/2014/main" id="{667CD691-B117-44B3-3B0E-B39C202898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 trans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497">
            <a:off x="3524075" y="-36569"/>
            <a:ext cx="4877481" cy="4877481"/>
          </a:xfrm>
          <a:prstGeom prst="rect">
            <a:avLst/>
          </a:prstGeom>
          <a:ln>
            <a:noFill/>
          </a:ln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C36EF06-1A0C-80A6-7B2B-DED85B0CE9D3}"/>
              </a:ext>
            </a:extLst>
          </p:cNvPr>
          <p:cNvGrpSpPr>
            <a:grpSpLocks noChangeAspect="1"/>
          </p:cNvGrpSpPr>
          <p:nvPr/>
        </p:nvGrpSpPr>
        <p:grpSpPr>
          <a:xfrm>
            <a:off x="883906" y="1263674"/>
            <a:ext cx="9501187" cy="3444540"/>
            <a:chOff x="485609" y="1513539"/>
            <a:chExt cx="9501187" cy="34445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C1C879-E7C0-BAF6-283A-AFB7548671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513539"/>
              <a:ext cx="9048750" cy="16158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r>
                <a:rPr sz="1500" b="1">
                  <a:latin typeface="Montserrat"/>
                </a:rPr>
                <a:t>РАБОТА С ДИНАМИЧЕСКИМИ ДАННЫМИ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13DFB2-196B-9781-3BB6-B9E6C2AD5D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836705"/>
              <a:ext cx="9501187" cy="18466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t>Проектирование </a:t>
              </a:r>
            </a:p>
            <a:p>
              <a:r>
                <a:t>и разработка интерфейсов пользователя</a:t>
              </a:r>
            </a:p>
          </p:txBody>
        </p:sp>
        <p:sp>
          <p:nvSpPr>
            <p:cNvPr id="11" name="Rounded Rectangle 6">
              <a:extLst>
                <a:ext uri="{FF2B5EF4-FFF2-40B4-BE49-F238E27FC236}">
                  <a16:creationId xmlns:a16="http://schemas.microsoft.com/office/drawing/2014/main" id="{FEDD9253-159E-2190-4737-EF5F83889817}"/>
                </a:ext>
              </a:extLst>
            </p:cNvPr>
            <p:cNvSpPr/>
            <p:nvPr/>
          </p:nvSpPr>
          <p:spPr>
            <a:xfrm>
              <a:off x="528139" y="426181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460AF5-DC82-A01F-35B1-F0D212A47FA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40697" y="4471214"/>
              <a:ext cx="9048750" cy="4868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Преподаватель</a:t>
              </a:r>
              <a:br>
                <a:rPr lang="ru-RU" sz="1200" b="0" i="0" u="none">
                  <a:solidFill>
                    <a:srgbClr val="000000"/>
                  </a:solidFill>
                  <a:latin typeface="Inter"/>
                </a:rPr>
              </a:b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Коляда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Никита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Владимирович</a:t>
              </a:r>
              <a:endParaRPr sz="1200" b="0" i="0" u="none">
                <a:solidFill>
                  <a:srgbClr val="1E293B"/>
                </a:solidFill>
                <a:latin typeface="Inter Medium"/>
              </a:endParaRPr>
            </a:p>
          </p:txBody>
        </p:sp>
      </p:grpSp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917E88D5-EA94-D5A3-686B-9D40CD1F594B}"/>
              </a:ext>
            </a:extLst>
          </p:cNvPr>
          <p:cNvSpPr/>
          <p:nvPr/>
        </p:nvSpPr>
        <p:spPr>
          <a:xfrm>
            <a:off x="7576356" y="4477514"/>
            <a:ext cx="1257300" cy="230700"/>
          </a:xfrm>
          <a:prstGeom prst="roundRect">
            <a:avLst>
              <a:gd name="adj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Вебинар 5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200184-121F-F05C-E93D-FAE98D6B282D}"/>
              </a:ext>
            </a:extLst>
          </p:cNvPr>
          <p:cNvSpPr/>
          <p:nvPr/>
        </p:nvSpPr>
        <p:spPr>
          <a:xfrm>
            <a:off x="1354281" y="1683158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395AA1B-3D46-8B23-C8C6-17018076BAB4}"/>
              </a:ext>
            </a:extLst>
          </p:cNvPr>
          <p:cNvSpPr/>
          <p:nvPr/>
        </p:nvSpPr>
        <p:spPr>
          <a:xfrm>
            <a:off x="1354281" y="2339341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A6399EB-F240-72CC-3353-A3A41459B334}"/>
              </a:ext>
            </a:extLst>
          </p:cNvPr>
          <p:cNvSpPr/>
          <p:nvPr/>
        </p:nvSpPr>
        <p:spPr>
          <a:xfrm>
            <a:off x="1354281" y="2995524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DA3E706-14A3-9E5E-0150-993D92615B2B}"/>
              </a:ext>
            </a:extLst>
          </p:cNvPr>
          <p:cNvSpPr/>
          <p:nvPr/>
        </p:nvSpPr>
        <p:spPr>
          <a:xfrm>
            <a:off x="1354281" y="3651707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FE3CD0C6-B8FE-3432-6AEB-7276B21E5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618" y="1216879"/>
            <a:ext cx="361950" cy="285750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6021423E-1547-B118-B6ED-FFA0E250049B}"/>
              </a:ext>
            </a:extLst>
          </p:cNvPr>
          <p:cNvSpPr txBox="1"/>
          <p:nvPr/>
        </p:nvSpPr>
        <p:spPr>
          <a:xfrm>
            <a:off x="2021031" y="1169850"/>
            <a:ext cx="3409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solidFill>
                  <a:srgbClr val="181A1F"/>
                </a:solidFill>
                <a:latin typeface="Montserrat SemiBold"/>
              </a:rPr>
              <a:t>1. Структуры данных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5312261A-8473-F36D-CEA1-EF3D6CBA49EE}"/>
              </a:ext>
            </a:extLst>
          </p:cNvPr>
          <p:cNvSpPr txBox="1"/>
          <p:nvPr/>
        </p:nvSpPr>
        <p:spPr>
          <a:xfrm>
            <a:off x="2021031" y="1388925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solidFill>
                  <a:srgbClr val="555555"/>
                </a:solidFill>
                <a:latin typeface="Inter"/>
              </a:rPr>
              <a:t>Объекты и массивы в JavaScript: моделирование сущностей</a:t>
            </a:r>
          </a:p>
        </p:txBody>
      </p:sp>
      <p:pic>
        <p:nvPicPr>
          <p:cNvPr id="13" name="Picture 14">
            <a:extLst>
              <a:ext uri="{FF2B5EF4-FFF2-40B4-BE49-F238E27FC236}">
                <a16:creationId xmlns:a16="http://schemas.microsoft.com/office/drawing/2014/main" id="{DB7D649D-035F-23D7-8FE0-62D36D4C2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618" y="1873062"/>
            <a:ext cx="361950" cy="285750"/>
          </a:xfrm>
          <a:prstGeom prst="rect">
            <a:avLst/>
          </a:prstGeom>
        </p:spPr>
      </p:pic>
      <p:sp>
        <p:nvSpPr>
          <p:cNvPr id="14" name="TextBox 15">
            <a:extLst>
              <a:ext uri="{FF2B5EF4-FFF2-40B4-BE49-F238E27FC236}">
                <a16:creationId xmlns:a16="http://schemas.microsoft.com/office/drawing/2014/main" id="{FDCDC837-9B52-2ABD-BE72-B99F4CA2105A}"/>
              </a:ext>
            </a:extLst>
          </p:cNvPr>
          <p:cNvSpPr txBox="1"/>
          <p:nvPr/>
        </p:nvSpPr>
        <p:spPr>
          <a:xfrm>
            <a:off x="2021031" y="1826033"/>
            <a:ext cx="4257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solidFill>
                  <a:srgbClr val="181A1F"/>
                </a:solidFill>
                <a:latin typeface="Montserrat SemiBold"/>
              </a:rPr>
              <a:t>2. Генерация контента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8F3EAC1-CF94-CC80-E491-0A0A8AA37276}"/>
              </a:ext>
            </a:extLst>
          </p:cNvPr>
          <p:cNvSpPr txBox="1"/>
          <p:nvPr/>
        </p:nvSpPr>
        <p:spPr>
          <a:xfrm>
            <a:off x="2021031" y="2045108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solidFill>
                  <a:srgbClr val="555555"/>
                </a:solidFill>
                <a:latin typeface="Inter"/>
              </a:rPr>
              <a:t>Циклы, условия и метод map() для создания интерфейса</a:t>
            </a:r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6FCC824B-76CC-4AF8-9619-51A75DC9B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668" y="2529246"/>
            <a:ext cx="323850" cy="285750"/>
          </a:xfrm>
          <a:prstGeom prst="rect">
            <a:avLst/>
          </a:prstGeom>
        </p:spPr>
      </p:pic>
      <p:sp>
        <p:nvSpPr>
          <p:cNvPr id="17" name="TextBox 18">
            <a:extLst>
              <a:ext uri="{FF2B5EF4-FFF2-40B4-BE49-F238E27FC236}">
                <a16:creationId xmlns:a16="http://schemas.microsoft.com/office/drawing/2014/main" id="{B44B7737-0986-B05E-A142-78D0B4A97F3F}"/>
              </a:ext>
            </a:extLst>
          </p:cNvPr>
          <p:cNvSpPr txBox="1"/>
          <p:nvPr/>
        </p:nvSpPr>
        <p:spPr>
          <a:xfrm>
            <a:off x="2021031" y="2482216"/>
            <a:ext cx="41624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solidFill>
                  <a:srgbClr val="181A1F"/>
                </a:solidFill>
                <a:latin typeface="Montserrat SemiBold"/>
              </a:rPr>
              <a:t>3. Подготовка mock-данных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0344B22-C18D-2718-3D60-543000748FD6}"/>
              </a:ext>
            </a:extLst>
          </p:cNvPr>
          <p:cNvSpPr txBox="1"/>
          <p:nvPr/>
        </p:nvSpPr>
        <p:spPr>
          <a:xfrm>
            <a:off x="2021031" y="2701291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solidFill>
                  <a:srgbClr val="555555"/>
                </a:solidFill>
                <a:latin typeface="Inter"/>
              </a:rPr>
              <a:t>Создание файла js/data.js с массивом офисных комнат</a:t>
            </a:r>
          </a:p>
        </p:txBody>
      </p:sp>
      <p:pic>
        <p:nvPicPr>
          <p:cNvPr id="19" name="Picture 20">
            <a:extLst>
              <a:ext uri="{FF2B5EF4-FFF2-40B4-BE49-F238E27FC236}">
                <a16:creationId xmlns:a16="http://schemas.microsoft.com/office/drawing/2014/main" id="{80BE5282-4324-BB0D-B278-5DB149B20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718" y="3185429"/>
            <a:ext cx="285750" cy="285750"/>
          </a:xfrm>
          <a:prstGeom prst="rect">
            <a:avLst/>
          </a:prstGeom>
        </p:spPr>
      </p:pic>
      <p:sp>
        <p:nvSpPr>
          <p:cNvPr id="20" name="TextBox 21">
            <a:extLst>
              <a:ext uri="{FF2B5EF4-FFF2-40B4-BE49-F238E27FC236}">
                <a16:creationId xmlns:a16="http://schemas.microsoft.com/office/drawing/2014/main" id="{B6E465BC-260C-26E3-31D6-0C45C4AE6C2D}"/>
              </a:ext>
            </a:extLst>
          </p:cNvPr>
          <p:cNvSpPr txBox="1"/>
          <p:nvPr/>
        </p:nvSpPr>
        <p:spPr>
          <a:xfrm>
            <a:off x="2021031" y="3138399"/>
            <a:ext cx="36385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solidFill>
                  <a:srgbClr val="181A1F"/>
                </a:solidFill>
                <a:latin typeface="Montserrat SemiBold"/>
              </a:rPr>
              <a:t>4. Практика: Отрисовка каталога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F0038057-42C9-F769-C0C5-F9AB41E8587B}"/>
              </a:ext>
            </a:extLst>
          </p:cNvPr>
          <p:cNvSpPr txBox="1"/>
          <p:nvPr/>
        </p:nvSpPr>
        <p:spPr>
          <a:xfrm>
            <a:off x="2021031" y="3357474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solidFill>
                  <a:srgbClr val="555555"/>
                </a:solidFill>
                <a:latin typeface="Inter"/>
              </a:rPr>
              <a:t>Автоматическая отрисовка каталога на основе массива объектов</a:t>
            </a:r>
          </a:p>
        </p:txBody>
      </p:sp>
      <p:pic>
        <p:nvPicPr>
          <p:cNvPr id="22" name="Picture 23">
            <a:extLst>
              <a:ext uri="{FF2B5EF4-FFF2-40B4-BE49-F238E27FC236}">
                <a16:creationId xmlns:a16="http://schemas.microsoft.com/office/drawing/2014/main" id="{3EC1D119-6080-BDF3-AF83-63F592656C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6668" y="3841612"/>
            <a:ext cx="323850" cy="285750"/>
          </a:xfrm>
          <a:prstGeom prst="rect">
            <a:avLst/>
          </a:prstGeom>
        </p:spPr>
      </p:pic>
      <p:sp>
        <p:nvSpPr>
          <p:cNvPr id="23" name="TextBox 24">
            <a:extLst>
              <a:ext uri="{FF2B5EF4-FFF2-40B4-BE49-F238E27FC236}">
                <a16:creationId xmlns:a16="http://schemas.microsoft.com/office/drawing/2014/main" id="{E915CC21-797D-8D4A-4DA5-A5A9A395DDD8}"/>
              </a:ext>
            </a:extLst>
          </p:cNvPr>
          <p:cNvSpPr txBox="1"/>
          <p:nvPr/>
        </p:nvSpPr>
        <p:spPr>
          <a:xfrm>
            <a:off x="2021031" y="3794582"/>
            <a:ext cx="4210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solidFill>
                  <a:srgbClr val="181A1F"/>
                </a:solidFill>
                <a:latin typeface="Montserrat SemiBold"/>
              </a:rPr>
              <a:t>5. Результат и итоги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27AC8D58-8C59-EA0F-D299-B0D5290F9D54}"/>
              </a:ext>
            </a:extLst>
          </p:cNvPr>
          <p:cNvSpPr txBox="1"/>
          <p:nvPr/>
        </p:nvSpPr>
        <p:spPr>
          <a:xfrm>
            <a:off x="2021031" y="4013657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solidFill>
                  <a:srgbClr val="555555"/>
                </a:solidFill>
                <a:latin typeface="Inter"/>
              </a:rPr>
              <a:t>Функциональная страница каталога, разбор ошибок и чек-лист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ПЛАН ЗАНЯТИЯ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6667500" y="259079"/>
            <a:ext cx="22225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HTML И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такое HTML и CSS и по каким правилам они пишутся?</a:t>
            </a:r>
          </a:p>
        </p:txBody>
      </p:sp>
      <p:sp>
        <p:nvSpPr>
          <p:cNvPr id="4" name="Rounded Rectangle HTML"/>
          <p:cNvSpPr/>
          <p:nvPr/>
        </p:nvSpPr>
        <p:spPr>
          <a:xfrm>
            <a:off x="304800" y="711200"/>
            <a:ext cx="4127500" cy="1625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Header HTML"/>
          <p:cNvSpPr txBox="1"/>
          <p:nvPr/>
        </p:nvSpPr>
        <p:spPr>
          <a:xfrm>
            <a:off x="482600" y="7874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1: index.html (Разметка страницы)</a:t>
            </a:r>
          </a:p>
        </p:txBody>
      </p:sp>
      <p:sp>
        <p:nvSpPr>
          <p:cNvPr id="6" name="Rectangle Line HTML"/>
          <p:cNvSpPr/>
          <p:nvPr/>
        </p:nvSpPr>
        <p:spPr>
          <a:xfrm>
            <a:off x="457200" y="10160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Code HTML"/>
          <p:cNvSpPr txBox="1"/>
          <p:nvPr/>
        </p:nvSpPr>
        <p:spPr>
          <a:xfrm>
            <a:off x="457200" y="1079500"/>
            <a:ext cx="38227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&lt;!-- 1. HTML: Каркас и теги элемента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</a:t>
            </a:r>
            <a:r>
              <a:rPr sz="800">
                <a:solidFill>
                  <a:srgbClr val="F472B6"/>
                </a:solidFill>
                <a:latin typeface="Consolas"/>
              </a:rPr>
              <a:t>button </a:t>
            </a:r>
            <a:r>
              <a:rPr sz="800">
                <a:solidFill>
                  <a:srgbClr val="A78BFA"/>
                </a:solidFill>
                <a:latin typeface="Consolas"/>
              </a:rPr>
              <a:t>class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"btn-login" </a:t>
            </a:r>
            <a:r>
              <a:rPr sz="800">
                <a:solidFill>
                  <a:srgbClr val="A78BFA"/>
                </a:solidFill>
                <a:latin typeface="Consolas"/>
              </a:rPr>
              <a:t>id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"submitBtn"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Войти в профиль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&lt;/</a:t>
            </a:r>
            <a:r>
              <a:rPr sz="800">
                <a:solidFill>
                  <a:srgbClr val="F472B6"/>
                </a:solidFill>
                <a:latin typeface="Consolas"/>
              </a:rPr>
              <a:t>button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Теги, атрибуты и контент. Только разметка! --&gt;</a:t>
            </a:r>
          </a:p>
        </p:txBody>
      </p:sp>
      <p:sp>
        <p:nvSpPr>
          <p:cNvPr id="8" name="Rounded Rectangle CSS"/>
          <p:cNvSpPr/>
          <p:nvPr/>
        </p:nvSpPr>
        <p:spPr>
          <a:xfrm>
            <a:off x="304800" y="2514600"/>
            <a:ext cx="4127500" cy="1981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Header CSS"/>
          <p:cNvSpPr txBox="1"/>
          <p:nvPr/>
        </p:nvSpPr>
        <p:spPr>
          <a:xfrm>
            <a:off x="482600" y="25908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2: css/style.css (Стили оформления)</a:t>
            </a:r>
          </a:p>
        </p:txBody>
      </p:sp>
      <p:sp>
        <p:nvSpPr>
          <p:cNvPr id="10" name="Rectangle Line CSS"/>
          <p:cNvSpPr/>
          <p:nvPr/>
        </p:nvSpPr>
        <p:spPr>
          <a:xfrm>
            <a:off x="457200" y="28194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Code CSS"/>
          <p:cNvSpPr txBox="1"/>
          <p:nvPr/>
        </p:nvSpPr>
        <p:spPr>
          <a:xfrm>
            <a:off x="457200" y="2882900"/>
            <a:ext cx="3822700" cy="154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CSS: Правило стилизации селектора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.btn-login</a:t>
            </a:r>
            <a:r>
              <a:rPr sz="800">
                <a:solidFill>
                  <a:srgbClr val="D4D4D8"/>
                </a:solidFill>
                <a:latin typeface="Consolas"/>
              </a:rPr>
              <a:t>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#fe6002</a:t>
            </a:r>
            <a:r>
              <a:rPr sz="800">
                <a:solidFill>
                  <a:srgbClr val="71717A"/>
                </a:solidFill>
                <a:latin typeface="Consolas"/>
              </a:rPr>
              <a:t>; /* Фон кнопки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/*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 24px</a:t>
            </a:r>
            <a:r>
              <a:rPr sz="800">
                <a:solidFill>
                  <a:srgbClr val="71717A"/>
                </a:solidFill>
                <a:latin typeface="Consolas"/>
              </a:rPr>
              <a:t>;       /* Внутр.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/* Скругление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ФУНДАМЕНТАЛЬНЫЕ ПРАВИЛА ВЕРСТКИ</a:t>
            </a:r>
          </a:p>
        </p:txBody>
      </p:sp>
      <p:sp>
        <p:nvSpPr>
          <p:cNvPr id="13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HTML — язык гипертекстовой разметки: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«скелет» страницы. Он создает структуру документа: заголовки, параграфы, кнопки, формы и ссылки. HTML не выполняет вычислений — он размечает смысл.</a:t>
            </a:r>
          </a:p>
        </p:txBody>
      </p:sp>
      <p:sp>
        <p:nvSpPr>
          <p:cNvPr id="16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— каскадные таблицы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«одежда» и оформление. CSS управляет цветами, шрифтами, фоном, отступами, позиционированием (Flexbox) и адаптивностью под смартфоны.</a:t>
            </a:r>
          </a:p>
        </p:txBody>
      </p:sp>
      <p:sp>
        <p:nvSpPr>
          <p:cNvPr id="18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HTML (Теги и атрибуты):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Большинство тегов парные: &lt;тег&gt;...&lt;/тег&gt;. Внутри открывающего тега задаются атрибуты (класс, id, ссылка). Теги должны строго закрываться в правильном порядке!</a:t>
            </a:r>
          </a:p>
        </p:txBody>
      </p:sp>
      <p:sp>
        <p:nvSpPr>
          <p:cNvPr id="20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6"/>
          <p:cNvSpPr txBox="1"/>
          <p:nvPr/>
        </p:nvSpPr>
        <p:spPr>
          <a:xfrm>
            <a:off x="5003800" y="31242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CSS (Селектор и свойства):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Синтаксис: селектор { свойство: значение; }. Селектор (.btn-login) указывает, кому задать стиль, двоеточие отделяет значение, а точка с запятой «;» обязательна!</a:t>
            </a:r>
          </a:p>
        </p:txBody>
      </p:sp>
      <p:sp>
        <p:nvSpPr>
          <p:cNvPr id="22" name="Rounded Rectangle 17"/>
          <p:cNvSpPr/>
          <p:nvPr/>
        </p:nvSpPr>
        <p:spPr>
          <a:xfrm>
            <a:off x="4826000" y="38227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8"/>
          <p:cNvSpPr txBox="1"/>
          <p:nvPr/>
        </p:nvSpPr>
        <p:spPr>
          <a:xfrm>
            <a:off x="5003800" y="37846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разделения ответственности: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Разметка хранится в index.html, а дизайн — в css/style.css. Разделение структуры и стиля делает код профессиональным, чистым и удобным для командной работы.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правильно организовать файлы в веб-разработке?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Файловая система: smart-office / basic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📁 smart-office / basic/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📄 </a:t>
            </a:r>
            <a:r>
              <a:rPr sz="800">
                <a:solidFill>
                  <a:srgbClr val="38BDF8"/>
                </a:solidFill>
                <a:latin typeface="Consolas"/>
              </a:rPr>
              <a:t>index.html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Главная разметка страницы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css/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Стили оформления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style.css</a:t>
            </a:r>
            <a:r>
              <a:rPr sz="800">
                <a:solidFill>
                  <a:srgbClr val="71717A"/>
                </a:solidFill>
                <a:latin typeface="Consolas"/>
              </a:rPr>
              <a:t>        # Таблица каскадных стилей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js/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 # Клиентские скрипты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script.js</a:t>
            </a:r>
            <a:r>
              <a:rPr sz="800">
                <a:solidFill>
                  <a:srgbClr val="71717A"/>
                </a:solidFill>
                <a:latin typeface="Consolas"/>
              </a:rPr>
              <a:t>       # Интерактивная логика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└──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img/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Графика и медиафайлы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├──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logo.svg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Векторный логотип бренда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└──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no-image.svg</a:t>
            </a:r>
            <a:r>
              <a:rPr sz="800">
                <a:solidFill>
                  <a:srgbClr val="71717A"/>
                </a:solidFill>
                <a:latin typeface="Consolas"/>
              </a:rPr>
              <a:t>    # Заглушка для фото комнат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ПРИНЦИП ЧИСТОЙ АРХИТЕКТУРЫ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 index.html в корне: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по умолчанию ищет именно index.html как стартовую страницу. Он лежит в корне проекта.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034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7653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Изоляция стилей в папке css/: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Стили хранятся в файле style.css. Это разделяет разметку (HTML) и визуальный дизайн (CSS).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374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336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Папка js/ для скриптов: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Здесь хранятся файлы JavaScript (script.js). В них пишется логика: клики, слайдеры, фильтры и интерактив.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035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2997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Графика в папке img/: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Все логотипы, иконки и фото комнат лежат отдельно, чтобы не засорять корень проекта.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6068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5687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Относительные пути к файлам: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 коде мы пишем путь от текущей папки: css/style.css, js/script.js, img/logo.svg.</a:t>
            </a:r>
          </a:p>
        </p:txBody>
      </p:sp>
      <p:sp>
        <p:nvSpPr>
          <p:cNvPr id="20" name="Google Shape;69;p14">
            <a:extLst>
              <a:ext uri="{FF2B5EF4-FFF2-40B4-BE49-F238E27FC236}">
                <a16:creationId xmlns:a16="http://schemas.microsoft.com/office/drawing/2014/main" id="{71A23B6C-F869-B64D-42C7-20AD29731627}"/>
              </a:ext>
            </a:extLst>
          </p:cNvPr>
          <p:cNvSpPr/>
          <p:nvPr/>
        </p:nvSpPr>
        <p:spPr>
          <a:xfrm>
            <a:off x="6869927" y="259712"/>
            <a:ext cx="2019481" cy="286388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200" b="0">
                <a:solidFill>
                  <a:srgbClr val="FFFFFF"/>
                </a:solidFill>
                <a:latin typeface="Inter"/>
              </a:rPr>
              <a:t>СТРУКТУРА ПРОЕКТА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Из каких смысловых блоков строится современный сайт?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(семантический каркас)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&lt;!DOCTYPE html&gt;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&lt;html </a:t>
            </a:r>
            <a:r>
              <a:rPr sz="800">
                <a:solidFill>
                  <a:srgbClr val="A78BFA"/>
                </a:solidFill>
                <a:latin typeface="Consolas"/>
              </a:rPr>
              <a:t>lang=</a:t>
            </a:r>
            <a:r>
              <a:rPr sz="800">
                <a:solidFill>
                  <a:srgbClr val="FCD34D"/>
                </a:solidFill>
                <a:latin typeface="Consolas"/>
              </a:rPr>
              <a:t>"ru"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  <a:r>
              <a:rPr sz="800">
                <a:solidFill>
                  <a:srgbClr val="71717A"/>
                </a:solidFill>
                <a:latin typeface="Consolas"/>
              </a:rPr>
              <a:t> ... </a:t>
            </a: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&lt;!-- 1. Шапка сайта (лого + меню)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&lt;/header&gt;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&lt;!-- 2. Главный уникальный контент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&lt;main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"main"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&lt;/main&gt;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&lt;!-- 3. Подвал сайта (копирайт и контакты)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&lt;/html&gt;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СЕМАНТИЧЕСКИЕ ТЕГИ HTML5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Зачем нужны &lt;header&gt;, &lt;main&gt;, &lt;footer&gt;?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Раньше сайты верстали сплошными тегами &lt;div&gt;. Семантические теги делают код понятным людям, поисковикам и скринридерам.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&lt;header&gt; (Шапка):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Верхняя часть страницы: содержит бренд, логотип, навигационные ссылки по разделам и кнопки профиля.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&lt;main&gt; (Главный блок):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Центральная область. Здесь располагается уникальное содержимое страницы, не повторяющееся на других вкладках.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&lt;footer&gt; (Подвал):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Нижняя часть сайта: юридическая информация, авторские права (копирайт), контакты техподдержки и соцсети.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67550" y="259715"/>
            <a:ext cx="18224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HTML5 СЕМАНТИКА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подключается в невидимой части документа?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(настройка &lt;head&gt;)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charset=</a:t>
            </a:r>
            <a:r>
              <a:rPr sz="800">
                <a:solidFill>
                  <a:srgbClr val="FCD34D"/>
                </a:solidFill>
                <a:latin typeface="Consolas"/>
              </a:rPr>
              <a:t>"UTF-8"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name=</a:t>
            </a:r>
            <a:r>
              <a:rPr sz="800">
                <a:solidFill>
                  <a:srgbClr val="FCD34D"/>
                </a:solidFill>
                <a:latin typeface="Consolas"/>
              </a:rPr>
              <a:t>"viewport"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content=</a:t>
            </a:r>
            <a:r>
              <a:rPr sz="800">
                <a:solidFill>
                  <a:srgbClr val="FCD34D"/>
                </a:solidFill>
                <a:latin typeface="Consolas"/>
              </a:rPr>
              <a:t>"width=device-width, initial-scale=1.0"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&lt;title&gt;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 — Бронирование</a:t>
            </a:r>
            <a:r>
              <a:rPr sz="800">
                <a:solidFill>
                  <a:srgbClr val="F472B6"/>
                </a:solidFill>
                <a:latin typeface="Consolas"/>
              </a:rPr>
              <a:t>&lt;/title&gt;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шрифта Inter из Google Fonts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"https://fonts.gstatic.com"</a:t>
            </a:r>
            <a:r>
              <a:rPr sz="800">
                <a:solidFill>
                  <a:srgbClr val="F472B6"/>
                </a:solidFill>
                <a:latin typeface="Consolas"/>
              </a:rPr>
              <a:t> crossorigin&gt;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"https://fonts.googleapis.com/css2?family=Inter:wght@400;500;600;700;800&amp;display=swap"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таблицы стилей и иконки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"css/style.css"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"icon"</a:t>
            </a:r>
            <a:r>
              <a:rPr sz="800">
                <a:solidFill>
                  <a:srgbClr val="A78BFA"/>
                </a:solidFill>
                <a:latin typeface="Consolas"/>
              </a:rPr>
              <a:t> type=</a:t>
            </a:r>
            <a:r>
              <a:rPr sz="800">
                <a:solidFill>
                  <a:srgbClr val="FCD34D"/>
                </a:solidFill>
                <a:latin typeface="Consolas"/>
              </a:rPr>
              <a:t>"image/svg+xml"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СЛУЖЕБНЫЕ МЕТАТЕГИ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UTF-8: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Указывает браузеру стандарт символов. Без &lt;meta charset="UTF-8"&gt; кириллические буквы превратятся в иероглифы.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92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5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Метатег Viewport: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браузеру отображать страницу в масштабе 1:1 в соответствии с реальной шириной экрана экрана устройства.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52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14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Google Fonts (Inter):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Шрифт Inter — мировой стандарт интерфейсов (Figma, Linear). preconnect заранее открывает скоростное соединение с сервером.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Фавикон сайта (Favicon):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Векторная иконка img/logo.svg в теге &lt;link rel="icon"&gt; украшает вкладку в браузере и закладки.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СЛУЖЕБНЫЙ БЛОК &lt;HEAD&gt;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4972050" y="259079"/>
            <a:ext cx="39179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BLOCK vs FLEXBOX vs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В чем визуальная разница блочного потока, Flexbox и CSS Grid?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Montserrat"/>
              </a:rPr>
              <a:t>1. BLOCK (Поток)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Вертикальный стек друг под друга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2362200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Родитель: width: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16510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1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2606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2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800" y="28702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3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Свойство по умолчанию:
</a:t>
            </a:r>
            <a:r>
              <a:rPr sz="750">
                <a:solidFill>
                  <a:srgbClr val="D4D4D8"/>
                </a:solidFill>
                <a:latin typeface="Inter"/>
              </a:rPr>
              <a:t>Каждый тег занимает всю ширину строки и переносит следующий элемент вниз.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909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4ADE80"/>
                </a:solidFill>
                <a:latin typeface="Montserrat"/>
              </a:rPr>
              <a:t>2. FLEXBOX (1D)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Вдоль одной оси (строка / колонка)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1295400"/>
            <a:ext cx="2362200" cy="12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909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17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display: flex; gap: 8px;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2500" y="1651000"/>
            <a:ext cx="2159000" cy="228600"/>
          </a:xfrm>
          <a:prstGeom prst="roundRect">
            <a:avLst>
              <a:gd name="adj" fmla="val 20000"/>
            </a:avLst>
          </a:prstGeom>
          <a:solidFill>
            <a:srgbClr val="132A1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750" b="1">
                <a:solidFill>
                  <a:srgbClr val="4ADE80"/>
                </a:solidFill>
                <a:latin typeface="Consolas"/>
              </a:rPr>
              <a:t>ГЛАВНАЯ ОСЬ X (row) ──►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25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1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91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2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flex: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57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3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2500" y="3022600"/>
            <a:ext cx="2159000" cy="482600"/>
          </a:xfrm>
          <a:prstGeom prst="rect">
            <a:avLst/>
          </a:prstGeom>
          <a:solidFill>
            <a:srgbClr val="18222A"/>
          </a:solidFill>
          <a:ln w="9525">
            <a:solidFill>
              <a:srgbClr val="2D3A45"/>
            </a:solidFill>
          </a:ln>
        </p:spPr>
        <p:txBody>
          <a:bodyPr wrap="square" rtlCol="0" anchor="ctr"/>
          <a:lstStyle/>
          <a:p>
            <a:pPr algn="ctr"/>
            <a:r>
              <a:rPr sz="700">
                <a:solidFill>
                  <a:srgbClr val="D4D4D8"/>
                </a:solidFill>
                <a:latin typeface="Consolas"/>
              </a:rPr>
              <a:t>justify-content: space-between;
align-items: center;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09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Одномерное управление (1D):
</a:t>
            </a:r>
            <a:r>
              <a:rPr sz="750">
                <a:solidFill>
                  <a:srgbClr val="D4D4D8"/>
                </a:solidFill>
                <a:latin typeface="Inter"/>
              </a:rPr>
              <a:t>Идеально выстраивает элементы в одну линию (шапка, меню, ряд кнопок) и делит пустоту.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46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78BFA"/>
                </a:solidFill>
                <a:latin typeface="Montserrat"/>
              </a:rPr>
              <a:t>3. CSS GRID (2D)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Строки + Столбцы (Сетка матрица)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4600" y="1295400"/>
            <a:ext cx="236220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246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54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grid-template-columns: 1fr 1fr;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62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1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2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62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3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4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Двумерная матрица (2D):
</a:t>
            </a:r>
            <a:r>
              <a:rPr sz="750">
                <a:solidFill>
                  <a:srgbClr val="D4D4D8"/>
                </a:solidFill>
                <a:latin typeface="Inter"/>
              </a:rPr>
              <a:t>Управляет строками и колонками одновременно. Идеально для каталогов карточек и фото.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295900" y="259079"/>
            <a:ext cx="35941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ВЫБОР МОДЕЛИ ВЕРСТКИ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Какую модель верстки выбрать для конкретной задачи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(Выбор модели)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ОБЫЧНЫЙ ТЕКСТ И АБЗАЦЫ (Block)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.article-text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block</a:t>
            </a:r>
            <a:r>
              <a:rPr sz="800">
                <a:solidFill>
                  <a:srgbClr val="71717A"/>
                </a:solidFill>
                <a:latin typeface="Consolas"/>
              </a:rPr>
              <a:t>; /* Поток сверху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ШАПКА И НАВИГАЦИЯ В РЯД (Flexbox)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.header-nav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3. КАТАЛОГ КОМНАТ 3x3 (CSS 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.rooms-grid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Отступы сетки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ПРАВИЛА И СЦЕНАРИИ ПРИМЕНЕНИЯ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Dot 0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Bullet 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Block — для текстовых смысловых блоков: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Теги &lt;p&gt;, &lt;h1&gt;, &lt;div&gt; по умолчанию блочные. Они естественным образом формируют классический вертикальный поток документа для чтения.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Bullet 1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Flexbox — для линейных цепочек (1D):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Идеален, когда элементы нужно расположить вдоль одной оси: шапка сайта, меню ссылок, строка с тегами или кнопка с иконкой.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Bullet 2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Grid — для сложных сеток каталогов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Используется, когда нужно контролировать и строки, и столбцы одновременно: галерея фото, витрина товаров, сетка переговорных комнат.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Bullet 3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Командная работа технологий: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организует общую 3-колоночную сетку каталога, Flexbox центрирует содержимое внутри каждой карточки, а Block держит описание.</a:t>
            </a:r>
          </a:p>
        </p:txBody>
      </p:sp>
      <p:sp>
        <p:nvSpPr>
          <p:cNvPr id="18" name="Rounded Rectangle Dot 4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Bullet 4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Итог: как выбирать инструмент: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Ряд кнопок или выравнивание шапки? → Flexbox. Матрица карточек 3х3 или дашборд? → Grid. Стандартный текст статьи? → Block!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БЛОЧНАЯ МОДЕЛЬ: BOX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устроена блочная модель и почему важен box-sizing?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(Box Model Anatomy)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ЛЮБОГО HTML-ЭЛЕМЕНТА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 АНАТОМИЯ БЛОЧНОЙ КОРОБКИ 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┌───────────────────────────────────┐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MARGIN (Внешний отступ от соседей)│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┌─────────────────────────────┐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│  │ BORDER (Видимая рамка/грань)│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┌───────────────────────┐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│  │  │ PADDING (Внутр. поля)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┌─────────────────┐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    CONTENT    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(Текст, иконка)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└─────────────────┘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└───────────────────────┘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└─────────────────────────────┘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└───────────────────────────────────┘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Главное правило сброса в начале CSS: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71717A"/>
                </a:solidFill>
                <a:latin typeface="Consolas"/>
              </a:rPr>
              <a:t>; /* Честный расчет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Content (Контент / Содержимое):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Сердцевина элемента — сам текст, изображение или векторная иконка. Его базовые размеры определяются свойствами width и height.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4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03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 (Внутренние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Воздушная подушка безопасности внутри блока от контента до его рамки. Заливается фоновым цветом блока (background-color).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476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38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 (Граница / Рамка):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Линия, очерчивающая блок. Имеет толщину, стиль и цвет (например, border: 1px solid #fe6002). Завершает физическое тело элемента.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Margin (Внешние отступы):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Пространство снаружи блока, отталкивающее соседей. Margin всегда абсолютно прозрачен и не имеет цвета фона.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211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683000"/>
            <a:ext cx="36195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Спасение через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Без этого правила любой padding раздувает блок наружу и ломает верстку. С border-box ширина 300px всегда строго 300px!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FLEXBOX: ОДНОМЕРНЫЙ МАКЕТ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работает Flexbox и почему он незаменим в верстке?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(Flexbox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И СИЛА ТЕХНОЛОГИИ FLEXBOX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РОДИТЕЛЬ (Flex-контейнер)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.navbar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флекс-режим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row</a:t>
            </a:r>
            <a:r>
              <a:rPr sz="800">
                <a:solidFill>
                  <a:srgbClr val="71717A"/>
                </a:solidFill>
                <a:latin typeface="Consolas"/>
              </a:rPr>
              <a:t>;     /* Ось X: слева направо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краев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71717A"/>
                </a:solidFill>
                <a:latin typeface="Consolas"/>
              </a:rPr>
              <a:t>;        /* Центр по высоте Y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    /* Шаг между детьми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ПОТОМОК (Flex-элемент)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Занимает всю пустоту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flex-shrink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71717A"/>
                </a:solidFill>
                <a:latin typeface="Consolas"/>
              </a:rPr>
              <a:t>; /* Не сжиматься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Родитель (Container) и дети (Items):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 пишется у родительского блока, но мгновенно подчиняет всех прямых потомков, выстраивая их в ряд.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Главная (Main) и поперечная (Cross) оси: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элементы строятся слева направо (row). Но с flex-direction: column ось легко поворачивается сверху вниз.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Выравнивание: justify-content и align-items: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justify-content выравнивает вдоль главной оси (center, space-between), а align-items — центрирует по высоте без костылей.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 — идеальные отступы: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Заменяет мучения с margin-right и :last-child. Одной командой gap: 20px создает равные промежутки между дочерними блоками.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Магический flex: 1 (Жадное растяжение):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элементу: «Забери всё свободное место!». Именно благодаря этому блок .main выталкивает футер в самый низ экрана.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 GRID: ДВУМЕРНЫЕ СЕТКИ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Когда и зачем использовать CSS Grid вместо Flexbox?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(CSS Grid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ДВУМЕРНЫЙ СЕТОЧНЫЙ КАРКАС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СЕТОЧНЫЙ КОНТЕЙНЕР (Grid)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.rooms-catalog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2D-сетку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3 равные колонки по 1 доле (fr):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 строк и колонок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ОСОБАЯ КАРТОЧКА (Grid-элемент)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.card-featured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span 2</a:t>
            </a:r>
            <a:r>
              <a:rPr sz="800">
                <a:solidFill>
                  <a:srgbClr val="71717A"/>
                </a:solidFill>
                <a:latin typeface="Consolas"/>
              </a:rPr>
              <a:t>; /* Растянуть на 2 ячейки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.card-full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 / -1</a:t>
            </a:r>
            <a:r>
              <a:rPr sz="800">
                <a:solidFill>
                  <a:srgbClr val="71717A"/>
                </a:solidFill>
                <a:latin typeface="Consolas"/>
              </a:rPr>
              <a:t>; /* На всю ширину ряда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Двумерная координатная плоскость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одновременно управляет и строками, и столбцами. Элементы распределяются по ячейкам, как на шахматной доске.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Шаблон колонок: repeat(3, 1fr):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Команда repeat(3, 1fr) делит ширину родителя на 3 абсолютно равные колонки. Браузер сам пересчитывает ширину ячеек!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Единица измерения fr (Fraction):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Доля от свободного места. Шаблон 1fr 2fr создаст две колонки, где правая будет ровно в два раза шире левой.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Объединение ячеек через span: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grid-column: span 2 позволяет карточке переговорной или баннеру занять сразу две ячейки, не ломая соседей.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7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3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 в веб-разработке: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Витрины интернет-магазинов, каталоги комнат и услуг, галереи фото и дашборды с графиками создаются именно на CSS Grid!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сбрасывать стандартные отступы браузеров?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(базовый сброс)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СБРОС СТИЛЕЙ И БАЗОВЫЕ НАСТРОЙКИ   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Селектор * выбирает абсолютно все теги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Включаем padding и border в общую ширину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внешние отступы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внутренние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МАГИЯ BOX-SIZING: BORDER-BOX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Проблема браузерных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 каждого браузера (Chrome, Safari, Firefox, Edge) свои отступы для &lt;body&gt;, &lt;h1&gt;, &lt;p&gt;, &lt;ul&gt;. Сброс делает их одинаковыми.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Что делает margin: 0; padding: 0;?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паразитные белые поля по краям экрана и у списков, давая нам полный контроль над каждым пикселем.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Главное свойство —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(content-box) если блоку шириной 100px задать padding: 20px, он станет 140px! Это ломает сетку верстки.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Результат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Ширина блока всегда остается ровно 100px, а внутренние отступы аккуратно сжимают контент внутри него.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CSS: СБРОС СТИЛЕЙ (*)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настроить тело страницы и заложить прижатие подвала?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Базовый шрифт и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font-family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'Inter', sans-serif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1.5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Flexbox-раскладка для прижатия футера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 СТРАНИЦЫ (BODY)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font-family: 'Inter', sans-serif: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использует загруженный шрифт Inter, а если интернета нет — системный шрифт без засечек sans-serif.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1.5 (Интерлиньяж):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Полуторный межстрочный интервал делает даже длинный текст легким и приятным для чтения студентами.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min-height: 100vh (Высота viewport):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100vh означает 100% высоты экрана. Страница гарантированно не сожмется, даже если на ней всего одно слово.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flex; flex-direction: column: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Выстраивает шапку, контент и футер вертикально друг под другом, подготавливая почву для идеального прижатия футера.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БАЗОВЫЕ НАСТРОЙКИ BODY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удержать контент в центре экрана на любом мониторе?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(.container)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Ограничивающий и центрирующий контейнер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Фиксированная ширина контентной зоны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Автоматическое центрирование по горизонтали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auto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Внутренние поля безопасности слева и справа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КЛАССА .CONTAINER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width: 1200px (Ширина контента):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мониторах 2K и 4K текст без контейнера растянулся бы на 2 метра. 1200px — золотой стандарт читаемости.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Секрет margin: 0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Первое значение (0) — отступы сверху и снизу. Второе (auto) — браузер делит оставшееся место поровну слева и справа!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padding: 0 15px (Боковые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окно уменьшится, текст не упрется в край экрана, а сохранит эстетичный зазор в 15 пикселей.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оборачиваем в .container контент внутри &lt;header&gt;, &lt;main&gt; и &lt;footer&gt;, выстраивая всю страницу по единой линейке.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ЦЕНТРИРУЮЩИЙ КОНТЕЙНЕР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структурировать элементы внутри шапки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(&lt;header&gt;)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Логотип со ссылкой на Главную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&lt;img </a:t>
            </a:r>
            <a:r>
              <a:rPr sz="800">
                <a:solidFill>
                  <a:srgbClr val="A78BFA"/>
                </a:solidFill>
                <a:latin typeface="Consolas"/>
              </a:rPr>
              <a:t>src=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A78BFA"/>
                </a:solidFill>
                <a:latin typeface="Consolas"/>
              </a:rPr>
              <a:t> alt=</a:t>
            </a:r>
            <a:r>
              <a:rPr sz="800">
                <a:solidFill>
                  <a:srgbClr val="FCD34D"/>
                </a:solidFill>
                <a:latin typeface="Consolas"/>
              </a:rPr>
              <a:t>"Логотип"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"logo-icon"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</a:t>
            </a:r>
            <a:r>
              <a:rPr sz="800">
                <a:solidFill>
                  <a:srgbClr val="F472B6"/>
                </a:solidFill>
                <a:latin typeface="Consolas"/>
              </a:rPr>
              <a:t>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Навигационное меню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&lt;nav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&lt;ul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"nav-list"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active"</a:t>
            </a:r>
            <a:r>
              <a:rPr sz="800">
                <a:solidFill>
                  <a:srgbClr val="F472B6"/>
                </a:solidFill>
                <a:latin typeface="Consolas"/>
              </a:rPr>
              <a:t>&gt;Главная&lt;/a&gt;&lt;/li&gt;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"pages/catalog.html"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"nav-link"</a:t>
            </a:r>
            <a:r>
              <a:rPr sz="800">
                <a:solidFill>
                  <a:srgbClr val="F472B6"/>
                </a:solidFill>
                <a:latin typeface="Consolas"/>
              </a:rPr>
              <a:t>&gt;Каталог&lt;/a&gt;&lt;/li&gt;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"pages/login.html"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nav-btn"</a:t>
            </a:r>
            <a:r>
              <a:rPr sz="800">
                <a:solidFill>
                  <a:srgbClr val="F472B6"/>
                </a:solidFill>
                <a:latin typeface="Consolas"/>
              </a:rPr>
              <a:t>&gt;Войти&lt;/a&gt;&lt;/li&gt;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&lt;/ul&gt;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&lt;/nav&gt;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&lt;/header&gt;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СТРУКТУРА И ВЛОЖЕННОСТЬ ШАПКИ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Двухуровневая обертка: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Внешний тег &lt;header&gt; отвечает за фон и нижнюю границу на всю ширину. Внутренний .header-container центрирует элементы.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Логотип как ссылка (&lt;a&gt;):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Логотип объединяет SVG-иконку и текст. Клик по любой его части перезагружает сайт или возвращает пользователя на главную.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тег &lt;nav&gt;: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Группирует основные ссылки сайта. Поисковые роботы сразу понимают, что здесь находится карта разделов.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 .active и кнопка .nav-btn: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.active показывает пользователю, на какой странице он находится. .nav-btn превращает третью ссылку в акцентную кнопку.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 (HEADER): 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разнести логотип и меню по противоположным краям?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(header flexbox)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1px solid #dddddd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18px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.logo-icon { width: 32px; height: 32px;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СИЛА FLEXBOX В ДЕЙСТВИИ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 (Включаем гибкую сетку):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Превращает .header-container в флекс-контейнер. Все прямые потомки (логотип и меню) встают в одну ровную линию.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Главный трюк верстки! Первый элемент (лого) прижимается к левой стенке, последний (меню) — к правой стенке.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align-items: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Выравнивает элементы по вертикальной оси. Логотип и кнопки встают строго по центру без ручных отступов.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gap: 10px в .logo: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Современный способ задать отступ ровно в 10px между иконкой логотипа и текстом бренда без margin-right.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САЙТА: CSS &amp; FLEXBOX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ссылки, состояния hover и кнопку «Войти»?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(навигация)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list-style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71717A"/>
                </a:solidFill>
                <a:latin typeface="Consolas"/>
              </a:rPr>
              <a:t>; /* Убираем маркеры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 14px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500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.nav-link:hover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#eaf2ff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.nav-btn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.nav-btn:hover { background-color: #0056b3;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СТИЛИЗАЦИЯ И ИНТЕРАКТИВНОСТЬ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list-style: none: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браузерные черные точки у тегов &lt;li&gt;. Меню превращается в аккуратную группу кнопок.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Псевдокласс :hover: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Срабатывает в момент наведения курсора мыши. Ссылка меняет цвет на синий и получает легкий голубой фон #eaf2ff.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Кнопка призыва к действию (.nav-btn):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Класс .nav-btn окрашивает кнопку «Войти» в насыщенный цвет #007bff с белым текстом, делая её заметной.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border-radius: 4px: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Легкое скругление углов придает элементам интерфейса современный мягкий вид.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4070" y="259715"/>
            <a:ext cx="299593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НАВИГАЦИОННОЕ МЕНЮ И КНОПКА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сверстать эффектный презентационный заголовок?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(Hero)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Главный баннер (Hero-блок)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&lt;h1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Портал бронирования офисных комнат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"brand-highlight"</a:t>
            </a:r>
            <a:r>
              <a:rPr sz="800">
                <a:solidFill>
                  <a:srgbClr val="F472B6"/>
                </a:solidFill>
                <a:latin typeface="Consolas"/>
              </a:rPr>
              <a:t>&gt;«СмартОфис»&lt;/span&gt;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&lt;/h1&gt;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гигантского заголовка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0.95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-0.04em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.brand-highlight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ПЛАКАТНАЯ ТИПОГРАФИКА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Единственный заголовок &lt;h1&gt;: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стандартам веб-доступности и поисковых систем Google/Яндекс на странице должен быть только один &lt;h1&gt;.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font-size: 108px: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Смелый плакатный размер сразу приковывает внимание студента и формирует премиальное ощущение от сервиса.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0.95 и letter-spacing: -0.04em: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экстремально больших шрифтах буквы разъезжаются. Отрицательный кернинг и плотный интерлиньяж делают текст монолитным.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Подсветка бренда через &lt;span&gt;: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 &lt;span&gt; позволяет изменить цвет слова «СмартОфис» на фирменный синий, не разбивая заголовок на части.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6280" y="259715"/>
            <a:ext cx="309372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ГЛАВНЫЙ ЭКРАН (HERO SECTION)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скомпоновать цифры и показатели сервиса в одну линию?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(Metrics)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&lt;p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"hero-subtitle"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Удобный выбор и быстрое бронирование...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"hero-metrics"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&gt;24/7&lt;/span&gt;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&gt;Доступ&lt;/span&gt;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&gt;от 250 ₽&lt;/span&gt;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&gt;Почасовая аренда&lt;/span&gt;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.hero-bottom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border-top: 2px solid #222222; padding-top: 20px;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display: flex; justify-content: space-between;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.metric-val { font-size: 20px; font-weight: 800; color: #007bff;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АРХИТЕКТУРА НИЖНЕЙ ЧАСТИ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Графическая черта border-top: 2px solid: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Контрастная черная линия отделяет масштабный заголовок от подробностей, задавая строгий журнальный стиль.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Раскладка 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Подзаголовок аккуратно размещается слева (max-width: 600px), а метрики выстраиваются в правой части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Вертикальная колонка .metric-item: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flex; flex-direction: column ставит яркую цифру 24/7 строго над маленькой подписью «Доступ».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40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302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Контраст типографики: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Значение (.metric-val): 20px, жирный шрифт 800, синий цвет. Подпись (.metric-lbl): 12px, серый нейтральный цвет #777777.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650" y="259715"/>
            <a:ext cx="28003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БЛОК ПРЕИМУЩЕСТВ И МЕТРИК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в стилях классы .page-title и .page-subtitle?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(.page-title)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ДЛЯ ВНУТРЕННИХ СТРАНИЦ ПРОЕКТА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Главный заголовок страниц Каталога и Входа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-0.02em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Серый центрированный подзаголовок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.page-subtitle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#666666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ПРОЕКТИРОВАНИЕ НА ОПЕРЕЖЕНИЕ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Задел для следующих вебинаров: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3 и 4 вебинарах мы создадим catalog.html и login.html. Классы .page-title и .page-subtitle уже готовы для них!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text-align: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Центрирует текст по горизонтали внутри контейнера, создавая симметричную шапку внутренних разделов.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DRY (Don't Repeat Yourself):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не пишем заново оформление заголовков для каждой страницы. Мы создаем единый переиспользуемый класс.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Визуальная иерархия: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Крупный жирный заголовок 28px и деликатный серый подзаголовок 15px создают гармоничную композицию.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2910" y="259715"/>
            <a:ext cx="33870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УНИВЕРСАЛЬНЫЕ ЗАГОЛОВКИ СТРАНИЦ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кликабельные контакты и юридический блок?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footer-container"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Левая колонка: описание и копирайт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"footer-info"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&lt;p&gt;&lt;strong&gt;СмартОфис&lt;/strong&gt; — Сервис бронирования&lt;/p&gt;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&lt;p&gt;© 2026 СмартОфис. Все права защищены.&lt;/p&gt;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Правая колонка: интерактивные контакты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"footer-contacts"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&lt;p&gt;Email: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"mailto:info@smartoffice.ru"</a:t>
            </a:r>
            <a:r>
              <a:rPr sz="800">
                <a:solidFill>
                  <a:srgbClr val="D4D4D8"/>
                </a:solidFill>
                <a:latin typeface="Consolas"/>
              </a:rPr>
              <a:t>&gt;info@smartoffice.ru&lt;/a&gt;&lt;/p&gt;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&lt;p&gt;Телефон: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"tel:+78005553535"</a:t>
            </a:r>
            <a:r>
              <a:rPr sz="800">
                <a:solidFill>
                  <a:srgbClr val="D4D4D8"/>
                </a:solidFill>
                <a:latin typeface="Consolas"/>
              </a:rPr>
              <a:t>&gt;+7 (800) 555-35-35&lt;/a&gt;&lt;/p&gt;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 { background-color: #f8f9fa; border-top: 1px solid #dddddd; padding: 25px 0;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.footer-contacts a { color: #007bff; text-decoration: none;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СТАНДАРТЫ ОФОРМЛЕНИЯ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mailto: в ссылках: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клике на ссылку href="mailto:..." устройство пользователя автоматически открывает почтовую программу с заполненным адресом.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68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30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tel: для быстрых звонков: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Ссылка href="tel:+78005553535" на смартфонах сразу запускает набор телефонного номера. Это стандарт мобильного 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705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67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&lt;strong&gt; для акцента: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Выделяет название сервиса жирным шрифтом в первом абзаце футера.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Фон #f8f9fa и разделитель #dddddd: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Мягкий светлый фон и тонкая верхняя рамка деликатно завершают страницу в самом низу.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ПОДВАЛ САЙТА (FOOTER)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Почему футер не улетает вверх при малом количестве контента?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(Sticky 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1: Тело сайта тянется минимум на 100vh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71717A"/>
                </a:solidFill>
                <a:latin typeface="Consolas"/>
              </a:rPr>
              <a:t>; /* 100% высоты окна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2: Блок main забирает всё свободное место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Жадно растягивается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40px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3: Подвал гарантированно прижат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.footer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margin-top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auto</a:t>
            </a:r>
            <a:r>
              <a:rPr sz="800">
                <a:solidFill>
                  <a:srgbClr val="71717A"/>
                </a:solidFill>
                <a:latin typeface="Consolas"/>
              </a:rPr>
              <a:t>; /* Выталкивается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«ЛИПКОГО»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Классическая беда новичков: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на странице мало текста, футер поднимается к середине монитора, а под ним висит пустота. Это выглядит непрофессионально.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1: body на 100vh: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Окно браузера делится на флекс-колонку, которая всегда занимает как минимум 100% высоты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2: flex: 1 для .main: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Магическое свойство flex: 1 говорит браузеру: «Растяни блок main на всю оставшуюся пустоту страницы».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3: margin-top: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Финальная страховка. Футер выталкивается в самый нижний край экрана при любом объеме информации!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ТЕХНИКА FLEXBOX: ПРИЖАТИЕ ФУТЕРА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работают всплывающие системные уведомления?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(Toast &amp; Animation)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Контейнер прикреплен к правому нижнему углу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position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fixed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right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z-index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14px 18px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animation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toastFadeIn 0.3s ease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.toast-success { border-left: 4px solid #28a745;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.toast-danger  { border-left: 4px solid #dc3545;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Плавная анимация всплытия снизу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@keyframes toastFadeIn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from { opacity: 0; transform: translateY(15px);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to   { opacity: 1; transform: translateY(0);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ПОЗИЦИОНИРОВАНИЕ И ЭФФЕКТЫ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position: fixed (Фиксация на экране):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Контейнер уведомлений вырван из общего потока и привязан к углу монитора. При прокрутке страницы он остается на месте.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z-index: 1000: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Определяет слой по высоте. Значение 1000 гарантирует, что всплывающее сообщение перекроет любой другой элемент сайта.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Цветовой индикатор статуса: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border-left: 4px solid #28a745 красит левую грань в зеленый при успехе и в красный #dc3545 при ошибке.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Анимация @keyframes toastFadeIn: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Сообщение появляется из прозрачности (opacity: 0 -&gt; 1) и сдвигается на 15px снизу вверх за треть секунды (0.3s).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TOAST-УВЕДОМЛЕНИЯ И CSS-АНИМАЦИИ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На чем чаще всего спотыкаются студенты при первой верстке?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Забыли rel="stylesheet"</a:t>
            </a:r>
          </a:p>
        </p:txBody>
      </p:sp>
      <p:sp>
        <p:nvSpPr>
          <p:cNvPr id="5" name="Rectangle 4"/>
          <p:cNvSpPr/>
          <p:nvPr/>
        </p:nvSpPr>
        <p:spPr>
          <a:xfrm>
            <a:off x="482600" y="11176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2600" y="11938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Написали &lt;link href="css/style.css"&gt; без атрибута rel="stylesheet".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Браузер скачает файл, но не поймет, что это таблица стилей. Обязательно пишите rel="stylesheet"!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3300" y="8382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Опечатка в пути к стилям или иконке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3300" y="11176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3300" y="11938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Указали href="style.css" вместо правильного относительного пути href="css/style.css".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Стили лежат во вложенной папке css/. Проверяйте пути в проводнике VS Code или WebStorm.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7940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Незакрытые парные теги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2600" y="30734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600" y="31496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Забыли закрыть тег &lt;/div&gt;, &lt;header&gt;, &lt;section&gt; или &lt;ul&gt;.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Один незакрытый тег ломает всю сетку Flexbox дальше по коду. Пользуйтесь подсветкой парных тегов в 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3300" y="27940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Пропустили сброс box-sizing: border-box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13300" y="30734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3300" y="31496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Не написали сброс * { box-sizing: border-box; } в самом начале CSS.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Любой padding и border будут увеличивать ширину блоков, создавая неприятный горизонтальный скролл.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РАЗБОР ТИПИЧНЫХ ОШИБОК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убедиться, что код вебинара написан на 100% правильно?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36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6F03"/>
                </a:solidFill>
                <a:latin typeface="Montserrat"/>
              </a:rPr>
              <a:t>ЧЕК-ЛИСТ ГОТОВНОСТИ ПРАКТИЧЕСКОЙ ЧАСТИ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68400"/>
            <a:ext cx="7772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208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462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200" y="12954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Файловая структура проекта организована корректно: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Файл index.html находится в корне, таблица стилей в папке css/style.css, векторный логотип в img/logo.svg.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050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04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200" y="18796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и шрифты подключены без сбоев: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Указан &lt;meta charset="UTF-8"&gt;, шрифт Inter подгружается из Google Fonts, текст не содержит символов-кракозябр.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892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" y="24638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каркас страницы валиден: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Использованы семантические теги HTML5: &lt;header&gt;, &lt;nav&gt;, &lt;main&gt;, &lt;section class="hero-section"&gt;, &lt;footer&gt;.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734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988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200" y="30480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Контент центрирован внутри .container на 1200px: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Шапка, hero-блок и футер аккуратно держатся по центру экрана с полями безопасности благодаря margin: 0 auto.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6830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" y="36322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Футер надежно прижат к низу страницы: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Благодаря связке body { min-height: 100vh; flex-direction: column; } и main { flex: 1; } футер никогда не зависает в воздухе.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98490" y="259715"/>
            <a:ext cx="319151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ИТОГИ И ЧЕК-ЛИСТ САМОПРОВЕРКИ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РЕЗУЛЬТАТ</a:t>
            </a:r>
          </a:p>
        </p:txBody>
      </p:sp>
      <p:pic>
        <p:nvPicPr>
          <p:cNvPr id="13" name="Picture 12" descr="webinar5_catalog_ex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863600"/>
            <a:ext cx="6477000" cy="3581400"/>
          </a:xfrm>
          <a:prstGeom prst="rect">
            <a:avLst/>
          </a:prstGeom>
        </p:spPr>
      </p:pic>
      <p:sp>
        <p:nvSpPr>
          <p:cNvPr id="14" name="TextBox 2"/>
          <p:cNvSpPr txBox="1"/>
          <p:nvPr/>
        </p:nvSpPr>
        <p:spPr>
          <a:xfrm>
            <a:off x="306070" y="4674870"/>
            <a:ext cx="698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Результат: Функциональная страница каталога с динамическим рендерингом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1147350" y="1375225"/>
            <a:ext cx="6849300" cy="2282400"/>
          </a:xfrm>
          <a:prstGeom prst="roundRect">
            <a:avLst>
              <a:gd name="adj" fmla="val 11015"/>
            </a:avLst>
          </a:prstGeom>
          <a:gradFill flip="none" rotWithShape="1"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828800" y="1734203"/>
            <a:ext cx="5486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ДО </a:t>
            </a:r>
            <a:r>
              <a:rPr lang="ru-RU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ВСТРЕЧИ</a:t>
            </a:r>
            <a:r>
              <a:rPr lang="en" sz="30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! </a:t>
            </a:r>
            <a:endParaRPr sz="30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УВИДИМСЯ НА СЛЕДУЮЩЕМ ЗАНЯТИИ</a:t>
            </a:r>
            <a:endParaRPr sz="18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СТРУКТУРА ДАННЫХ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правильно организовать хранение каталога комнат на стороне клиента?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js/data.js (Модель сущности комнаты)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Модель объекта офисной комнаты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room =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id: </a:t>
            </a:r>
            <a:r>
              <a:rPr sz="850">
                <a:solidFill>
                  <a:srgbClr val="98C379"/>
                </a:solidFill>
                <a:latin typeface="Consolas"/>
              </a:rPr>
              <a:t>'focus-1'</a:t>
            </a:r>
            <a:r>
              <a:rPr sz="8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title: </a:t>
            </a:r>
            <a:r>
              <a:rPr sz="850">
                <a:solidFill>
                  <a:srgbClr val="98C379"/>
                </a:solidFill>
                <a:latin typeface="Consolas"/>
              </a:rPr>
              <a:t>'Мини-офис Focus'</a:t>
            </a:r>
            <a:r>
              <a:rPr sz="8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pricePerHour: </a:t>
            </a:r>
            <a:r>
              <a:rPr sz="850">
                <a:solidFill>
                  <a:srgbClr val="D19A66"/>
                </a:solidFill>
                <a:latin typeface="Consolas"/>
              </a:rPr>
              <a:t>450</a:t>
            </a:r>
            <a:r>
              <a:rPr sz="8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capacity: </a:t>
            </a:r>
            <a:r>
              <a:rPr sz="850">
                <a:solidFill>
                  <a:srgbClr val="98C379"/>
                </a:solidFill>
                <a:latin typeface="Consolas"/>
              </a:rPr>
              <a:t>'1-2 человека'</a:t>
            </a:r>
            <a:r>
              <a:rPr sz="8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area: </a:t>
            </a:r>
            <a:r>
              <a:rPr sz="850">
                <a:solidFill>
                  <a:srgbClr val="98C379"/>
                </a:solidFill>
                <a:latin typeface="Consolas"/>
              </a:rPr>
              <a:t>'12 м²'</a:t>
            </a:r>
            <a:r>
              <a:rPr sz="8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description: </a:t>
            </a:r>
            <a:r>
              <a:rPr sz="850">
                <a:solidFill>
                  <a:srgbClr val="98C379"/>
                </a:solidFill>
                <a:latin typeface="Consolas"/>
              </a:rPr>
              <a:t>'Тихое пространство...'</a:t>
            </a:r>
            <a:r>
              <a:rPr sz="8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equipment: [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'Wi-Fi 500 Мбит/с'</a:t>
            </a:r>
            <a:r>
              <a:rPr sz="8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'4K Монитор'</a:t>
            </a:r>
            <a:r>
              <a:rPr sz="8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'Эргономичное кресло'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image: </a:t>
            </a:r>
            <a:r>
              <a:rPr sz="850">
                <a:solidFill>
                  <a:srgbClr val="98C379"/>
                </a:solidFill>
                <a:latin typeface="Consolas"/>
              </a:rPr>
              <a:t>'../img/room-1.jpg'</a:t>
            </a:r>
            <a:r>
              <a:rPr sz="8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isPopular: </a:t>
            </a:r>
            <a:r>
              <a:rPr sz="850">
                <a:solidFill>
                  <a:srgbClr val="C678DD"/>
                </a:solidFill>
                <a:latin typeface="Consolas"/>
              </a:rPr>
              <a:t>true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};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МОДЕЛИРОВАНИЕ СУЩНОСТИ: КАРТОЧКА ОБЪЕКТА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Уникальный ID (Идентификатор):
</a:t>
            </a:r>
            <a:r>
              <a:rPr sz="850" b="0">
                <a:solidFill>
                  <a:srgbClr val="555555"/>
                </a:solidFill>
                <a:latin typeface="Inter"/>
              </a:rPr>
              <a:t>Первичный ключ id: 'focus-1' однозначно адресует комнату при формировании ссылок и поиске в массиве.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Типизированные поля параметров:
</a:t>
            </a:r>
            <a:r>
              <a:rPr sz="850" b="0">
                <a:solidFill>
                  <a:srgbClr val="555555"/>
                </a:solidFill>
                <a:latin typeface="Inter"/>
              </a:rPr>
              <a:t>Числовая цена pricePerHour используется в расчетах калькулятора, а строки описывают вместимость и площадь.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Вложенные списки (equipment):
</a:t>
            </a:r>
            <a:r>
              <a:rPr sz="850" b="0">
                <a:solidFill>
                  <a:srgbClr val="555555"/>
                </a:solidFill>
                <a:latin typeface="Inter"/>
              </a:rPr>
              <a:t>Массив строк equipment хранит список преимуществ и техники, которые динамически выводятся в теги &lt;li&gt;.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Флаги состояния (isPopular):
</a:t>
            </a:r>
            <a:r>
              <a:rPr sz="850" b="0">
                <a:solidFill>
                  <a:srgbClr val="555555"/>
                </a:solidFill>
                <a:latin typeface="Inter"/>
              </a:rPr>
              <a:t>Булево значение true / false управляет показом акцентного бейджа «Популярное» на карточке.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БАЗА ДАННЫХ JS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данные выносятся в отдельный файл data.js перед основным скриптом?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js/data.js (Массив всех комнат)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Глобальный массив доступных помещений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OFFICE_ROOMS = [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  id: </a:t>
            </a:r>
            <a:r>
              <a:rPr sz="850">
                <a:solidFill>
                  <a:srgbClr val="98C379"/>
                </a:solidFill>
                <a:latin typeface="Consolas"/>
              </a:rPr>
              <a:t>'focus-1'</a:t>
            </a:r>
            <a:r>
              <a:rPr sz="8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  title: </a:t>
            </a:r>
            <a:r>
              <a:rPr sz="850">
                <a:solidFill>
                  <a:srgbClr val="98C379"/>
                </a:solidFill>
                <a:latin typeface="Consolas"/>
              </a:rPr>
              <a:t>'Мини-офис Focus'</a:t>
            </a:r>
            <a:r>
              <a:rPr sz="8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  pricePerHour: </a:t>
            </a:r>
            <a:r>
              <a:rPr sz="850">
                <a:solidFill>
                  <a:srgbClr val="D19A66"/>
                </a:solidFill>
                <a:latin typeface="Consolas"/>
              </a:rPr>
              <a:t>450</a:t>
            </a:r>
            <a:r>
              <a:rPr sz="8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  // ...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  id: </a:t>
            </a:r>
            <a:r>
              <a:rPr sz="850">
                <a:solidFill>
                  <a:srgbClr val="98C379"/>
                </a:solidFill>
                <a:latin typeface="Consolas"/>
              </a:rPr>
              <a:t>'alpha-2'</a:t>
            </a:r>
            <a:r>
              <a:rPr sz="8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  title: </a:t>
            </a:r>
            <a:r>
              <a:rPr sz="850">
                <a:solidFill>
                  <a:srgbClr val="98C379"/>
                </a:solidFill>
                <a:latin typeface="Consolas"/>
              </a:rPr>
              <a:t>'Конференц-зал Alpha'</a:t>
            </a:r>
            <a:r>
              <a:rPr sz="8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  pricePerHour: </a:t>
            </a:r>
            <a:r>
              <a:rPr sz="850">
                <a:solidFill>
                  <a:srgbClr val="D19A66"/>
                </a:solidFill>
                <a:latin typeface="Consolas"/>
              </a:rPr>
              <a:t>1200</a:t>
            </a:r>
            <a:r>
              <a:rPr sz="85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  // ...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Всего 6 офисных помещений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];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РАЗДЕЛЕНИЕ ДАННЫХ И ЛОГИКИ: МОДУЛЬ DATA.JS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Single Source of Truth:
</a:t>
            </a:r>
            <a:r>
              <a:rPr sz="850" b="0">
                <a:solidFill>
                  <a:srgbClr val="555555"/>
                </a:solidFill>
                <a:latin typeface="Inter"/>
              </a:rPr>
              <a:t>Каталог, главная страница и страница описания используют единый источник данных, исключая рассинхрон.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Отказ от ручной верстки:
</a:t>
            </a:r>
            <a:r>
              <a:rPr sz="850" b="0">
                <a:solidFill>
                  <a:srgbClr val="555555"/>
                </a:solidFill>
                <a:latin typeface="Inter"/>
              </a:rPr>
              <a:t>Вместо создания 6 отдельных HTML-файлов для каждой комнаты мы генерируем интерфейс из одного массива.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Порядок подключения скриптов:
</a:t>
            </a:r>
            <a:r>
              <a:rPr sz="850" b="0">
                <a:solidFill>
                  <a:srgbClr val="555555"/>
                </a:solidFill>
                <a:latin typeface="Inter"/>
              </a:rPr>
              <a:t>Файл data.js обязательно подключается перед main.js, чтобы переменная OFFICE_ROOMS была доступна.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Подготовка к работе с API:
</a:t>
            </a:r>
            <a:r>
              <a:rPr sz="850" b="0">
                <a:solidFill>
                  <a:srgbClr val="555555"/>
                </a:solidFill>
                <a:latin typeface="Inter"/>
              </a:rPr>
              <a:t>В будущем этот массив будет приходить от настоящего бэкенд-сервера через fetch без изменения логики.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DATA FLOW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Каков путь данных от исходного массива в data.js до отображения на экране?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Montserrat"/>
              </a:rPr>
              <a:t>1. ИСТОЧНИК ДАННЫХ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Файл js/data.js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0000"/>
            <a:ext cx="2362200" cy="1270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2600" y="1397000"/>
            <a:ext cx="2311400" cy="6858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61AFEF"/>
            </a:solidFill>
          </a:ln>
        </p:spPr>
        <p:txBody>
          <a:bodyPr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Consolas"/>
              </a:rPr>
              <a:t>OFFICE_ROOMS = [
  { id: 'focus-1', ... },
  { id: 'alpha-2', ... }
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235200"/>
            <a:ext cx="231140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Единый источник правды:
• Массив из 6 объектов
• Цены за час аренды
• Вместимость и площадь
• Список оснащения (Wi-Fi, 4K)
• Пути к фото в папке img/
• Флаг isPopular: true/false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50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74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D19A66"/>
                </a:solidFill>
                <a:latin typeface="Montserrat"/>
              </a:rPr>
              <a:t>2. ОБРАБОТКА И РЕНДЕР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Функция renderCatalog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7400" y="1270000"/>
            <a:ext cx="2362200" cy="12700"/>
          </a:xfrm>
          <a:prstGeom prst="rect">
            <a:avLst/>
          </a:prstGeom>
          <a:solidFill>
            <a:srgbClr val="D19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52800" y="1397000"/>
            <a:ext cx="2311400" cy="6858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D19A66"/>
            </a:solidFill>
          </a:ln>
        </p:spPr>
        <p:txBody>
          <a:bodyPr rtlCol="0" anchor="ctr"/>
          <a:lstStyle/>
          <a:p>
            <a:pPr algn="ctr"/>
            <a:r>
              <a:rPr sz="650">
                <a:solidFill>
                  <a:srgbClr val="D19A66"/>
                </a:solidFill>
                <a:latin typeface="Consolas"/>
              </a:rPr>
              <a:t>OFFICE_ROOMS.map(room =&gt; `
  &lt;div class="room-card"&gt;
    ...${room.title}...
  &lt;/div&gt;
`).join('')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2800" y="2235200"/>
            <a:ext cx="231140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Конвейер трансформации:
• Обход каждого объекта в массиве
• Интерполяция ${room.id} в ссылки
• Вложенный map по удобствам
• Склейка через .join('')
• Исключение запятых между блоками
• Подготовка единой строки 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52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76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98C379"/>
                </a:solidFill>
                <a:latin typeface="Montserrat"/>
              </a:rPr>
              <a:t>3. ИНЪЕКЦИЯ В DOM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Сетка #catalogContainer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7600" y="1270000"/>
            <a:ext cx="2362200" cy="12700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3000" y="1397000"/>
            <a:ext cx="2311400" cy="6858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98C379"/>
            </a:solidFill>
          </a:ln>
        </p:spPr>
        <p:txBody>
          <a:bodyPr rtlCol="0" anchor="ctr"/>
          <a:lstStyle/>
          <a:p>
            <a:pPr algn="ctr"/>
            <a:r>
              <a:rPr sz="700">
                <a:solidFill>
                  <a:srgbClr val="98C379"/>
                </a:solidFill>
                <a:latin typeface="Consolas"/>
              </a:rPr>
              <a:t>container = #catalogContainer;
container.innerHTML =
  htmlCardsMarkup;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000" y="2235200"/>
            <a:ext cx="231140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Отрисовка в интерфейсе:
• Браузер парсит HTML в узлы DOM
• Раскладка в адаптивный CSS Grid
• Активация ссылок на room-details
• Подстановка onerror для фото
• Кнопки быстрого бронирования
• Автоматический пересчет сетки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МЕТОД MAP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Чем метод map() превосходит классический цикл for при генерации интерфейса?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(Трансформация через .map)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Преобразование массива объектов в разметку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htmlCards = OFFICE_ROOMS.</a:t>
            </a:r>
            <a:r>
              <a:rPr sz="850">
                <a:solidFill>
                  <a:srgbClr val="61AFEF"/>
                </a:solidFill>
                <a:latin typeface="Consolas"/>
              </a:rPr>
              <a:t>map</a:t>
            </a:r>
            <a:r>
              <a:rPr sz="850">
                <a:solidFill>
                  <a:srgbClr val="D4D4D8"/>
                </a:solidFill>
                <a:latin typeface="Consolas"/>
              </a:rPr>
              <a:t>(room =&gt;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return `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&lt;div class="room-card"&gt;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&lt;img src="${room.image}" alt="${room.title}"&gt;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&lt;h3&gt;${room.title}&lt;/h3&gt;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&lt;div class="price"&gt;${room.pricePerHour} ₽/ч&lt;/div&gt;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&lt;/div&gt;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`;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Результат: массив строк ['&lt;div&gt;...&lt;/div&gt;', ...]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console.</a:t>
            </a:r>
            <a:r>
              <a:rPr sz="850">
                <a:solidFill>
                  <a:srgbClr val="61AFEF"/>
                </a:solidFill>
                <a:latin typeface="Consolas"/>
              </a:rPr>
              <a:t>log</a:t>
            </a:r>
            <a:r>
              <a:rPr sz="850">
                <a:solidFill>
                  <a:srgbClr val="D4D4D8"/>
                </a:solidFill>
                <a:latin typeface="Consolas"/>
              </a:rPr>
              <a:t>(htmlCards.length); </a:t>
            </a:r>
            <a:r>
              <a:rPr sz="850">
                <a:solidFill>
                  <a:srgbClr val="5C6370"/>
                </a:solidFill>
                <a:latin typeface="Consolas"/>
              </a:rPr>
              <a:t>// 6 элементов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ДЕКЛАРАТИВНАЯ ГЕНЕРАЦИЯ: ARRAY.MAP()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Принцип неизменяемости (Immutability):
</a:t>
            </a:r>
            <a:r>
              <a:rPr sz="850" b="0">
                <a:solidFill>
                  <a:srgbClr val="555555"/>
                </a:solidFill>
                <a:latin typeface="Inter"/>
              </a:rPr>
              <a:t>Метод .map() не меняет исходный массив комнат, а создает новый массив с результатами преобразования.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Лаконичный стрелочный синтаксис:
</a:t>
            </a:r>
            <a:r>
              <a:rPr sz="850" b="0">
                <a:solidFill>
                  <a:srgbClr val="555555"/>
                </a:solidFill>
                <a:latin typeface="Inter"/>
              </a:rPr>
              <a:t>Запись room =&gt; `...` избавляет от громоздких циклов с ручным отслеживанием индексов i++.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Интерполяция выражений:
</a:t>
            </a:r>
            <a:r>
              <a:rPr sz="850" b="0">
                <a:solidFill>
                  <a:srgbClr val="555555"/>
                </a:solidFill>
                <a:latin typeface="Inter"/>
              </a:rPr>
              <a:t>Внутри шаблонной строки можно подставлять любые переменные, тернарные операторы и формулы.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Промышленный стандарт веб-разработки:
</a:t>
            </a:r>
            <a:r>
              <a:rPr sz="850" b="0">
                <a:solidFill>
                  <a:srgbClr val="555555"/>
                </a:solidFill>
                <a:latin typeface="Inter"/>
              </a:rPr>
              <a:t>Трансформация данных через .map() лежит в основе генерации списков во всех фреймворках (React, Vue).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МЕТОД JOIN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без вызова .join('') на веб-странице появляются лишние запятые?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(Опасность метода toString)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❌ ОШИБКА: Массив вставляется напрямую: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container.</a:t>
            </a:r>
            <a:r>
              <a:rPr sz="850">
                <a:solidFill>
                  <a:srgbClr val="61AFEF"/>
                </a:solidFill>
                <a:latin typeface="Consolas"/>
              </a:rPr>
              <a:t>innerHTML</a:t>
            </a:r>
            <a:r>
              <a:rPr sz="850">
                <a:solidFill>
                  <a:srgbClr val="D4D4D8"/>
                </a:solidFill>
                <a:latin typeface="Consolas"/>
              </a:rPr>
              <a:t> = OFFICE_ROOMS.</a:t>
            </a:r>
            <a:r>
              <a:rPr sz="850">
                <a:solidFill>
                  <a:srgbClr val="61AFEF"/>
                </a:solidFill>
                <a:latin typeface="Consolas"/>
              </a:rPr>
              <a:t>map</a:t>
            </a:r>
            <a:r>
              <a:rPr sz="850">
                <a:solidFill>
                  <a:srgbClr val="D4D4D8"/>
                </a:solidFill>
                <a:latin typeface="Consolas"/>
              </a:rPr>
              <a:t>(...);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JS вызовет toString() -&gt; на экране появятся запятые!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 ПРАВИЛЬНО: Склейка без разделителя: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container.</a:t>
            </a:r>
            <a:r>
              <a:rPr sz="850">
                <a:solidFill>
                  <a:srgbClr val="61AFEF"/>
                </a:solidFill>
                <a:latin typeface="Consolas"/>
              </a:rPr>
              <a:t>innerHTML</a:t>
            </a:r>
            <a:r>
              <a:rPr sz="850">
                <a:solidFill>
                  <a:srgbClr val="D4D4D8"/>
                </a:solidFill>
                <a:latin typeface="Consolas"/>
              </a:rPr>
              <a:t> = OFFICE_ROOMS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.</a:t>
            </a:r>
            <a:r>
              <a:rPr sz="850">
                <a:solidFill>
                  <a:srgbClr val="61AFEF"/>
                </a:solidFill>
                <a:latin typeface="Consolas"/>
              </a:rPr>
              <a:t>map</a:t>
            </a:r>
            <a:r>
              <a:rPr sz="850">
                <a:solidFill>
                  <a:srgbClr val="D4D4D8"/>
                </a:solidFill>
                <a:latin typeface="Consolas"/>
              </a:rPr>
              <a:t>(room =&gt; `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&lt;div class="room-card"&gt;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    &lt;!-- разметка карточки --&gt;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&lt;/div&gt;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`)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.</a:t>
            </a:r>
            <a:r>
              <a:rPr sz="850">
                <a:solidFill>
                  <a:srgbClr val="61AFEF"/>
                </a:solidFill>
                <a:latin typeface="Consolas"/>
              </a:rPr>
              <a:t>join</a:t>
            </a:r>
            <a:r>
              <a:rPr sz="850">
                <a:solidFill>
                  <a:srgbClr val="C678DD"/>
                </a:solidFill>
                <a:latin typeface="Consolas"/>
              </a:rPr>
              <a:t>(''); </a:t>
            </a:r>
            <a:r>
              <a:rPr sz="850">
                <a:solidFill>
                  <a:srgbClr val="5C6370"/>
                </a:solidFill>
                <a:latin typeface="Consolas"/>
              </a:rPr>
              <a:t>// Склейка пустой строкой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СКЛЕЙКА СТРОК: РОЛЬ МЕТОДА JOIN('')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Поведение innerHTML с массивами:
</a:t>
            </a:r>
            <a:r>
              <a:rPr sz="850" b="0">
                <a:solidFill>
                  <a:srgbClr val="555555"/>
                </a:solidFill>
                <a:latin typeface="Inter"/>
              </a:rPr>
              <a:t>Свойство innerHTML ожидает единую строку. Если передать массив, браузер неявно преобразует его в строку.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Нежелательные символы запятых:
</a:t>
            </a:r>
            <a:r>
              <a:rPr sz="850" b="0">
                <a:solidFill>
                  <a:srgbClr val="555555"/>
                </a:solidFill>
                <a:latin typeface="Inter"/>
              </a:rPr>
              <a:t>Стандартный toString() разделяет элементы массива запятыми, которые отображаются как мусор в интерфейсе.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Склейка пустой строкой join(''):
</a:t>
            </a:r>
            <a:r>
              <a:rPr sz="850" b="0">
                <a:solidFill>
                  <a:srgbClr val="555555"/>
                </a:solidFill>
                <a:latin typeface="Inter"/>
              </a:rPr>
              <a:t>Метод объединяет массив строк в единую монолитную HTML-разметку без каких-либо промежуточных знаков.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Высокая производительность:
</a:t>
            </a:r>
            <a:r>
              <a:rPr sz="850" b="0">
                <a:solidFill>
                  <a:srgbClr val="555555"/>
                </a:solidFill>
                <a:latin typeface="Inter"/>
              </a:rPr>
              <a:t>Операция .map().join('') работает в десятки раз быстрее последовательного прибавления innerHTML += в цикле.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802120" y="259079"/>
            <a:ext cx="20878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РЕНДЕРИНГ КАТАЛОГА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безопасно наполнить контейнер каталога сгенерированными карточками?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(Функция renderCatalog)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>
                <a:solidFill>
                  <a:srgbClr val="61AFEF"/>
                </a:solidFill>
                <a:latin typeface="Consolas"/>
              </a:rPr>
              <a:t>renderCatalog</a:t>
            </a:r>
            <a:r>
              <a:rPr sz="85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const </a:t>
            </a:r>
            <a:r>
              <a:rPr sz="850">
                <a:solidFill>
                  <a:srgbClr val="D4D4D8"/>
                </a:solidFill>
                <a:latin typeface="Consolas"/>
              </a:rPr>
              <a:t>container = document.</a:t>
            </a:r>
            <a:r>
              <a:rPr sz="850">
                <a:solidFill>
                  <a:srgbClr val="61AFEF"/>
                </a:solidFill>
                <a:latin typeface="Consolas"/>
              </a:rPr>
              <a:t>getElementById</a:t>
            </a:r>
            <a:r>
              <a:rPr sz="850">
                <a:solidFill>
                  <a:srgbClr val="98C379"/>
                </a:solidFill>
                <a:latin typeface="Consolas"/>
              </a:rPr>
              <a:t>('catalogContainer');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if </a:t>
            </a:r>
            <a:r>
              <a:rPr sz="850">
                <a:solidFill>
                  <a:srgbClr val="D4D4D8"/>
                </a:solidFill>
                <a:latin typeface="Consolas"/>
              </a:rPr>
              <a:t>(!container || </a:t>
            </a:r>
            <a:r>
              <a:rPr sz="850">
                <a:solidFill>
                  <a:srgbClr val="C678DD"/>
                </a:solidFill>
                <a:latin typeface="Consolas"/>
              </a:rPr>
              <a:t>typeof </a:t>
            </a:r>
            <a:r>
              <a:rPr sz="850">
                <a:solidFill>
                  <a:srgbClr val="98C379"/>
                </a:solidFill>
                <a:latin typeface="Consolas"/>
              </a:rPr>
              <a:t>OFFICE_ROOMS === 'undefined') </a:t>
            </a:r>
            <a:r>
              <a:rPr sz="850">
                <a:solidFill>
                  <a:srgbClr val="C678DD"/>
                </a:solidFill>
                <a:latin typeface="Consolas"/>
              </a:rPr>
              <a:t>return;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container.</a:t>
            </a:r>
            <a:r>
              <a:rPr sz="850">
                <a:solidFill>
                  <a:srgbClr val="61AFEF"/>
                </a:solidFill>
                <a:latin typeface="Consolas"/>
              </a:rPr>
              <a:t>innerHTML</a:t>
            </a:r>
            <a:r>
              <a:rPr sz="850">
                <a:solidFill>
                  <a:srgbClr val="D4D4D8"/>
                </a:solidFill>
                <a:latin typeface="Consolas"/>
              </a:rPr>
              <a:t> = OFFICE_ROOMS.</a:t>
            </a:r>
            <a:r>
              <a:rPr sz="850">
                <a:solidFill>
                  <a:srgbClr val="61AFEF"/>
                </a:solidFill>
                <a:latin typeface="Consolas"/>
              </a:rPr>
              <a:t>map</a:t>
            </a:r>
            <a:r>
              <a:rPr sz="850">
                <a:solidFill>
                  <a:srgbClr val="D4D4D8"/>
                </a:solidFill>
                <a:latin typeface="Consolas"/>
              </a:rPr>
              <a:t>(room =&gt; `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&lt;div class="room-card"&gt;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&lt;div class="card-img-wrap"&gt;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  &lt;a href="room-details.html?id=${room.id}"&gt;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    &lt;img src="${room.image}" alt="${room.title}"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         onerror="this.src='../img/no-image.svg'"&gt;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  &lt;/a&gt;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&lt;/div&gt;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    &lt;!-- тело и подвал карточки --&gt;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&lt;/div&gt;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`).</a:t>
            </a:r>
            <a:r>
              <a:rPr sz="850">
                <a:solidFill>
                  <a:srgbClr val="61AFEF"/>
                </a:solidFill>
                <a:latin typeface="Consolas"/>
              </a:rPr>
              <a:t>join</a:t>
            </a:r>
            <a:r>
              <a:rPr sz="850">
                <a:solidFill>
                  <a:srgbClr val="98C379"/>
                </a:solidFill>
                <a:latin typeface="Consolas"/>
              </a:rPr>
              <a:t>('');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ФУНКЦИЯ RENDERCATALOG: МОНТИРОВАНИЕ В DOM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Защитные проверки (Guard Clauses):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Проверка if (!container) гарантирует, что функция не упадет с ошибкой на страницах, где каталога нет.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Атомарное обновление DOM: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Присваивание container.innerHTML происходит за одну операцию, исключая мигание интерфейса.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Динамические ссылки с ID:
</a:t>
            </a:r>
            <a:r>
              <a:rPr sz="850" b="0">
                <a:solidFill>
                  <a:srgbClr val="555555"/>
                </a:solidFill>
                <a:latin typeface="Inter"/>
              </a:rPr>
              <a:t>Каждая ссылка формируется с уникальным GET-параметром ?id=${room.id} для точного перехода.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Трехуровневая структура карточки:
</a:t>
            </a:r>
            <a:r>
              <a:rPr sz="850" b="0">
                <a:solidFill>
                  <a:srgbClr val="555555"/>
                </a:solidFill>
                <a:latin typeface="Inter"/>
              </a:rPr>
              <a:t>Карточка логически разделена на обертку фото (card-img-wrap), контент (card-content) и подвал с кнопками.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ВЛОЖЕННЫЕ СПИСКИ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сгенерировать теги &lt;li&gt; для массива характеристик внутри карточки?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(Вложенный маппинг)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Вывод списка оснащения внутри карточки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&lt;ul class="card-equipment"&gt;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${room.equipment.</a:t>
            </a:r>
            <a:r>
              <a:rPr sz="850">
                <a:solidFill>
                  <a:srgbClr val="61AFEF"/>
                </a:solidFill>
                <a:latin typeface="Consolas"/>
              </a:rPr>
              <a:t>map</a:t>
            </a:r>
            <a:r>
              <a:rPr sz="850">
                <a:solidFill>
                  <a:srgbClr val="98C379"/>
                </a:solidFill>
                <a:latin typeface="Consolas"/>
              </a:rPr>
              <a:t>(item =&gt; `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&lt;li&gt;${item}&lt;/li&gt;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`).</a:t>
            </a:r>
            <a:r>
              <a:rPr sz="850">
                <a:solidFill>
                  <a:srgbClr val="61AFEF"/>
                </a:solidFill>
                <a:latin typeface="Consolas"/>
              </a:rPr>
              <a:t>join</a:t>
            </a:r>
            <a:r>
              <a:rPr sz="850">
                <a:solidFill>
                  <a:srgbClr val="98C379"/>
                </a:solidFill>
                <a:latin typeface="Consolas"/>
              </a:rPr>
              <a:t>('')}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&lt;/ul&gt;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Пример исходных данных: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equipment: ['Wi-Fi 500 Мбит/с', '4K Монитор']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Сгенерированный HTML в DOM: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&lt;li&gt;Wi-Fi 500 Мбит/с&lt;/li&gt;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&lt;li&gt;4K Монитор&lt;/li&gt;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ВЛОЖЕННЫЕ ТРАНСФОРМАЦИИ: СПИСОК В СПИСКЕ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Вложенный вызов .map():
</a:t>
            </a:r>
            <a:r>
              <a:rPr sz="850" b="0">
                <a:solidFill>
                  <a:srgbClr val="555555"/>
                </a:solidFill>
                <a:latin typeface="Inter"/>
              </a:rPr>
              <a:t>Внутри интерполяции внешней карточки запускается внутренний цикл по массиву удобств конкретной комнаты.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Обязательный внутренний .join(''):
</a:t>
            </a:r>
            <a:r>
              <a:rPr sz="850" b="0">
                <a:solidFill>
                  <a:srgbClr val="555555"/>
                </a:solidFill>
                <a:latin typeface="Inter"/>
              </a:rPr>
              <a:t>Вложенный маппинг также требует вызова .join(''), иначе между тегами &lt;li&gt; появятся запятые.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Адаптивность к числу элементов:
</a:t>
            </a:r>
            <a:r>
              <a:rPr sz="850" b="0">
                <a:solidFill>
                  <a:srgbClr val="555555"/>
                </a:solidFill>
                <a:latin typeface="Inter"/>
              </a:rPr>
              <a:t>Если в комнате 3 опции, отрисуется 3 пункта; если 5 — отрисуется 5, верстка подстраивается автоматически.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Семантическая разметка &lt;ul&gt; и &lt;li&gt;:
</a:t>
            </a:r>
            <a:r>
              <a:rPr sz="850" b="0">
                <a:solidFill>
                  <a:srgbClr val="555555"/>
                </a:solidFill>
                <a:latin typeface="Inter"/>
              </a:rPr>
              <a:t>Использование стандартных тегов списков обеспечивает доступность сайта для программ чтения экрана.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ОБРАБОТКА ФОТО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Что делать, если фотография комнаты не загрузилась или путь указан с опечаткой?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HTML / JS (Атрибут onerror)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Защита от битых изображений (Broken Images)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&lt;img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src="${room.image}"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alt="${room.title}"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class="card-img"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onerror="this.src='../img/no-image.svg'"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Механика работы: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1. Браузер пытается загрузить картинку по src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2. При ошибке 404 срабатывает событие 'error'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3. Код подменяет src на векторную заглушку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БЕЗОПАСНАЯ ЗАГРУЗКА: АТРИБУТ ONERROR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Проблема битых изображений: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 ошибке в пути или сетевом сбое браузер показывает сломанную иконку, разрушающую дизайн карточки.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Событие ошибки загрузки (error):
</a:t>
            </a:r>
            <a:r>
              <a:rPr sz="850" b="0">
                <a:solidFill>
                  <a:srgbClr val="555555"/>
                </a:solidFill>
                <a:latin typeface="Inter"/>
              </a:rPr>
              <a:t>Тег &lt;img&gt; генерирует событие ошибки, если ресурс недоступен или сервер вернул статус 404/500.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Подмена источника через this.src:
</a:t>
            </a:r>
            <a:r>
              <a:rPr sz="850" b="0">
                <a:solidFill>
                  <a:srgbClr val="555555"/>
                </a:solidFill>
                <a:latin typeface="Inter"/>
              </a:rPr>
              <a:t>Ключевое слово this ссылается на сам элемент &lt;img&gt;, мгновенно переключая источник на резервный SVG.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Премиальный пользовательский опыт:
</a:t>
            </a:r>
            <a:r>
              <a:rPr sz="850" b="0">
                <a:solidFill>
                  <a:srgbClr val="555555"/>
                </a:solidFill>
                <a:latin typeface="Inter"/>
              </a:rPr>
              <a:t>Пользователь всегда видит аккуратный нейтральный плейсхолдер с логотипом сервиса вместо пустоты.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901180" y="259079"/>
            <a:ext cx="19888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GET-ПАРАМЕТРЫ URL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связать карточку каталога со страницей детального описания?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Анатомия ссылки с параметром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Ссылка перехода в карточке каталога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&lt;a href="room-details.html?id=${room.id}" class="btn-icon"&gt;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&lt;svg&gt;...&lt;/svg&gt;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&lt;/a&gt;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Анатомия итогового адреса в браузере: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// /pages/room-details.html?id=focus-1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──────────┬─────────── ─┬─ ───┬───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         │             │     └── Значение: focus-1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         │             └── Разделитель параметров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         └── Путь к файлу шаблона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QUERY STRING: ПЕРЕДАЧА СОСТОЯНИЯ В URL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Разделитель параметров (?):
</a:t>
            </a:r>
            <a:r>
              <a:rPr sz="850" b="0">
                <a:solidFill>
                  <a:srgbClr val="555555"/>
                </a:solidFill>
                <a:latin typeface="Inter"/>
              </a:rPr>
              <a:t>Символ вопросительного знака отделяет путь к файлу страницы от блока передаваемых параметров.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Формат ключ-значение (key=value):
</a:t>
            </a:r>
            <a:r>
              <a:rPr sz="850" b="0">
                <a:solidFill>
                  <a:srgbClr val="555555"/>
                </a:solidFill>
                <a:latin typeface="Inter"/>
              </a:rPr>
              <a:t>Параметры передаются парами. Знак равенства связывает имя переменной (id) с ее значением (focus-1).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Сохраняемость ссылок (Deep Linking):
</a:t>
            </a:r>
            <a:r>
              <a:rPr sz="850" b="0">
                <a:solidFill>
                  <a:srgbClr val="555555"/>
                </a:solidFill>
                <a:latin typeface="Inter"/>
              </a:rPr>
              <a:t>Ссылку на конкретную комнату можно отправить в мессенджере или сохранить в закладки браузера.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Динамический шаблон:
</a:t>
            </a:r>
            <a:r>
              <a:rPr sz="850" b="0">
                <a:solidFill>
                  <a:srgbClr val="555555"/>
                </a:solidFill>
                <a:latin typeface="Inter"/>
              </a:rPr>
              <a:t>Браузер загружает один HTML-файл, а JavaScript считывает ID и наполняет страницу нужным контентом.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604000" y="259079"/>
            <a:ext cx="2286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МАРШРУТИЗАЦИЯ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Какова последовательность перехода из каталога на страницу деталей комнаты?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Montserrat"/>
              </a:rPr>
              <a:t>1. КЛИК В КАТАЛОГЕ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Переход по ссылке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0000"/>
            <a:ext cx="2362200" cy="1270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2600" y="1397000"/>
            <a:ext cx="2311400" cy="6858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61AFEF"/>
            </a:solidFill>
          </a:ln>
        </p:spPr>
        <p:txBody>
          <a:bodyPr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Consolas"/>
              </a:rPr>
              <a:t>&lt;a href="room-details.html
?id=focus-1"&gt;
  Подробнее
&lt;/a&gt;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235200"/>
            <a:ext cx="231140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Инициация запроса:
• Пользователь кликает по карточке
• Браузер формирует GET-запрос
• Знак '?' отделяет query-строку
• Передается параметр id=focus-1
• Открывается общий шаблон страницы
• Адрес доступен для шеринга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50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74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C678DD"/>
                </a:solidFill>
                <a:latin typeface="Montserrat"/>
              </a:rPr>
              <a:t>2. АНАЛИЗ АДРЕСА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Чтение URLSearchParams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7400" y="1270000"/>
            <a:ext cx="2362200" cy="12700"/>
          </a:xfrm>
          <a:prstGeom prst="rect">
            <a:avLst/>
          </a:prstGeom>
          <a:solidFill>
            <a:srgbClr val="C678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52800" y="1397000"/>
            <a:ext cx="2311400" cy="6858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C678DD"/>
            </a:solidFill>
          </a:ln>
        </p:spPr>
        <p:txBody>
          <a:bodyPr rtlCol="0" anchor="ctr"/>
          <a:lstStyle/>
          <a:p>
            <a:pPr algn="ctr"/>
            <a:r>
              <a:rPr sz="650">
                <a:solidFill>
                  <a:srgbClr val="C678DD"/>
                </a:solidFill>
                <a:latin typeface="Consolas"/>
              </a:rPr>
              <a:t>params = new URLSearchParams(
  window.location.search
);
roomId = params.get('id');
room = OFFICE_ROOMS.find(...);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2800" y="2235200"/>
            <a:ext cx="231140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Парсинг и поиск сущности:
• Считывание параметров адресной строки
• Извлечение ключа: params.get('id')
• Метод .find() сканирует массив
• Поиск совпадения: r.id === roomId
• Возврат найденного объекта
• Если ID неверен: возвращает undefined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52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76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98C379"/>
                </a:solidFill>
                <a:latin typeface="Montserrat"/>
              </a:rPr>
              <a:t>3. ДЕТАЛИ ИЛИ 404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Отрисовка результата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7600" y="1270000"/>
            <a:ext cx="2362200" cy="12700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3000" y="1397000"/>
            <a:ext cx="2311400" cy="6858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98C379"/>
            </a:solidFill>
          </a:ln>
        </p:spPr>
        <p:txBody>
          <a:bodyPr rtlCol="0" anchor="ctr"/>
          <a:lstStyle/>
          <a:p>
            <a:pPr algn="ctr"/>
            <a:r>
              <a:rPr sz="700">
                <a:solidFill>
                  <a:srgbClr val="98C379"/>
                </a:solidFill>
                <a:latin typeface="Consolas"/>
              </a:rPr>
              <a:t>if (room) {
  renderDetailsCard(room);
} else {
  renderEmptyNotFound();
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000" y="2235200"/>
            <a:ext cx="231140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Безопасное ветвление UX:
• УСПЕХ: отображение фото, бейджей,
  описания, списка оборудования и
  кнопки бронирования с ID
• ОШИБКА: дружелюбный fallback-блок
  'Комната не найдена' с кнопкой
  возврата в каталог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99300" y="259079"/>
            <a:ext cx="17907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URLSEARCHPARAMS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браузер извлекает значение конкретного параметра из строки search?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(Парсинг URLSearchParams)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1. Получаем поисковую строку запроса: '?id=focus-1'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searchStr = window.location.search;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2. Создаем объект-парсер URLSearchParams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urlParams = </a:t>
            </a:r>
            <a:r>
              <a:rPr sz="850">
                <a:solidFill>
                  <a:srgbClr val="C678DD"/>
                </a:solidFill>
                <a:latin typeface="Consolas"/>
              </a:rPr>
              <a:t>new </a:t>
            </a:r>
            <a:r>
              <a:rPr sz="850">
                <a:solidFill>
                  <a:srgbClr val="61AFEF"/>
                </a:solidFill>
                <a:latin typeface="Consolas"/>
              </a:rPr>
              <a:t>URLSearchParams</a:t>
            </a:r>
            <a:r>
              <a:rPr sz="850">
                <a:solidFill>
                  <a:srgbClr val="D4D4D8"/>
                </a:solidFill>
                <a:latin typeface="Consolas"/>
              </a:rPr>
              <a:t>(searchStr);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3. Извлекаем значение нужного параметра по ключу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roomId = urlParams.</a:t>
            </a:r>
            <a:r>
              <a:rPr sz="850">
                <a:solidFill>
                  <a:srgbClr val="61AFEF"/>
                </a:solidFill>
                <a:latin typeface="Consolas"/>
              </a:rPr>
              <a:t>get</a:t>
            </a:r>
            <a:r>
              <a:rPr sz="850">
                <a:solidFill>
                  <a:srgbClr val="98C379"/>
                </a:solidFill>
                <a:latin typeface="Consolas"/>
              </a:rPr>
              <a:t>('id'); </a:t>
            </a:r>
            <a:r>
              <a:rPr sz="850">
                <a:solidFill>
                  <a:srgbClr val="5C6370"/>
                </a:solidFill>
                <a:latin typeface="Consolas"/>
              </a:rPr>
              <a:t>// 'focus-1'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Страховка от альтернативных имен ключа: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safeId = urlParams.</a:t>
            </a:r>
            <a:r>
              <a:rPr sz="850">
                <a:solidFill>
                  <a:srgbClr val="61AFEF"/>
                </a:solidFill>
                <a:latin typeface="Consolas"/>
              </a:rPr>
              <a:t>get</a:t>
            </a:r>
            <a:r>
              <a:rPr sz="850">
                <a:solidFill>
                  <a:srgbClr val="98C379"/>
                </a:solidFill>
                <a:latin typeface="Consolas"/>
              </a:rPr>
              <a:t>('id') || urlParams.</a:t>
            </a:r>
            <a:r>
              <a:rPr sz="850">
                <a:solidFill>
                  <a:srgbClr val="61AFEF"/>
                </a:solidFill>
                <a:latin typeface="Consolas"/>
              </a:rPr>
              <a:t>get</a:t>
            </a:r>
            <a:r>
              <a:rPr sz="850">
                <a:solidFill>
                  <a:srgbClr val="98C379"/>
                </a:solidFill>
                <a:latin typeface="Consolas"/>
              </a:rPr>
              <a:t>('room');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ВСТРОЕННЫЙ ИНТЕРФЕЙС URLSEARCHPARAMS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Современный Web API:
</a:t>
            </a:r>
            <a:r>
              <a:rPr sz="850" b="0">
                <a:solidFill>
                  <a:srgbClr val="555555"/>
                </a:solidFill>
                <a:latin typeface="Inter"/>
              </a:rPr>
              <a:t>Интерфейс URLSearchParams избавляет от написания громоздких регулярных выражений для разбора URL.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Метод urlParams.get('key'):
</a:t>
            </a:r>
            <a:r>
              <a:rPr sz="850" b="0">
                <a:solidFill>
                  <a:srgbClr val="555555"/>
                </a:solidFill>
                <a:latin typeface="Inter"/>
              </a:rPr>
              <a:t>Возвращает декодированное значение параметра либо null, если такой параметр не был передан в строке.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Автоматическое декодирование:
</a:t>
            </a:r>
            <a:r>
              <a:rPr sz="850" b="0">
                <a:solidFill>
                  <a:srgbClr val="555555"/>
                </a:solidFill>
                <a:latin typeface="Inter"/>
              </a:rPr>
              <a:t>Класс автоматически переводит закодированные символы (пробелы %20, кириллицу) в читаемый текст.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Мульти-ключевой захват:
</a:t>
            </a:r>
            <a:r>
              <a:rPr sz="850" b="0">
                <a:solidFill>
                  <a:srgbClr val="555555"/>
                </a:solidFill>
                <a:latin typeface="Inter"/>
              </a:rPr>
              <a:t>Конструкция get('id') || get('room') делает скрипт устойчивым к разным вариантам ссылок.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ПОИСК ЧЕРЕЗ FIND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В чем разница между точечным поиском через find() и фильтрацией filter()?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(Метод Array.find)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Поиск единственной комнаты по совпадению ID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room = OFFICE_ROOMS.</a:t>
            </a:r>
            <a:r>
              <a:rPr sz="850">
                <a:solidFill>
                  <a:srgbClr val="61AFEF"/>
                </a:solidFill>
                <a:latin typeface="Consolas"/>
              </a:rPr>
              <a:t>find</a:t>
            </a:r>
            <a:r>
              <a:rPr sz="850">
                <a:solidFill>
                  <a:srgbClr val="D4D4D8"/>
                </a:solidFill>
                <a:latin typeface="Consolas"/>
              </a:rPr>
              <a:t>(r =&gt; r.id === roomId);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if </a:t>
            </a:r>
            <a:r>
              <a:rPr sz="850">
                <a:solidFill>
                  <a:srgbClr val="D4D4D8"/>
                </a:solidFill>
                <a:latin typeface="Consolas"/>
              </a:rPr>
              <a:t>(room)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console.</a:t>
            </a:r>
            <a:r>
              <a:rPr sz="850">
                <a:solidFill>
                  <a:srgbClr val="61AFEF"/>
                </a:solidFill>
                <a:latin typeface="Consolas"/>
              </a:rPr>
              <a:t>log</a:t>
            </a:r>
            <a:r>
              <a:rPr sz="850">
                <a:solidFill>
                  <a:srgbClr val="98C379"/>
                </a:solidFill>
                <a:latin typeface="Consolas"/>
              </a:rPr>
              <a:t>('Найдено:', room.title);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room — это конкретный объект {}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 </a:t>
            </a:r>
            <a:r>
              <a:rPr sz="850">
                <a:solidFill>
                  <a:srgbClr val="C678DD"/>
                </a:solidFill>
                <a:latin typeface="Consolas"/>
              </a:rPr>
              <a:t>else </a:t>
            </a:r>
            <a:r>
              <a:rPr sz="85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console.</a:t>
            </a:r>
            <a:r>
              <a:rPr sz="850">
                <a:solidFill>
                  <a:srgbClr val="61AFEF"/>
                </a:solidFill>
                <a:latin typeface="Consolas"/>
              </a:rPr>
              <a:t>warn</a:t>
            </a:r>
            <a:r>
              <a:rPr sz="850">
                <a:solidFill>
                  <a:srgbClr val="98C379"/>
                </a:solidFill>
                <a:latin typeface="Consolas"/>
              </a:rPr>
              <a:t>('Комната не найдена в базе!');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room имеет значение undefined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ТОЧНЫЙ ПОИСК В МАССИВЕ: ARRAY.FIND()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Остановка на первом совпадении:
</a:t>
            </a:r>
            <a:r>
              <a:rPr sz="850" b="0">
                <a:solidFill>
                  <a:srgbClr val="555555"/>
                </a:solidFill>
                <a:latin typeface="Inter"/>
              </a:rPr>
              <a:t>Метод .find() немедленно прерывает перебор, как только предикат вернул true, работая максимально быстро.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Возврат объекта вместо массива:
</a:t>
            </a:r>
            <a:r>
              <a:rPr sz="850" b="0">
                <a:solidFill>
                  <a:srgbClr val="555555"/>
                </a:solidFill>
                <a:latin typeface="Inter"/>
              </a:rPr>
              <a:t>В отличие от .filter(), который всегда возвращает массив, .find() возвращает сам целевой объект.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Строгое сравнение идентификаторов:
</a:t>
            </a:r>
            <a:r>
              <a:rPr sz="850" b="0">
                <a:solidFill>
                  <a:srgbClr val="555555"/>
                </a:solidFill>
                <a:latin typeface="Inter"/>
              </a:rPr>
              <a:t>Условие r.id === roomId сравнивает уникальные строки без неявного приведения типов.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Результат при отсутствии элемента:
</a:t>
            </a:r>
            <a:r>
              <a:rPr sz="850" b="0">
                <a:solidFill>
                  <a:srgbClr val="555555"/>
                </a:solidFill>
                <a:latin typeface="Inter"/>
              </a:rPr>
              <a:t>Если элемента с таким ID нет, метод возвращает undefined, что позволяет легко обработать ошибку 404.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СТРАНИЦА ДЕТАЛЕЙ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Какую базовую структуру должен иметь HTML-шаблон для динамической страницы?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pages/room-details.html (Каркас)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&lt;!DOCTYPE html&gt;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&lt;html lang="ru"&gt;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&lt;head&gt;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&lt;link rel="stylesheet" href="../css/style.css"&gt;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&lt;script src="../js/data.js" defer&gt;&lt;/script&gt;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&lt;script src="../js/main.js" defer&gt;&lt;/script&gt;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&lt;/head&gt;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&lt;body&gt;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&lt;!-- Шапка сайта --&gt;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&lt;main class="main"&gt;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  &lt;div class="container" id="roomDetailsContainer"&gt;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    &lt;!-- Контент монтирует JavaScript --&gt;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  &lt;/div&gt;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&lt;/main&gt;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&lt;!-- Подвал сайта --&gt;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&lt;/body&gt;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ШАБЛОН СТРАНИЦЫ: ROOM-DETAILS.HTML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Один шаблон для всех объектов:
</a:t>
            </a:r>
            <a:r>
              <a:rPr sz="850" b="0">
                <a:solidFill>
                  <a:srgbClr val="555555"/>
                </a:solidFill>
                <a:latin typeface="Inter"/>
              </a:rPr>
              <a:t>Вместо десятков статических страниц поддерживается один универсальный каркас с контейнером.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Относительные пути ../:
</a:t>
            </a:r>
            <a:r>
              <a:rPr sz="850" b="0">
                <a:solidFill>
                  <a:srgbClr val="555555"/>
                </a:solidFill>
                <a:latin typeface="Inter"/>
              </a:rPr>
              <a:t>Поскольку страница лежит в папке pages/, пути к стилям и скриптам поднимаются на уровень выше (../).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Строгий порядок defer-скриптов:
</a:t>
            </a:r>
            <a:r>
              <a:rPr sz="850" b="0">
                <a:solidFill>
                  <a:srgbClr val="555555"/>
                </a:solidFill>
                <a:latin typeface="Inter"/>
              </a:rPr>
              <a:t>Скрипт data.js подключается перед main.js, гарантируя готовность массива комнат к моменту запуска.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Целевой контейнер инъекции:
</a:t>
            </a:r>
            <a:r>
              <a:rPr sz="850" b="0">
                <a:solidFill>
                  <a:srgbClr val="555555"/>
                </a:solidFill>
                <a:latin typeface="Inter"/>
              </a:rPr>
              <a:t>Блок #roomDetailsContainer служит точкой входа, куда JavaScript помещает разметку карточки.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ЛОГИКА ДЕТАЛЕЙ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связать получение параметров URL и вывод детальной карточки?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(Функция initRoomDetails)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>
                <a:solidFill>
                  <a:srgbClr val="61AFEF"/>
                </a:solidFill>
                <a:latin typeface="Consolas"/>
              </a:rPr>
              <a:t>initRoomDetails</a:t>
            </a:r>
            <a:r>
              <a:rPr sz="85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const </a:t>
            </a:r>
            <a:r>
              <a:rPr sz="850">
                <a:solidFill>
                  <a:srgbClr val="D4D4D8"/>
                </a:solidFill>
                <a:latin typeface="Consolas"/>
              </a:rPr>
              <a:t>container = document.</a:t>
            </a:r>
            <a:r>
              <a:rPr sz="850">
                <a:solidFill>
                  <a:srgbClr val="61AFEF"/>
                </a:solidFill>
                <a:latin typeface="Consolas"/>
              </a:rPr>
              <a:t>getElementById</a:t>
            </a:r>
            <a:r>
              <a:rPr sz="850">
                <a:solidFill>
                  <a:srgbClr val="98C379"/>
                </a:solidFill>
                <a:latin typeface="Consolas"/>
              </a:rPr>
              <a:t>('roomDetailsContainer');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if </a:t>
            </a:r>
            <a:r>
              <a:rPr sz="850">
                <a:solidFill>
                  <a:srgbClr val="D4D4D8"/>
                </a:solidFill>
                <a:latin typeface="Consolas"/>
              </a:rPr>
              <a:t>(!container || </a:t>
            </a:r>
            <a:r>
              <a:rPr sz="850">
                <a:solidFill>
                  <a:srgbClr val="C678DD"/>
                </a:solidFill>
                <a:latin typeface="Consolas"/>
              </a:rPr>
              <a:t>typeof </a:t>
            </a:r>
            <a:r>
              <a:rPr sz="850">
                <a:solidFill>
                  <a:srgbClr val="98C379"/>
                </a:solidFill>
                <a:latin typeface="Consolas"/>
              </a:rPr>
              <a:t>OFFICE_ROOMS === 'undefined') </a:t>
            </a:r>
            <a:r>
              <a:rPr sz="850">
                <a:solidFill>
                  <a:srgbClr val="C678DD"/>
                </a:solidFill>
                <a:latin typeface="Consolas"/>
              </a:rPr>
              <a:t>return;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const </a:t>
            </a:r>
            <a:r>
              <a:rPr sz="850">
                <a:solidFill>
                  <a:srgbClr val="D4D4D8"/>
                </a:solidFill>
                <a:latin typeface="Consolas"/>
              </a:rPr>
              <a:t>urlParams = </a:t>
            </a:r>
            <a:r>
              <a:rPr sz="850">
                <a:solidFill>
                  <a:srgbClr val="C678DD"/>
                </a:solidFill>
                <a:latin typeface="Consolas"/>
              </a:rPr>
              <a:t>new </a:t>
            </a:r>
            <a:r>
              <a:rPr sz="850">
                <a:solidFill>
                  <a:srgbClr val="61AFEF"/>
                </a:solidFill>
                <a:latin typeface="Consolas"/>
              </a:rPr>
              <a:t>URLSearchParams</a:t>
            </a:r>
            <a:r>
              <a:rPr sz="850">
                <a:solidFill>
                  <a:srgbClr val="D4D4D8"/>
                </a:solidFill>
                <a:latin typeface="Consolas"/>
              </a:rPr>
              <a:t>(window.location.search);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const </a:t>
            </a:r>
            <a:r>
              <a:rPr sz="850">
                <a:solidFill>
                  <a:srgbClr val="D4D4D8"/>
                </a:solidFill>
                <a:latin typeface="Consolas"/>
              </a:rPr>
              <a:t>roomId = urlParams.</a:t>
            </a:r>
            <a:r>
              <a:rPr sz="850">
                <a:solidFill>
                  <a:srgbClr val="61AFEF"/>
                </a:solidFill>
                <a:latin typeface="Consolas"/>
              </a:rPr>
              <a:t>get</a:t>
            </a:r>
            <a:r>
              <a:rPr sz="850">
                <a:solidFill>
                  <a:srgbClr val="98C379"/>
                </a:solidFill>
                <a:latin typeface="Consolas"/>
              </a:rPr>
              <a:t>('id') || urlParams.</a:t>
            </a:r>
            <a:r>
              <a:rPr sz="850">
                <a:solidFill>
                  <a:srgbClr val="61AFEF"/>
                </a:solidFill>
                <a:latin typeface="Consolas"/>
              </a:rPr>
              <a:t>get</a:t>
            </a:r>
            <a:r>
              <a:rPr sz="850">
                <a:solidFill>
                  <a:srgbClr val="98C379"/>
                </a:solidFill>
                <a:latin typeface="Consolas"/>
              </a:rPr>
              <a:t>('room');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const </a:t>
            </a:r>
            <a:r>
              <a:rPr sz="850">
                <a:solidFill>
                  <a:srgbClr val="D4D4D8"/>
                </a:solidFill>
                <a:latin typeface="Consolas"/>
              </a:rPr>
              <a:t>room = OFFICE_ROOMS.</a:t>
            </a:r>
            <a:r>
              <a:rPr sz="850">
                <a:solidFill>
                  <a:srgbClr val="61AFEF"/>
                </a:solidFill>
                <a:latin typeface="Consolas"/>
              </a:rPr>
              <a:t>find</a:t>
            </a:r>
            <a:r>
              <a:rPr sz="850">
                <a:solidFill>
                  <a:srgbClr val="D4D4D8"/>
                </a:solidFill>
                <a:latin typeface="Consolas"/>
              </a:rPr>
              <a:t>(r =&gt; r.id === roomId);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if </a:t>
            </a:r>
            <a:r>
              <a:rPr sz="850">
                <a:solidFill>
                  <a:srgbClr val="D4D4D8"/>
                </a:solidFill>
                <a:latin typeface="Consolas"/>
              </a:rPr>
              <a:t>(!room)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  // Вывод сообщения об ошибке (Empty State)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  return;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Рендеринг подробного описания комнаты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АРХИТЕКТУРА ИНИЦИАЛИЗАЦИИ СТРАНИЦЫ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Изоляция выполнения скрипта: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Проверка if (!container) останавливает выполнение функции на всех остальных страницах проекта.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Извлечение идентификатора:
</a:t>
            </a:r>
            <a:r>
              <a:rPr sz="850" b="0">
                <a:solidFill>
                  <a:srgbClr val="555555"/>
                </a:solidFill>
                <a:latin typeface="Inter"/>
              </a:rPr>
              <a:t>Скрипт читает параметр id из адресной строки и передает его в поиск по базе данных комнат.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Разделение сценариев (Branching):
</a:t>
            </a:r>
            <a:r>
              <a:rPr sz="850" b="0">
                <a:solidFill>
                  <a:srgbClr val="555555"/>
                </a:solidFill>
                <a:latin typeface="Inter"/>
              </a:rPr>
              <a:t>Четкая граница: успешный показ характеристик комнаты либо переход в сценарий обработки ошибки 404.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Интеграция в DOMContentLoaded:
</a:t>
            </a:r>
            <a:r>
              <a:rPr sz="850" b="0">
                <a:solidFill>
                  <a:srgbClr val="555555"/>
                </a:solidFill>
                <a:latin typeface="Inter"/>
              </a:rPr>
              <a:t>Функция запускается автоматически при готовности DOM-дерева в центральном обработчике событий.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ОБРАБОТКА 404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Что увидит пользователь, если перейдет по несуществующему адресу ?id=xxx?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(Обработка ошибки 404)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if </a:t>
            </a:r>
            <a:r>
              <a:rPr sz="850">
                <a:solidFill>
                  <a:srgbClr val="D4D4D8"/>
                </a:solidFill>
                <a:latin typeface="Consolas"/>
              </a:rPr>
              <a:t>(!room)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container.</a:t>
            </a:r>
            <a:r>
              <a:rPr sz="850">
                <a:solidFill>
                  <a:srgbClr val="61AFEF"/>
                </a:solidFill>
                <a:latin typeface="Consolas"/>
              </a:rPr>
              <a:t>innerHTML</a:t>
            </a:r>
            <a:r>
              <a:rPr sz="850">
                <a:solidFill>
                  <a:srgbClr val="D4D4D8"/>
                </a:solidFill>
                <a:latin typeface="Consolas"/>
              </a:rPr>
              <a:t> = `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&lt;div class="empty-message"&gt;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&lt;h2&gt;Комната не найдена&lt;/h2&gt;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&lt;p style="margin: 10px 0 20px 0;"&gt;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  Возможно, ссылка устарела или комната была удалена.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&lt;/p&gt;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&lt;a href="catalog.html" class="btn btn-primary"&gt;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  Вернуться в каталог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&lt;/a&gt;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&lt;/div&gt;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`;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return;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EMPTY STATE: ДРУЖЕЛЮБНЫЙ FALLBACK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Защита от падения скрипта:
</a:t>
            </a:r>
            <a:r>
              <a:rPr sz="850" b="0">
                <a:solidFill>
                  <a:srgbClr val="555555"/>
                </a:solidFill>
                <a:latin typeface="Inter"/>
              </a:rPr>
              <a:t>Без проверки обращение к room.title вызовет TypeError, оставив пользователя перед пустым белым экраном.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Понятное объяснение проблемы:
</a:t>
            </a:r>
            <a:r>
              <a:rPr sz="850" b="0">
                <a:solidFill>
                  <a:srgbClr val="555555"/>
                </a:solidFill>
                <a:latin typeface="Inter"/>
              </a:rPr>
              <a:t>Интерфейс вежливо сообщает студенту или посетителю причину отсутствия карточки на русском языке.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Кнопка целевого возврата (CTA):
</a:t>
            </a:r>
            <a:r>
              <a:rPr sz="850" b="0">
                <a:solidFill>
                  <a:srgbClr val="555555"/>
                </a:solidFill>
                <a:latin typeface="Inter"/>
              </a:rPr>
              <a:t>Ссылка «Вернуться в каталог» помогает посетителю продолжить работу, не уходя с сайта.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Ранний возврат (Early Return):
</a:t>
            </a:r>
            <a:r>
              <a:rPr sz="850" b="0">
                <a:solidFill>
                  <a:srgbClr val="555555"/>
                </a:solidFill>
                <a:latin typeface="Inter"/>
              </a:rPr>
              <a:t>Инструкция return прерывает функцию, предотвращая попытку генерации несуществующих данных.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802120" y="259079"/>
            <a:ext cx="20878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ДЕТАЛЬНАЯ КАРТОЧКА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отобразить бейджи характеристик и статус популярности через тернарный оператор?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(Рендеринг деталей)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container.</a:t>
            </a:r>
            <a:r>
              <a:rPr sz="850">
                <a:solidFill>
                  <a:srgbClr val="61AFEF"/>
                </a:solidFill>
                <a:latin typeface="Consolas"/>
              </a:rPr>
              <a:t>innerHTML</a:t>
            </a:r>
            <a:r>
              <a:rPr sz="850">
                <a:solidFill>
                  <a:srgbClr val="D4D4D8"/>
                </a:solidFill>
                <a:latin typeface="Consolas"/>
              </a:rPr>
              <a:t> = `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&lt;div class="room-details-card"&gt;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&lt;div class="room-details-gallery"&gt;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&lt;img src="${room.image}" alt="${room.title}"&gt;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&lt;/div&gt;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&lt;div class="room-details-info"&gt;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&lt;h1&gt;${room.title}&lt;/h1&gt;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&lt;div class="price"&gt;${room.pricePerHour} ₽/ч&lt;/div&gt;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&lt;div class="room-badges"&gt;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  &lt;span class="badge"&gt;${room.capacity}&lt;/span&gt;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  &lt;span class="badge"&gt;${room.area}&lt;/span&gt;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  ${room.isPopular ? </a:t>
            </a:r>
            <a:r>
              <a:rPr sz="850">
                <a:solidFill>
                  <a:srgbClr val="C678DD"/>
                </a:solidFill>
                <a:latin typeface="Consolas"/>
              </a:rPr>
              <a:t>'&lt;span class="popular"&gt;Популярное&lt;/span&gt;'</a:t>
            </a:r>
            <a:r>
              <a:rPr sz="850">
                <a:solidFill>
                  <a:srgbClr val="98C379"/>
                </a:solidFill>
                <a:latin typeface="Consolas"/>
              </a:rPr>
              <a:t> : ''}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&lt;/div&gt;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 &lt;p class="desc"&gt;${room.description}&lt;/p&gt;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&lt;/div&gt;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&lt;/div&gt;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`;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УСЛОВНЫЙ РЕНДЕРИНГ В ШАБЛОНЕ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Тернарный оператор для бейджей:
</a:t>
            </a:r>
            <a:r>
              <a:rPr sz="850" b="0">
                <a:solidFill>
                  <a:srgbClr val="555555"/>
                </a:solidFill>
                <a:latin typeface="Inter"/>
              </a:rPr>
              <a:t>Выражение room.isPopular ? '&lt;span...&gt;' : '' добавляет плашку «Популярное» только нужным помещениям.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Двухколоночная верстка страницы:
</a:t>
            </a:r>
            <a:r>
              <a:rPr sz="850" b="0">
                <a:solidFill>
                  <a:srgbClr val="555555"/>
                </a:solidFill>
                <a:latin typeface="Inter"/>
              </a:rPr>
              <a:t>Галерея комнаты слева и текстовые характеристики справа создают баланс восприятия контента.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Прямая подстановка свойств:
</a:t>
            </a:r>
            <a:r>
              <a:rPr sz="850" b="0">
                <a:solidFill>
                  <a:srgbClr val="555555"/>
                </a:solidFill>
                <a:latin typeface="Inter"/>
              </a:rPr>
              <a:t>Заголовок, стоимость аренды, вместимость и площадь подставляются без ручной манипуляции каждым элементом.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Единый шаблонный блок:
</a:t>
            </a:r>
            <a:r>
              <a:rPr sz="850" b="0">
                <a:solidFill>
                  <a:srgbClr val="555555"/>
                </a:solidFill>
                <a:latin typeface="Inter"/>
              </a:rPr>
              <a:t>Карточка собирается в одну строку, сводя количество обращений к DOM к минимальному числу.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БРОНИРОВАНИЕ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передать выбранную комнату дальше в форму бронирования?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(Кнопки действий)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&lt;div class="room-details-actions"&gt;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&lt;!-- Ссылка с предвыбором комнаты в форме --&gt;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&lt;a href="booking.html?room=${room.id}"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class="btn btn-primary"&gt;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Забронировать эту комнату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&lt;/a&gt;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&lt;!-- Кнопка быстрого возврата в каталог --&gt;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&lt;a href="catalog.html"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 class="btn btn-outline"&gt;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  ← Назад в каталог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&lt;/a&gt;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&lt;/div&gt;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СКВОЗНАЯ ПЕРЕДАЧА ID В БРОНИРОВАНИЕ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Непрерывная цепочка данных:
</a:t>
            </a:r>
            <a:r>
              <a:rPr sz="850" b="0">
                <a:solidFill>
                  <a:srgbClr val="555555"/>
                </a:solidFill>
                <a:latin typeface="Inter"/>
              </a:rPr>
              <a:t>ID комнаты передается из каталога в детали, а затем в форму создания брони (booking.html?room=focus-1).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Автовыбор комнаты в форме:
</a:t>
            </a:r>
            <a:r>
              <a:rPr sz="850" b="0">
                <a:solidFill>
                  <a:srgbClr val="555555"/>
                </a:solidFill>
                <a:latin typeface="Inter"/>
              </a:rPr>
              <a:t>На следующем занятии страница бронирования автоматически выберет эту комнату по значению из URL.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Контурная кнопка btn-outline:
</a:t>
            </a:r>
            <a:r>
              <a:rPr sz="850" b="0">
                <a:solidFill>
                  <a:srgbClr val="555555"/>
                </a:solidFill>
                <a:latin typeface="Inter"/>
              </a:rPr>
              <a:t>Второстепенное действие возврата оформлено менее контрастной кнопкой, не отвлекая от бронирования.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Архитектура воронки оформления:
</a:t>
            </a:r>
            <a:r>
              <a:rPr sz="850" b="0">
                <a:solidFill>
                  <a:srgbClr val="555555"/>
                </a:solidFill>
                <a:latin typeface="Inter"/>
              </a:rPr>
              <a:t>Плавный и логичный путь пользователя: поиск в каталоге → изучение деталей → оформление заявки.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802120" y="259079"/>
            <a:ext cx="20878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СТИЛИЗАЦИЯ ДЕТАЛЕЙ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сделать верстку страницы описания удобной и читаемой на любых экранах?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css/style.css (Стили детальной карточки)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.room-details-card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display: </a:t>
            </a:r>
            <a:r>
              <a:rPr sz="850">
                <a:solidFill>
                  <a:srgbClr val="D4D4D8"/>
                </a:solidFill>
                <a:latin typeface="Consolas"/>
              </a:rPr>
              <a:t>grid;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grid-template-columns: </a:t>
            </a:r>
            <a:r>
              <a:rPr sz="850">
                <a:solidFill>
                  <a:srgbClr val="D19A66"/>
                </a:solidFill>
                <a:latin typeface="Consolas"/>
              </a:rPr>
              <a:t>1fr 1fr;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gap: </a:t>
            </a:r>
            <a:r>
              <a:rPr sz="850">
                <a:solidFill>
                  <a:srgbClr val="D19A66"/>
                </a:solidFill>
                <a:latin typeface="Consolas"/>
              </a:rPr>
              <a:t>32px;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background: </a:t>
            </a:r>
            <a:r>
              <a:rPr sz="850">
                <a:solidFill>
                  <a:srgbClr val="D4D4D8"/>
                </a:solidFill>
                <a:latin typeface="Consolas"/>
              </a:rPr>
              <a:t>#FFFFFF;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border: </a:t>
            </a:r>
            <a:r>
              <a:rPr sz="850">
                <a:solidFill>
                  <a:srgbClr val="D4D4D8"/>
                </a:solidFill>
                <a:latin typeface="Consolas"/>
              </a:rPr>
              <a:t>1px solid #EEEEEE;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border-radius: </a:t>
            </a:r>
            <a:r>
              <a:rPr sz="850">
                <a:solidFill>
                  <a:srgbClr val="D19A66"/>
                </a:solidFill>
                <a:latin typeface="Consolas"/>
              </a:rPr>
              <a:t>12px;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padding: </a:t>
            </a:r>
            <a:r>
              <a:rPr sz="850">
                <a:solidFill>
                  <a:srgbClr val="D19A66"/>
                </a:solidFill>
                <a:latin typeface="Consolas"/>
              </a:rPr>
              <a:t>32px;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.room-details-img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width: </a:t>
            </a:r>
            <a:r>
              <a:rPr sz="850">
                <a:solidFill>
                  <a:srgbClr val="D19A66"/>
                </a:solidFill>
                <a:latin typeface="Consolas"/>
              </a:rPr>
              <a:t>100%; </a:t>
            </a:r>
            <a:r>
              <a:rPr sz="850">
                <a:solidFill>
                  <a:srgbClr val="C678DD"/>
                </a:solidFill>
                <a:latin typeface="Consolas"/>
              </a:rPr>
              <a:t>height: </a:t>
            </a:r>
            <a:r>
              <a:rPr sz="850">
                <a:solidFill>
                  <a:srgbClr val="D19A66"/>
                </a:solidFill>
                <a:latin typeface="Consolas"/>
              </a:rPr>
              <a:t>380px;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object-fit: </a:t>
            </a:r>
            <a:r>
              <a:rPr sz="850">
                <a:solidFill>
                  <a:srgbClr val="C678DD"/>
                </a:solidFill>
                <a:latin typeface="Consolas"/>
              </a:rPr>
              <a:t>cover; </a:t>
            </a:r>
            <a:r>
              <a:rPr sz="850">
                <a:solidFill>
                  <a:srgbClr val="C678DD"/>
                </a:solidFill>
                <a:latin typeface="Consolas"/>
              </a:rPr>
              <a:t>border-radius: </a:t>
            </a:r>
            <a:r>
              <a:rPr sz="850">
                <a:solidFill>
                  <a:srgbClr val="D19A66"/>
                </a:solidFill>
                <a:latin typeface="Consolas"/>
              </a:rPr>
              <a:t>8px;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СОВРЕМЕННЫЙ ДИЗАЙН: GRID ДЕТАЛЬНОЙ КАРТОЧКИ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Сетка 1fr 1fr в CSS Grid: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Пропорциональное разделение блока 50/50 между фотографией помещения и колонкой с описанием.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Свойство object-fit: cover:
</a:t>
            </a:r>
            <a:r>
              <a:rPr sz="850" b="0">
                <a:solidFill>
                  <a:srgbClr val="555555"/>
                </a:solidFill>
                <a:latin typeface="Inter"/>
              </a:rPr>
              <a:t>Защищает фотографии комнат от искажений и сплющивания, аккуратно кадрируя их под единый размер.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Единый визуальный язык:
</a:t>
            </a:r>
            <a:r>
              <a:rPr sz="850" b="0">
                <a:solidFill>
                  <a:srgbClr val="555555"/>
                </a:solidFill>
                <a:latin typeface="Inter"/>
              </a:rPr>
              <a:t>Белый фон, тонкая граница #EEEEEE и радиус 12px полностью согласованы с карточками каталога.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Адаптивность для смартфонов:
</a:t>
            </a:r>
            <a:r>
              <a:rPr sz="850" b="0">
                <a:solidFill>
                  <a:srgbClr val="555555"/>
                </a:solidFill>
                <a:latin typeface="Inter"/>
              </a:rPr>
              <a:t>Через медиа-запрос @media (max-width: 768px) сетка автоматически перестраивается в одну колонку.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99300" y="259079"/>
            <a:ext cx="17907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УМНАЯ НАВИГАЦИЯ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Какой пункт меню должен быть подсвечен, когда пользователь изучает комнату?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(Подсветка раздела Каталог)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Подсветка родительского раздела в initNavigation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links.</a:t>
            </a:r>
            <a:r>
              <a:rPr sz="850">
                <a:solidFill>
                  <a:srgbClr val="61AFEF"/>
                </a:solidFill>
                <a:latin typeface="Consolas"/>
              </a:rPr>
              <a:t>forEach</a:t>
            </a:r>
            <a:r>
              <a:rPr sz="850">
                <a:solidFill>
                  <a:srgbClr val="D4D4D8"/>
                </a:solidFill>
                <a:latin typeface="Consolas"/>
              </a:rPr>
              <a:t>(link =&gt;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const </a:t>
            </a:r>
            <a:r>
              <a:rPr sz="850">
                <a:solidFill>
                  <a:srgbClr val="D4D4D8"/>
                </a:solidFill>
                <a:latin typeface="Consolas"/>
              </a:rPr>
              <a:t>href = link.</a:t>
            </a:r>
            <a:r>
              <a:rPr sz="850">
                <a:solidFill>
                  <a:srgbClr val="61AFEF"/>
                </a:solidFill>
                <a:latin typeface="Consolas"/>
              </a:rPr>
              <a:t>getAttribute</a:t>
            </a:r>
            <a:r>
              <a:rPr sz="850">
                <a:solidFill>
                  <a:srgbClr val="98C379"/>
                </a:solidFill>
                <a:latin typeface="Consolas"/>
              </a:rPr>
              <a:t>('href');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if (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(href.</a:t>
            </a:r>
            <a:r>
              <a:rPr sz="850">
                <a:solidFill>
                  <a:srgbClr val="61AFEF"/>
                </a:solidFill>
                <a:latin typeface="Consolas"/>
              </a:rPr>
              <a:t>includes</a:t>
            </a:r>
            <a:r>
              <a:rPr sz="850">
                <a:solidFill>
                  <a:srgbClr val="98C379"/>
                </a:solidFill>
                <a:latin typeface="Consolas"/>
              </a:rPr>
              <a:t>('catalog.html') || href.</a:t>
            </a:r>
            <a:r>
              <a:rPr sz="850">
                <a:solidFill>
                  <a:srgbClr val="61AFEF"/>
                </a:solidFill>
                <a:latin typeface="Consolas"/>
              </a:rPr>
              <a:t>includes</a:t>
            </a:r>
            <a:r>
              <a:rPr sz="850">
                <a:solidFill>
                  <a:srgbClr val="98C379"/>
                </a:solidFill>
                <a:latin typeface="Consolas"/>
              </a:rPr>
              <a:t>('room-details.html')) &amp;&amp;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(current.</a:t>
            </a:r>
            <a:r>
              <a:rPr sz="850">
                <a:solidFill>
                  <a:srgbClr val="61AFEF"/>
                </a:solidFill>
                <a:latin typeface="Consolas"/>
              </a:rPr>
              <a:t>includes</a:t>
            </a:r>
            <a:r>
              <a:rPr sz="850">
                <a:solidFill>
                  <a:srgbClr val="98C379"/>
                </a:solidFill>
                <a:latin typeface="Consolas"/>
              </a:rPr>
              <a:t>('catalog.html') || current.</a:t>
            </a:r>
            <a:r>
              <a:rPr sz="850">
                <a:solidFill>
                  <a:srgbClr val="61AFEF"/>
                </a:solidFill>
                <a:latin typeface="Consolas"/>
              </a:rPr>
              <a:t>includes</a:t>
            </a:r>
            <a:r>
              <a:rPr sz="850">
                <a:solidFill>
                  <a:srgbClr val="98C379"/>
                </a:solidFill>
                <a:latin typeface="Consolas"/>
              </a:rPr>
              <a:t>('room-details.html'))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link.classList.</a:t>
            </a:r>
            <a:r>
              <a:rPr sz="850">
                <a:solidFill>
                  <a:srgbClr val="61AFEF"/>
                </a:solidFill>
                <a:latin typeface="Consolas"/>
              </a:rPr>
              <a:t>add</a:t>
            </a:r>
            <a:r>
              <a:rPr sz="850">
                <a:solidFill>
                  <a:srgbClr val="98C379"/>
                </a:solidFill>
                <a:latin typeface="Consolas"/>
              </a:rPr>
              <a:t>('active');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Пункт 'Каталог' подсвечен даже на room-details!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СИНХРОНИЗАЦИЯ НАВИГАЦИИ С ДОЧЕРНИМИ СТРАНИЦАМИ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Проблема страниц без пунктов меню:
</a:t>
            </a:r>
            <a:r>
              <a:rPr sz="850" b="0">
                <a:solidFill>
                  <a:srgbClr val="555555"/>
                </a:solidFill>
                <a:latin typeface="Inter"/>
              </a:rPr>
              <a:t>Страница room-details отсутствует в шапке как отдельная ссылка, поэтому меню теряло бы подсветку.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Контекстная принадлежность:
</a:t>
            </a:r>
            <a:r>
              <a:rPr sz="850" b="0">
                <a:solidFill>
                  <a:srgbClr val="555555"/>
                </a:solidFill>
                <a:latin typeface="Inter"/>
              </a:rPr>
              <a:t>Детальный просмотр является дочерним экраном каталога и должен визуально ассоциироваться с ним.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Проверка обоих адресов через includes():
</a:t>
            </a:r>
            <a:r>
              <a:rPr sz="850" b="0">
                <a:solidFill>
                  <a:srgbClr val="555555"/>
                </a:solidFill>
                <a:latin typeface="Inter"/>
              </a:rPr>
              <a:t>Скрипт проверяет наличие room-details в адресе и активирует пункт «Каталог» в шапке сайта.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Интуитивное понимание контекста:
</a:t>
            </a:r>
            <a:r>
              <a:rPr sz="850" b="0">
                <a:solidFill>
                  <a:srgbClr val="555555"/>
                </a:solidFill>
                <a:latin typeface="Inter"/>
              </a:rPr>
              <a:t>Студенты и пользователи в любой момент понимают, в каком разделе веб-сервиса они находятся.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РАЗБОР ОШИБОК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На чем чаще всего спотыкаются студенты при выводе каталога и страниц деталей?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711200"/>
            <a:ext cx="4127500" cy="180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E6002"/>
                </a:solidFill>
                <a:latin typeface="Montserrat"/>
              </a:rPr>
              <a:t>1. Забытый вызов .join('') после метода .map()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2600" y="11176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600" y="11938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181A1F"/>
                </a:solidFill>
                <a:latin typeface="Inter"/>
              </a:rPr>
              <a:t>Ошибка: </a:t>
            </a:r>
            <a:r>
              <a:rPr sz="800">
                <a:solidFill>
                  <a:srgbClr val="555555"/>
                </a:solidFill>
                <a:latin typeface="Inter"/>
              </a:rPr>
              <a:t>На веб-странице между карточками комнат появляются лишние запятые, превращая дизайн в неопрятный список.</a:t>
            </a:r>
          </a:p>
          <a:p>
            <a:r>
              <a:rPr sz="850" b="1">
                <a:solidFill>
                  <a:srgbClr val="0E9F6E"/>
                </a:solidFill>
                <a:latin typeface="Inter"/>
              </a:rPr>
              <a:t>Решение: </a:t>
            </a:r>
            <a:r>
              <a:rPr sz="800">
                <a:solidFill>
                  <a:srgbClr val="555555"/>
                </a:solidFill>
                <a:latin typeface="Inter"/>
              </a:rPr>
              <a:t>Всегда дописывать .join('') в конце цепочки маппинга при передаче результата в свойство .innerHTML.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5500" y="711200"/>
            <a:ext cx="4191000" cy="180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3300" y="8382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E6002"/>
                </a:solidFill>
                <a:latin typeface="Montserrat"/>
              </a:rPr>
              <a:t>2. Ошибка порядка: data.js подключен после main.js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13300" y="1117600"/>
            <a:ext cx="38354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3300" y="11938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181A1F"/>
                </a:solidFill>
                <a:latin typeface="Inter"/>
              </a:rPr>
              <a:t>Ошибка: </a:t>
            </a:r>
            <a:r>
              <a:rPr sz="800">
                <a:solidFill>
                  <a:srgbClr val="555555"/>
                </a:solidFill>
                <a:latin typeface="Inter"/>
              </a:rPr>
              <a:t>Консоль браузера выдает фатальную ошибку Uncaught ReferenceError: OFFICE_ROOMS is not defined.</a:t>
            </a:r>
          </a:p>
          <a:p>
            <a:r>
              <a:rPr sz="850" b="1">
                <a:solidFill>
                  <a:srgbClr val="0E9F6E"/>
                </a:solidFill>
                <a:latin typeface="Inter"/>
              </a:rPr>
              <a:t>Решение: </a:t>
            </a:r>
            <a:r>
              <a:rPr sz="800">
                <a:solidFill>
                  <a:srgbClr val="555555"/>
                </a:solidFill>
                <a:latin typeface="Inter"/>
              </a:rPr>
              <a:t>Тег &lt;script src='../js/data.js' defer&gt; обязательно должен стоять в HTML перед скриптом main.js.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800" y="2667000"/>
            <a:ext cx="4127500" cy="180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00" y="27940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E6002"/>
                </a:solidFill>
                <a:latin typeface="Montserrat"/>
              </a:rPr>
              <a:t>3. Опечатка в имени GET-параметра: urlParams.get('id')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2600" y="30734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600" y="31496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181A1F"/>
                </a:solidFill>
                <a:latin typeface="Inter"/>
              </a:rPr>
              <a:t>Ошибка: </a:t>
            </a:r>
            <a:r>
              <a:rPr sz="800">
                <a:solidFill>
                  <a:srgbClr val="555555"/>
                </a:solidFill>
                <a:latin typeface="Inter"/>
              </a:rPr>
              <a:t>Переменная roomId оказывается null, потому что в ссылке было написано ?room_id= вместо ?id=.</a:t>
            </a:r>
          </a:p>
          <a:p>
            <a:r>
              <a:rPr sz="850" b="1">
                <a:solidFill>
                  <a:srgbClr val="0E9F6E"/>
                </a:solidFill>
                <a:latin typeface="Inter"/>
              </a:rPr>
              <a:t>Решение: </a:t>
            </a:r>
            <a:r>
              <a:rPr sz="800">
                <a:solidFill>
                  <a:srgbClr val="555555"/>
                </a:solidFill>
                <a:latin typeface="Inter"/>
              </a:rPr>
              <a:t>Использовать страховку urlParams.get('id') || urlParams.get('room') и проверять совпадение ключей.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5500" y="2667000"/>
            <a:ext cx="4191000" cy="180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3300" y="27940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E6002"/>
                </a:solidFill>
                <a:latin typeface="Montserrat"/>
              </a:rPr>
              <a:t>4. Чтение свойств у undefined при ненайденной комнате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13300" y="3073400"/>
            <a:ext cx="38354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3300" y="31496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181A1F"/>
                </a:solidFill>
                <a:latin typeface="Inter"/>
              </a:rPr>
              <a:t>Ошибка: </a:t>
            </a:r>
            <a:r>
              <a:rPr sz="800">
                <a:solidFill>
                  <a:srgbClr val="555555"/>
                </a:solidFill>
                <a:latin typeface="Inter"/>
              </a:rPr>
              <a:t>При опечатке в адресе код падает с ошибкой Cannot read properties of undefined (reading 'title').</a:t>
            </a:r>
          </a:p>
          <a:p>
            <a:r>
              <a:rPr sz="850" b="1">
                <a:solidFill>
                  <a:srgbClr val="0E9F6E"/>
                </a:solidFill>
                <a:latin typeface="Inter"/>
              </a:rPr>
              <a:t>Решение: </a:t>
            </a:r>
            <a:r>
              <a:rPr sz="800">
                <a:solidFill>
                  <a:srgbClr val="555555"/>
                </a:solidFill>
                <a:latin typeface="Inter"/>
              </a:rPr>
              <a:t>Всегда добавлять ранний выход if (!room) с выводом дружелюбного сообщения «Комната не найдена».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901180" y="259079"/>
            <a:ext cx="19888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ЧЕК-ЛИСТ КАЧЕСТВА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проверить надежность работы каталога и страницы описания?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711200"/>
            <a:ext cx="8509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E6002"/>
                </a:solidFill>
                <a:latin typeface="Montserrat"/>
              </a:rPr>
              <a:t>КРИТЕРИИ КАЧЕСТВА ДИНАМИЧЕСКОГО КАТАЛОГА И ДЕТАЛЕЙ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1016000"/>
            <a:ext cx="8509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4800" y="1193800"/>
            <a:ext cx="304800" cy="304800"/>
          </a:xfrm>
          <a:prstGeom prst="roundRect">
            <a:avLst>
              <a:gd name="adj" fmla="val 20000"/>
            </a:avLst>
          </a:prstGeom>
          <a:solidFill>
            <a:srgbClr val="0E9F6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600" y="1168400"/>
            <a:ext cx="8077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81A1F"/>
                </a:solidFill>
                <a:latin typeface="Montserrat"/>
              </a:rPr>
              <a:t>Все 6 комнат динамически рендерятся из data.js: </a:t>
            </a:r>
          </a:p>
          <a:p>
            <a:r>
              <a:rPr sz="850">
                <a:solidFill>
                  <a:srgbClr val="555555"/>
                </a:solidFill>
                <a:latin typeface="Inter"/>
              </a:rPr>
              <a:t>В каталоге выводятся реальные карточки без ручной верстки дублей в HTML.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800" y="1752600"/>
            <a:ext cx="304800" cy="304800"/>
          </a:xfrm>
          <a:prstGeom prst="roundRect">
            <a:avLst>
              <a:gd name="adj" fmla="val 20000"/>
            </a:avLst>
          </a:prstGeom>
          <a:solidFill>
            <a:srgbClr val="0E9F6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600" y="1727200"/>
            <a:ext cx="8077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81A1F"/>
                </a:solidFill>
                <a:latin typeface="Montserrat"/>
              </a:rPr>
              <a:t>Отсутствуют лишние запятые между карточками: </a:t>
            </a:r>
          </a:p>
          <a:p>
            <a:r>
              <a:rPr sz="850">
                <a:solidFill>
                  <a:srgbClr val="555555"/>
                </a:solidFill>
                <a:latin typeface="Inter"/>
              </a:rPr>
              <a:t>Метод map() завершается чистым объединением строк через пустой разделитель .join('').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4800" y="2311400"/>
            <a:ext cx="304800" cy="304800"/>
          </a:xfrm>
          <a:prstGeom prst="roundRect">
            <a:avLst>
              <a:gd name="adj" fmla="val 20000"/>
            </a:avLst>
          </a:prstGeom>
          <a:solidFill>
            <a:srgbClr val="0E9F6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2286000"/>
            <a:ext cx="8077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81A1F"/>
                </a:solidFill>
                <a:latin typeface="Montserrat"/>
              </a:rPr>
              <a:t>Клик по карточке открывает страницу с GET-параметром: </a:t>
            </a:r>
          </a:p>
          <a:p>
            <a:r>
              <a:rPr sz="850">
                <a:solidFill>
                  <a:srgbClr val="555555"/>
                </a:solidFill>
                <a:latin typeface="Inter"/>
              </a:rPr>
              <a:t>Ссылка формирует корректный адрес вида room-details.html?id=focus-1.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800" y="2870200"/>
            <a:ext cx="304800" cy="304800"/>
          </a:xfrm>
          <a:prstGeom prst="roundRect">
            <a:avLst>
              <a:gd name="adj" fmla="val 20000"/>
            </a:avLst>
          </a:prstGeom>
          <a:solidFill>
            <a:srgbClr val="0E9F6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2844800"/>
            <a:ext cx="8077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81A1F"/>
                </a:solidFill>
                <a:latin typeface="Montserrat"/>
              </a:rPr>
              <a:t>Страница деталей выводит полные характеристики: </a:t>
            </a:r>
          </a:p>
          <a:p>
            <a:r>
              <a:rPr sz="850">
                <a:solidFill>
                  <a:srgbClr val="555555"/>
                </a:solidFill>
                <a:latin typeface="Inter"/>
              </a:rPr>
              <a:t>Отображаются фото, цена, площадь, вместимость, бейджи и маркированный список удобств.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800" y="3429000"/>
            <a:ext cx="304800" cy="304800"/>
          </a:xfrm>
          <a:prstGeom prst="roundRect">
            <a:avLst>
              <a:gd name="adj" fmla="val 20000"/>
            </a:avLst>
          </a:prstGeom>
          <a:solidFill>
            <a:srgbClr val="0E9F6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600" y="3403600"/>
            <a:ext cx="8077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81A1F"/>
                </a:solidFill>
                <a:latin typeface="Montserrat"/>
              </a:rPr>
              <a:t>Надежная обработка некорректного ID (404 Fallback): </a:t>
            </a:r>
          </a:p>
          <a:p>
            <a:r>
              <a:rPr sz="850">
                <a:solidFill>
                  <a:srgbClr val="555555"/>
                </a:solidFill>
                <a:latin typeface="Inter"/>
              </a:rPr>
              <a:t>При вводе несуществующего ID выводится блок «Комната не найдена» и ссылка возврата в каталог.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4800" y="3987800"/>
            <a:ext cx="304800" cy="304800"/>
          </a:xfrm>
          <a:prstGeom prst="roundRect">
            <a:avLst>
              <a:gd name="adj" fmla="val 20000"/>
            </a:avLst>
          </a:prstGeom>
          <a:solidFill>
            <a:srgbClr val="0E9F6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600" y="3962400"/>
            <a:ext cx="8077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81A1F"/>
                </a:solidFill>
                <a:latin typeface="Montserrat"/>
              </a:rPr>
              <a:t>Кнопка бронирования передает ID в форму: </a:t>
            </a:r>
          </a:p>
          <a:p>
            <a:r>
              <a:rPr sz="850">
                <a:solidFill>
                  <a:srgbClr val="555555"/>
                </a:solidFill>
                <a:latin typeface="Inter"/>
              </a:rPr>
              <a:t>Ссылка ведет на booking.html?room=... для следующего шага оформления бронирования.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Другая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B0F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B0F0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2400</TotalTime>
  <Words>5609</Words>
  <Application>Microsoft Office PowerPoint</Application>
  <PresentationFormat>Экран (16:9)</PresentationFormat>
  <Paragraphs>688</Paragraphs>
  <Slides>27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9" baseType="lpstr">
      <vt:lpstr>Segoe UI Symbol</vt:lpstr>
      <vt:lpstr>Proxima Nova</vt:lpstr>
      <vt:lpstr>Calibri</vt:lpstr>
      <vt:lpstr>Montserrat ExtraBold</vt:lpstr>
      <vt:lpstr>Montserrat</vt:lpstr>
      <vt:lpstr>PT Sans Caption</vt:lpstr>
      <vt:lpstr>Inter</vt:lpstr>
      <vt:lpstr>Arial</vt:lpstr>
      <vt:lpstr>Consolas</vt:lpstr>
      <vt:lpstr>Montserrat SemiBold</vt:lpstr>
      <vt:lpstr>Inter Medium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mrsky1001</dc:creator>
  <cp:lastModifiedBy>Keith Allison</cp:lastModifiedBy>
  <cp:revision>258</cp:revision>
  <dcterms:modified xsi:type="dcterms:W3CDTF">2026-09-06T08:45:25Z</dcterms:modified>
</cp:coreProperties>
</file>