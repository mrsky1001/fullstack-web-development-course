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60" r:id="rId4"/>
    <p:sldId id="272" r:id="rId5"/>
    <p:sldId id="277" r:id="rId6"/>
    <p:sldId id="271" r:id="rId7"/>
    <p:sldId id="276" r:id="rId8"/>
    <p:sldId id="273" r:id="rId9"/>
    <p:sldId id="278" r:id="rId10"/>
    <p:sldId id="279" r:id="rId11"/>
    <p:sldId id="280" r:id="rId12"/>
    <p:sldId id="281" r:id="rId13"/>
    <p:sldId id="275" r:id="rId14"/>
    <p:sldId id="274" r:id="rId15"/>
  </p:sldIdLst>
  <p:sldSz cx="9144000" cy="5143500" type="screen16x9"/>
  <p:notesSz cx="6858000" cy="9144000"/>
  <p:embeddedFontLst>
    <p:embeddedFont>
      <p:font typeface="Inter" panose="02000503000000020004" pitchFamily="2" charset="0"/>
      <p:regular r:id="rId18"/>
      <p:bold r:id="rId19"/>
      <p:italic r:id="rId20"/>
      <p:boldItalic r:id="rId21"/>
    </p:embeddedFont>
    <p:embeddedFont>
      <p:font typeface="Inter 18pt SemiBold" panose="02000503000000020004" pitchFamily="2" charset="0"/>
      <p:bold r:id="rId22"/>
      <p:boldItalic r:id="rId23"/>
    </p:embeddedFont>
    <p:embeddedFont>
      <p:font typeface="Inter Medium" panose="02000503000000020004" pitchFamily="2" charset="0"/>
      <p:regular r:id="rId24"/>
      <p:italic r:id="rId25"/>
    </p:embeddedFont>
    <p:embeddedFont>
      <p:font typeface="Montserrat" panose="00000500000000000000" pitchFamily="2" charset="-52"/>
      <p:regular r:id="rId26"/>
      <p:bold r:id="rId27"/>
      <p:italic r:id="rId28"/>
      <p:boldItalic r:id="rId29"/>
    </p:embeddedFont>
    <p:embeddedFont>
      <p:font typeface="Montserrat ExtraBold" panose="00000900000000000000" pitchFamily="2" charset="-52"/>
      <p:bold r:id="rId30"/>
      <p:boldItalic r:id="rId31"/>
    </p:embeddedFont>
    <p:embeddedFont>
      <p:font typeface="Montserrat Medium" panose="00000600000000000000" pitchFamily="2" charset="-52"/>
      <p:regular r:id="rId32"/>
      <p:italic r:id="rId33"/>
    </p:embeddedFont>
    <p:embeddedFont>
      <p:font typeface="Proxima Nova" panose="020B0604020202020204" charset="0"/>
      <p:regular r:id="rId34"/>
      <p:bold r:id="rId35"/>
      <p:italic r:id="rId36"/>
      <p:boldItalic r:id="rId37"/>
    </p:embeddedFont>
    <p:embeddedFont>
      <p:font typeface="PT Sans Caption" panose="020B0603020203020204" pitchFamily="34" charset="-52"/>
      <p:regular r:id="rId38"/>
      <p:bold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89" autoAdjust="0"/>
  </p:normalViewPr>
  <p:slideViewPr>
    <p:cSldViewPr snapToGrid="0">
      <p:cViewPr>
        <p:scale>
          <a:sx n="100" d="100"/>
          <a:sy n="100" d="100"/>
        </p:scale>
        <p:origin x="780" y="669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theme" Target="theme/theme1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d0507c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d0507c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227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d0507c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6d0507c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4295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483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87553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4629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8358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4805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712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010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959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1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1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rsky1001/fullstack-web-development-course/tree/main/00.%20resources/04.%20full-stack/manual" TargetMode="External"/><Relationship Id="rId3" Type="http://schemas.openxmlformats.org/officeDocument/2006/relationships/image" Target="../media/image29.png"/><Relationship Id="rId7" Type="http://schemas.openxmlformats.org/officeDocument/2006/relationships/hyperlink" Target="https://github.com/mrsky1001/fullstack-web-development-course/blob/main/00.%20resources/01.%20frontend/manual/development-enviroment/(RU)%20Development%20Environment%20Setup%20Guide.ru.m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ist.mveu.ru/files/mveu/discipline/course/2749/&#1086;&#1085;&#1083;&#1072;&#1081;&#1085;-&#1082;&#1091;&#1088;&#1089;/index.html" TargetMode="External"/><Relationship Id="rId5" Type="http://schemas.openxmlformats.org/officeDocument/2006/relationships/hyperlink" Target="https://dist.mveu.ru/files/mveu/discipline/course/2749/&#1084;&#1077;&#1090;&#1086;&#1076;&#1080;&#1095;&#1077;&#1089;&#1082;&#1086;&#1077;-&#1087;&#1086;&#1089;&#1086;&#1073;&#1080;&#1077;/res/" TargetMode="External"/><Relationship Id="rId10" Type="http://schemas.openxmlformats.org/officeDocument/2006/relationships/hyperlink" Target="https://github.com/mrsky1001/fullstack-web-development-course/blob/main/README.ru.md" TargetMode="External"/><Relationship Id="rId4" Type="http://schemas.openxmlformats.org/officeDocument/2006/relationships/hyperlink" Target="https://dist.mveu.ru/elms/discipline/2831" TargetMode="External"/><Relationship Id="rId9" Type="http://schemas.openxmlformats.org/officeDocument/2006/relationships/hyperlink" Target="https://github.com/mrsky1001/fullstack-web-development-course/blob/main/00.%20resources/01.%20frontend/manual/development-enviroment/How%20install%20the%20Webstorm%20on%20Windows.mp4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hyperlink" Target="https://download-cdn.jetbrains.com/webstorm/WebStorm-2026.2.2.exe" TargetMode="External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nodejs.org/dist/v22.19.0/node-v22.19.0-x64.msi" TargetMode="External"/><Relationship Id="rId4" Type="http://schemas.openxmlformats.org/officeDocument/2006/relationships/hyperlink" Target="https://code.visualstudio.com/Download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21" Type="http://schemas.openxmlformats.org/officeDocument/2006/relationships/image" Target="../media/image53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54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72.png"/><Relationship Id="rId5" Type="http://schemas.openxmlformats.org/officeDocument/2006/relationships/image" Target="../media/image56.png"/><Relationship Id="rId15" Type="http://schemas.openxmlformats.org/officeDocument/2006/relationships/image" Target="../media/image76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5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ДИСЦИПЛИНА</a:t>
              </a:r>
              <a:r>
                <a:rPr lang="ru-RU" sz="100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ВВЕДЕНИЕ</a:t>
              </a:r>
              <a:r>
                <a:rPr lang="ru-RU" sz="1050">
                  <a:solidFill>
                    <a:schemeClr val="bg2">
                      <a:lumMod val="60000"/>
                      <a:lumOff val="4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 </a:t>
              </a:r>
              <a:r>
                <a:rPr lang="ru-RU" sz="1050" b="1" i="0">
                  <a:solidFill>
                    <a:schemeClr val="bg2">
                      <a:lumMod val="40000"/>
                      <a:lumOff val="60000"/>
                    </a:schemeClr>
                  </a:solidFill>
                  <a:effectLst/>
                  <a:latin typeface="Arial" panose="020B0604020202020204" pitchFamily="34" charset="0"/>
                </a:rPr>
                <a:t>• </a:t>
              </a:r>
              <a:r>
                <a:rPr lang="ru-RU" sz="100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ВЕБ-САЙТ</a:t>
              </a:r>
              <a:endParaRPr sz="900">
                <a:solidFill>
                  <a:schemeClr val="bg2">
                    <a:lumMod val="40000"/>
                    <a:lumOff val="6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Проектирование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endParaRPr lang="ru-RU" sz="4000" b="0" i="0" u="none">
                <a:solidFill>
                  <a:srgbClr val="F26101"/>
                </a:solidFill>
                <a:latin typeface="Montserrat ExtraBold"/>
              </a:endParaRPr>
            </a:p>
            <a:p>
              <a:pPr algn="l"/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и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разработка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интерфейсов</a:t>
              </a:r>
              <a:r>
                <a:rPr sz="4000" b="0" i="0" u="none">
                  <a:solidFill>
                    <a:srgbClr val="F26101"/>
                  </a:solidFill>
                  <a:latin typeface="Montserrat ExtraBold"/>
                </a:rPr>
                <a:t> </a:t>
              </a:r>
              <a:r>
                <a:rPr sz="4000" b="0" i="0" u="none" err="1">
                  <a:solidFill>
                    <a:srgbClr val="F26101"/>
                  </a:solidFill>
                  <a:latin typeface="Montserrat ExtraBold"/>
                </a:rPr>
                <a:t>пользователя</a:t>
              </a:r>
              <a:endParaRPr sz="4000" b="0" i="0" u="none">
                <a:solidFill>
                  <a:srgbClr val="F26101"/>
                </a:solidFill>
                <a:latin typeface="Montserrat ExtraBold"/>
              </a:endParaRP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PT Sans Caption" panose="020B0603020203020204" pitchFamily="34" charset="-52"/>
                <a:ea typeface="Proxima Nova"/>
                <a:cs typeface="Proxima Nova"/>
                <a:sym typeface="Proxima Nova"/>
              </a:rPr>
              <a:t>Вебинар 1 </a:t>
            </a:r>
            <a:endParaRPr sz="1000">
              <a:solidFill>
                <a:schemeClr val="lt1"/>
              </a:solidFill>
              <a:latin typeface="PT Sans Caption" panose="020B0603020203020204" pitchFamily="34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2">
            <a:extLst>
              <a:ext uri="{FF2B5EF4-FFF2-40B4-BE49-F238E27FC236}">
                <a16:creationId xmlns:a16="http://schemas.microsoft.com/office/drawing/2014/main" id="{E08C1F71-9CE8-5684-1B07-067A851E3727}"/>
              </a:ext>
            </a:extLst>
          </p:cNvPr>
          <p:cNvSpPr txBox="1">
            <a:spLocks noChangeAspect="1"/>
          </p:cNvSpPr>
          <p:nvPr/>
        </p:nvSpPr>
        <p:spPr>
          <a:xfrm>
            <a:off x="3525996" y="1609156"/>
            <a:ext cx="89447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/>
              <a:t>СЕМЕСТР 1</a:t>
            </a:r>
          </a:p>
        </p:txBody>
      </p:sp>
      <p:sp>
        <p:nvSpPr>
          <p:cNvPr id="37" name="TextBox 3">
            <a:extLst>
              <a:ext uri="{FF2B5EF4-FFF2-40B4-BE49-F238E27FC236}">
                <a16:creationId xmlns:a16="http://schemas.microsoft.com/office/drawing/2014/main" id="{181901B6-DBB1-8FB2-4559-EA052AEFA89D}"/>
              </a:ext>
            </a:extLst>
          </p:cNvPr>
          <p:cNvSpPr txBox="1">
            <a:spLocks noChangeAspect="1"/>
          </p:cNvSpPr>
          <p:nvPr/>
        </p:nvSpPr>
        <p:spPr>
          <a:xfrm>
            <a:off x="3479508" y="1801433"/>
            <a:ext cx="884858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8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клиентская часть</a:t>
            </a:r>
          </a:p>
        </p:txBody>
      </p:sp>
      <p:sp>
        <p:nvSpPr>
          <p:cNvPr id="38" name="TextBox 4">
            <a:extLst>
              <a:ext uri="{FF2B5EF4-FFF2-40B4-BE49-F238E27FC236}">
                <a16:creationId xmlns:a16="http://schemas.microsoft.com/office/drawing/2014/main" id="{8B2086AD-7E9B-602A-A64E-DB972E529659}"/>
              </a:ext>
            </a:extLst>
          </p:cNvPr>
          <p:cNvSpPr txBox="1">
            <a:spLocks noChangeAspect="1"/>
          </p:cNvSpPr>
          <p:nvPr/>
        </p:nvSpPr>
        <p:spPr>
          <a:xfrm>
            <a:off x="4877707" y="1609156"/>
            <a:ext cx="81111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50"/>
              <a:t>СЕМЕСТР 2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96D94CD2-777D-1D96-F408-FA0D2D6588C0}"/>
              </a:ext>
            </a:extLst>
          </p:cNvPr>
          <p:cNvSpPr txBox="1">
            <a:spLocks noChangeAspect="1"/>
          </p:cNvSpPr>
          <p:nvPr/>
        </p:nvSpPr>
        <p:spPr>
          <a:xfrm>
            <a:off x="4867837" y="1803977"/>
            <a:ext cx="846386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8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серверная часть</a:t>
            </a:r>
          </a:p>
        </p:txBody>
      </p:sp>
      <p:pic>
        <p:nvPicPr>
          <p:cNvPr id="40" name="Picture 6">
            <a:extLst>
              <a:ext uri="{FF2B5EF4-FFF2-40B4-BE49-F238E27FC236}">
                <a16:creationId xmlns:a16="http://schemas.microsoft.com/office/drawing/2014/main" id="{6C8DF0E3-F087-AC26-DF9E-1308CE8C7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355" y="1582643"/>
            <a:ext cx="490780" cy="391579"/>
          </a:xfrm>
          <a:prstGeom prst="rect">
            <a:avLst/>
          </a:prstGeom>
        </p:spPr>
      </p:pic>
      <p:pic>
        <p:nvPicPr>
          <p:cNvPr id="46" name="Picture 12">
            <a:extLst>
              <a:ext uri="{FF2B5EF4-FFF2-40B4-BE49-F238E27FC236}">
                <a16:creationId xmlns:a16="http://schemas.microsoft.com/office/drawing/2014/main" id="{71B09EDE-5B78-E6F9-001C-5F6F4352E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320" y="1582143"/>
            <a:ext cx="391579" cy="391579"/>
          </a:xfrm>
          <a:prstGeom prst="rect">
            <a:avLst/>
          </a:prstGeom>
        </p:spPr>
      </p:pic>
      <p:sp>
        <p:nvSpPr>
          <p:cNvPr id="47" name="TextBox 13">
            <a:extLst>
              <a:ext uri="{FF2B5EF4-FFF2-40B4-BE49-F238E27FC236}">
                <a16:creationId xmlns:a16="http://schemas.microsoft.com/office/drawing/2014/main" id="{4148A3D5-B19F-4D72-EECA-04FA0D46AF71}"/>
              </a:ext>
            </a:extLst>
          </p:cNvPr>
          <p:cNvSpPr txBox="1">
            <a:spLocks noChangeAspect="1"/>
          </p:cNvSpPr>
          <p:nvPr/>
        </p:nvSpPr>
        <p:spPr>
          <a:xfrm>
            <a:off x="5300804" y="2297185"/>
            <a:ext cx="3249287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Основы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разработки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серверной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части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NodeJs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DDEFC1F7-E4EF-996B-5A8B-2099D8E4E82E}"/>
              </a:ext>
            </a:extLst>
          </p:cNvPr>
          <p:cNvSpPr txBox="1">
            <a:spLocks noChangeAspect="1"/>
          </p:cNvSpPr>
          <p:nvPr/>
        </p:nvSpPr>
        <p:spPr>
          <a:xfrm>
            <a:off x="5300804" y="3097669"/>
            <a:ext cx="2612895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Подключение к базе данных (</a:t>
            </a:r>
            <a:r>
              <a:rPr lang="en-US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mysql2</a:t>
            </a: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  <a:endParaRPr sz="1100" b="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06B24A24-8DF7-25F0-8937-48A2B271E76E}"/>
              </a:ext>
            </a:extLst>
          </p:cNvPr>
          <p:cNvSpPr txBox="1">
            <a:spLocks noChangeAspect="1"/>
          </p:cNvSpPr>
          <p:nvPr/>
        </p:nvSpPr>
        <p:spPr>
          <a:xfrm>
            <a:off x="5310974" y="3900103"/>
            <a:ext cx="2574423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Разработка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интернет магазина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ТЗ</a:t>
            </a:r>
          </a:p>
        </p:txBody>
      </p:sp>
      <p:pic>
        <p:nvPicPr>
          <p:cNvPr id="52" name="Picture 18">
            <a:extLst>
              <a:ext uri="{FF2B5EF4-FFF2-40B4-BE49-F238E27FC236}">
                <a16:creationId xmlns:a16="http://schemas.microsoft.com/office/drawing/2014/main" id="{17E75376-40C3-71D5-4246-F0C0EDFD1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212" y="2317039"/>
            <a:ext cx="261053" cy="208842"/>
          </a:xfrm>
          <a:prstGeom prst="rect">
            <a:avLst/>
          </a:prstGeom>
        </p:spPr>
      </p:pic>
      <p:pic>
        <p:nvPicPr>
          <p:cNvPr id="54" name="Picture 20">
            <a:extLst>
              <a:ext uri="{FF2B5EF4-FFF2-40B4-BE49-F238E27FC236}">
                <a16:creationId xmlns:a16="http://schemas.microsoft.com/office/drawing/2014/main" id="{BFAFE9A5-2755-FA48-900B-0BAE99D85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760" y="3093461"/>
            <a:ext cx="214063" cy="245390"/>
          </a:xfrm>
          <a:prstGeom prst="rect">
            <a:avLst/>
          </a:prstGeom>
        </p:spPr>
      </p:pic>
      <p:pic>
        <p:nvPicPr>
          <p:cNvPr id="56" name="Picture 22">
            <a:extLst>
              <a:ext uri="{FF2B5EF4-FFF2-40B4-BE49-F238E27FC236}">
                <a16:creationId xmlns:a16="http://schemas.microsoft.com/office/drawing/2014/main" id="{15FBAC91-5E0C-1BB9-81E9-D2B86CFFB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" y="3947776"/>
            <a:ext cx="234948" cy="208842"/>
          </a:xfrm>
          <a:prstGeom prst="rect">
            <a:avLst/>
          </a:prstGeom>
        </p:spPr>
      </p:pic>
      <p:pic>
        <p:nvPicPr>
          <p:cNvPr id="58" name="Picture 24">
            <a:extLst>
              <a:ext uri="{FF2B5EF4-FFF2-40B4-BE49-F238E27FC236}">
                <a16:creationId xmlns:a16="http://schemas.microsoft.com/office/drawing/2014/main" id="{AA028747-B730-D7E5-8B23-C6BB750B9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7708" y="2330754"/>
            <a:ext cx="214063" cy="245390"/>
          </a:xfrm>
          <a:prstGeom prst="rect">
            <a:avLst/>
          </a:prstGeom>
        </p:spPr>
      </p:pic>
      <p:pic>
        <p:nvPicPr>
          <p:cNvPr id="62" name="Picture 28">
            <a:extLst>
              <a:ext uri="{FF2B5EF4-FFF2-40B4-BE49-F238E27FC236}">
                <a16:creationId xmlns:a16="http://schemas.microsoft.com/office/drawing/2014/main" id="{A73E62E8-48B9-6A1E-25E2-D6FED6C2FF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7708" y="3947776"/>
            <a:ext cx="261053" cy="208842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DCB8E4C-3CDB-8517-A1E4-5E4682D1D296}"/>
              </a:ext>
            </a:extLst>
          </p:cNvPr>
          <p:cNvSpPr txBox="1">
            <a:spLocks/>
          </p:cNvSpPr>
          <p:nvPr/>
        </p:nvSpPr>
        <p:spPr>
          <a:xfrm>
            <a:off x="4154689" y="1084249"/>
            <a:ext cx="91563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700" kern="12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ВЕБ ПРИЛОЖЕНИЕ</a:t>
            </a:r>
            <a:endParaRPr lang="ru-RU">
              <a:sym typeface="Calibri"/>
            </a:endParaRP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AAB3FFD8-0BA0-6B09-3DF7-D18514336DF7}"/>
              </a:ext>
            </a:extLst>
          </p:cNvPr>
          <p:cNvSpPr txBox="1">
            <a:spLocks noChangeAspect="1"/>
          </p:cNvSpPr>
          <p:nvPr/>
        </p:nvSpPr>
        <p:spPr>
          <a:xfrm>
            <a:off x="1381178" y="3896821"/>
            <a:ext cx="2983189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Разработка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многостраничного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сайта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 </a:t>
            </a: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З</a:t>
            </a:r>
          </a:p>
        </p:txBody>
      </p:sp>
      <p:sp>
        <p:nvSpPr>
          <p:cNvPr id="43" name="TextBox 9">
            <a:extLst>
              <a:ext uri="{FF2B5EF4-FFF2-40B4-BE49-F238E27FC236}">
                <a16:creationId xmlns:a16="http://schemas.microsoft.com/office/drawing/2014/main" id="{172162C2-8113-46CA-4792-86BAF0D8FC22}"/>
              </a:ext>
            </a:extLst>
          </p:cNvPr>
          <p:cNvSpPr txBox="1">
            <a:spLocks noChangeAspect="1"/>
          </p:cNvSpPr>
          <p:nvPr/>
        </p:nvSpPr>
        <p:spPr>
          <a:xfrm>
            <a:off x="1400414" y="3095021"/>
            <a:ext cx="2963953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Основы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применения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скриптов</a:t>
            </a:r>
            <a:r>
              <a:rPr lang="en-US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(JavaScript)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6DD665A5-BAEB-D969-4ABC-EFA10C12E685}"/>
              </a:ext>
            </a:extLst>
          </p:cNvPr>
          <p:cNvSpPr txBox="1">
            <a:spLocks noChangeAspect="1"/>
          </p:cNvSpPr>
          <p:nvPr/>
        </p:nvSpPr>
        <p:spPr>
          <a:xfrm>
            <a:off x="1329882" y="2297185"/>
            <a:ext cx="3034485" cy="2357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145"/>
              </a:lnSpc>
            </a:pP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Основы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верстки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веб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sz="1100" b="0" i="0" u="none" err="1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страницы</a:t>
            </a:r>
            <a:r>
              <a:rPr lang="ru-RU"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</a:t>
            </a:r>
            <a:r>
              <a:rPr sz="11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HTML, CSS)</a:t>
            </a:r>
          </a:p>
        </p:txBody>
      </p:sp>
      <p:sp>
        <p:nvSpPr>
          <p:cNvPr id="42" name="Rectangle 82">
            <a:extLst>
              <a:ext uri="{FF2B5EF4-FFF2-40B4-BE49-F238E27FC236}">
                <a16:creationId xmlns:a16="http://schemas.microsoft.com/office/drawing/2014/main" id="{FA647B44-A909-6BDD-80B5-3180A0ADD5DC}"/>
              </a:ext>
            </a:extLst>
          </p:cNvPr>
          <p:cNvSpPr>
            <a:spLocks/>
          </p:cNvSpPr>
          <p:nvPr/>
        </p:nvSpPr>
        <p:spPr>
          <a:xfrm>
            <a:off x="1350356" y="2861496"/>
            <a:ext cx="3024000" cy="4429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2" name="Rectangle 8">
            <a:extLst>
              <a:ext uri="{FF2B5EF4-FFF2-40B4-BE49-F238E27FC236}">
                <a16:creationId xmlns:a16="http://schemas.microsoft.com/office/drawing/2014/main" id="{B236B89B-99AA-6E99-7F24-8604DCDB98F5}"/>
              </a:ext>
            </a:extLst>
          </p:cNvPr>
          <p:cNvSpPr>
            <a:spLocks/>
          </p:cNvSpPr>
          <p:nvPr/>
        </p:nvSpPr>
        <p:spPr>
          <a:xfrm>
            <a:off x="5300804" y="2861496"/>
            <a:ext cx="3168000" cy="4429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0A791CDD-5F93-3E88-610E-2A59CF8FEEE0}"/>
              </a:ext>
            </a:extLst>
          </p:cNvPr>
          <p:cNvSpPr>
            <a:spLocks/>
          </p:cNvSpPr>
          <p:nvPr/>
        </p:nvSpPr>
        <p:spPr>
          <a:xfrm>
            <a:off x="4612507" y="1501123"/>
            <a:ext cx="5221" cy="2664000"/>
          </a:xfrm>
          <a:prstGeom prst="rect">
            <a:avLst/>
          </a:prstGeom>
          <a:solidFill>
            <a:srgbClr val="FF61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4" name="Rectangle 83">
            <a:extLst>
              <a:ext uri="{FF2B5EF4-FFF2-40B4-BE49-F238E27FC236}">
                <a16:creationId xmlns:a16="http://schemas.microsoft.com/office/drawing/2014/main" id="{3682D96D-26FC-63E4-5280-4CD207F4A6E1}"/>
              </a:ext>
            </a:extLst>
          </p:cNvPr>
          <p:cNvSpPr>
            <a:spLocks/>
          </p:cNvSpPr>
          <p:nvPr/>
        </p:nvSpPr>
        <p:spPr>
          <a:xfrm>
            <a:off x="1338397" y="3637084"/>
            <a:ext cx="3024000" cy="4429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8" name="Rectangle 83">
            <a:extLst>
              <a:ext uri="{FF2B5EF4-FFF2-40B4-BE49-F238E27FC236}">
                <a16:creationId xmlns:a16="http://schemas.microsoft.com/office/drawing/2014/main" id="{3EB8C2E1-5D07-C17E-65A3-ADC5A3BEE9DD}"/>
              </a:ext>
            </a:extLst>
          </p:cNvPr>
          <p:cNvSpPr>
            <a:spLocks/>
          </p:cNvSpPr>
          <p:nvPr/>
        </p:nvSpPr>
        <p:spPr>
          <a:xfrm>
            <a:off x="5300804" y="3632655"/>
            <a:ext cx="3168000" cy="4429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5574E35-729E-258F-7E81-DF891DF91B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7708" y="3093200"/>
            <a:ext cx="214063" cy="2446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58B89B-2C2C-FF42-63AA-D4BF5F186C9B}"/>
              </a:ext>
            </a:extLst>
          </p:cNvPr>
          <p:cNvSpPr txBox="1"/>
          <p:nvPr/>
        </p:nvSpPr>
        <p:spPr>
          <a:xfrm>
            <a:off x="6808724" y="287078"/>
            <a:ext cx="16946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О ДИСЦИПЛИНЕ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5F4E49-E7E3-67BB-CC6A-E95F712F9DE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Что будем изучать?</a:t>
            </a:r>
            <a:endParaRPr lang="ru-RU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776BDEB-2F1D-DAE1-731C-F08A7AD935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8"/>
          <a:stretch/>
        </p:blipFill>
        <p:spPr>
          <a:xfrm>
            <a:off x="5749970" y="1925515"/>
            <a:ext cx="2542462" cy="1189757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99" name="Google Shape;99;p17"/>
          <p:cNvSpPr txBox="1"/>
          <p:nvPr/>
        </p:nvSpPr>
        <p:spPr>
          <a:xfrm>
            <a:off x="1828875" y="171450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ТЕМА: 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5A0C34-20C3-F8F0-EA44-C470F01D5A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4" r="1501"/>
          <a:stretch/>
        </p:blipFill>
        <p:spPr>
          <a:xfrm>
            <a:off x="3185395" y="1726810"/>
            <a:ext cx="3209762" cy="1523444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269BFD-DAB1-1A37-6DFD-0F7DAC1CDC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85" b="1"/>
          <a:stretch/>
        </p:blipFill>
        <p:spPr>
          <a:xfrm>
            <a:off x="475903" y="1561513"/>
            <a:ext cx="4220308" cy="1966381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B89E32-2C76-E977-8CF0-C0A0FB5058D0}"/>
              </a:ext>
            </a:extLst>
          </p:cNvPr>
          <p:cNvSpPr txBox="1"/>
          <p:nvPr/>
        </p:nvSpPr>
        <p:spPr>
          <a:xfrm>
            <a:off x="6808724" y="287078"/>
            <a:ext cx="16946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О ДИСЦИПЛИНЕ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1F03B2-F02F-E994-A640-0C4C68E457BD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Что создадим вместе?</a:t>
            </a:r>
            <a:endParaRPr lang="ru-RU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8A59A-A98E-C2C3-6186-660D70291D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94322" y="297900"/>
            <a:ext cx="457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О КУРСЕ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1E6DAE69-21FB-78F4-396C-47452EF8C3D8}"/>
              </a:ext>
            </a:extLst>
          </p:cNvPr>
          <p:cNvGrpSpPr/>
          <p:nvPr/>
        </p:nvGrpSpPr>
        <p:grpSpPr>
          <a:xfrm>
            <a:off x="501200" y="1039044"/>
            <a:ext cx="8082918" cy="3301863"/>
            <a:chOff x="521749" y="1336995"/>
            <a:chExt cx="8082918" cy="3301863"/>
          </a:xfrm>
        </p:grpSpPr>
        <p:sp>
          <p:nvSpPr>
            <p:cNvPr id="4" name="Google Shape;67;p14" hidden="1">
              <a:extLst>
                <a:ext uri="{FF2B5EF4-FFF2-40B4-BE49-F238E27FC236}">
                  <a16:creationId xmlns:a16="http://schemas.microsoft.com/office/drawing/2014/main" id="{769848C9-E991-267C-0A0F-22F8ED8113C5}"/>
                </a:ext>
              </a:extLst>
            </p:cNvPr>
            <p:cNvSpPr/>
            <p:nvPr/>
          </p:nvSpPr>
          <p:spPr>
            <a:xfrm>
              <a:off x="521749" y="1336995"/>
              <a:ext cx="7975158" cy="3301863"/>
            </a:xfrm>
            <a:prstGeom prst="roundRect">
              <a:avLst>
                <a:gd name="adj" fmla="val 11015"/>
              </a:avLst>
            </a:prstGeom>
            <a:solidFill>
              <a:srgbClr val="F9F9F9"/>
            </a:solidFill>
            <a:ln>
              <a:noFill/>
            </a:ln>
            <a:effectLst>
              <a:outerShdw blurRad="142875" dist="9525" dir="600000" algn="ctr" rotWithShape="0">
                <a:schemeClr val="tx1">
                  <a:alpha val="57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endParaRPr sz="1800">
                <a:latin typeface="Inter" panose="02000503000000020004" pitchFamily="2" charset="0"/>
                <a:ea typeface="Inter" panose="02000503000000020004" pitchFamily="2" charset="0"/>
                <a:cs typeface="Calibri"/>
                <a:sym typeface="Calibri"/>
              </a:endParaRPr>
            </a:p>
          </p:txBody>
        </p:sp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64E3C3FE-1BE1-FF82-C907-35513B92E488}"/>
                </a:ext>
              </a:extLst>
            </p:cNvPr>
            <p:cNvSpPr/>
            <p:nvPr/>
          </p:nvSpPr>
          <p:spPr>
            <a:xfrm>
              <a:off x="1412738" y="2189167"/>
              <a:ext cx="6444000" cy="4533"/>
            </a:xfrm>
            <a:prstGeom prst="rect">
              <a:avLst/>
            </a:prstGeom>
            <a:solidFill>
              <a:srgbClr val="FE60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0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9ADDE469-6A6D-8CAD-3E03-91855218C1D2}"/>
                </a:ext>
              </a:extLst>
            </p:cNvPr>
            <p:cNvSpPr/>
            <p:nvPr/>
          </p:nvSpPr>
          <p:spPr>
            <a:xfrm>
              <a:off x="1412738" y="2708802"/>
              <a:ext cx="6444000" cy="4533"/>
            </a:xfrm>
            <a:prstGeom prst="rect">
              <a:avLst/>
            </a:prstGeom>
            <a:solidFill>
              <a:srgbClr val="FE60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0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663CA5B8-7C9E-94B3-C8C9-4F44859785DC}"/>
                </a:ext>
              </a:extLst>
            </p:cNvPr>
            <p:cNvSpPr/>
            <p:nvPr/>
          </p:nvSpPr>
          <p:spPr>
            <a:xfrm>
              <a:off x="1412738" y="3228440"/>
              <a:ext cx="6444000" cy="4533"/>
            </a:xfrm>
            <a:prstGeom prst="rect">
              <a:avLst/>
            </a:prstGeom>
            <a:solidFill>
              <a:srgbClr val="FE60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0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48254276-4D84-A4ED-DD49-D58827757B23}"/>
                </a:ext>
              </a:extLst>
            </p:cNvPr>
            <p:cNvSpPr/>
            <p:nvPr/>
          </p:nvSpPr>
          <p:spPr>
            <a:xfrm>
              <a:off x="1412738" y="3748076"/>
              <a:ext cx="6444000" cy="4533"/>
            </a:xfrm>
            <a:prstGeom prst="rect">
              <a:avLst/>
            </a:prstGeom>
            <a:solidFill>
              <a:srgbClr val="FE60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1000"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50017091-6FEC-5426-39EC-B266C54A8BEA}"/>
                </a:ext>
              </a:extLst>
            </p:cNvPr>
            <p:cNvSpPr txBox="1"/>
            <p:nvPr/>
          </p:nvSpPr>
          <p:spPr>
            <a:xfrm>
              <a:off x="1734515" y="1851161"/>
              <a:ext cx="1839002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Продолжительность</a:t>
              </a:r>
              <a:r>
                <a:rPr lang="ru-RU"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курса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:</a:t>
              </a: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94720B5F-8627-2FFA-4E19-AEFC85E1DB5D}"/>
                </a:ext>
              </a:extLst>
            </p:cNvPr>
            <p:cNvSpPr txBox="1"/>
            <p:nvPr/>
          </p:nvSpPr>
          <p:spPr>
            <a:xfrm>
              <a:off x="4509328" y="1769283"/>
              <a:ext cx="4095339" cy="25327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310"/>
                </a:lnSpc>
              </a:pP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2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семестра</a:t>
              </a:r>
              <a:endParaRPr sz="10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446CD208-ECFA-DE5B-A704-E3A9D65FA918}"/>
                </a:ext>
              </a:extLst>
            </p:cNvPr>
            <p:cNvSpPr txBox="1"/>
            <p:nvPr/>
          </p:nvSpPr>
          <p:spPr>
            <a:xfrm>
              <a:off x="1734515" y="2381598"/>
              <a:ext cx="1950668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Объём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в </a:t>
              </a:r>
              <a:r>
                <a:rPr lang="ru-RU"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текущем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</a:t>
              </a:r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семестре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:</a:t>
              </a:r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7C1BEAC3-1FBE-0312-8C52-44C62199F47F}"/>
                </a:ext>
              </a:extLst>
            </p:cNvPr>
            <p:cNvSpPr txBox="1"/>
            <p:nvPr/>
          </p:nvSpPr>
          <p:spPr>
            <a:xfrm>
              <a:off x="4509328" y="2299720"/>
              <a:ext cx="4095339" cy="251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310"/>
                </a:lnSpc>
              </a:pP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18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академических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часов</a:t>
              </a:r>
              <a:endParaRPr sz="10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F9EAE1B9-ADFB-57BC-A4F8-88A67F83CD77}"/>
                </a:ext>
              </a:extLst>
            </p:cNvPr>
            <p:cNvSpPr txBox="1"/>
            <p:nvPr/>
          </p:nvSpPr>
          <p:spPr>
            <a:xfrm>
              <a:off x="1734515" y="2910983"/>
              <a:ext cx="1725892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Формат</a:t>
              </a:r>
              <a:r>
                <a:rPr lang="ru-RU"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занятий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:</a:t>
              </a:r>
            </a:p>
          </p:txBody>
        </p:sp>
        <p:sp>
          <p:nvSpPr>
            <p:cNvPr id="14" name="TextBox 11">
              <a:extLst>
                <a:ext uri="{FF2B5EF4-FFF2-40B4-BE49-F238E27FC236}">
                  <a16:creationId xmlns:a16="http://schemas.microsoft.com/office/drawing/2014/main" id="{F2A87566-BEE5-A183-A1D8-BA0933640292}"/>
                </a:ext>
              </a:extLst>
            </p:cNvPr>
            <p:cNvSpPr txBox="1"/>
            <p:nvPr/>
          </p:nvSpPr>
          <p:spPr>
            <a:xfrm>
              <a:off x="4509328" y="2829105"/>
              <a:ext cx="4095339" cy="251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310"/>
                </a:lnSpc>
              </a:pP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9 вебинаров по 2 ак. </a:t>
              </a:r>
              <a:r>
                <a:rPr lang="ru-RU"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ч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аса + самостоятельная работа</a:t>
              </a:r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0581820C-74CA-8DFB-117C-5EBDE1052648}"/>
                </a:ext>
              </a:extLst>
            </p:cNvPr>
            <p:cNvSpPr txBox="1"/>
            <p:nvPr/>
          </p:nvSpPr>
          <p:spPr>
            <a:xfrm>
              <a:off x="1734514" y="3408354"/>
              <a:ext cx="2573397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Промежуточный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</a:t>
              </a:r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контроль</a:t>
              </a:r>
              <a:r>
                <a:rPr lang="ru-RU"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(Семестр 1)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:</a:t>
              </a:r>
            </a:p>
          </p:txBody>
        </p:sp>
        <p:sp>
          <p:nvSpPr>
            <p:cNvPr id="16" name="TextBox 13">
              <a:extLst>
                <a:ext uri="{FF2B5EF4-FFF2-40B4-BE49-F238E27FC236}">
                  <a16:creationId xmlns:a16="http://schemas.microsoft.com/office/drawing/2014/main" id="{AA13669F-41C6-B174-7F5A-1745CD028948}"/>
                </a:ext>
              </a:extLst>
            </p:cNvPr>
            <p:cNvSpPr txBox="1"/>
            <p:nvPr/>
          </p:nvSpPr>
          <p:spPr>
            <a:xfrm>
              <a:off x="4509328" y="3326476"/>
              <a:ext cx="4095339" cy="251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310"/>
                </a:lnSpc>
              </a:pP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Оценка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по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результатам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промежуточной</a:t>
              </a:r>
              <a:r>
                <a:rPr sz="1000" b="0" i="0" u="none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 </a:t>
              </a: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аттестации</a:t>
              </a:r>
              <a:endParaRPr sz="10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17" name="TextBox 14">
              <a:extLst>
                <a:ext uri="{FF2B5EF4-FFF2-40B4-BE49-F238E27FC236}">
                  <a16:creationId xmlns:a16="http://schemas.microsoft.com/office/drawing/2014/main" id="{A8434E72-36C6-8C6A-C4D4-8671970DA60B}"/>
                </a:ext>
              </a:extLst>
            </p:cNvPr>
            <p:cNvSpPr txBox="1"/>
            <p:nvPr/>
          </p:nvSpPr>
          <p:spPr>
            <a:xfrm>
              <a:off x="1734514" y="3975751"/>
              <a:ext cx="2196853" cy="1538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Итоговый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</a:t>
              </a:r>
              <a:r>
                <a:rPr sz="1000" i="0" u="none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контроль</a:t>
              </a:r>
              <a:r>
                <a:rPr lang="ru-RU"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 (Семестр 2)</a:t>
              </a:r>
              <a:r>
                <a:rPr sz="1000" i="0" u="none">
                  <a:solidFill>
                    <a:schemeClr val="tx1">
                      <a:lumMod val="85000"/>
                      <a:lumOff val="15000"/>
                    </a:schemeClr>
                  </a:solidFill>
                  <a:latin typeface="Inter 18pt SemiBold" panose="02000503000000020004" pitchFamily="2" charset="0"/>
                  <a:ea typeface="Inter 18pt SemiBold" panose="02000503000000020004" pitchFamily="2" charset="0"/>
                </a:rPr>
                <a:t>:</a:t>
              </a:r>
            </a:p>
          </p:txBody>
        </p:sp>
        <p:sp>
          <p:nvSpPr>
            <p:cNvPr id="18" name="TextBox 15">
              <a:extLst>
                <a:ext uri="{FF2B5EF4-FFF2-40B4-BE49-F238E27FC236}">
                  <a16:creationId xmlns:a16="http://schemas.microsoft.com/office/drawing/2014/main" id="{871FAEA3-942F-DE31-E6F2-E6B5097520CD}"/>
                </a:ext>
              </a:extLst>
            </p:cNvPr>
            <p:cNvSpPr txBox="1"/>
            <p:nvPr/>
          </p:nvSpPr>
          <p:spPr>
            <a:xfrm>
              <a:off x="4509328" y="3893873"/>
              <a:ext cx="4095339" cy="2518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310"/>
                </a:lnSpc>
              </a:pPr>
              <a:r>
                <a:rPr sz="1000" b="0" i="0" u="none" err="1">
                  <a:solidFill>
                    <a:srgbClr val="13121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Экзамен</a:t>
              </a:r>
              <a:endParaRPr sz="1000" b="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pic>
          <p:nvPicPr>
            <p:cNvPr id="19" name="Picture 16">
              <a:extLst>
                <a:ext uri="{FF2B5EF4-FFF2-40B4-BE49-F238E27FC236}">
                  <a16:creationId xmlns:a16="http://schemas.microsoft.com/office/drawing/2014/main" id="{DF0D9AED-4977-B0D0-0356-4A808A76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2738" y="1847749"/>
              <a:ext cx="204767" cy="160712"/>
            </a:xfrm>
            <a:prstGeom prst="rect">
              <a:avLst/>
            </a:prstGeom>
          </p:spPr>
        </p:pic>
        <p:pic>
          <p:nvPicPr>
            <p:cNvPr id="20" name="Picture 17">
              <a:extLst>
                <a:ext uri="{FF2B5EF4-FFF2-40B4-BE49-F238E27FC236}">
                  <a16:creationId xmlns:a16="http://schemas.microsoft.com/office/drawing/2014/main" id="{BAADD0BD-283F-B125-FDE2-CA0268E73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2738" y="2378186"/>
              <a:ext cx="204767" cy="160712"/>
            </a:xfrm>
            <a:prstGeom prst="rect">
              <a:avLst/>
            </a:prstGeom>
          </p:spPr>
        </p:pic>
        <p:pic>
          <p:nvPicPr>
            <p:cNvPr id="21" name="Picture 18">
              <a:extLst>
                <a:ext uri="{FF2B5EF4-FFF2-40B4-BE49-F238E27FC236}">
                  <a16:creationId xmlns:a16="http://schemas.microsoft.com/office/drawing/2014/main" id="{01461EDE-F7BD-923F-8E7E-155B422CB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12738" y="2907571"/>
              <a:ext cx="204767" cy="160712"/>
            </a:xfrm>
            <a:prstGeom prst="rect">
              <a:avLst/>
            </a:prstGeom>
          </p:spPr>
        </p:pic>
        <p:pic>
          <p:nvPicPr>
            <p:cNvPr id="22" name="Picture 19">
              <a:extLst>
                <a:ext uri="{FF2B5EF4-FFF2-40B4-BE49-F238E27FC236}">
                  <a16:creationId xmlns:a16="http://schemas.microsoft.com/office/drawing/2014/main" id="{CB8B0E64-217C-3BFC-CEEB-CE7608748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12738" y="3404942"/>
              <a:ext cx="204767" cy="160712"/>
            </a:xfrm>
            <a:prstGeom prst="rect">
              <a:avLst/>
            </a:prstGeom>
          </p:spPr>
        </p:pic>
        <p:pic>
          <p:nvPicPr>
            <p:cNvPr id="23" name="Picture 20">
              <a:extLst>
                <a:ext uri="{FF2B5EF4-FFF2-40B4-BE49-F238E27FC236}">
                  <a16:creationId xmlns:a16="http://schemas.microsoft.com/office/drawing/2014/main" id="{0D2D99F2-5EAC-7E01-F499-61BB2ABEC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12738" y="3972339"/>
              <a:ext cx="204767" cy="16071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4291D81-7F95-1C94-3AEE-189A87500184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Сколько вебинаров в семестре?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438340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B8A59A-A98E-C2C3-6186-660D70291D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294322" y="297900"/>
            <a:ext cx="457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ПРОКТОРИНГ</a:t>
            </a:r>
          </a:p>
        </p:txBody>
      </p:sp>
      <p:sp>
        <p:nvSpPr>
          <p:cNvPr id="42" name="TextBox 2">
            <a:extLst>
              <a:ext uri="{FF2B5EF4-FFF2-40B4-BE49-F238E27FC236}">
                <a16:creationId xmlns:a16="http://schemas.microsoft.com/office/drawing/2014/main" id="{EAD65BF7-CAC1-075D-013B-ECD85344352C}"/>
              </a:ext>
            </a:extLst>
          </p:cNvPr>
          <p:cNvSpPr txBox="1"/>
          <p:nvPr/>
        </p:nvSpPr>
        <p:spPr>
          <a:xfrm>
            <a:off x="3225974" y="937173"/>
            <a:ext cx="2898229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0" i="0" u="none">
                <a:solidFill>
                  <a:srgbClr val="222222"/>
                </a:solidFill>
                <a:latin typeface="Montserrat Medium"/>
              </a:rPr>
              <a:t>ПРАВИЛА ПРОКТОРИНГА И РЕГЛАМЕНТ ЭКЗАМЕНА</a:t>
            </a: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38FB429-891E-6E8C-6B24-5E511D4DBF06}"/>
              </a:ext>
            </a:extLst>
          </p:cNvPr>
          <p:cNvSpPr txBox="1"/>
          <p:nvPr/>
        </p:nvSpPr>
        <p:spPr>
          <a:xfrm>
            <a:off x="308398" y="4815996"/>
            <a:ext cx="6915150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00" b="0" i="1" u="none">
                <a:solidFill>
                  <a:srgbClr val="888888"/>
                </a:solidFill>
                <a:latin typeface="Inter"/>
              </a:rPr>
              <a:t> * Более точные указания и детальная инструкция по организации контроля будут предоставлены позже. </a:t>
            </a: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B3FBBB22-FAAF-3B30-5B5C-77875A1A5358}"/>
              </a:ext>
            </a:extLst>
          </p:cNvPr>
          <p:cNvSpPr/>
          <p:nvPr/>
        </p:nvSpPr>
        <p:spPr>
          <a:xfrm>
            <a:off x="4675089" y="1389584"/>
            <a:ext cx="19050" cy="3257550"/>
          </a:xfrm>
          <a:prstGeom prst="rect">
            <a:avLst/>
          </a:prstGeom>
          <a:solidFill>
            <a:srgbClr val="F26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/>
          </a:p>
        </p:txBody>
      </p:sp>
      <p:sp>
        <p:nvSpPr>
          <p:cNvPr id="45" name="TextBox 8">
            <a:extLst>
              <a:ext uri="{FF2B5EF4-FFF2-40B4-BE49-F238E27FC236}">
                <a16:creationId xmlns:a16="http://schemas.microsoft.com/office/drawing/2014/main" id="{72D50B14-FA77-0E50-084A-6B52345CCF19}"/>
              </a:ext>
            </a:extLst>
          </p:cNvPr>
          <p:cNvSpPr txBox="1"/>
          <p:nvPr/>
        </p:nvSpPr>
        <p:spPr>
          <a:xfrm>
            <a:off x="1080465" y="1469049"/>
            <a:ext cx="24445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i="0" u="none">
                <a:solidFill>
                  <a:srgbClr val="FF6F03"/>
                </a:solidFill>
                <a:latin typeface="Montserrat"/>
              </a:rPr>
              <a:t>ТЕХНИЧЕСКИЕ ТРЕБОВАНИЯ</a:t>
            </a: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CF2840CE-9158-5702-1B9F-4374C5ED6A8C}"/>
              </a:ext>
            </a:extLst>
          </p:cNvPr>
          <p:cNvSpPr txBox="1"/>
          <p:nvPr/>
        </p:nvSpPr>
        <p:spPr>
          <a:xfrm>
            <a:off x="5621686" y="1410642"/>
            <a:ext cx="164147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i="0" u="none">
                <a:solidFill>
                  <a:srgbClr val="FF6F03"/>
                </a:solidFill>
                <a:latin typeface="Montserrat"/>
              </a:rPr>
              <a:t>ПРОЦЕСС И СДАЧА</a:t>
            </a:r>
          </a:p>
        </p:txBody>
      </p:sp>
      <p:pic>
        <p:nvPicPr>
          <p:cNvPr id="47" name="Picture 11">
            <a:extLst>
              <a:ext uri="{FF2B5EF4-FFF2-40B4-BE49-F238E27FC236}">
                <a16:creationId xmlns:a16="http://schemas.microsoft.com/office/drawing/2014/main" id="{8888E2CB-66CC-4806-B2B2-E5AD9D695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979120"/>
            <a:ext cx="390525" cy="342900"/>
          </a:xfrm>
          <a:prstGeom prst="rect">
            <a:avLst/>
          </a:prstGeom>
        </p:spPr>
      </p:pic>
      <p:sp>
        <p:nvSpPr>
          <p:cNvPr id="48" name="TextBox 12">
            <a:extLst>
              <a:ext uri="{FF2B5EF4-FFF2-40B4-BE49-F238E27FC236}">
                <a16:creationId xmlns:a16="http://schemas.microsoft.com/office/drawing/2014/main" id="{BB8F58E2-D3B9-7E22-9396-4978457F9B87}"/>
              </a:ext>
            </a:extLst>
          </p:cNvPr>
          <p:cNvSpPr txBox="1"/>
          <p:nvPr/>
        </p:nvSpPr>
        <p:spPr>
          <a:xfrm>
            <a:off x="1080465" y="1910276"/>
            <a:ext cx="15533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i="0" u="none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Две камеры контроля</a:t>
            </a:r>
          </a:p>
        </p:txBody>
      </p:sp>
      <p:sp>
        <p:nvSpPr>
          <p:cNvPr id="49" name="TextBox 13">
            <a:extLst>
              <a:ext uri="{FF2B5EF4-FFF2-40B4-BE49-F238E27FC236}">
                <a16:creationId xmlns:a16="http://schemas.microsoft.com/office/drawing/2014/main" id="{D04D6592-FB80-1B06-6C97-9B6E39EE46E8}"/>
              </a:ext>
            </a:extLst>
          </p:cNvPr>
          <p:cNvSpPr txBox="1"/>
          <p:nvPr/>
        </p:nvSpPr>
        <p:spPr>
          <a:xfrm>
            <a:off x="1080464" y="2220461"/>
            <a:ext cx="3294587" cy="896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48"/>
              </a:lnSpc>
            </a:pPr>
            <a:r>
              <a:rPr sz="1000" b="1" i="0" u="none">
                <a:solidFill>
                  <a:srgbClr val="F26101"/>
                </a:solidFill>
                <a:latin typeface="Inter"/>
              </a:rPr>
              <a:t>Камера 1: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 снимает студента.</a:t>
            </a:r>
            <a:r>
              <a:rPr sz="1100"/>
              <a:t>
</a:t>
            </a:r>
            <a:r>
              <a:rPr sz="1000" b="1" i="0" u="none">
                <a:solidFill>
                  <a:srgbClr val="F26101"/>
                </a:solidFill>
                <a:latin typeface="Inter"/>
              </a:rPr>
              <a:t>Камера 2: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 снимает экран и клавиатуру (изображение должно быть четким, без засветов). Можно использовать телефон или второй ноутбук.</a:t>
            </a:r>
          </a:p>
        </p:txBody>
      </p:sp>
      <p:pic>
        <p:nvPicPr>
          <p:cNvPr id="50" name="Picture 14">
            <a:extLst>
              <a:ext uri="{FF2B5EF4-FFF2-40B4-BE49-F238E27FC236}">
                <a16:creationId xmlns:a16="http://schemas.microsoft.com/office/drawing/2014/main" id="{3FEDCB44-3689-C32F-8EB7-464A0D139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3438314"/>
            <a:ext cx="342900" cy="342900"/>
          </a:xfrm>
          <a:prstGeom prst="rect">
            <a:avLst/>
          </a:prstGeom>
        </p:spPr>
      </p:pic>
      <p:sp>
        <p:nvSpPr>
          <p:cNvPr id="51" name="TextBox 15">
            <a:extLst>
              <a:ext uri="{FF2B5EF4-FFF2-40B4-BE49-F238E27FC236}">
                <a16:creationId xmlns:a16="http://schemas.microsoft.com/office/drawing/2014/main" id="{A3CA1E7D-0A8C-4AF7-B865-504ECF9A5345}"/>
              </a:ext>
            </a:extLst>
          </p:cNvPr>
          <p:cNvSpPr txBox="1"/>
          <p:nvPr/>
        </p:nvSpPr>
        <p:spPr>
          <a:xfrm>
            <a:off x="1062038" y="3371639"/>
            <a:ext cx="150842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i="0" u="none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Строгие ограничения</a:t>
            </a:r>
          </a:p>
        </p:txBody>
      </p:sp>
      <p:sp>
        <p:nvSpPr>
          <p:cNvPr id="52" name="TextBox 16">
            <a:extLst>
              <a:ext uri="{FF2B5EF4-FFF2-40B4-BE49-F238E27FC236}">
                <a16:creationId xmlns:a16="http://schemas.microsoft.com/office/drawing/2014/main" id="{4B311089-4175-5F89-6130-CD13B81356EA}"/>
              </a:ext>
            </a:extLst>
          </p:cNvPr>
          <p:cNvSpPr txBox="1"/>
          <p:nvPr/>
        </p:nvSpPr>
        <p:spPr>
          <a:xfrm>
            <a:off x="1042988" y="3724064"/>
            <a:ext cx="3332063" cy="665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48"/>
              </a:lnSpc>
            </a:pPr>
            <a:r>
              <a:rPr sz="1000" b="0" i="0" u="none">
                <a:solidFill>
                  <a:srgbClr val="333333"/>
                </a:solidFill>
                <a:latin typeface="Inter"/>
              </a:rPr>
              <a:t>Во время выполнения контрольного проекта </a:t>
            </a:r>
            <a:r>
              <a:rPr sz="1000" b="1" i="0" u="none">
                <a:solidFill>
                  <a:srgbClr val="F26101"/>
                </a:solidFill>
                <a:latin typeface="Inter"/>
              </a:rPr>
              <a:t>категорически запрещено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 пользоваться интернетом для поиска ответов и нейросетями (ИИ).</a:t>
            </a:r>
          </a:p>
        </p:txBody>
      </p:sp>
      <p:pic>
        <p:nvPicPr>
          <p:cNvPr id="53" name="Picture 17">
            <a:extLst>
              <a:ext uri="{FF2B5EF4-FFF2-40B4-BE49-F238E27FC236}">
                <a16:creationId xmlns:a16="http://schemas.microsoft.com/office/drawing/2014/main" id="{F61485CD-ABAA-151F-17B8-E52AEB4DC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661" y="1962041"/>
            <a:ext cx="304800" cy="342900"/>
          </a:xfrm>
          <a:prstGeom prst="rect">
            <a:avLst/>
          </a:prstGeom>
        </p:spPr>
      </p:pic>
      <p:sp>
        <p:nvSpPr>
          <p:cNvPr id="54" name="TextBox 18">
            <a:extLst>
              <a:ext uri="{FF2B5EF4-FFF2-40B4-BE49-F238E27FC236}">
                <a16:creationId xmlns:a16="http://schemas.microsoft.com/office/drawing/2014/main" id="{E2697B29-BD66-B38C-2289-96DA17F30D31}"/>
              </a:ext>
            </a:extLst>
          </p:cNvPr>
          <p:cNvSpPr txBox="1"/>
          <p:nvPr/>
        </p:nvSpPr>
        <p:spPr>
          <a:xfrm>
            <a:off x="5621686" y="1910276"/>
            <a:ext cx="112370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i="0" u="none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Тайминг: 2 часа</a:t>
            </a:r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08561AE8-E494-F017-DA37-A115FBC484C7}"/>
              </a:ext>
            </a:extLst>
          </p:cNvPr>
          <p:cNvSpPr txBox="1"/>
          <p:nvPr/>
        </p:nvSpPr>
        <p:spPr>
          <a:xfrm>
            <a:off x="5621686" y="2220461"/>
            <a:ext cx="3151572" cy="896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48"/>
              </a:lnSpc>
            </a:pPr>
            <a:r>
              <a:rPr sz="1000" b="0" i="0" u="none">
                <a:solidFill>
                  <a:srgbClr val="333333"/>
                </a:solidFill>
                <a:latin typeface="Inter"/>
              </a:rPr>
              <a:t>Подготовить технику нужно заранее. В начале дается </a:t>
            </a:r>
            <a:r>
              <a:rPr sz="1000" b="1" i="0" u="none">
                <a:solidFill>
                  <a:srgbClr val="F26101"/>
                </a:solidFill>
                <a:latin typeface="Inter"/>
              </a:rPr>
              <a:t>15 минут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 только на подключение к сессии. На само решение ТЗ под запись выделяется </a:t>
            </a:r>
            <a:r>
              <a:rPr sz="1000" b="1" i="0" u="none">
                <a:solidFill>
                  <a:srgbClr val="F26101"/>
                </a:solidFill>
                <a:latin typeface="Inter"/>
              </a:rPr>
              <a:t>ровно 2 часа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.</a:t>
            </a:r>
          </a:p>
        </p:txBody>
      </p:sp>
      <p:pic>
        <p:nvPicPr>
          <p:cNvPr id="56" name="Picture 20">
            <a:extLst>
              <a:ext uri="{FF2B5EF4-FFF2-40B4-BE49-F238E27FC236}">
                <a16:creationId xmlns:a16="http://schemas.microsoft.com/office/drawing/2014/main" id="{32C64F54-1C3F-68FE-792C-E3DC6ACCC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7834" y="3521844"/>
            <a:ext cx="257175" cy="342900"/>
          </a:xfrm>
          <a:prstGeom prst="rect">
            <a:avLst/>
          </a:prstGeom>
        </p:spPr>
      </p:pic>
      <p:sp>
        <p:nvSpPr>
          <p:cNvPr id="57" name="TextBox 21">
            <a:extLst>
              <a:ext uri="{FF2B5EF4-FFF2-40B4-BE49-F238E27FC236}">
                <a16:creationId xmlns:a16="http://schemas.microsoft.com/office/drawing/2014/main" id="{FA622FEB-2AA2-953D-868A-8FE6CE2479CB}"/>
              </a:ext>
            </a:extLst>
          </p:cNvPr>
          <p:cNvSpPr txBox="1"/>
          <p:nvPr/>
        </p:nvSpPr>
        <p:spPr>
          <a:xfrm>
            <a:off x="5614097" y="3367264"/>
            <a:ext cx="160620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i="0" u="none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Формат сдачи проекта</a:t>
            </a:r>
          </a:p>
        </p:txBody>
      </p:sp>
      <p:sp>
        <p:nvSpPr>
          <p:cNvPr id="58" name="TextBox 22">
            <a:extLst>
              <a:ext uri="{FF2B5EF4-FFF2-40B4-BE49-F238E27FC236}">
                <a16:creationId xmlns:a16="http://schemas.microsoft.com/office/drawing/2014/main" id="{6343F6C9-2F39-FFFB-577A-F81369A01C81}"/>
              </a:ext>
            </a:extLst>
          </p:cNvPr>
          <p:cNvSpPr txBox="1"/>
          <p:nvPr/>
        </p:nvSpPr>
        <p:spPr>
          <a:xfrm>
            <a:off x="5617070" y="3675052"/>
            <a:ext cx="3396260" cy="896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848"/>
              </a:lnSpc>
            </a:pPr>
            <a:r>
              <a:rPr sz="1000" b="0" i="0" u="none">
                <a:solidFill>
                  <a:srgbClr val="333333"/>
                </a:solidFill>
                <a:latin typeface="Inter"/>
              </a:rPr>
              <a:t>После выполнения нужно собрать все файлы, соблюдая </a:t>
            </a:r>
            <a:r>
              <a:rPr sz="1000" b="1" i="0" u="none">
                <a:solidFill>
                  <a:srgbClr val="F26101"/>
                </a:solidFill>
                <a:latin typeface="Inter"/>
              </a:rPr>
              <a:t>структуру каталогов из ТЗ</a:t>
            </a:r>
            <a:r>
              <a:rPr sz="1000" b="0" i="0" u="none">
                <a:solidFill>
                  <a:srgbClr val="333333"/>
                </a:solidFill>
                <a:latin typeface="Inter"/>
              </a:rPr>
              <a:t>, заархивировать их и отправить на проверку преподавателю.</a:t>
            </a:r>
          </a:p>
        </p:txBody>
      </p:sp>
    </p:spTree>
    <p:extLst>
      <p:ext uri="{BB962C8B-B14F-4D97-AF65-F5344CB8AC3E}">
        <p14:creationId xmlns:p14="http://schemas.microsoft.com/office/powerpoint/2010/main" val="1112173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/>
          <p:nvPr/>
        </p:nvSpPr>
        <p:spPr>
          <a:xfrm>
            <a:off x="5345289" y="296425"/>
            <a:ext cx="457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ФОРМАТ РАБОТЫ</a:t>
            </a:r>
          </a:p>
        </p:txBody>
      </p:sp>
      <p:sp>
        <p:nvSpPr>
          <p:cNvPr id="132" name="Google Shape;67;p14" hidden="1">
            <a:extLst>
              <a:ext uri="{FF2B5EF4-FFF2-40B4-BE49-F238E27FC236}">
                <a16:creationId xmlns:a16="http://schemas.microsoft.com/office/drawing/2014/main" id="{4904998C-087C-6DBA-C9B7-E966085F0788}"/>
              </a:ext>
            </a:extLst>
          </p:cNvPr>
          <p:cNvSpPr/>
          <p:nvPr/>
        </p:nvSpPr>
        <p:spPr>
          <a:xfrm>
            <a:off x="442030" y="956154"/>
            <a:ext cx="8240419" cy="3533155"/>
          </a:xfrm>
          <a:prstGeom prst="roundRect">
            <a:avLst>
              <a:gd name="adj" fmla="val 11015"/>
            </a:avLst>
          </a:prstGeom>
          <a:solidFill>
            <a:srgbClr val="F9F9F9"/>
          </a:solidFill>
          <a:ln>
            <a:noFill/>
          </a:ln>
          <a:effectLst>
            <a:outerShdw blurRad="142875" dist="9525" dir="600000" algn="ctr" rotWithShape="0">
              <a:schemeClr val="tx1">
                <a:alpha val="57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800">
              <a:latin typeface="Inter" panose="02000503000000020004" pitchFamily="2" charset="0"/>
              <a:ea typeface="Inter" panose="02000503000000020004" pitchFamily="2" charset="0"/>
              <a:cs typeface="Calibri"/>
              <a:sym typeface="Calibri"/>
            </a:endParaRPr>
          </a:p>
        </p:txBody>
      </p:sp>
      <p:sp>
        <p:nvSpPr>
          <p:cNvPr id="140" name="Rectangle 12">
            <a:extLst>
              <a:ext uri="{FF2B5EF4-FFF2-40B4-BE49-F238E27FC236}">
                <a16:creationId xmlns:a16="http://schemas.microsoft.com/office/drawing/2014/main" id="{A8BD27D7-E093-543B-975A-5D14F5559587}"/>
              </a:ext>
            </a:extLst>
          </p:cNvPr>
          <p:cNvSpPr/>
          <p:nvPr/>
        </p:nvSpPr>
        <p:spPr>
          <a:xfrm>
            <a:off x="5217214" y="3547737"/>
            <a:ext cx="3384000" cy="6000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AutoShape 2" descr="Сгенерировано изображение">
            <a:extLst>
              <a:ext uri="{FF2B5EF4-FFF2-40B4-BE49-F238E27FC236}">
                <a16:creationId xmlns:a16="http://schemas.microsoft.com/office/drawing/2014/main" id="{7923B4B5-AB28-CF60-49B5-4B2C59B1AB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08823" y="314875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1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AutoShape 4" descr="Изображение">
            <a:extLst>
              <a:ext uri="{FF2B5EF4-FFF2-40B4-BE49-F238E27FC236}">
                <a16:creationId xmlns:a16="http://schemas.microsoft.com/office/drawing/2014/main" id="{EA7BC862-DC78-BB1F-3642-060CBF3860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61223" y="330115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sz="11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5" name="Rectangle 1">
            <a:extLst>
              <a:ext uri="{FF2B5EF4-FFF2-40B4-BE49-F238E27FC236}">
                <a16:creationId xmlns:a16="http://schemas.microsoft.com/office/drawing/2014/main" id="{DD0798EC-1378-7712-588F-F3A2DC389650}"/>
              </a:ext>
            </a:extLst>
          </p:cNvPr>
          <p:cNvSpPr/>
          <p:nvPr/>
        </p:nvSpPr>
        <p:spPr>
          <a:xfrm>
            <a:off x="4159657" y="1411647"/>
            <a:ext cx="0" cy="2952000"/>
          </a:xfrm>
          <a:prstGeom prst="rect">
            <a:avLst/>
          </a:prstGeom>
          <a:solidFill>
            <a:srgbClr val="FF6102"/>
          </a:solidFill>
          <a:ln>
            <a:solidFill>
              <a:srgbClr val="FF60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8" name="TextBox 4">
            <a:extLst>
              <a:ext uri="{FF2B5EF4-FFF2-40B4-BE49-F238E27FC236}">
                <a16:creationId xmlns:a16="http://schemas.microsoft.com/office/drawing/2014/main" id="{7F7201D3-3411-9999-A2EF-825DB17D3E75}"/>
              </a:ext>
            </a:extLst>
          </p:cNvPr>
          <p:cNvSpPr txBox="1">
            <a:spLocks/>
          </p:cNvSpPr>
          <p:nvPr/>
        </p:nvSpPr>
        <p:spPr>
          <a:xfrm>
            <a:off x="1377010" y="1535650"/>
            <a:ext cx="2208939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СОВМЕСТНЫЙ ФОРМАТ</a:t>
            </a:r>
          </a:p>
        </p:txBody>
      </p:sp>
      <p:sp>
        <p:nvSpPr>
          <p:cNvPr id="99" name="TextBox 5">
            <a:extLst>
              <a:ext uri="{FF2B5EF4-FFF2-40B4-BE49-F238E27FC236}">
                <a16:creationId xmlns:a16="http://schemas.microsoft.com/office/drawing/2014/main" id="{D70ED9BB-1D1D-2143-E19A-BD0E7D872851}"/>
              </a:ext>
            </a:extLst>
          </p:cNvPr>
          <p:cNvSpPr txBox="1"/>
          <p:nvPr/>
        </p:nvSpPr>
        <p:spPr>
          <a:xfrm>
            <a:off x="5176138" y="1535650"/>
            <a:ext cx="2970365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САМОСТОЯТЕЛЬНОЕ ИЗУЧЕНИЕ</a:t>
            </a:r>
          </a:p>
        </p:txBody>
      </p:sp>
      <p:pic>
        <p:nvPicPr>
          <p:cNvPr id="101" name="Picture 7">
            <a:extLst>
              <a:ext uri="{FF2B5EF4-FFF2-40B4-BE49-F238E27FC236}">
                <a16:creationId xmlns:a16="http://schemas.microsoft.com/office/drawing/2014/main" id="{84F52633-8006-ABCB-41A4-367BB4413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391" y="2182777"/>
            <a:ext cx="474131" cy="349044"/>
          </a:xfrm>
          <a:prstGeom prst="rect">
            <a:avLst/>
          </a:prstGeom>
        </p:spPr>
      </p:pic>
      <p:sp>
        <p:nvSpPr>
          <p:cNvPr id="102" name="TextBox 8">
            <a:extLst>
              <a:ext uri="{FF2B5EF4-FFF2-40B4-BE49-F238E27FC236}">
                <a16:creationId xmlns:a16="http://schemas.microsoft.com/office/drawing/2014/main" id="{E4067F7E-7079-DE18-6666-5EED53AE8E34}"/>
              </a:ext>
            </a:extLst>
          </p:cNvPr>
          <p:cNvSpPr txBox="1"/>
          <p:nvPr/>
        </p:nvSpPr>
        <p:spPr>
          <a:xfrm>
            <a:off x="1577636" y="1930727"/>
            <a:ext cx="2035814" cy="1046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10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Вебинары</a:t>
            </a:r>
            <a:r>
              <a:rPr sz="110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с </a:t>
            </a:r>
            <a:r>
              <a:rPr sz="110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преподавателем</a:t>
            </a:r>
            <a:endParaRPr lang="ru-RU" sz="1100">
              <a:solidFill>
                <a:srgbClr val="222222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1000">
                <a:solidFill>
                  <a:srgbClr val="333333"/>
                </a:solidFill>
                <a:latin typeface="Inter"/>
              </a:rPr>
              <a:t>ответы на вопросы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000" err="1">
                <a:solidFill>
                  <a:srgbClr val="333333"/>
                </a:solidFill>
                <a:latin typeface="Inter"/>
              </a:rPr>
              <a:t>теори</a:t>
            </a:r>
            <a:r>
              <a:rPr lang="ru-RU" sz="1000" err="1">
                <a:solidFill>
                  <a:srgbClr val="333333"/>
                </a:solidFill>
                <a:latin typeface="Inter"/>
              </a:rPr>
              <a:t>тические</a:t>
            </a:r>
            <a:r>
              <a:rPr lang="ru-RU" sz="1000">
                <a:solidFill>
                  <a:srgbClr val="333333"/>
                </a:solidFill>
                <a:latin typeface="Inter"/>
              </a:rPr>
              <a:t> блоки</a:t>
            </a:r>
          </a:p>
          <a:p>
            <a:pPr marL="171450" indent="-1714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000" err="1">
                <a:solidFill>
                  <a:srgbClr val="333333"/>
                </a:solidFill>
                <a:latin typeface="Inter"/>
              </a:rPr>
              <a:t>практические</a:t>
            </a:r>
            <a:r>
              <a:rPr sz="1000">
                <a:solidFill>
                  <a:srgbClr val="333333"/>
                </a:solidFill>
                <a:latin typeface="Inter"/>
              </a:rPr>
              <a:t> </a:t>
            </a:r>
            <a:r>
              <a:rPr sz="1000" err="1">
                <a:solidFill>
                  <a:srgbClr val="333333"/>
                </a:solidFill>
                <a:latin typeface="Inter"/>
              </a:rPr>
              <a:t>разборы</a:t>
            </a:r>
            <a:endParaRPr lang="ru-RU" sz="100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04" name="TextBox 10">
            <a:extLst>
              <a:ext uri="{FF2B5EF4-FFF2-40B4-BE49-F238E27FC236}">
                <a16:creationId xmlns:a16="http://schemas.microsoft.com/office/drawing/2014/main" id="{95F97C58-173A-9FF8-34C9-9FB8884C2BCE}"/>
              </a:ext>
            </a:extLst>
          </p:cNvPr>
          <p:cNvSpPr txBox="1"/>
          <p:nvPr/>
        </p:nvSpPr>
        <p:spPr>
          <a:xfrm>
            <a:off x="1577636" y="3381986"/>
            <a:ext cx="1800173" cy="7385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20000"/>
              </a:lnSpc>
              <a:defRPr sz="1100" b="1" kern="1200">
                <a:solidFill>
                  <a:srgbClr val="131211"/>
                </a:solidFill>
                <a:latin typeface="Roboto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Вопросы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</a:t>
            </a: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преподавател</a:t>
            </a:r>
            <a:r>
              <a:rPr lang="ru-RU"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ю</a:t>
            </a:r>
          </a:p>
          <a:p>
            <a:pPr>
              <a:lnSpc>
                <a:spcPct val="200000"/>
              </a:lnSpc>
            </a:pPr>
            <a:r>
              <a:rPr sz="1000" b="0">
                <a:solidFill>
                  <a:srgbClr val="333333"/>
                </a:solidFill>
                <a:latin typeface="Inter"/>
              </a:rPr>
              <a:t>в </a:t>
            </a:r>
            <a:r>
              <a:rPr sz="1000" b="0" err="1">
                <a:solidFill>
                  <a:srgbClr val="333333"/>
                </a:solidFill>
                <a:latin typeface="Inter"/>
              </a:rPr>
              <a:t>личном</a:t>
            </a:r>
            <a:r>
              <a:rPr sz="1000" b="0">
                <a:solidFill>
                  <a:srgbClr val="333333"/>
                </a:solidFill>
                <a:latin typeface="Inter"/>
              </a:rPr>
              <a:t> </a:t>
            </a:r>
            <a:r>
              <a:rPr sz="1000" b="0" err="1">
                <a:solidFill>
                  <a:srgbClr val="333333"/>
                </a:solidFill>
                <a:latin typeface="Inter"/>
              </a:rPr>
              <a:t>кабинете</a:t>
            </a:r>
            <a:r>
              <a:rPr sz="1000" b="0">
                <a:solidFill>
                  <a:srgbClr val="333333"/>
                </a:solidFill>
                <a:latin typeface="Inter"/>
              </a:rPr>
              <a:t> </a:t>
            </a:r>
            <a:r>
              <a:rPr sz="1000" b="0" err="1">
                <a:solidFill>
                  <a:srgbClr val="333333"/>
                </a:solidFill>
                <a:latin typeface="Inter"/>
              </a:rPr>
              <a:t>студента</a:t>
            </a:r>
            <a:r>
              <a:rPr sz="1000" b="0">
                <a:solidFill>
                  <a:srgbClr val="333333"/>
                </a:solidFill>
                <a:latin typeface="Inter"/>
              </a:rPr>
              <a:t>
</a:t>
            </a:r>
            <a:r>
              <a:rPr sz="1000" b="0" err="1">
                <a:solidFill>
                  <a:srgbClr val="333333"/>
                </a:solidFill>
                <a:latin typeface="Inter"/>
              </a:rPr>
              <a:t>на</a:t>
            </a:r>
            <a:r>
              <a:rPr sz="1000" b="0">
                <a:solidFill>
                  <a:srgbClr val="333333"/>
                </a:solidFill>
                <a:latin typeface="Inter"/>
              </a:rPr>
              <a:t> </a:t>
            </a:r>
            <a:r>
              <a:rPr sz="1000" b="0" err="1">
                <a:solidFill>
                  <a:srgbClr val="333333"/>
                </a:solidFill>
                <a:latin typeface="Inter"/>
              </a:rPr>
              <a:t>сайте</a:t>
            </a:r>
            <a:r>
              <a:rPr lang="ru-RU" sz="1000" b="0">
                <a:solidFill>
                  <a:srgbClr val="333333"/>
                </a:solidFill>
                <a:latin typeface="Inter"/>
              </a:rPr>
              <a:t> </a:t>
            </a:r>
            <a:r>
              <a:rPr lang="en-US" sz="1000" b="0">
                <a:solidFill>
                  <a:srgbClr val="333333"/>
                </a:solidFill>
                <a:latin typeface="Inter"/>
              </a:rPr>
              <a:t>dist.mveu.ru</a:t>
            </a:r>
            <a:r>
              <a:rPr lang="ru-RU" sz="1000" b="0">
                <a:solidFill>
                  <a:srgbClr val="333333"/>
                </a:solidFill>
                <a:latin typeface="Inter"/>
              </a:rPr>
              <a:t> </a:t>
            </a:r>
            <a:endParaRPr sz="1000" b="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06" name="Rectangle 12">
            <a:extLst>
              <a:ext uri="{FF2B5EF4-FFF2-40B4-BE49-F238E27FC236}">
                <a16:creationId xmlns:a16="http://schemas.microsoft.com/office/drawing/2014/main" id="{DC7F44E9-8AC1-6EAD-8329-336F3A67444A}"/>
              </a:ext>
            </a:extLst>
          </p:cNvPr>
          <p:cNvSpPr/>
          <p:nvPr/>
        </p:nvSpPr>
        <p:spPr>
          <a:xfrm>
            <a:off x="5215649" y="2708970"/>
            <a:ext cx="3384000" cy="9664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7" name="TextBox 13">
            <a:extLst>
              <a:ext uri="{FF2B5EF4-FFF2-40B4-BE49-F238E27FC236}">
                <a16:creationId xmlns:a16="http://schemas.microsoft.com/office/drawing/2014/main" id="{DA99914F-940C-C11E-ED6A-95D29DBB3F68}"/>
              </a:ext>
            </a:extLst>
          </p:cNvPr>
          <p:cNvSpPr txBox="1"/>
          <p:nvPr/>
        </p:nvSpPr>
        <p:spPr>
          <a:xfrm>
            <a:off x="5217214" y="2935957"/>
            <a:ext cx="2447786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20000"/>
              </a:lnSpc>
              <a:defRPr sz="1100" b="1" kern="1200">
                <a:solidFill>
                  <a:srgbClr val="131211"/>
                </a:solidFill>
                <a:latin typeface="Roboto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Закрепление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</a:t>
            </a: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полученных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навыков</a:t>
            </a:r>
          </a:p>
        </p:txBody>
      </p:sp>
      <p:sp>
        <p:nvSpPr>
          <p:cNvPr id="109" name="TextBox 15">
            <a:extLst>
              <a:ext uri="{FF2B5EF4-FFF2-40B4-BE49-F238E27FC236}">
                <a16:creationId xmlns:a16="http://schemas.microsoft.com/office/drawing/2014/main" id="{53FD8C67-45B4-6383-A689-9BF05A0EBF3E}"/>
              </a:ext>
            </a:extLst>
          </p:cNvPr>
          <p:cNvSpPr txBox="1"/>
          <p:nvPr/>
        </p:nvSpPr>
        <p:spPr>
          <a:xfrm>
            <a:off x="5215649" y="3717216"/>
            <a:ext cx="3281348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20000"/>
              </a:lnSpc>
              <a:defRPr sz="1100" b="1" kern="1200">
                <a:solidFill>
                  <a:srgbClr val="131211"/>
                </a:solidFill>
                <a:latin typeface="Roboto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Подготовка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</a:t>
            </a: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вопросов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к </a:t>
            </a: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следующему</a:t>
            </a:r>
            <a:r>
              <a:rPr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 </a:t>
            </a:r>
            <a:r>
              <a:rPr b="0" err="1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вебинару</a:t>
            </a:r>
            <a:endParaRPr b="0">
              <a:solidFill>
                <a:srgbClr val="222222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</p:txBody>
      </p:sp>
      <p:pic>
        <p:nvPicPr>
          <p:cNvPr id="111" name="Picture 17">
            <a:extLst>
              <a:ext uri="{FF2B5EF4-FFF2-40B4-BE49-F238E27FC236}">
                <a16:creationId xmlns:a16="http://schemas.microsoft.com/office/drawing/2014/main" id="{DC3DB247-5459-D257-625A-3880663C3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55" y="3630045"/>
            <a:ext cx="327256" cy="302429"/>
          </a:xfrm>
          <a:prstGeom prst="rect">
            <a:avLst/>
          </a:prstGeom>
        </p:spPr>
      </p:pic>
      <p:pic>
        <p:nvPicPr>
          <p:cNvPr id="113" name="Picture 19">
            <a:extLst>
              <a:ext uri="{FF2B5EF4-FFF2-40B4-BE49-F238E27FC236}">
                <a16:creationId xmlns:a16="http://schemas.microsoft.com/office/drawing/2014/main" id="{755A2DD6-083B-A8A6-A745-F7FC03B9D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721" y="2120588"/>
            <a:ext cx="277126" cy="227109"/>
          </a:xfrm>
          <a:prstGeom prst="rect">
            <a:avLst/>
          </a:prstGeom>
        </p:spPr>
      </p:pic>
      <p:sp>
        <p:nvSpPr>
          <p:cNvPr id="100" name="TextBox 6">
            <a:extLst>
              <a:ext uri="{FF2B5EF4-FFF2-40B4-BE49-F238E27FC236}">
                <a16:creationId xmlns:a16="http://schemas.microsoft.com/office/drawing/2014/main" id="{3328FCA8-D0E0-898C-90D8-41A7688326BA}"/>
              </a:ext>
            </a:extLst>
          </p:cNvPr>
          <p:cNvSpPr txBox="1"/>
          <p:nvPr/>
        </p:nvSpPr>
        <p:spPr>
          <a:xfrm>
            <a:off x="3226540" y="986808"/>
            <a:ext cx="1866235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7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ОЧНО-ЗАОЧНАЯ  ФОРМА ОБУЧЕНИЯ</a:t>
            </a:r>
          </a:p>
        </p:txBody>
      </p:sp>
      <p:pic>
        <p:nvPicPr>
          <p:cNvPr id="115" name="Picture 21">
            <a:extLst>
              <a:ext uri="{FF2B5EF4-FFF2-40B4-BE49-F238E27FC236}">
                <a16:creationId xmlns:a16="http://schemas.microsoft.com/office/drawing/2014/main" id="{6B78F33F-C8B5-9DFD-978B-EECE9E8DA7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659" y="2992214"/>
            <a:ext cx="198694" cy="246438"/>
          </a:xfrm>
          <a:prstGeom prst="rect">
            <a:avLst/>
          </a:prstGeom>
        </p:spPr>
      </p:pic>
      <p:pic>
        <p:nvPicPr>
          <p:cNvPr id="117" name="Picture 23">
            <a:extLst>
              <a:ext uri="{FF2B5EF4-FFF2-40B4-BE49-F238E27FC236}">
                <a16:creationId xmlns:a16="http://schemas.microsoft.com/office/drawing/2014/main" id="{22C656F1-D43A-5149-AF80-EE42152483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8111" y="3789713"/>
            <a:ext cx="288346" cy="246438"/>
          </a:xfrm>
          <a:prstGeom prst="rect">
            <a:avLst/>
          </a:prstGeom>
        </p:spPr>
      </p:pic>
      <p:sp>
        <p:nvSpPr>
          <p:cNvPr id="127" name="TextBox 6">
            <a:extLst>
              <a:ext uri="{FF2B5EF4-FFF2-40B4-BE49-F238E27FC236}">
                <a16:creationId xmlns:a16="http://schemas.microsoft.com/office/drawing/2014/main" id="{8E1B1549-F7A3-9253-543B-80B9F1438549}"/>
              </a:ext>
            </a:extLst>
          </p:cNvPr>
          <p:cNvSpPr txBox="1"/>
          <p:nvPr/>
        </p:nvSpPr>
        <p:spPr>
          <a:xfrm>
            <a:off x="5217214" y="2063448"/>
            <a:ext cx="2771593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20000"/>
              </a:lnSpc>
              <a:defRPr sz="1100" b="1" kern="1200">
                <a:solidFill>
                  <a:srgbClr val="131211"/>
                </a:solidFill>
                <a:latin typeface="Roboto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b="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Изучение дополнительных материалов</a:t>
            </a:r>
            <a:endParaRPr lang="en-US" b="0">
              <a:solidFill>
                <a:srgbClr val="222222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</p:txBody>
      </p:sp>
      <p:sp>
        <p:nvSpPr>
          <p:cNvPr id="141" name="Rectangle 12">
            <a:extLst>
              <a:ext uri="{FF2B5EF4-FFF2-40B4-BE49-F238E27FC236}">
                <a16:creationId xmlns:a16="http://schemas.microsoft.com/office/drawing/2014/main" id="{75953258-5CAB-18DD-B57B-B8A8FB299E7F}"/>
              </a:ext>
            </a:extLst>
          </p:cNvPr>
          <p:cNvSpPr/>
          <p:nvPr/>
        </p:nvSpPr>
        <p:spPr>
          <a:xfrm>
            <a:off x="1558174" y="3223794"/>
            <a:ext cx="1908000" cy="878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10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422CF7-EB14-4D8E-6037-8CA404B74907}"/>
              </a:ext>
            </a:extLst>
          </p:cNvPr>
          <p:cNvSpPr txBox="1"/>
          <p:nvPr/>
        </p:nvSpPr>
        <p:spPr>
          <a:xfrm>
            <a:off x="5124756" y="2312110"/>
            <a:ext cx="3046027" cy="510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ru-RU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•</a:t>
            </a:r>
            <a:r>
              <a:rPr lang="en-US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теоритические примеры на </a:t>
            </a:r>
            <a:r>
              <a:rPr lang="en-US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github • </a:t>
            </a:r>
            <a:r>
              <a:rPr lang="ru-RU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онлайн-курс в ЛК </a:t>
            </a:r>
          </a:p>
          <a:p>
            <a:pPr>
              <a:lnSpc>
                <a:spcPct val="120000"/>
              </a:lnSpc>
            </a:pPr>
            <a:r>
              <a:rPr lang="en-US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• </a:t>
            </a:r>
            <a:r>
              <a:rPr lang="ru-RU" sz="800" b="0" i="0" u="none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книги и нейросети</a:t>
            </a:r>
          </a:p>
          <a:p>
            <a:endParaRPr lang="ru-RU" sz="800" b="0">
              <a:solidFill>
                <a:schemeClr val="bg2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B472B6-4A08-62E8-E829-348B3BEF26FB}"/>
              </a:ext>
            </a:extLst>
          </p:cNvPr>
          <p:cNvSpPr txBox="1"/>
          <p:nvPr/>
        </p:nvSpPr>
        <p:spPr>
          <a:xfrm>
            <a:off x="5112318" y="3165252"/>
            <a:ext cx="3090911" cy="375359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20000"/>
              </a:lnSpc>
              <a:defRPr sz="700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sz="800"/>
              <a:t>•</a:t>
            </a:r>
            <a:r>
              <a:rPr lang="en-US" sz="800"/>
              <a:t> </a:t>
            </a:r>
            <a:r>
              <a:rPr lang="ru-RU" sz="800"/>
              <a:t>проект с вебинаров •</a:t>
            </a:r>
            <a:r>
              <a:rPr lang="en-US" sz="800"/>
              <a:t> </a:t>
            </a:r>
            <a:r>
              <a:rPr lang="ru-RU" sz="800"/>
              <a:t>практические примеры на </a:t>
            </a:r>
            <a:r>
              <a:rPr lang="en-US" sz="800"/>
              <a:t>github </a:t>
            </a:r>
            <a:endParaRPr lang="ru-RU" sz="800"/>
          </a:p>
          <a:p>
            <a:r>
              <a:rPr lang="en-US" sz="800"/>
              <a:t>•</a:t>
            </a:r>
            <a:r>
              <a:rPr lang="ru-RU" sz="800"/>
              <a:t> нейросети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2E663B-951D-12AA-88CD-C52068222290}"/>
              </a:ext>
            </a:extLst>
          </p:cNvPr>
          <p:cNvSpPr txBox="1"/>
          <p:nvPr/>
        </p:nvSpPr>
        <p:spPr>
          <a:xfrm>
            <a:off x="5112318" y="3942078"/>
            <a:ext cx="2778325" cy="375359"/>
          </a:xfrm>
          <a:prstGeom prst="rect">
            <a:avLst/>
          </a:prstGeom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lnSpc>
                <a:spcPct val="120000"/>
              </a:lnSpc>
              <a:defRPr sz="700">
                <a:solidFill>
                  <a:schemeClr val="bg2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r>
              <a:rPr lang="ru-RU" sz="800"/>
              <a:t>•</a:t>
            </a:r>
            <a:r>
              <a:rPr lang="en-US" sz="800"/>
              <a:t> </a:t>
            </a:r>
            <a:r>
              <a:rPr lang="ru-RU" sz="800"/>
              <a:t>разбор примеров с вебинаров •</a:t>
            </a:r>
            <a:r>
              <a:rPr lang="en-US" sz="800"/>
              <a:t> </a:t>
            </a:r>
            <a:r>
              <a:rPr lang="ru-RU" sz="800"/>
              <a:t>запись проблем </a:t>
            </a:r>
          </a:p>
          <a:p>
            <a:r>
              <a:rPr lang="en-US" sz="800"/>
              <a:t>•</a:t>
            </a:r>
            <a:r>
              <a:rPr lang="ru-RU" sz="800"/>
              <a:t> подготовка вопросов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CAE5C5-53C0-2FB5-3C71-5EFFBE984700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Как изучать дисциплину?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2435754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/>
          <p:nvPr/>
        </p:nvSpPr>
        <p:spPr>
          <a:xfrm>
            <a:off x="5345289" y="317690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СОВМЕСТНЫЙ ФОРМАТ</a:t>
            </a:r>
          </a:p>
        </p:txBody>
      </p:sp>
      <p:sp>
        <p:nvSpPr>
          <p:cNvPr id="132" name="Google Shape;67;p14" hidden="1">
            <a:extLst>
              <a:ext uri="{FF2B5EF4-FFF2-40B4-BE49-F238E27FC236}">
                <a16:creationId xmlns:a16="http://schemas.microsoft.com/office/drawing/2014/main" id="{4904998C-087C-6DBA-C9B7-E966085F0788}"/>
              </a:ext>
            </a:extLst>
          </p:cNvPr>
          <p:cNvSpPr/>
          <p:nvPr/>
        </p:nvSpPr>
        <p:spPr>
          <a:xfrm>
            <a:off x="442030" y="956154"/>
            <a:ext cx="8240419" cy="3533155"/>
          </a:xfrm>
          <a:prstGeom prst="roundRect">
            <a:avLst>
              <a:gd name="adj" fmla="val 11015"/>
            </a:avLst>
          </a:prstGeom>
          <a:solidFill>
            <a:srgbClr val="F9F9F9"/>
          </a:solidFill>
          <a:ln>
            <a:noFill/>
          </a:ln>
          <a:effectLst>
            <a:outerShdw blurRad="142875" dist="9525" dir="600000" algn="ctr" rotWithShape="0">
              <a:schemeClr val="tx1">
                <a:alpha val="57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 sz="1800">
              <a:latin typeface="Inter" panose="02000503000000020004" pitchFamily="2" charset="0"/>
              <a:ea typeface="Inter" panose="02000503000000020004" pitchFamily="2" charset="0"/>
              <a:cs typeface="Calibri"/>
              <a:sym typeface="Calibri"/>
            </a:endParaRPr>
          </a:p>
        </p:txBody>
      </p:sp>
      <p:pic>
        <p:nvPicPr>
          <p:cNvPr id="101" name="Picture 7">
            <a:extLst>
              <a:ext uri="{FF2B5EF4-FFF2-40B4-BE49-F238E27FC236}">
                <a16:creationId xmlns:a16="http://schemas.microsoft.com/office/drawing/2014/main" id="{84F52633-8006-ABCB-41A4-367BB4413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67" y="1115336"/>
            <a:ext cx="474131" cy="349044"/>
          </a:xfrm>
          <a:prstGeom prst="rect">
            <a:avLst/>
          </a:prstGeom>
        </p:spPr>
      </p:pic>
      <p:sp>
        <p:nvSpPr>
          <p:cNvPr id="102" name="TextBox 8">
            <a:extLst>
              <a:ext uri="{FF2B5EF4-FFF2-40B4-BE49-F238E27FC236}">
                <a16:creationId xmlns:a16="http://schemas.microsoft.com/office/drawing/2014/main" id="{E4067F7E-7079-DE18-6666-5EED53AE8E34}"/>
              </a:ext>
            </a:extLst>
          </p:cNvPr>
          <p:cNvSpPr txBox="1"/>
          <p:nvPr/>
        </p:nvSpPr>
        <p:spPr>
          <a:xfrm>
            <a:off x="1948987" y="957766"/>
            <a:ext cx="4363374" cy="439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1200" b="1" i="0" u="none">
                <a:solidFill>
                  <a:srgbClr val="FF6F03"/>
                </a:solidFill>
                <a:latin typeface="Montserrat" panose="00000500000000000000" pitchFamily="2" charset="-52"/>
                <a:ea typeface="Inter" panose="02000503000000020004" pitchFamily="2" charset="0"/>
              </a:rPr>
              <a:t>ВЕБИНАРЫ С ПРЕПОДАВАТЕЛЕМ</a:t>
            </a:r>
          </a:p>
          <a:p>
            <a:pPr>
              <a:lnSpc>
                <a:spcPct val="150000"/>
              </a:lnSpc>
            </a:pPr>
            <a:r>
              <a:rPr lang="ru-RU" sz="800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Вебинары это прямая консультация для решения проблем и вопросов по дисциплине</a:t>
            </a:r>
            <a:endParaRPr lang="ru-RU" sz="800" i="0" u="none">
              <a:solidFill>
                <a:srgbClr val="434343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111" name="Picture 17">
            <a:extLst>
              <a:ext uri="{FF2B5EF4-FFF2-40B4-BE49-F238E27FC236}">
                <a16:creationId xmlns:a16="http://schemas.microsoft.com/office/drawing/2014/main" id="{DC3DB247-5459-D257-625A-3880663C3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83" y="2888050"/>
            <a:ext cx="377698" cy="3490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DE718A-7899-85B6-DB51-B6794B638A4F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Когда, где и как задавать вопрос?</a:t>
            </a:r>
            <a:endParaRPr lang="ru-RU" sz="10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C04396B-26AE-A581-9AC2-13725B4927D6}"/>
              </a:ext>
            </a:extLst>
          </p:cNvPr>
          <p:cNvSpPr/>
          <p:nvPr/>
        </p:nvSpPr>
        <p:spPr>
          <a:xfrm rot="16200000">
            <a:off x="4929489" y="-296824"/>
            <a:ext cx="3600" cy="5976000"/>
          </a:xfrm>
          <a:prstGeom prst="rect">
            <a:avLst/>
          </a:prstGeom>
          <a:solidFill>
            <a:srgbClr val="FF6102"/>
          </a:solidFill>
          <a:ln>
            <a:solidFill>
              <a:srgbClr val="FF60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D072B-CB50-1705-A21D-7F1EB85A69B5}"/>
              </a:ext>
            </a:extLst>
          </p:cNvPr>
          <p:cNvSpPr txBox="1"/>
          <p:nvPr/>
        </p:nvSpPr>
        <p:spPr>
          <a:xfrm>
            <a:off x="1834906" y="1579393"/>
            <a:ext cx="6936953" cy="829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Подготовленные вопросы лучше задавать 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начале 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вебинара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Вопросы возникающие по ходу вебинара можно задавать 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сразу в чате 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или 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показать свой экран 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 проблемой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После ответа на вопросы, преподаватель рассказывает теоритические блоки</a:t>
            </a:r>
            <a:r>
              <a:rPr lang="ru-RU" sz="900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 практические разборы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05865EA8-C677-A0B8-CEC8-DB98663B3FC8}"/>
              </a:ext>
            </a:extLst>
          </p:cNvPr>
          <p:cNvSpPr txBox="1"/>
          <p:nvPr/>
        </p:nvSpPr>
        <p:spPr>
          <a:xfrm>
            <a:off x="1943289" y="2816247"/>
            <a:ext cx="4393832" cy="4399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1200" b="1" i="0" u="none">
                <a:solidFill>
                  <a:srgbClr val="FF6F03"/>
                </a:solidFill>
                <a:latin typeface="Montserrat" panose="00000500000000000000" pitchFamily="2" charset="-52"/>
                <a:ea typeface="Inter" panose="02000503000000020004" pitchFamily="2" charset="0"/>
              </a:rPr>
              <a:t>ЛИЧНЫЙ ЧАТ С ПРЕПОДАВАТЕЛЕМ</a:t>
            </a:r>
          </a:p>
          <a:p>
            <a:pPr>
              <a:lnSpc>
                <a:spcPct val="150000"/>
              </a:lnSpc>
            </a:pPr>
            <a:r>
              <a:rPr lang="ru-RU" sz="80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личном кабинете студента вы можете задать вопрос преподавателю по дисциплине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CC6526-C185-1F95-6716-4FCA0E8C6BA4}"/>
              </a:ext>
            </a:extLst>
          </p:cNvPr>
          <p:cNvSpPr txBox="1"/>
          <p:nvPr/>
        </p:nvSpPr>
        <p:spPr>
          <a:xfrm>
            <a:off x="1834906" y="3424501"/>
            <a:ext cx="6936953" cy="881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900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 задании вопроса связанного с проектом прикрепляйте </a:t>
            </a:r>
            <a:r>
              <a:rPr lang="ru-RU" sz="900" b="1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архив с кодом</a:t>
            </a:r>
            <a:r>
              <a:rPr lang="ru-RU" sz="900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что бы ответ был точнее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Если у вас возник</a:t>
            </a:r>
            <a:r>
              <a:rPr lang="ru-RU" sz="900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ли проблемы с установкой компонентов или ошибки компиляции,</a:t>
            </a:r>
          </a:p>
          <a:p>
            <a:pPr>
              <a:lnSpc>
                <a:spcPct val="200000"/>
              </a:lnSpc>
            </a:pP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     прикрепляйте в сообщение саму 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ошибку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 (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текстом </a:t>
            </a:r>
            <a:r>
              <a:rPr lang="ru-RU" sz="90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или</a:t>
            </a:r>
            <a:r>
              <a:rPr lang="ru-RU" sz="900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скриншотом</a:t>
            </a:r>
            <a:r>
              <a:rPr lang="ru-RU" sz="900" b="0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96819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4">
            <a:extLst>
              <a:ext uri="{FF2B5EF4-FFF2-40B4-BE49-F238E27FC236}">
                <a16:creationId xmlns:a16="http://schemas.microsoft.com/office/drawing/2014/main" id="{7F7201D3-3411-9999-A2EF-825DB17D3E7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60193" y="1439392"/>
            <a:ext cx="187871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В ЛИЧНОМ КАБИНЕТЕ</a:t>
            </a:r>
          </a:p>
        </p:txBody>
      </p:sp>
      <p:pic>
        <p:nvPicPr>
          <p:cNvPr id="5" name="Picture 19">
            <a:extLst>
              <a:ext uri="{FF2B5EF4-FFF2-40B4-BE49-F238E27FC236}">
                <a16:creationId xmlns:a16="http://schemas.microsoft.com/office/drawing/2014/main" id="{910E6D26-EF4E-B2F6-BDFB-5EB56CC193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739" y="1127310"/>
            <a:ext cx="277126" cy="227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45289" y="30764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ПОЛЕЗНЫЕ МАТЕРИАЛЫ</a:t>
            </a:r>
          </a:p>
        </p:txBody>
      </p:sp>
      <p:sp>
        <p:nvSpPr>
          <p:cNvPr id="95" name="Rectangle 1">
            <a:extLst>
              <a:ext uri="{FF2B5EF4-FFF2-40B4-BE49-F238E27FC236}">
                <a16:creationId xmlns:a16="http://schemas.microsoft.com/office/drawing/2014/main" id="{DD0798EC-1378-7712-588F-F3A2DC389650}"/>
              </a:ext>
            </a:extLst>
          </p:cNvPr>
          <p:cNvSpPr>
            <a:spLocks/>
          </p:cNvSpPr>
          <p:nvPr/>
        </p:nvSpPr>
        <p:spPr>
          <a:xfrm>
            <a:off x="4352298" y="1639447"/>
            <a:ext cx="0" cy="2880000"/>
          </a:xfrm>
          <a:prstGeom prst="rect">
            <a:avLst/>
          </a:prstGeom>
          <a:solidFill>
            <a:srgbClr val="FF6102"/>
          </a:solidFill>
          <a:ln>
            <a:solidFill>
              <a:srgbClr val="FF600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9" name="TextBox 5">
            <a:extLst>
              <a:ext uri="{FF2B5EF4-FFF2-40B4-BE49-F238E27FC236}">
                <a16:creationId xmlns:a16="http://schemas.microsoft.com/office/drawing/2014/main" id="{D70ED9BB-1D1D-2143-E19A-BD0E7D8728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26541" y="1424003"/>
            <a:ext cx="918521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 </a:t>
            </a:r>
            <a:r>
              <a:rPr lang="en-US"/>
              <a:t>GITHUB</a:t>
            </a:r>
            <a:endParaRPr lang="ru-RU"/>
          </a:p>
        </p:txBody>
      </p:sp>
      <p:sp>
        <p:nvSpPr>
          <p:cNvPr id="102" name="TextBox 8">
            <a:extLst>
              <a:ext uri="{FF2B5EF4-FFF2-40B4-BE49-F238E27FC236}">
                <a16:creationId xmlns:a16="http://schemas.microsoft.com/office/drawing/2014/main" id="{E4067F7E-7079-DE18-6666-5EED53AE8E34}"/>
              </a:ext>
            </a:extLst>
          </p:cNvPr>
          <p:cNvSpPr txBox="1"/>
          <p:nvPr/>
        </p:nvSpPr>
        <p:spPr>
          <a:xfrm>
            <a:off x="1124209" y="1869639"/>
            <a:ext cx="1760097" cy="321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Карта курса</a:t>
            </a:r>
            <a:endParaRPr lang="en-US" sz="11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4"/>
              </a:rPr>
              <a:t>https://dist.mveu.ru/elms/discipline/2831</a:t>
            </a: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7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F40FE231-C8A6-6518-9966-84065B106874}"/>
              </a:ext>
            </a:extLst>
          </p:cNvPr>
          <p:cNvSpPr/>
          <p:nvPr/>
        </p:nvSpPr>
        <p:spPr>
          <a:xfrm>
            <a:off x="793608" y="2024532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4C301F45-6398-E062-91C7-9BF076846302}"/>
              </a:ext>
            </a:extLst>
          </p:cNvPr>
          <p:cNvSpPr txBox="1"/>
          <p:nvPr/>
        </p:nvSpPr>
        <p:spPr>
          <a:xfrm>
            <a:off x="1124283" y="2392373"/>
            <a:ext cx="3092193" cy="304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Методическое пособие(сайт)</a:t>
            </a:r>
          </a:p>
          <a:p>
            <a:pPr>
              <a:lnSpc>
                <a:spcPct val="120000"/>
              </a:lnSpc>
            </a:pPr>
            <a:r>
              <a:rPr lang="en-US" sz="6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https://dist.mveu.ru/files/mveu/discipline/course/2749</a:t>
            </a:r>
            <a:r>
              <a:rPr lang="en-US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/</a:t>
            </a:r>
            <a:r>
              <a:rPr lang="ru-RU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методическое-пособие</a:t>
            </a:r>
            <a:r>
              <a:rPr lang="en-US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/</a:t>
            </a:r>
            <a:r>
              <a:rPr lang="en-US" sz="6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res/</a:t>
            </a:r>
            <a:r>
              <a:rPr lang="en-US" sz="6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2" name="Rounded Rectangle 19">
            <a:extLst>
              <a:ext uri="{FF2B5EF4-FFF2-40B4-BE49-F238E27FC236}">
                <a16:creationId xmlns:a16="http://schemas.microsoft.com/office/drawing/2014/main" id="{F79736DF-5FD4-363E-AD8F-0D974493DCEC}"/>
              </a:ext>
            </a:extLst>
          </p:cNvPr>
          <p:cNvSpPr/>
          <p:nvPr/>
        </p:nvSpPr>
        <p:spPr>
          <a:xfrm>
            <a:off x="793682" y="2547266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8B11D-89DE-CFF3-C941-5BF864C75BFF}"/>
              </a:ext>
            </a:extLst>
          </p:cNvPr>
          <p:cNvSpPr/>
          <p:nvPr/>
        </p:nvSpPr>
        <p:spPr>
          <a:xfrm>
            <a:off x="1124209" y="2295393"/>
            <a:ext cx="2880000" cy="9664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6F3B04E7-39E0-1B4E-C899-663344A2E1A1}"/>
              </a:ext>
            </a:extLst>
          </p:cNvPr>
          <p:cNvSpPr/>
          <p:nvPr/>
        </p:nvSpPr>
        <p:spPr>
          <a:xfrm>
            <a:off x="1124209" y="2875693"/>
            <a:ext cx="2880000" cy="9664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1903312B-68B3-72B5-F694-B0D5740F4A9D}"/>
              </a:ext>
            </a:extLst>
          </p:cNvPr>
          <p:cNvSpPr txBox="1"/>
          <p:nvPr/>
        </p:nvSpPr>
        <p:spPr>
          <a:xfrm>
            <a:off x="1124209" y="3017929"/>
            <a:ext cx="1760097" cy="321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Упражнения</a:t>
            </a:r>
          </a:p>
          <a:p>
            <a:pPr>
              <a:lnSpc>
                <a:spcPct val="120000"/>
              </a:lnSpc>
            </a:pP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4"/>
              </a:rPr>
              <a:t>https://dist.mveu.ru/elms/discipline/2831</a:t>
            </a: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7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1882A7D2-091D-8EBB-E008-9891BAA03BA4}"/>
              </a:ext>
            </a:extLst>
          </p:cNvPr>
          <p:cNvSpPr/>
          <p:nvPr/>
        </p:nvSpPr>
        <p:spPr>
          <a:xfrm>
            <a:off x="793608" y="3172822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359E9B9C-CFF8-5690-A4C5-D21E83E8BE45}"/>
              </a:ext>
            </a:extLst>
          </p:cNvPr>
          <p:cNvSpPr txBox="1"/>
          <p:nvPr/>
        </p:nvSpPr>
        <p:spPr>
          <a:xfrm>
            <a:off x="1124209" y="3577649"/>
            <a:ext cx="2911053" cy="3046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Онлайн-курс по верстке (</a:t>
            </a:r>
            <a:r>
              <a:rPr lang="en-US" sz="11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HTML, CSS</a:t>
            </a:r>
            <a:r>
              <a:rPr lang="ru-RU" sz="11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)</a:t>
            </a:r>
            <a:endParaRPr lang="ru-RU" sz="11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  <a:p>
            <a:pPr>
              <a:lnSpc>
                <a:spcPct val="120000"/>
              </a:lnSpc>
            </a:pPr>
            <a:r>
              <a:rPr lang="en-US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6"/>
              </a:rPr>
              <a:t>https://dist.mveu.ru/files/mveu/discipline/course/2749/</a:t>
            </a:r>
            <a:r>
              <a:rPr lang="ru-RU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6"/>
              </a:rPr>
              <a:t>онлайн-курс</a:t>
            </a:r>
            <a:r>
              <a:rPr lang="en-US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6"/>
              </a:rPr>
              <a:t>/index.html</a:t>
            </a:r>
            <a:r>
              <a:rPr lang="ru-RU" sz="6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6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742032A4-90F6-BB10-677D-5F00DDA9330C}"/>
              </a:ext>
            </a:extLst>
          </p:cNvPr>
          <p:cNvSpPr/>
          <p:nvPr/>
        </p:nvSpPr>
        <p:spPr>
          <a:xfrm>
            <a:off x="793608" y="3732542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70C5AD5C-22E1-27CA-4F0F-4FEA48CEBB22}"/>
              </a:ext>
            </a:extLst>
          </p:cNvPr>
          <p:cNvSpPr/>
          <p:nvPr/>
        </p:nvSpPr>
        <p:spPr>
          <a:xfrm>
            <a:off x="1124209" y="3468230"/>
            <a:ext cx="2880000" cy="9664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F64E763E-B749-C865-B6BB-9645EC995F8E}"/>
              </a:ext>
            </a:extLst>
          </p:cNvPr>
          <p:cNvSpPr txBox="1"/>
          <p:nvPr/>
        </p:nvSpPr>
        <p:spPr>
          <a:xfrm>
            <a:off x="5085152" y="2550768"/>
            <a:ext cx="3363229" cy="561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0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Руководство по настройке среды разработки</a:t>
            </a:r>
          </a:p>
          <a:p>
            <a:pPr>
              <a:lnSpc>
                <a:spcPct val="120000"/>
              </a:lnSpc>
            </a:pP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7"/>
              </a:rPr>
              <a:t>https://github.com/mrsky1001/fullstack-web-development-course/blob/main/00.%20resources/01.%20frontend/manual/development-enviroment/(RU)%20Development%20Environment%20Setup%20Guide.ru.md</a:t>
            </a:r>
            <a:r>
              <a:rPr lang="ru-RU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7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41" name="Rounded Rectangle 19">
            <a:extLst>
              <a:ext uri="{FF2B5EF4-FFF2-40B4-BE49-F238E27FC236}">
                <a16:creationId xmlns:a16="http://schemas.microsoft.com/office/drawing/2014/main" id="{4B565F9F-AF58-253E-E4B2-5BA5F76E9A55}"/>
              </a:ext>
            </a:extLst>
          </p:cNvPr>
          <p:cNvSpPr/>
          <p:nvPr/>
        </p:nvSpPr>
        <p:spPr>
          <a:xfrm>
            <a:off x="4725024" y="2693408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2F3C28A9-4F32-F58F-A90F-239A5A6A9832}"/>
              </a:ext>
            </a:extLst>
          </p:cNvPr>
          <p:cNvSpPr txBox="1"/>
          <p:nvPr/>
        </p:nvSpPr>
        <p:spPr>
          <a:xfrm>
            <a:off x="5055625" y="1883041"/>
            <a:ext cx="2868186" cy="433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0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Методическое пособие(</a:t>
            </a:r>
            <a:r>
              <a:rPr lang="en-US" sz="10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pdf</a:t>
            </a:r>
            <a:r>
              <a:rPr lang="ru-RU" sz="10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7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8"/>
              </a:rPr>
              <a:t>https://github.com/mrsky1001/fullstack-web-development-course/tree/main/00.%20resources/04.%20full-stack/manual</a:t>
            </a:r>
            <a:r>
              <a:rPr lang="en-US" sz="7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44" name="Rounded Rectangle 19">
            <a:extLst>
              <a:ext uri="{FF2B5EF4-FFF2-40B4-BE49-F238E27FC236}">
                <a16:creationId xmlns:a16="http://schemas.microsoft.com/office/drawing/2014/main" id="{D5000FF0-57DE-EF7E-ECFE-0161B4B528CC}"/>
              </a:ext>
            </a:extLst>
          </p:cNvPr>
          <p:cNvSpPr/>
          <p:nvPr/>
        </p:nvSpPr>
        <p:spPr>
          <a:xfrm>
            <a:off x="4725024" y="2022673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45" name="Rectangle 12">
            <a:extLst>
              <a:ext uri="{FF2B5EF4-FFF2-40B4-BE49-F238E27FC236}">
                <a16:creationId xmlns:a16="http://schemas.microsoft.com/office/drawing/2014/main" id="{B6465229-C6CE-5789-AE1B-DACB57321F23}"/>
              </a:ext>
            </a:extLst>
          </p:cNvPr>
          <p:cNvSpPr/>
          <p:nvPr/>
        </p:nvSpPr>
        <p:spPr>
          <a:xfrm>
            <a:off x="5085152" y="2444761"/>
            <a:ext cx="2592000" cy="878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1" name="TextBox 8">
            <a:extLst>
              <a:ext uri="{FF2B5EF4-FFF2-40B4-BE49-F238E27FC236}">
                <a16:creationId xmlns:a16="http://schemas.microsoft.com/office/drawing/2014/main" id="{A3D44465-3D99-CD0A-05F1-2B3A290370E4}"/>
              </a:ext>
            </a:extLst>
          </p:cNvPr>
          <p:cNvSpPr txBox="1"/>
          <p:nvPr/>
        </p:nvSpPr>
        <p:spPr>
          <a:xfrm>
            <a:off x="5055625" y="3295536"/>
            <a:ext cx="2822889" cy="303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0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Как установить среду разработки </a:t>
            </a:r>
            <a:r>
              <a:rPr lang="en-US" sz="10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WebStorm</a:t>
            </a:r>
            <a:br>
              <a:rPr lang="ru-RU" sz="10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</a:br>
            <a:r>
              <a:rPr lang="en-US" sz="700" b="0" i="0" u="none" strike="noStrike">
                <a:solidFill>
                  <a:srgbClr val="1F2328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9" tooltip="How install the Webstorm on Windows.mp4"/>
              </a:rPr>
              <a:t>How install the </a:t>
            </a:r>
            <a:r>
              <a:rPr lang="en-US" sz="700" b="0" i="0" u="none" strike="noStrike" err="1">
                <a:solidFill>
                  <a:srgbClr val="1F2328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9" tooltip="How install the Webstorm on Windows.mp4"/>
              </a:rPr>
              <a:t>Webstorm</a:t>
            </a:r>
            <a:r>
              <a:rPr lang="en-US" sz="700" b="0" i="0" u="none" strike="noStrike">
                <a:solidFill>
                  <a:srgbClr val="1F2328"/>
                </a:solidFill>
                <a:effectLst/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9" tooltip="How install the Webstorm on Windows.mp4"/>
              </a:rPr>
              <a:t> on Windows.mp4</a:t>
            </a:r>
            <a:endParaRPr lang="ru-RU" sz="7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2" name="Rounded Rectangle 19">
            <a:extLst>
              <a:ext uri="{FF2B5EF4-FFF2-40B4-BE49-F238E27FC236}">
                <a16:creationId xmlns:a16="http://schemas.microsoft.com/office/drawing/2014/main" id="{5098BE92-03F7-92E2-317B-D97ADAAC369C}"/>
              </a:ext>
            </a:extLst>
          </p:cNvPr>
          <p:cNvSpPr/>
          <p:nvPr/>
        </p:nvSpPr>
        <p:spPr>
          <a:xfrm>
            <a:off x="4725024" y="3364143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3" name="Rectangle 12">
            <a:extLst>
              <a:ext uri="{FF2B5EF4-FFF2-40B4-BE49-F238E27FC236}">
                <a16:creationId xmlns:a16="http://schemas.microsoft.com/office/drawing/2014/main" id="{39B8EC87-9BFE-8234-7914-C6D8D56963F2}"/>
              </a:ext>
            </a:extLst>
          </p:cNvPr>
          <p:cNvSpPr/>
          <p:nvPr/>
        </p:nvSpPr>
        <p:spPr>
          <a:xfrm>
            <a:off x="5064758" y="3231681"/>
            <a:ext cx="2592000" cy="372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5" name="Rectangle 12">
            <a:extLst>
              <a:ext uri="{FF2B5EF4-FFF2-40B4-BE49-F238E27FC236}">
                <a16:creationId xmlns:a16="http://schemas.microsoft.com/office/drawing/2014/main" id="{5F98EF8B-6A54-C798-F5C7-8701897C0A67}"/>
              </a:ext>
            </a:extLst>
          </p:cNvPr>
          <p:cNvSpPr/>
          <p:nvPr/>
        </p:nvSpPr>
        <p:spPr>
          <a:xfrm>
            <a:off x="5055626" y="3697186"/>
            <a:ext cx="2592000" cy="372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44B6DD99-08D8-E014-88B7-5A732CA3D4E7}"/>
              </a:ext>
            </a:extLst>
          </p:cNvPr>
          <p:cNvSpPr txBox="1"/>
          <p:nvPr/>
        </p:nvSpPr>
        <p:spPr>
          <a:xfrm>
            <a:off x="5055625" y="3835115"/>
            <a:ext cx="2701277" cy="433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0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Практические примеры</a:t>
            </a:r>
          </a:p>
          <a:p>
            <a:pPr>
              <a:lnSpc>
                <a:spcPct val="120000"/>
              </a:lnSpc>
            </a:pPr>
            <a:r>
              <a:rPr lang="en-US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10"/>
              </a:rPr>
              <a:t>https://github.com/mrsky1001/fullstack-web-development-course/blob/main/README.ru.md</a:t>
            </a:r>
            <a:r>
              <a:rPr lang="ru-RU" sz="700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7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58" name="Rounded Rectangle 19">
            <a:extLst>
              <a:ext uri="{FF2B5EF4-FFF2-40B4-BE49-F238E27FC236}">
                <a16:creationId xmlns:a16="http://schemas.microsoft.com/office/drawing/2014/main" id="{BEC39DEB-CFF2-1E16-3A59-FB3029D0B5E6}"/>
              </a:ext>
            </a:extLst>
          </p:cNvPr>
          <p:cNvSpPr/>
          <p:nvPr/>
        </p:nvSpPr>
        <p:spPr>
          <a:xfrm>
            <a:off x="4751222" y="4034878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9C3FC-2FBD-3F88-EB36-037C39C0483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Где брать дополнительные материалы ?</a:t>
            </a:r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1040117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/>
          </p:cNvSpPr>
          <p:nvPr/>
        </p:nvSpPr>
        <p:spPr>
          <a:xfrm>
            <a:off x="5345289" y="30764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СТЕК ТЕХНОЛОГИЙ</a:t>
            </a:r>
          </a:p>
        </p:txBody>
      </p:sp>
      <p:sp>
        <p:nvSpPr>
          <p:cNvPr id="102" name="TextBox 8">
            <a:extLst>
              <a:ext uri="{FF2B5EF4-FFF2-40B4-BE49-F238E27FC236}">
                <a16:creationId xmlns:a16="http://schemas.microsoft.com/office/drawing/2014/main" id="{E4067F7E-7079-DE18-6666-5EED53AE8E34}"/>
              </a:ext>
            </a:extLst>
          </p:cNvPr>
          <p:cNvSpPr txBox="1"/>
          <p:nvPr/>
        </p:nvSpPr>
        <p:spPr>
          <a:xfrm>
            <a:off x="1124209" y="1957926"/>
            <a:ext cx="3972241" cy="352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WebStorm </a:t>
            </a:r>
            <a:r>
              <a:rPr lang="ru-RU" sz="110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(рекомендуется)</a:t>
            </a:r>
          </a:p>
          <a:p>
            <a:pPr>
              <a:lnSpc>
                <a:spcPct val="150000"/>
              </a:lnSpc>
            </a:pPr>
            <a:r>
              <a:rPr lang="en-US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3"/>
              </a:rPr>
              <a:t>https://download</a:t>
            </a:r>
            <a:r>
              <a:rPr lang="ru-RU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3"/>
              </a:rPr>
              <a:t>-</a:t>
            </a:r>
            <a:r>
              <a:rPr lang="en-US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3"/>
              </a:rPr>
              <a:t>cdn.jetbrains.com/webstorm/WebStorm-2026.2.2.exe</a:t>
            </a:r>
            <a:r>
              <a:rPr lang="en-US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  <a:endParaRPr lang="ru-RU" sz="900" i="0" u="none">
              <a:solidFill>
                <a:srgbClr val="131211"/>
              </a:solidFill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6" name="Rounded Rectangle 19">
            <a:extLst>
              <a:ext uri="{FF2B5EF4-FFF2-40B4-BE49-F238E27FC236}">
                <a16:creationId xmlns:a16="http://schemas.microsoft.com/office/drawing/2014/main" id="{F40FE231-C8A6-6518-9966-84065B106874}"/>
              </a:ext>
            </a:extLst>
          </p:cNvPr>
          <p:cNvSpPr/>
          <p:nvPr/>
        </p:nvSpPr>
        <p:spPr>
          <a:xfrm>
            <a:off x="793608" y="2093808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28B11D-89DE-CFF3-C941-5BF864C75BFF}"/>
              </a:ext>
            </a:extLst>
          </p:cNvPr>
          <p:cNvSpPr/>
          <p:nvPr/>
        </p:nvSpPr>
        <p:spPr>
          <a:xfrm>
            <a:off x="1124209" y="2452244"/>
            <a:ext cx="4638269" cy="545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9C3FC-2FBD-3F88-EB36-037C39C0483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В какой программе программировать?</a:t>
            </a:r>
            <a:endParaRPr lang="ru-RU" sz="1000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9DF348BE-2E1E-8125-DEC1-0FFB6CCF65B4}"/>
              </a:ext>
            </a:extLst>
          </p:cNvPr>
          <p:cNvSpPr txBox="1"/>
          <p:nvPr/>
        </p:nvSpPr>
        <p:spPr>
          <a:xfrm>
            <a:off x="1124208" y="1454466"/>
            <a:ext cx="177773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СРЕДА РАЗРАБОТКИ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A3758841-7585-47FF-0C08-2F758CAD4DE5}"/>
              </a:ext>
            </a:extLst>
          </p:cNvPr>
          <p:cNvSpPr txBox="1"/>
          <p:nvPr/>
        </p:nvSpPr>
        <p:spPr>
          <a:xfrm>
            <a:off x="1124209" y="2752924"/>
            <a:ext cx="2237792" cy="352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rgbClr val="222222"/>
                </a:solidFill>
                <a:latin typeface="Inter 18pt SemiBold" panose="02000503000000020004" pitchFamily="2" charset="0"/>
                <a:ea typeface="Inter 18pt SemiBold" panose="02000503000000020004" pitchFamily="2" charset="0"/>
              </a:rPr>
              <a:t>Visual Studio Code</a:t>
            </a:r>
            <a:endParaRPr lang="ru-RU" sz="1100">
              <a:solidFill>
                <a:srgbClr val="222222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4"/>
              </a:rPr>
              <a:t>https://code.visualstudio.com/Download</a:t>
            </a:r>
            <a:r>
              <a:rPr lang="ru-RU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8084C11D-8B3F-4E88-9542-86A6EBC3813A}"/>
              </a:ext>
            </a:extLst>
          </p:cNvPr>
          <p:cNvSpPr/>
          <p:nvPr/>
        </p:nvSpPr>
        <p:spPr>
          <a:xfrm>
            <a:off x="793608" y="2848325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92ADC6C8-E649-D5A3-F5AB-459EAF829F63}"/>
              </a:ext>
            </a:extLst>
          </p:cNvPr>
          <p:cNvSpPr/>
          <p:nvPr/>
        </p:nvSpPr>
        <p:spPr>
          <a:xfrm>
            <a:off x="1124208" y="3274008"/>
            <a:ext cx="4638269" cy="5455"/>
          </a:xfrm>
          <a:prstGeom prst="rect">
            <a:avLst/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E4ABDC0-3232-208B-0BF2-6C95BD20D654}"/>
              </a:ext>
            </a:extLst>
          </p:cNvPr>
          <p:cNvSpPr txBox="1"/>
          <p:nvPr/>
        </p:nvSpPr>
        <p:spPr>
          <a:xfrm>
            <a:off x="1124208" y="3884913"/>
            <a:ext cx="3505768" cy="3372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latin typeface="Inter 18pt SemiBold" panose="02000503000000020004" pitchFamily="2" charset="0"/>
                <a:ea typeface="Inter 18pt SemiBold" panose="02000503000000020004" pitchFamily="2" charset="0"/>
              </a:rPr>
              <a:t>NODE.JS – </a:t>
            </a:r>
            <a:r>
              <a:rPr lang="ru-RU" sz="1000">
                <a:latin typeface="Inter 18pt SemiBold" panose="02000503000000020004" pitchFamily="2" charset="0"/>
                <a:ea typeface="Inter 18pt SemiBold" panose="02000503000000020004" pitchFamily="2" charset="0"/>
              </a:rPr>
              <a:t>платформа для запуска </a:t>
            </a:r>
            <a:r>
              <a:rPr lang="en-US" sz="1000">
                <a:latin typeface="Inter 18pt SemiBold" panose="02000503000000020004" pitchFamily="2" charset="0"/>
                <a:ea typeface="Inter 18pt SemiBold" panose="02000503000000020004" pitchFamily="2" charset="0"/>
              </a:rPr>
              <a:t>JavaScript </a:t>
            </a:r>
            <a:r>
              <a:rPr lang="ru-RU" sz="1000">
                <a:latin typeface="Inter 18pt SemiBold" panose="02000503000000020004" pitchFamily="2" charset="0"/>
                <a:ea typeface="Inter 18pt SemiBold" panose="02000503000000020004" pitchFamily="2" charset="0"/>
              </a:rPr>
              <a:t>скриптов</a:t>
            </a:r>
            <a:endParaRPr lang="ru-RU" sz="1100">
              <a:solidFill>
                <a:srgbClr val="222222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  <a:hlinkClick r:id="rId5"/>
              </a:rPr>
              <a:t>https://nodejs.org/dist/v22.19.0/node-v22.19.0-x64.msi</a:t>
            </a:r>
            <a:r>
              <a:rPr lang="ru-RU" sz="900" i="0" u="none">
                <a:solidFill>
                  <a:srgbClr val="131211"/>
                </a:solidFill>
                <a:latin typeface="Inter" panose="02000503000000020004" pitchFamily="2" charset="0"/>
                <a:ea typeface="Inter" panose="02000503000000020004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FE94ECB7-1F49-11E7-8598-E8E32C248455}"/>
              </a:ext>
            </a:extLst>
          </p:cNvPr>
          <p:cNvSpPr txBox="1"/>
          <p:nvPr/>
        </p:nvSpPr>
        <p:spPr>
          <a:xfrm>
            <a:off x="1144051" y="3544332"/>
            <a:ext cx="187871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algn="ctr" defTabSz="457200" eaLnBrk="1" latinLnBrk="0" hangingPunct="1">
              <a:defRPr sz="1200" b="1" kern="1200">
                <a:solidFill>
                  <a:srgbClr val="FF6F03"/>
                </a:solidFill>
                <a:latin typeface="Montserrat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ПЛАТФОРМА </a:t>
            </a:r>
            <a:r>
              <a:rPr lang="en-US"/>
              <a:t>NODE.JS</a:t>
            </a:r>
            <a:endParaRPr lang="ru-RU"/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EBAF9A35-0473-1EB8-1EA0-373DEB88D0EF}"/>
              </a:ext>
            </a:extLst>
          </p:cNvPr>
          <p:cNvSpPr/>
          <p:nvPr/>
        </p:nvSpPr>
        <p:spPr>
          <a:xfrm>
            <a:off x="793608" y="4020794"/>
            <a:ext cx="80962" cy="8096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2400">
              <a:latin typeface="Inter" panose="02000503000000020004" pitchFamily="2" charset="0"/>
              <a:ea typeface="Inter" panose="02000503000000020004" pitchFamily="2" charset="0"/>
              <a:cs typeface="Roboto" panose="02000000000000000000" pitchFamily="2" charset="0"/>
            </a:endParaRPr>
          </a:p>
        </p:txBody>
      </p:sp>
      <p:pic>
        <p:nvPicPr>
          <p:cNvPr id="1030" name="Picture 6" descr="IntelliJ WebStorm macOS BigSur - free Icon PNG, SVG">
            <a:extLst>
              <a:ext uri="{FF2B5EF4-FFF2-40B4-BE49-F238E27FC236}">
                <a16:creationId xmlns:a16="http://schemas.microsoft.com/office/drawing/2014/main" id="{CCE7B55D-40E6-C1D6-4679-6840066B7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67296">
            <a:off x="6875017" y="1566964"/>
            <a:ext cx="1032276" cy="103227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isual Studio Code and VS Code icons and names usage guidelines">
            <a:extLst>
              <a:ext uri="{FF2B5EF4-FFF2-40B4-BE49-F238E27FC236}">
                <a16:creationId xmlns:a16="http://schemas.microsoft.com/office/drawing/2014/main" id="{F323F962-BED2-4FFA-C7F9-514DBEF2D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96559">
            <a:off x="6146385" y="2634818"/>
            <a:ext cx="1144531" cy="114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5C81504-4D64-29CF-2CC6-310545C72F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8998" y="2848325"/>
            <a:ext cx="819250" cy="8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53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image.png">
            <a:extLst>
              <a:ext uri="{FF2B5EF4-FFF2-40B4-BE49-F238E27FC236}">
                <a16:creationId xmlns:a16="http://schemas.microsoft.com/office/drawing/2014/main" id="{58E389C9-98CE-C5F2-7E45-A2C474335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76" y="2841003"/>
            <a:ext cx="6800048" cy="1614932"/>
          </a:xfrm>
          <a:prstGeom prst="rect">
            <a:avLst/>
          </a:prstGeom>
        </p:spPr>
      </p:pic>
      <p:pic>
        <p:nvPicPr>
          <p:cNvPr id="93" name="Picture 5" descr="image.png">
            <a:extLst>
              <a:ext uri="{FF2B5EF4-FFF2-40B4-BE49-F238E27FC236}">
                <a16:creationId xmlns:a16="http://schemas.microsoft.com/office/drawing/2014/main" id="{46D90289-0162-DBFF-3245-36A29DE28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739" y="3375048"/>
            <a:ext cx="1037134" cy="819002"/>
          </a:xfrm>
          <a:prstGeom prst="rect">
            <a:avLst/>
          </a:prstGeom>
        </p:spPr>
      </p:pic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69866328-6BBE-5C90-8AB7-2D74DB4D0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976" y="1329854"/>
            <a:ext cx="6800048" cy="1425285"/>
          </a:xfrm>
          <a:prstGeom prst="rect">
            <a:avLst/>
          </a:prstGeom>
        </p:spPr>
      </p:pic>
      <p:pic>
        <p:nvPicPr>
          <p:cNvPr id="92" name="Picture 5" descr="image.png">
            <a:extLst>
              <a:ext uri="{FF2B5EF4-FFF2-40B4-BE49-F238E27FC236}">
                <a16:creationId xmlns:a16="http://schemas.microsoft.com/office/drawing/2014/main" id="{84C30AC9-96FE-F40A-5CCA-49719AF0E6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594" y="1780968"/>
            <a:ext cx="1037134" cy="819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/>
          </p:cNvSpPr>
          <p:nvPr/>
        </p:nvSpPr>
        <p:spPr>
          <a:xfrm>
            <a:off x="5345289" y="30764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ВЕБ САЙТ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9C3FC-2FBD-3F88-EB36-037C39C0483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Какие бывают сайты?</a:t>
            </a:r>
            <a:endParaRPr lang="ru-RU" sz="1000"/>
          </a:p>
        </p:txBody>
      </p:sp>
      <p:pic>
        <p:nvPicPr>
          <p:cNvPr id="12" name="Picture 5" descr="image.png">
            <a:extLst>
              <a:ext uri="{FF2B5EF4-FFF2-40B4-BE49-F238E27FC236}">
                <a16:creationId xmlns:a16="http://schemas.microsoft.com/office/drawing/2014/main" id="{D6C9D3A2-C7C0-4AAB-8569-7980751C2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739" y="1708313"/>
            <a:ext cx="1037134" cy="819002"/>
          </a:xfrm>
          <a:prstGeom prst="rect">
            <a:avLst/>
          </a:prstGeom>
        </p:spPr>
      </p:pic>
      <p:pic>
        <p:nvPicPr>
          <p:cNvPr id="14" name="Picture 6" descr="image.png">
            <a:extLst>
              <a:ext uri="{FF2B5EF4-FFF2-40B4-BE49-F238E27FC236}">
                <a16:creationId xmlns:a16="http://schemas.microsoft.com/office/drawing/2014/main" id="{B31F8ABA-681A-DE35-C75C-C7DCB27A8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6594" y="3441096"/>
            <a:ext cx="1037134" cy="739744"/>
          </a:xfrm>
          <a:prstGeom prst="rect">
            <a:avLst/>
          </a:prstGeom>
        </p:spPr>
      </p:pic>
      <p:pic>
        <p:nvPicPr>
          <p:cNvPr id="15" name="Picture 7" descr="image.png">
            <a:extLst>
              <a:ext uri="{FF2B5EF4-FFF2-40B4-BE49-F238E27FC236}">
                <a16:creationId xmlns:a16="http://schemas.microsoft.com/office/drawing/2014/main" id="{867417E7-49BF-69EA-2B86-BB2D80C81A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0899" y="3269370"/>
            <a:ext cx="1037134" cy="10171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4EB0ADD-3305-FDF6-4B35-EFA6642F1591}"/>
              </a:ext>
            </a:extLst>
          </p:cNvPr>
          <p:cNvSpPr txBox="1"/>
          <p:nvPr/>
        </p:nvSpPr>
        <p:spPr>
          <a:xfrm>
            <a:off x="1349476" y="938191"/>
            <a:ext cx="644504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>
                <a:solidFill>
                  <a:srgbClr val="FF6F03"/>
                </a:solidFill>
                <a:latin typeface="Montserrat"/>
              </a:rPr>
              <a:t>АРХИТЕКТУРНАЯ СХЕМА ВЕБ-САЙТОВ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E4054C-9B0D-34A1-F78F-128F2FC53B3E}"/>
              </a:ext>
            </a:extLst>
          </p:cNvPr>
          <p:cNvSpPr txBox="1"/>
          <p:nvPr/>
        </p:nvSpPr>
        <p:spPr>
          <a:xfrm>
            <a:off x="1660675" y="1503562"/>
            <a:ext cx="605982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СТАТИЧЕСКИЙ САЙТ </a:t>
            </a:r>
            <a:r>
              <a:rPr sz="975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(КОНТЕНТ ФИКСИРОВАН)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FED4B6-278C-D798-0F52-894555115591}"/>
              </a:ext>
            </a:extLst>
          </p:cNvPr>
          <p:cNvSpPr txBox="1"/>
          <p:nvPr/>
        </p:nvSpPr>
        <p:spPr>
          <a:xfrm>
            <a:off x="1586594" y="2976326"/>
            <a:ext cx="605982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ДИНАМИЧЕСКИЙ САЙТ </a:t>
            </a:r>
            <a:r>
              <a:rPr sz="975" i="0" u="none">
                <a:solidFill>
                  <a:srgbClr val="434343"/>
                </a:solidFill>
                <a:latin typeface="Inter" panose="02000503000000020004" pitchFamily="2" charset="0"/>
                <a:ea typeface="Inter" panose="02000503000000020004" pitchFamily="2" charset="0"/>
              </a:rPr>
              <a:t>(СБОРКА "НА ЛЕТУ")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E42D23-C8DD-5805-5803-9D93F2E454EC}"/>
              </a:ext>
            </a:extLst>
          </p:cNvPr>
          <p:cNvSpPr txBox="1"/>
          <p:nvPr/>
        </p:nvSpPr>
        <p:spPr>
          <a:xfrm>
            <a:off x="1591947" y="2223492"/>
            <a:ext cx="1011495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Браузер </a:t>
            </a:r>
            <a:endParaRPr lang="ru-RU" sz="825" i="0" u="none">
              <a:solidFill>
                <a:srgbClr val="222222"/>
              </a:solidFill>
              <a:latin typeface="Montserrat"/>
            </a:endParaRPr>
          </a:p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(Клиент)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213B67-5A55-71E8-96DF-9801AA29F8C6}"/>
              </a:ext>
            </a:extLst>
          </p:cNvPr>
          <p:cNvSpPr txBox="1"/>
          <p:nvPr/>
        </p:nvSpPr>
        <p:spPr>
          <a:xfrm>
            <a:off x="6712881" y="2075424"/>
            <a:ext cx="666850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Веб-сервер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8FAC1E-58D9-5B22-E063-29E4FCB83F34}"/>
              </a:ext>
            </a:extLst>
          </p:cNvPr>
          <p:cNvSpPr txBox="1"/>
          <p:nvPr/>
        </p:nvSpPr>
        <p:spPr>
          <a:xfrm>
            <a:off x="1712531" y="3830783"/>
            <a:ext cx="785259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Браузер (Клиент)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9E65A0-9569-C0AD-3AEC-F7001889D822}"/>
              </a:ext>
            </a:extLst>
          </p:cNvPr>
          <p:cNvSpPr txBox="1"/>
          <p:nvPr/>
        </p:nvSpPr>
        <p:spPr>
          <a:xfrm>
            <a:off x="4157204" y="3659057"/>
            <a:ext cx="844524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Сервер</a:t>
            </a:r>
            <a:r>
              <a:rPr lang="ru-RU" sz="825" i="0" u="none">
                <a:solidFill>
                  <a:srgbClr val="222222"/>
                </a:solidFill>
                <a:latin typeface="Montserrat"/>
              </a:rPr>
              <a:t> п</a:t>
            </a:r>
            <a:r>
              <a:rPr sz="825" i="0" u="none">
                <a:solidFill>
                  <a:srgbClr val="222222"/>
                </a:solidFill>
                <a:latin typeface="Montserrat"/>
              </a:rPr>
              <a:t>риложений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DA0118-E03C-AA7D-D850-4C3030912B30}"/>
              </a:ext>
            </a:extLst>
          </p:cNvPr>
          <p:cNvSpPr txBox="1"/>
          <p:nvPr/>
        </p:nvSpPr>
        <p:spPr>
          <a:xfrm>
            <a:off x="6722590" y="3764734"/>
            <a:ext cx="695703" cy="1269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База </a:t>
            </a:r>
            <a:r>
              <a:rPr lang="ru-RU" sz="825" i="0" u="none">
                <a:solidFill>
                  <a:srgbClr val="222222"/>
                </a:solidFill>
                <a:latin typeface="Montserrat"/>
              </a:rPr>
              <a:t>д</a:t>
            </a:r>
            <a:r>
              <a:rPr sz="825" i="0" u="none">
                <a:solidFill>
                  <a:srgbClr val="222222"/>
                </a:solidFill>
                <a:latin typeface="Montserrat"/>
              </a:rPr>
              <a:t>анных</a:t>
            </a:r>
          </a:p>
        </p:txBody>
      </p:sp>
      <p:pic>
        <p:nvPicPr>
          <p:cNvPr id="31" name="Picture 23" descr="image.png">
            <a:extLst>
              <a:ext uri="{FF2B5EF4-FFF2-40B4-BE49-F238E27FC236}">
                <a16:creationId xmlns:a16="http://schemas.microsoft.com/office/drawing/2014/main" id="{641629D2-04ED-5E17-EBE2-98CFD11CA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5461" y="1965902"/>
            <a:ext cx="244467" cy="171726"/>
          </a:xfrm>
          <a:prstGeom prst="rect">
            <a:avLst/>
          </a:prstGeom>
        </p:spPr>
      </p:pic>
      <p:pic>
        <p:nvPicPr>
          <p:cNvPr id="32" name="Picture 24" descr="image.png">
            <a:extLst>
              <a:ext uri="{FF2B5EF4-FFF2-40B4-BE49-F238E27FC236}">
                <a16:creationId xmlns:a16="http://schemas.microsoft.com/office/drawing/2014/main" id="{A6CC3882-5384-3388-DDBB-358A786BF8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31" y="1942366"/>
            <a:ext cx="859340" cy="79258"/>
          </a:xfrm>
          <a:prstGeom prst="rect">
            <a:avLst/>
          </a:prstGeom>
        </p:spPr>
      </p:pic>
      <p:sp>
        <p:nvSpPr>
          <p:cNvPr id="33" name="Rectangle 25">
            <a:extLst>
              <a:ext uri="{FF2B5EF4-FFF2-40B4-BE49-F238E27FC236}">
                <a16:creationId xmlns:a16="http://schemas.microsoft.com/office/drawing/2014/main" id="{BCAE8C73-645F-A994-A6EF-DB5186444A37}"/>
              </a:ext>
            </a:extLst>
          </p:cNvPr>
          <p:cNvSpPr/>
          <p:nvPr/>
        </p:nvSpPr>
        <p:spPr>
          <a:xfrm>
            <a:off x="2764424" y="2064975"/>
            <a:ext cx="3615153" cy="1321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456422A1-5191-204B-13AF-0B1F0E29D4B5}"/>
              </a:ext>
            </a:extLst>
          </p:cNvPr>
          <p:cNvSpPr/>
          <p:nvPr/>
        </p:nvSpPr>
        <p:spPr>
          <a:xfrm>
            <a:off x="2764424" y="2157443"/>
            <a:ext cx="3615153" cy="13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27" descr="image.png">
            <a:extLst>
              <a:ext uri="{FF2B5EF4-FFF2-40B4-BE49-F238E27FC236}">
                <a16:creationId xmlns:a16="http://schemas.microsoft.com/office/drawing/2014/main" id="{2F284D22-EBB7-1425-72C6-F06FAB9CBE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0096" y="2238384"/>
            <a:ext cx="1103807" cy="79258"/>
          </a:xfrm>
          <a:prstGeom prst="rect">
            <a:avLst/>
          </a:prstGeom>
        </p:spPr>
      </p:pic>
      <p:pic>
        <p:nvPicPr>
          <p:cNvPr id="36" name="Picture 28" descr="image.png">
            <a:extLst>
              <a:ext uri="{FF2B5EF4-FFF2-40B4-BE49-F238E27FC236}">
                <a16:creationId xmlns:a16="http://schemas.microsoft.com/office/drawing/2014/main" id="{98E44A1B-E8F9-F0D2-C5B9-349DBE0FEEC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0001" y="1840410"/>
            <a:ext cx="192611" cy="171726"/>
          </a:xfrm>
          <a:prstGeom prst="rect">
            <a:avLst/>
          </a:prstGeom>
        </p:spPr>
      </p:pic>
      <p:pic>
        <p:nvPicPr>
          <p:cNvPr id="38" name="Picture 29" descr="image.png">
            <a:extLst>
              <a:ext uri="{FF2B5EF4-FFF2-40B4-BE49-F238E27FC236}">
                <a16:creationId xmlns:a16="http://schemas.microsoft.com/office/drawing/2014/main" id="{688A07EE-7739-52AF-6F17-7778845540B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9131" y="2249912"/>
            <a:ext cx="474234" cy="92468"/>
          </a:xfrm>
          <a:prstGeom prst="rect">
            <a:avLst/>
          </a:prstGeom>
        </p:spPr>
      </p:pic>
      <p:pic>
        <p:nvPicPr>
          <p:cNvPr id="39" name="Picture 30" descr="image.png">
            <a:extLst>
              <a:ext uri="{FF2B5EF4-FFF2-40B4-BE49-F238E27FC236}">
                <a16:creationId xmlns:a16="http://schemas.microsoft.com/office/drawing/2014/main" id="{79E52161-0E96-81A3-E52B-9ACCEA74F9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9156" y="2368799"/>
            <a:ext cx="434184" cy="92468"/>
          </a:xfrm>
          <a:prstGeom prst="rect">
            <a:avLst/>
          </a:prstGeom>
        </p:spPr>
      </p:pic>
      <p:pic>
        <p:nvPicPr>
          <p:cNvPr id="40" name="Picture 31" descr="image.png">
            <a:extLst>
              <a:ext uri="{FF2B5EF4-FFF2-40B4-BE49-F238E27FC236}">
                <a16:creationId xmlns:a16="http://schemas.microsoft.com/office/drawing/2014/main" id="{E1D607CE-2260-E94B-267C-6B883A52FF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2927" y="3573193"/>
            <a:ext cx="244467" cy="171726"/>
          </a:xfrm>
          <a:prstGeom prst="rect">
            <a:avLst/>
          </a:prstGeom>
        </p:spPr>
      </p:pic>
      <p:pic>
        <p:nvPicPr>
          <p:cNvPr id="41" name="Picture 32" descr="image.png">
            <a:extLst>
              <a:ext uri="{FF2B5EF4-FFF2-40B4-BE49-F238E27FC236}">
                <a16:creationId xmlns:a16="http://schemas.microsoft.com/office/drawing/2014/main" id="{DEC6B916-31EA-5947-6AEF-1504F62A1C0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60796" y="3532724"/>
            <a:ext cx="763034" cy="79258"/>
          </a:xfrm>
          <a:prstGeom prst="rect">
            <a:avLst/>
          </a:prstGeom>
        </p:spPr>
      </p:pic>
      <p:sp>
        <p:nvSpPr>
          <p:cNvPr id="42" name="Rectangle 33">
            <a:extLst>
              <a:ext uri="{FF2B5EF4-FFF2-40B4-BE49-F238E27FC236}">
                <a16:creationId xmlns:a16="http://schemas.microsoft.com/office/drawing/2014/main" id="{66CD0C49-6F58-A4F4-F072-4F4FE9D372ED}"/>
              </a:ext>
            </a:extLst>
          </p:cNvPr>
          <p:cNvSpPr/>
          <p:nvPr/>
        </p:nvSpPr>
        <p:spPr>
          <a:xfrm>
            <a:off x="2771890" y="3672266"/>
            <a:ext cx="1140847" cy="1321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34">
            <a:extLst>
              <a:ext uri="{FF2B5EF4-FFF2-40B4-BE49-F238E27FC236}">
                <a16:creationId xmlns:a16="http://schemas.microsoft.com/office/drawing/2014/main" id="{F9DA77C3-F71A-7D50-A3CC-AC72BF6D4531}"/>
              </a:ext>
            </a:extLst>
          </p:cNvPr>
          <p:cNvSpPr/>
          <p:nvPr/>
        </p:nvSpPr>
        <p:spPr>
          <a:xfrm>
            <a:off x="2771890" y="3764734"/>
            <a:ext cx="1140847" cy="13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35" descr="image.png">
            <a:extLst>
              <a:ext uri="{FF2B5EF4-FFF2-40B4-BE49-F238E27FC236}">
                <a16:creationId xmlns:a16="http://schemas.microsoft.com/office/drawing/2014/main" id="{4E9037B6-E773-E339-77D5-710FC188813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79298" y="3834387"/>
            <a:ext cx="1126031" cy="79258"/>
          </a:xfrm>
          <a:prstGeom prst="rect">
            <a:avLst/>
          </a:prstGeom>
        </p:spPr>
      </p:pic>
      <p:pic>
        <p:nvPicPr>
          <p:cNvPr id="45" name="Picture 36" descr="image.png">
            <a:extLst>
              <a:ext uri="{FF2B5EF4-FFF2-40B4-BE49-F238E27FC236}">
                <a16:creationId xmlns:a16="http://schemas.microsoft.com/office/drawing/2014/main" id="{D8DF722D-2F13-2838-2C60-01265F03B62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57232" y="3401467"/>
            <a:ext cx="244467" cy="171726"/>
          </a:xfrm>
          <a:prstGeom prst="rect">
            <a:avLst/>
          </a:prstGeom>
        </p:spPr>
      </p:pic>
      <p:pic>
        <p:nvPicPr>
          <p:cNvPr id="46" name="Picture 37" descr="image.png">
            <a:extLst>
              <a:ext uri="{FF2B5EF4-FFF2-40B4-BE49-F238E27FC236}">
                <a16:creationId xmlns:a16="http://schemas.microsoft.com/office/drawing/2014/main" id="{119E1519-B799-EA25-0FFB-791A422F4A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78767" y="3969485"/>
            <a:ext cx="594268" cy="92468"/>
          </a:xfrm>
          <a:prstGeom prst="rect">
            <a:avLst/>
          </a:prstGeom>
        </p:spPr>
      </p:pic>
      <p:pic>
        <p:nvPicPr>
          <p:cNvPr id="47" name="Picture 38" descr="image.png">
            <a:extLst>
              <a:ext uri="{FF2B5EF4-FFF2-40B4-BE49-F238E27FC236}">
                <a16:creationId xmlns:a16="http://schemas.microsoft.com/office/drawing/2014/main" id="{E7CA3951-7E5F-508B-4954-F4BDDE6F72F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8826" y="4088372"/>
            <a:ext cx="314149" cy="92468"/>
          </a:xfrm>
          <a:prstGeom prst="rect">
            <a:avLst/>
          </a:prstGeom>
        </p:spPr>
      </p:pic>
      <p:pic>
        <p:nvPicPr>
          <p:cNvPr id="48" name="Picture 39" descr="image.png">
            <a:extLst>
              <a:ext uri="{FF2B5EF4-FFF2-40B4-BE49-F238E27FC236}">
                <a16:creationId xmlns:a16="http://schemas.microsoft.com/office/drawing/2014/main" id="{7D6BB47B-2075-F208-912B-8BCD7DAC42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61011" y="3665661"/>
            <a:ext cx="1111215" cy="79258"/>
          </a:xfrm>
          <a:prstGeom prst="rect">
            <a:avLst/>
          </a:prstGeom>
        </p:spPr>
      </p:pic>
      <p:sp>
        <p:nvSpPr>
          <p:cNvPr id="49" name="Rectangle 40">
            <a:extLst>
              <a:ext uri="{FF2B5EF4-FFF2-40B4-BE49-F238E27FC236}">
                <a16:creationId xmlns:a16="http://schemas.microsoft.com/office/drawing/2014/main" id="{078B5251-88EA-E2A3-D29D-FDD339E18988}"/>
              </a:ext>
            </a:extLst>
          </p:cNvPr>
          <p:cNvSpPr/>
          <p:nvPr/>
        </p:nvSpPr>
        <p:spPr>
          <a:xfrm>
            <a:off x="5246195" y="3771339"/>
            <a:ext cx="1140847" cy="1321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1" descr="image.png">
            <a:extLst>
              <a:ext uri="{FF2B5EF4-FFF2-40B4-BE49-F238E27FC236}">
                <a16:creationId xmlns:a16="http://schemas.microsoft.com/office/drawing/2014/main" id="{5E62BE37-4425-50E8-9E99-2CEC2E35A6E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68578" y="3507145"/>
            <a:ext cx="170386" cy="171726"/>
          </a:xfrm>
          <a:prstGeom prst="rect">
            <a:avLst/>
          </a:prstGeom>
        </p:spPr>
      </p:pic>
      <p:pic>
        <p:nvPicPr>
          <p:cNvPr id="51" name="Picture 42" descr="image.png">
            <a:extLst>
              <a:ext uri="{FF2B5EF4-FFF2-40B4-BE49-F238E27FC236}">
                <a16:creationId xmlns:a16="http://schemas.microsoft.com/office/drawing/2014/main" id="{B3F72BC3-2677-19D0-402B-E3D4F5044FD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5320" y="3976089"/>
            <a:ext cx="474234" cy="9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34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/>
          </p:cNvSpPr>
          <p:nvPr/>
        </p:nvSpPr>
        <p:spPr>
          <a:xfrm>
            <a:off x="5345289" y="30764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СТАТИЧЕСКИЙ САЙТ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9C3FC-2FBD-3F88-EB36-037C39C0483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Как работает статический сайт?</a:t>
            </a:r>
            <a:endParaRPr lang="ru-RU" sz="1000"/>
          </a:p>
        </p:txBody>
      </p:sp>
      <p:pic>
        <p:nvPicPr>
          <p:cNvPr id="66" name="Picture 2" descr="image.png">
            <a:extLst>
              <a:ext uri="{FF2B5EF4-FFF2-40B4-BE49-F238E27FC236}">
                <a16:creationId xmlns:a16="http://schemas.microsoft.com/office/drawing/2014/main" id="{B1334232-8731-B912-8181-70A542C46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028" y="1196385"/>
            <a:ext cx="3706750" cy="3036948"/>
          </a:xfrm>
          <a:prstGeom prst="rect">
            <a:avLst/>
          </a:prstGeom>
        </p:spPr>
      </p:pic>
      <p:pic>
        <p:nvPicPr>
          <p:cNvPr id="67" name="Picture 3" descr="image.png">
            <a:extLst>
              <a:ext uri="{FF2B5EF4-FFF2-40B4-BE49-F238E27FC236}">
                <a16:creationId xmlns:a16="http://schemas.microsoft.com/office/drawing/2014/main" id="{878955D0-71EF-18D1-9FF7-0C5CDB19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002" y="1196385"/>
            <a:ext cx="3300350" cy="957940"/>
          </a:xfrm>
          <a:prstGeom prst="rect">
            <a:avLst/>
          </a:prstGeom>
        </p:spPr>
      </p:pic>
      <p:pic>
        <p:nvPicPr>
          <p:cNvPr id="68" name="Picture 4" descr="image.png">
            <a:extLst>
              <a:ext uri="{FF2B5EF4-FFF2-40B4-BE49-F238E27FC236}">
                <a16:creationId xmlns:a16="http://schemas.microsoft.com/office/drawing/2014/main" id="{6FC491A2-0F9D-9509-5DC2-16A306453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609" y="2335840"/>
            <a:ext cx="1027654" cy="875730"/>
          </a:xfrm>
          <a:prstGeom prst="rect">
            <a:avLst/>
          </a:prstGeom>
        </p:spPr>
      </p:pic>
      <p:pic>
        <p:nvPicPr>
          <p:cNvPr id="69" name="Picture 5" descr="image.png">
            <a:extLst>
              <a:ext uri="{FF2B5EF4-FFF2-40B4-BE49-F238E27FC236}">
                <a16:creationId xmlns:a16="http://schemas.microsoft.com/office/drawing/2014/main" id="{14513E29-FFBF-AAA4-AF33-6BC3FF08E1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629" y="2239331"/>
            <a:ext cx="1027654" cy="972239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237537E2-D6BB-D642-AA6A-0FB76D80FF95}"/>
              </a:ext>
            </a:extLst>
          </p:cNvPr>
          <p:cNvSpPr txBox="1"/>
          <p:nvPr/>
        </p:nvSpPr>
        <p:spPr>
          <a:xfrm>
            <a:off x="5055759" y="1382254"/>
            <a:ext cx="2889288" cy="12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6F03"/>
                </a:solidFill>
                <a:latin typeface="Montserrat"/>
              </a:rPr>
              <a:t>СХЕМА РАБОТЫ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98FD84-D7C9-3F46-2C3E-D86DC2F3DE88}"/>
              </a:ext>
            </a:extLst>
          </p:cNvPr>
          <p:cNvSpPr txBox="1"/>
          <p:nvPr/>
        </p:nvSpPr>
        <p:spPr>
          <a:xfrm>
            <a:off x="1220198" y="1303617"/>
            <a:ext cx="3031579" cy="557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6F03"/>
                </a:solidFill>
                <a:latin typeface="Inter"/>
              </a:rPr>
              <a:t>Статический сайт</a:t>
            </a:r>
            <a:r>
              <a:rPr sz="975" i="0" u="none">
                <a:solidFill>
                  <a:srgbClr val="333333"/>
                </a:solidFill>
                <a:latin typeface="Inter"/>
              </a:rPr>
              <a:t> — это веб-ресурс, состоящий из заранее созданных файлов. Сервер просто отдает эти файлы пользователю в том виде, в котором они хранятся на диске.</a:t>
            </a:r>
          </a:p>
        </p:txBody>
      </p:sp>
      <p:pic>
        <p:nvPicPr>
          <p:cNvPr id="74" name="Picture 13" descr="image.png">
            <a:extLst>
              <a:ext uri="{FF2B5EF4-FFF2-40B4-BE49-F238E27FC236}">
                <a16:creationId xmlns:a16="http://schemas.microsoft.com/office/drawing/2014/main" id="{250E9B63-D598-94D7-C96D-31A7B2D79F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965" y="2364436"/>
            <a:ext cx="166006" cy="171572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82CC940-6E7D-8536-D602-8BEF3920D174}"/>
              </a:ext>
            </a:extLst>
          </p:cNvPr>
          <p:cNvSpPr txBox="1"/>
          <p:nvPr/>
        </p:nvSpPr>
        <p:spPr>
          <a:xfrm>
            <a:off x="1405119" y="2335840"/>
            <a:ext cx="3091854" cy="12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2222"/>
                </a:solidFill>
                <a:latin typeface="Montserrat"/>
              </a:rPr>
              <a:t>Мгновенная скорость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6194FF-8532-713A-741C-DCEE428EE240}"/>
              </a:ext>
            </a:extLst>
          </p:cNvPr>
          <p:cNvSpPr txBox="1"/>
          <p:nvPr/>
        </p:nvSpPr>
        <p:spPr>
          <a:xfrm>
            <a:off x="1405119" y="2493114"/>
            <a:ext cx="2944623" cy="240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i="0" u="none">
                <a:solidFill>
                  <a:srgbClr val="555555"/>
                </a:solidFill>
                <a:latin typeface="Inter"/>
              </a:rPr>
              <a:t>Серверу не нужно генерировать страницу или обращаться к базе данных. Файлы загружаются моментально.</a:t>
            </a:r>
          </a:p>
        </p:txBody>
      </p:sp>
      <p:pic>
        <p:nvPicPr>
          <p:cNvPr id="77" name="Picture 16" descr="image.png">
            <a:extLst>
              <a:ext uri="{FF2B5EF4-FFF2-40B4-BE49-F238E27FC236}">
                <a16:creationId xmlns:a16="http://schemas.microsoft.com/office/drawing/2014/main" id="{6EC35169-9614-D83D-4A92-EEF4E41CB1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3108" y="3012074"/>
            <a:ext cx="189721" cy="171572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37DB1AB1-70E8-1956-F175-41A6BA19BE92}"/>
              </a:ext>
            </a:extLst>
          </p:cNvPr>
          <p:cNvSpPr txBox="1"/>
          <p:nvPr/>
        </p:nvSpPr>
        <p:spPr>
          <a:xfrm>
            <a:off x="1405119" y="2983478"/>
            <a:ext cx="3091854" cy="12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2222"/>
                </a:solidFill>
                <a:latin typeface="Montserrat"/>
              </a:rPr>
              <a:t>Максимальная безопасность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E86EF9-AFA5-2AA6-AB02-6DB778370D1E}"/>
              </a:ext>
            </a:extLst>
          </p:cNvPr>
          <p:cNvSpPr txBox="1"/>
          <p:nvPr/>
        </p:nvSpPr>
        <p:spPr>
          <a:xfrm>
            <a:off x="1405119" y="3140752"/>
            <a:ext cx="2944623" cy="240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i="0" u="none">
                <a:solidFill>
                  <a:srgbClr val="555555"/>
                </a:solidFill>
                <a:latin typeface="Inter"/>
              </a:rPr>
              <a:t>Отсутствие базы данных и серверной логики сводит к минимуму риск взлома или инъекций.</a:t>
            </a:r>
          </a:p>
        </p:txBody>
      </p:sp>
      <p:pic>
        <p:nvPicPr>
          <p:cNvPr id="80" name="Picture 19" descr="image.png">
            <a:extLst>
              <a:ext uri="{FF2B5EF4-FFF2-40B4-BE49-F238E27FC236}">
                <a16:creationId xmlns:a16="http://schemas.microsoft.com/office/drawing/2014/main" id="{9815A2AC-B2B9-6526-B245-56B51EF2B4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3108" y="3659711"/>
            <a:ext cx="189721" cy="17157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625BE107-4B0B-6633-2F51-AD17A966648B}"/>
              </a:ext>
            </a:extLst>
          </p:cNvPr>
          <p:cNvSpPr txBox="1"/>
          <p:nvPr/>
        </p:nvSpPr>
        <p:spPr>
          <a:xfrm>
            <a:off x="1405119" y="3631116"/>
            <a:ext cx="3091854" cy="12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22222"/>
                </a:solidFill>
                <a:latin typeface="Montserrat"/>
              </a:rPr>
              <a:t>Простота хостинга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D25C3B-045C-3557-DC62-03443FBD6337}"/>
              </a:ext>
            </a:extLst>
          </p:cNvPr>
          <p:cNvSpPr txBox="1"/>
          <p:nvPr/>
        </p:nvSpPr>
        <p:spPr>
          <a:xfrm>
            <a:off x="1405119" y="3788391"/>
            <a:ext cx="2944623" cy="240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i="0" u="none">
                <a:solidFill>
                  <a:srgbClr val="555555"/>
                </a:solidFill>
                <a:latin typeface="Inter"/>
              </a:rPr>
              <a:t>Такой сайт можно разместить на любом самом дешевом хостинге или даже бесплатно (например, GitHub Pages).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918101-B7CF-199A-ACED-BEBBA9137695}"/>
              </a:ext>
            </a:extLst>
          </p:cNvPr>
          <p:cNvSpPr txBox="1"/>
          <p:nvPr/>
        </p:nvSpPr>
        <p:spPr>
          <a:xfrm>
            <a:off x="5172124" y="2786214"/>
            <a:ext cx="546625" cy="3539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i="0" u="none">
                <a:solidFill>
                  <a:srgbClr val="222222"/>
                </a:solidFill>
                <a:latin typeface="Montserrat"/>
              </a:rPr>
              <a:t>Браузер</a:t>
            </a:r>
            <a:r>
              <a:t>
</a:t>
            </a:r>
            <a:r>
              <a:rPr sz="900" i="0" u="none">
                <a:solidFill>
                  <a:srgbClr val="222222"/>
                </a:solidFill>
                <a:latin typeface="Montserrat"/>
              </a:rPr>
              <a:t> (Клиент)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9376DA-CB24-13B1-3D9E-350B44A32271}"/>
              </a:ext>
            </a:extLst>
          </p:cNvPr>
          <p:cNvSpPr txBox="1"/>
          <p:nvPr/>
        </p:nvSpPr>
        <p:spPr>
          <a:xfrm>
            <a:off x="7170971" y="2689706"/>
            <a:ext cx="73097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i="0" u="none">
                <a:solidFill>
                  <a:srgbClr val="222222"/>
                </a:solidFill>
                <a:latin typeface="Montserrat"/>
              </a:rPr>
              <a:t>Веб-сервер</a:t>
            </a:r>
          </a:p>
        </p:txBody>
      </p:sp>
      <p:pic>
        <p:nvPicPr>
          <p:cNvPr id="85" name="Picture 24" descr="image.png">
            <a:extLst>
              <a:ext uri="{FF2B5EF4-FFF2-40B4-BE49-F238E27FC236}">
                <a16:creationId xmlns:a16="http://schemas.microsoft.com/office/drawing/2014/main" id="{E1D453F0-9555-3CC8-2987-79106DC489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8955" y="2471666"/>
            <a:ext cx="252961" cy="228762"/>
          </a:xfrm>
          <a:prstGeom prst="rect">
            <a:avLst/>
          </a:prstGeom>
        </p:spPr>
      </p:pic>
      <p:pic>
        <p:nvPicPr>
          <p:cNvPr id="86" name="Picture 25" descr="image.png">
            <a:extLst>
              <a:ext uri="{FF2B5EF4-FFF2-40B4-BE49-F238E27FC236}">
                <a16:creationId xmlns:a16="http://schemas.microsoft.com/office/drawing/2014/main" id="{989B99AB-1CA9-9914-62AE-28408D1A2B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1580" y="2371584"/>
            <a:ext cx="438729" cy="200163"/>
          </a:xfrm>
          <a:prstGeom prst="rect">
            <a:avLst/>
          </a:prstGeom>
        </p:spPr>
      </p:pic>
      <p:sp>
        <p:nvSpPr>
          <p:cNvPr id="87" name="Rectangle 26">
            <a:extLst>
              <a:ext uri="{FF2B5EF4-FFF2-40B4-BE49-F238E27FC236}">
                <a16:creationId xmlns:a16="http://schemas.microsoft.com/office/drawing/2014/main" id="{A3F92284-F6DA-7848-4E15-F9128D8370B1}"/>
              </a:ext>
            </a:extLst>
          </p:cNvPr>
          <p:cNvSpPr/>
          <p:nvPr/>
        </p:nvSpPr>
        <p:spPr>
          <a:xfrm>
            <a:off x="6063466" y="2643238"/>
            <a:ext cx="854959" cy="14298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27">
            <a:extLst>
              <a:ext uri="{FF2B5EF4-FFF2-40B4-BE49-F238E27FC236}">
                <a16:creationId xmlns:a16="http://schemas.microsoft.com/office/drawing/2014/main" id="{FF3C0C0E-1130-EDC8-FB38-DF60BB4D40B5}"/>
              </a:ext>
            </a:extLst>
          </p:cNvPr>
          <p:cNvSpPr/>
          <p:nvPr/>
        </p:nvSpPr>
        <p:spPr>
          <a:xfrm>
            <a:off x="6063466" y="2800512"/>
            <a:ext cx="854959" cy="1429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28" descr="image.png">
            <a:extLst>
              <a:ext uri="{FF2B5EF4-FFF2-40B4-BE49-F238E27FC236}">
                <a16:creationId xmlns:a16="http://schemas.microsoft.com/office/drawing/2014/main" id="{794F1233-E030-C14B-58E2-A453919EC8F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1579" y="2849157"/>
            <a:ext cx="438729" cy="257357"/>
          </a:xfrm>
          <a:prstGeom prst="rect">
            <a:avLst/>
          </a:prstGeom>
        </p:spPr>
      </p:pic>
      <p:pic>
        <p:nvPicPr>
          <p:cNvPr id="90" name="Picture 29" descr="image.png">
            <a:extLst>
              <a:ext uri="{FF2B5EF4-FFF2-40B4-BE49-F238E27FC236}">
                <a16:creationId xmlns:a16="http://schemas.microsoft.com/office/drawing/2014/main" id="{5877F9F6-A923-12D3-1EFF-9B4D325419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94166" y="2375159"/>
            <a:ext cx="284581" cy="228762"/>
          </a:xfrm>
          <a:prstGeom prst="rect">
            <a:avLst/>
          </a:prstGeom>
        </p:spPr>
      </p:pic>
      <p:pic>
        <p:nvPicPr>
          <p:cNvPr id="91" name="Picture 30" descr="image.png">
            <a:extLst>
              <a:ext uri="{FF2B5EF4-FFF2-40B4-BE49-F238E27FC236}">
                <a16:creationId xmlns:a16="http://schemas.microsoft.com/office/drawing/2014/main" id="{E1AEF2E1-3E7C-D0A1-2F5B-9E493008CB8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49404" y="2868427"/>
            <a:ext cx="292609" cy="100083"/>
          </a:xfrm>
          <a:prstGeom prst="rect">
            <a:avLst/>
          </a:prstGeom>
        </p:spPr>
      </p:pic>
      <p:pic>
        <p:nvPicPr>
          <p:cNvPr id="94" name="Picture 31" descr="image.png">
            <a:extLst>
              <a:ext uri="{FF2B5EF4-FFF2-40B4-BE49-F238E27FC236}">
                <a16:creationId xmlns:a16="http://schemas.microsoft.com/office/drawing/2014/main" id="{1CD1F871-391C-A062-FC75-A0FB7E9E48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73634" y="2868427"/>
            <a:ext cx="249873" cy="100083"/>
          </a:xfrm>
          <a:prstGeom prst="rect">
            <a:avLst/>
          </a:prstGeom>
        </p:spPr>
      </p:pic>
      <p:pic>
        <p:nvPicPr>
          <p:cNvPr id="95" name="Picture 32" descr="image.png">
            <a:extLst>
              <a:ext uri="{FF2B5EF4-FFF2-40B4-BE49-F238E27FC236}">
                <a16:creationId xmlns:a16="http://schemas.microsoft.com/office/drawing/2014/main" id="{13F110DA-DC6A-48CF-0855-65AF650EE6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2826" y="2997106"/>
            <a:ext cx="207136" cy="1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6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/>
          </p:cNvSpPr>
          <p:nvPr/>
        </p:nvSpPr>
        <p:spPr>
          <a:xfrm>
            <a:off x="5345289" y="307645"/>
            <a:ext cx="457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СТАТИЧЕСКИЙ САЙТ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9C3FC-2FBD-3F88-EB36-037C39C04839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rPr>
              <a:t>Как работает динамический сайт?</a:t>
            </a:r>
            <a:endParaRPr lang="ru-RU" sz="1000"/>
          </a:p>
        </p:txBody>
      </p:sp>
      <p:pic>
        <p:nvPicPr>
          <p:cNvPr id="66" name="Picture 2" descr="image.png">
            <a:extLst>
              <a:ext uri="{FF2B5EF4-FFF2-40B4-BE49-F238E27FC236}">
                <a16:creationId xmlns:a16="http://schemas.microsoft.com/office/drawing/2014/main" id="{B1334232-8731-B912-8181-70A542C46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029" y="928711"/>
            <a:ext cx="3706750" cy="3746018"/>
          </a:xfrm>
          <a:prstGeom prst="rect">
            <a:avLst/>
          </a:prstGeom>
        </p:spPr>
      </p:pic>
      <p:pic>
        <p:nvPicPr>
          <p:cNvPr id="67" name="Picture 3" descr="image.png">
            <a:extLst>
              <a:ext uri="{FF2B5EF4-FFF2-40B4-BE49-F238E27FC236}">
                <a16:creationId xmlns:a16="http://schemas.microsoft.com/office/drawing/2014/main" id="{878955D0-71EF-18D1-9FF7-0C5CDB193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369" y="1066252"/>
            <a:ext cx="3300350" cy="95794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237537E2-D6BB-D642-AA6A-0FB76D80FF95}"/>
              </a:ext>
            </a:extLst>
          </p:cNvPr>
          <p:cNvSpPr txBox="1"/>
          <p:nvPr/>
        </p:nvSpPr>
        <p:spPr>
          <a:xfrm>
            <a:off x="5055760" y="1085537"/>
            <a:ext cx="2889288" cy="12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6F03"/>
                </a:solidFill>
                <a:latin typeface="Montserrat"/>
              </a:rPr>
              <a:t>СХЕМА РАБОТЫ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298FD84-D7C9-3F46-2C3E-D86DC2F3DE88}"/>
              </a:ext>
            </a:extLst>
          </p:cNvPr>
          <p:cNvSpPr txBox="1"/>
          <p:nvPr/>
        </p:nvSpPr>
        <p:spPr>
          <a:xfrm>
            <a:off x="1233296" y="1174554"/>
            <a:ext cx="3031579" cy="70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ru-RU" sz="975" b="1" i="0" u="none">
                <a:solidFill>
                  <a:srgbClr val="FF6F03"/>
                </a:solidFill>
                <a:latin typeface="Inter"/>
              </a:rPr>
              <a:t>Динамический сайт</a:t>
            </a:r>
            <a:r>
              <a:rPr lang="ru-RU" sz="975" b="0" i="0" u="none">
                <a:solidFill>
                  <a:srgbClr val="333333"/>
                </a:solidFill>
                <a:latin typeface="Inter"/>
              </a:rPr>
              <a:t> — это веб-ресурс, страницы которого формируются «на лету» сервером в момент запроса, собирая данные из базы данных и шаблонов.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82CC940-6E7D-8536-D602-8BEF3920D174}"/>
              </a:ext>
            </a:extLst>
          </p:cNvPr>
          <p:cNvSpPr txBox="1"/>
          <p:nvPr/>
        </p:nvSpPr>
        <p:spPr>
          <a:xfrm>
            <a:off x="1418217" y="2206777"/>
            <a:ext cx="309185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50" b="1" i="0" u="none">
                <a:solidFill>
                  <a:srgbClr val="222222"/>
                </a:solidFill>
                <a:latin typeface="Montserrat"/>
              </a:rPr>
              <a:t>Персонализация контента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6194FF-8532-713A-741C-DCEE428EE240}"/>
              </a:ext>
            </a:extLst>
          </p:cNvPr>
          <p:cNvSpPr txBox="1"/>
          <p:nvPr/>
        </p:nvSpPr>
        <p:spPr>
          <a:xfrm>
            <a:off x="1418217" y="2364051"/>
            <a:ext cx="2944623" cy="450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ru-RU" sz="900" b="0" i="0" u="none">
                <a:solidFill>
                  <a:srgbClr val="555555"/>
                </a:solidFill>
                <a:latin typeface="Inter"/>
              </a:rPr>
              <a:t>Страница выглядит по-разному для каждого пользователя (лента новостей, корзина товаров, личный кабинет).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7DB1AB1-70E8-1956-F175-41A6BA19BE92}"/>
              </a:ext>
            </a:extLst>
          </p:cNvPr>
          <p:cNvSpPr txBox="1"/>
          <p:nvPr/>
        </p:nvSpPr>
        <p:spPr>
          <a:xfrm>
            <a:off x="1418217" y="2889585"/>
            <a:ext cx="309185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50" b="1" i="0" u="none">
                <a:solidFill>
                  <a:srgbClr val="222222"/>
                </a:solidFill>
                <a:latin typeface="Montserrat"/>
              </a:rPr>
              <a:t>Работа с данными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CE86EF9-AFA5-2AA6-AB02-6DB778370D1E}"/>
              </a:ext>
            </a:extLst>
          </p:cNvPr>
          <p:cNvSpPr txBox="1"/>
          <p:nvPr/>
        </p:nvSpPr>
        <p:spPr>
          <a:xfrm>
            <a:off x="1418217" y="3046859"/>
            <a:ext cx="2944623" cy="450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ru-RU" sz="900" b="0" i="0" u="none">
                <a:solidFill>
                  <a:srgbClr val="555555"/>
                </a:solidFill>
                <a:latin typeface="Inter"/>
              </a:rPr>
              <a:t>Пользователи могут не только читать, но и сохранять информацию: оставлять комментарии, делать заказы, загружать файлы.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25BE107-4B0B-6633-2F51-AD17A966648B}"/>
              </a:ext>
            </a:extLst>
          </p:cNvPr>
          <p:cNvSpPr txBox="1"/>
          <p:nvPr/>
        </p:nvSpPr>
        <p:spPr>
          <a:xfrm>
            <a:off x="1418217" y="3593495"/>
            <a:ext cx="309185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ru-RU" sz="1050" b="1" i="0" u="none">
                <a:solidFill>
                  <a:srgbClr val="222222"/>
                </a:solidFill>
                <a:latin typeface="Montserrat"/>
              </a:rPr>
              <a:t>Серверная логика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7D25C3B-045C-3557-DC62-03443FBD6337}"/>
              </a:ext>
            </a:extLst>
          </p:cNvPr>
          <p:cNvSpPr txBox="1"/>
          <p:nvPr/>
        </p:nvSpPr>
        <p:spPr>
          <a:xfrm>
            <a:off x="1418217" y="3750770"/>
            <a:ext cx="2944623" cy="450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14"/>
              </a:lnSpc>
            </a:pPr>
            <a:r>
              <a:rPr lang="ru-RU" sz="900" b="0" i="0" u="none">
                <a:solidFill>
                  <a:srgbClr val="555555"/>
                </a:solidFill>
                <a:latin typeface="Inter"/>
              </a:rPr>
              <a:t>Для работы требуется Backend-разработка (например, PHP, Python, Node.js) и система управления базами данных (СУБД).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CAD45F0-59D6-1E6E-D906-B8B821254708}"/>
              </a:ext>
            </a:extLst>
          </p:cNvPr>
          <p:cNvGrpSpPr/>
          <p:nvPr/>
        </p:nvGrpSpPr>
        <p:grpSpPr>
          <a:xfrm>
            <a:off x="5618680" y="1377062"/>
            <a:ext cx="1742760" cy="647130"/>
            <a:chOff x="4555313" y="2299302"/>
            <a:chExt cx="1742760" cy="647130"/>
          </a:xfrm>
        </p:grpSpPr>
        <p:pic>
          <p:nvPicPr>
            <p:cNvPr id="68" name="Picture 4" descr="image.png">
              <a:extLst>
                <a:ext uri="{FF2B5EF4-FFF2-40B4-BE49-F238E27FC236}">
                  <a16:creationId xmlns:a16="http://schemas.microsoft.com/office/drawing/2014/main" id="{6FC491A2-0F9D-9509-5DC2-16A306453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7753" y="2299302"/>
              <a:ext cx="1612419" cy="647130"/>
            </a:xfrm>
            <a:prstGeom prst="rect">
              <a:avLst/>
            </a:prstGeom>
          </p:spPr>
        </p:pic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0918101-B7CF-199A-ACED-BEBBA9137695}"/>
                </a:ext>
              </a:extLst>
            </p:cNvPr>
            <p:cNvSpPr txBox="1"/>
            <p:nvPr/>
          </p:nvSpPr>
          <p:spPr>
            <a:xfrm>
              <a:off x="4555313" y="2675615"/>
              <a:ext cx="1742760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900" i="0" u="none">
                  <a:solidFill>
                    <a:srgbClr val="222222"/>
                  </a:solidFill>
                  <a:latin typeface="Montserrat"/>
                </a:rPr>
                <a:t>Браузер</a:t>
              </a:r>
              <a:r>
                <a:rPr lang="ru-RU" sz="900" i="0" u="none">
                  <a:solidFill>
                    <a:srgbClr val="222222"/>
                  </a:solidFill>
                  <a:latin typeface="Montserrat"/>
                </a:rPr>
                <a:t> </a:t>
              </a:r>
              <a:r>
                <a:rPr sz="900" i="0" u="none">
                  <a:solidFill>
                    <a:srgbClr val="222222"/>
                  </a:solidFill>
                  <a:latin typeface="Montserrat"/>
                </a:rPr>
                <a:t>(Клиент)</a:t>
              </a:r>
            </a:p>
          </p:txBody>
        </p:sp>
        <p:pic>
          <p:nvPicPr>
            <p:cNvPr id="85" name="Picture 24" descr="image.png">
              <a:extLst>
                <a:ext uri="{FF2B5EF4-FFF2-40B4-BE49-F238E27FC236}">
                  <a16:creationId xmlns:a16="http://schemas.microsoft.com/office/drawing/2014/main" id="{E1D453F0-9555-3CC8-2987-79106DC48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00213" y="2388821"/>
              <a:ext cx="252961" cy="228762"/>
            </a:xfrm>
            <a:prstGeom prst="rect">
              <a:avLst/>
            </a:prstGeom>
          </p:spPr>
        </p:pic>
      </p:grpSp>
      <p:pic>
        <p:nvPicPr>
          <p:cNvPr id="5" name="Picture 14">
            <a:extLst>
              <a:ext uri="{FF2B5EF4-FFF2-40B4-BE49-F238E27FC236}">
                <a16:creationId xmlns:a16="http://schemas.microsoft.com/office/drawing/2014/main" id="{108F434D-445E-E3C2-555E-74FB9297D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264" y="2228384"/>
            <a:ext cx="285750" cy="228600"/>
          </a:xfrm>
          <a:prstGeom prst="rect">
            <a:avLst/>
          </a:prstGeom>
        </p:spPr>
      </p:pic>
      <p:pic>
        <p:nvPicPr>
          <p:cNvPr id="8" name="Picture 17">
            <a:extLst>
              <a:ext uri="{FF2B5EF4-FFF2-40B4-BE49-F238E27FC236}">
                <a16:creationId xmlns:a16="http://schemas.microsoft.com/office/drawing/2014/main" id="{4A6BD142-AA14-C88F-BE04-73DEF3AAF4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31" y="2929578"/>
            <a:ext cx="200025" cy="228600"/>
          </a:xfrm>
          <a:prstGeom prst="rect">
            <a:avLst/>
          </a:prstGeom>
        </p:spPr>
      </p:pic>
      <p:pic>
        <p:nvPicPr>
          <p:cNvPr id="9" name="Picture 20">
            <a:extLst>
              <a:ext uri="{FF2B5EF4-FFF2-40B4-BE49-F238E27FC236}">
                <a16:creationId xmlns:a16="http://schemas.microsoft.com/office/drawing/2014/main" id="{E0EE2565-EFE6-7EFD-6A9D-8EC290804B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129" y="3613648"/>
            <a:ext cx="285750" cy="228600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3B5AF056-6B88-EB6B-9D22-1092E0D324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5405" y="2403234"/>
            <a:ext cx="1524000" cy="904875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CD3ADF9F-61EE-75C3-BB60-73A4A82945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5405" y="3641484"/>
            <a:ext cx="1524000" cy="904875"/>
          </a:xfrm>
          <a:prstGeom prst="rect">
            <a:avLst/>
          </a:prstGeom>
        </p:spPr>
      </p:pic>
      <p:sp>
        <p:nvSpPr>
          <p:cNvPr id="13" name="TextBox 24">
            <a:extLst>
              <a:ext uri="{FF2B5EF4-FFF2-40B4-BE49-F238E27FC236}">
                <a16:creationId xmlns:a16="http://schemas.microsoft.com/office/drawing/2014/main" id="{0A3F85EE-4880-322D-9201-7404134BA2B8}"/>
              </a:ext>
            </a:extLst>
          </p:cNvPr>
          <p:cNvSpPr txBox="1"/>
          <p:nvPr/>
        </p:nvSpPr>
        <p:spPr>
          <a:xfrm>
            <a:off x="5877805" y="2860434"/>
            <a:ext cx="12192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Сервер Приложений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4AC377D6-99E9-9645-62ED-4E7F314AC963}"/>
              </a:ext>
            </a:extLst>
          </p:cNvPr>
          <p:cNvSpPr txBox="1"/>
          <p:nvPr/>
        </p:nvSpPr>
        <p:spPr>
          <a:xfrm>
            <a:off x="6111168" y="4098684"/>
            <a:ext cx="75247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25" i="0" u="none">
                <a:solidFill>
                  <a:srgbClr val="222222"/>
                </a:solidFill>
                <a:latin typeface="Montserrat"/>
              </a:rPr>
              <a:t>База Данных</a:t>
            </a:r>
          </a:p>
        </p:txBody>
      </p:sp>
      <p:pic>
        <p:nvPicPr>
          <p:cNvPr id="15" name="Picture 27">
            <a:extLst>
              <a:ext uri="{FF2B5EF4-FFF2-40B4-BE49-F238E27FC236}">
                <a16:creationId xmlns:a16="http://schemas.microsoft.com/office/drawing/2014/main" id="{8FEEF71F-977E-1F4C-9B96-F1C9FA1C24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3580" y="2536584"/>
            <a:ext cx="247650" cy="247650"/>
          </a:xfrm>
          <a:prstGeom prst="rect">
            <a:avLst/>
          </a:prstGeom>
        </p:spPr>
      </p:pic>
      <p:pic>
        <p:nvPicPr>
          <p:cNvPr id="16" name="Picture 28">
            <a:extLst>
              <a:ext uri="{FF2B5EF4-FFF2-40B4-BE49-F238E27FC236}">
                <a16:creationId xmlns:a16="http://schemas.microsoft.com/office/drawing/2014/main" id="{CD0548D1-CF35-F1B6-0A58-E2DAC17DC1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1111" y="3069984"/>
            <a:ext cx="712589" cy="133350"/>
          </a:xfrm>
          <a:prstGeom prst="rect">
            <a:avLst/>
          </a:prstGeom>
        </p:spPr>
      </p:pic>
      <p:pic>
        <p:nvPicPr>
          <p:cNvPr id="17" name="Picture 29">
            <a:extLst>
              <a:ext uri="{FF2B5EF4-FFF2-40B4-BE49-F238E27FC236}">
                <a16:creationId xmlns:a16="http://schemas.microsoft.com/office/drawing/2014/main" id="{EF20864C-E536-3786-3B63-A81AE6AFCA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7868" y="3774834"/>
            <a:ext cx="219075" cy="247650"/>
          </a:xfrm>
          <a:prstGeom prst="rect">
            <a:avLst/>
          </a:prstGeom>
        </p:spPr>
      </p:pic>
      <p:pic>
        <p:nvPicPr>
          <p:cNvPr id="18" name="Picture 30">
            <a:extLst>
              <a:ext uri="{FF2B5EF4-FFF2-40B4-BE49-F238E27FC236}">
                <a16:creationId xmlns:a16="http://schemas.microsoft.com/office/drawing/2014/main" id="{60D8AE4A-0634-F834-FF08-B8B87CAA96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1044" y="4308234"/>
            <a:ext cx="352573" cy="133350"/>
          </a:xfrm>
          <a:prstGeom prst="rect">
            <a:avLst/>
          </a:prstGeom>
        </p:spPr>
      </p:pic>
      <p:sp>
        <p:nvSpPr>
          <p:cNvPr id="19" name="Rectangle 31">
            <a:extLst>
              <a:ext uri="{FF2B5EF4-FFF2-40B4-BE49-F238E27FC236}">
                <a16:creationId xmlns:a16="http://schemas.microsoft.com/office/drawing/2014/main" id="{56E5DBE4-2257-B7C0-8E56-500A81C83C33}"/>
              </a:ext>
            </a:extLst>
          </p:cNvPr>
          <p:cNvSpPr/>
          <p:nvPr/>
        </p:nvSpPr>
        <p:spPr>
          <a:xfrm>
            <a:off x="6049255" y="2069859"/>
            <a:ext cx="19050" cy="33337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11F3A19C-FE45-86AA-A693-7A26C5C1CF25}"/>
              </a:ext>
            </a:extLst>
          </p:cNvPr>
          <p:cNvSpPr/>
          <p:nvPr/>
        </p:nvSpPr>
        <p:spPr>
          <a:xfrm>
            <a:off x="6906505" y="2069859"/>
            <a:ext cx="19050" cy="3333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Rectangle 33">
            <a:extLst>
              <a:ext uri="{FF2B5EF4-FFF2-40B4-BE49-F238E27FC236}">
                <a16:creationId xmlns:a16="http://schemas.microsoft.com/office/drawing/2014/main" id="{649C16F8-5501-989F-7CD5-D2207D8BA315}"/>
              </a:ext>
            </a:extLst>
          </p:cNvPr>
          <p:cNvSpPr/>
          <p:nvPr/>
        </p:nvSpPr>
        <p:spPr>
          <a:xfrm>
            <a:off x="6049255" y="3308109"/>
            <a:ext cx="19050" cy="33337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Rectangle 34">
            <a:extLst>
              <a:ext uri="{FF2B5EF4-FFF2-40B4-BE49-F238E27FC236}">
                <a16:creationId xmlns:a16="http://schemas.microsoft.com/office/drawing/2014/main" id="{0DCB9285-1CF5-D39A-7FD4-A5FCFF24A4D4}"/>
              </a:ext>
            </a:extLst>
          </p:cNvPr>
          <p:cNvSpPr/>
          <p:nvPr/>
        </p:nvSpPr>
        <p:spPr>
          <a:xfrm>
            <a:off x="6906505" y="3308109"/>
            <a:ext cx="19050" cy="33337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23" name="Picture 35">
            <a:extLst>
              <a:ext uri="{FF2B5EF4-FFF2-40B4-BE49-F238E27FC236}">
                <a16:creationId xmlns:a16="http://schemas.microsoft.com/office/drawing/2014/main" id="{D0F95DD4-5F92-67E6-AEA2-F232FD72D7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25418" y="2212734"/>
            <a:ext cx="466725" cy="142875"/>
          </a:xfrm>
          <a:prstGeom prst="rect">
            <a:avLst/>
          </a:prstGeom>
        </p:spPr>
      </p:pic>
      <p:pic>
        <p:nvPicPr>
          <p:cNvPr id="24" name="Picture 36">
            <a:extLst>
              <a:ext uri="{FF2B5EF4-FFF2-40B4-BE49-F238E27FC236}">
                <a16:creationId xmlns:a16="http://schemas.microsoft.com/office/drawing/2014/main" id="{07490313-B22A-396C-7F1C-B192B7E552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0743" y="2212734"/>
            <a:ext cx="790575" cy="142875"/>
          </a:xfrm>
          <a:prstGeom prst="rect">
            <a:avLst/>
          </a:prstGeom>
        </p:spPr>
      </p:pic>
      <p:pic>
        <p:nvPicPr>
          <p:cNvPr id="25" name="Picture 37">
            <a:extLst>
              <a:ext uri="{FF2B5EF4-FFF2-40B4-BE49-F238E27FC236}">
                <a16:creationId xmlns:a16="http://schemas.microsoft.com/office/drawing/2014/main" id="{8CA93726-166E-D5D1-5781-45922A7870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5405" y="3450984"/>
            <a:ext cx="666750" cy="142875"/>
          </a:xfrm>
          <a:prstGeom prst="rect">
            <a:avLst/>
          </a:prstGeom>
        </p:spPr>
      </p:pic>
      <p:pic>
        <p:nvPicPr>
          <p:cNvPr id="26" name="Picture 38">
            <a:extLst>
              <a:ext uri="{FF2B5EF4-FFF2-40B4-BE49-F238E27FC236}">
                <a16:creationId xmlns:a16="http://schemas.microsoft.com/office/drawing/2014/main" id="{E3F7599B-E428-F562-EF0D-17290A8CD18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9330" y="3450984"/>
            <a:ext cx="533400" cy="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0C1C3F-ED02-C951-0F99-5FE93F9139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11619" y="307645"/>
            <a:ext cx="20393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1200">
                <a:solidFill>
                  <a:schemeClr val="lt1"/>
                </a:solidFill>
                <a:latin typeface="Inter" panose="02000503000000020004" pitchFamily="2" charset="0"/>
                <a:ea typeface="Inter" panose="02000503000000020004" pitchFamily="2" charset="0"/>
                <a:sym typeface="Proxima Nova"/>
              </a:rPr>
              <a:t>РОЛЬ ПРЕПОДАВАТЕЛЯ</a:t>
            </a:r>
          </a:p>
        </p:txBody>
      </p:sp>
      <p:sp>
        <p:nvSpPr>
          <p:cNvPr id="34" name="TextBox 2">
            <a:extLst>
              <a:ext uri="{FF2B5EF4-FFF2-40B4-BE49-F238E27FC236}">
                <a16:creationId xmlns:a16="http://schemas.microsoft.com/office/drawing/2014/main" id="{BF2409B9-230E-8092-F728-823BD4FDB5CC}"/>
              </a:ext>
            </a:extLst>
          </p:cNvPr>
          <p:cNvSpPr txBox="1"/>
          <p:nvPr/>
        </p:nvSpPr>
        <p:spPr>
          <a:xfrm>
            <a:off x="4760197" y="998926"/>
            <a:ext cx="64" cy="1077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700" b="0" i="0" u="none">
              <a:solidFill>
                <a:srgbClr val="222222"/>
              </a:solidFill>
              <a:latin typeface="Montserrat Medium"/>
            </a:endParaRP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07A820B4-1449-4EA8-6766-A230F577A58A}"/>
              </a:ext>
            </a:extLst>
          </p:cNvPr>
          <p:cNvSpPr/>
          <p:nvPr/>
        </p:nvSpPr>
        <p:spPr>
          <a:xfrm>
            <a:off x="4541200" y="1205121"/>
            <a:ext cx="10800" cy="3240000"/>
          </a:xfrm>
          <a:prstGeom prst="rect">
            <a:avLst/>
          </a:prstGeom>
          <a:solidFill>
            <a:srgbClr val="F26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1050"/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8A041091-1A9B-872D-2386-6DCEFE54BE0D}"/>
              </a:ext>
            </a:extLst>
          </p:cNvPr>
          <p:cNvSpPr txBox="1"/>
          <p:nvPr/>
        </p:nvSpPr>
        <p:spPr>
          <a:xfrm>
            <a:off x="1215033" y="1213658"/>
            <a:ext cx="216084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i="0" u="none">
                <a:solidFill>
                  <a:srgbClr val="FF6F03"/>
                </a:solidFill>
                <a:latin typeface="Montserrat"/>
              </a:rPr>
              <a:t>СИСТЕМНОЕ МЫШЛЕНИЕ</a:t>
            </a: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C022EC3A-0C9D-D087-BF4C-0E11E5CB388C}"/>
              </a:ext>
            </a:extLst>
          </p:cNvPr>
          <p:cNvSpPr txBox="1"/>
          <p:nvPr/>
        </p:nvSpPr>
        <p:spPr>
          <a:xfrm>
            <a:off x="5499934" y="1205121"/>
            <a:ext cx="23484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i="0" u="none">
                <a:solidFill>
                  <a:srgbClr val="FF6F03"/>
                </a:solidFill>
                <a:latin typeface="Montserrat"/>
              </a:rPr>
              <a:t>ОПЫТ И НАСТАВНИЧЕСТВО</a:t>
            </a:r>
          </a:p>
        </p:txBody>
      </p:sp>
      <p:pic>
        <p:nvPicPr>
          <p:cNvPr id="38" name="Picture 10">
            <a:extLst>
              <a:ext uri="{FF2B5EF4-FFF2-40B4-BE49-F238E27FC236}">
                <a16:creationId xmlns:a16="http://schemas.microsoft.com/office/drawing/2014/main" id="{F3809C40-086A-AD28-E83B-AA0968852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9" y="1939971"/>
            <a:ext cx="381411" cy="301950"/>
          </a:xfrm>
          <a:prstGeom prst="rect">
            <a:avLst/>
          </a:prstGeom>
        </p:spPr>
      </p:pic>
      <p:sp>
        <p:nvSpPr>
          <p:cNvPr id="54" name="TextBox 11">
            <a:extLst>
              <a:ext uri="{FF2B5EF4-FFF2-40B4-BE49-F238E27FC236}">
                <a16:creationId xmlns:a16="http://schemas.microsoft.com/office/drawing/2014/main" id="{B801780A-17A2-A65E-A098-401F9632B42F}"/>
              </a:ext>
            </a:extLst>
          </p:cNvPr>
          <p:cNvSpPr txBox="1"/>
          <p:nvPr/>
        </p:nvSpPr>
        <p:spPr>
          <a:xfrm>
            <a:off x="1214370" y="1814811"/>
            <a:ext cx="42767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i="0" u="none">
                <a:solidFill>
                  <a:srgbClr val="222222"/>
                </a:solidFill>
                <a:latin typeface="Inter"/>
              </a:rPr>
              <a:t>Видение архитектуры продукта</a:t>
            </a:r>
          </a:p>
        </p:txBody>
      </p:sp>
      <p:sp>
        <p:nvSpPr>
          <p:cNvPr id="59" name="TextBox 12">
            <a:extLst>
              <a:ext uri="{FF2B5EF4-FFF2-40B4-BE49-F238E27FC236}">
                <a16:creationId xmlns:a16="http://schemas.microsoft.com/office/drawing/2014/main" id="{8B3BBF04-FCE1-834B-0E20-DA447E81E39E}"/>
              </a:ext>
            </a:extLst>
          </p:cNvPr>
          <p:cNvSpPr txBox="1"/>
          <p:nvPr/>
        </p:nvSpPr>
        <p:spPr>
          <a:xfrm>
            <a:off x="1214370" y="2186286"/>
            <a:ext cx="3099505" cy="532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sz="800" b="0" i="0" u="none">
                <a:solidFill>
                  <a:srgbClr val="333333"/>
                </a:solidFill>
                <a:latin typeface="Inter"/>
              </a:rPr>
              <a:t>ИИ генерирует фрагменты кода. Преподаватель учит связывать верстку, логику и бэкенд в единую масштабируемую систему.</a:t>
            </a:r>
          </a:p>
        </p:txBody>
      </p:sp>
      <p:pic>
        <p:nvPicPr>
          <p:cNvPr id="60" name="Picture 13">
            <a:extLst>
              <a:ext uri="{FF2B5EF4-FFF2-40B4-BE49-F238E27FC236}">
                <a16:creationId xmlns:a16="http://schemas.microsoft.com/office/drawing/2014/main" id="{95A33643-A157-B74F-E240-5A5E719D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65" y="3431993"/>
            <a:ext cx="341680" cy="301950"/>
          </a:xfrm>
          <a:prstGeom prst="rect">
            <a:avLst/>
          </a:prstGeom>
        </p:spPr>
      </p:pic>
      <p:sp>
        <p:nvSpPr>
          <p:cNvPr id="61" name="TextBox 14">
            <a:extLst>
              <a:ext uri="{FF2B5EF4-FFF2-40B4-BE49-F238E27FC236}">
                <a16:creationId xmlns:a16="http://schemas.microsoft.com/office/drawing/2014/main" id="{2FC581D1-D8B2-0EE5-5FB6-ED2F7CBC2B12}"/>
              </a:ext>
            </a:extLst>
          </p:cNvPr>
          <p:cNvSpPr txBox="1"/>
          <p:nvPr/>
        </p:nvSpPr>
        <p:spPr>
          <a:xfrm>
            <a:off x="1214370" y="3291602"/>
            <a:ext cx="42767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i="0" u="none">
                <a:solidFill>
                  <a:srgbClr val="222222"/>
                </a:solidFill>
                <a:latin typeface="Inter"/>
              </a:rPr>
              <a:t>Навигация в «неизвестном»</a:t>
            </a:r>
          </a:p>
        </p:txBody>
      </p:sp>
      <p:sp>
        <p:nvSpPr>
          <p:cNvPr id="62" name="TextBox 15">
            <a:extLst>
              <a:ext uri="{FF2B5EF4-FFF2-40B4-BE49-F238E27FC236}">
                <a16:creationId xmlns:a16="http://schemas.microsoft.com/office/drawing/2014/main" id="{C7FA2345-7FE8-14C2-6C22-DD3E2C9B340A}"/>
              </a:ext>
            </a:extLst>
          </p:cNvPr>
          <p:cNvSpPr txBox="1"/>
          <p:nvPr/>
        </p:nvSpPr>
        <p:spPr>
          <a:xfrm>
            <a:off x="1214370" y="3663077"/>
            <a:ext cx="2988027" cy="532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50000"/>
              </a:lnSpc>
              <a:defRPr sz="800" kern="1200">
                <a:solidFill>
                  <a:srgbClr val="333333"/>
                </a:solidFill>
                <a:latin typeface="Inter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Чтобы получить ответ от ИИ, нужно знать, как задать вопрос. Наставник дает базу терминов и учит правильно декомпозировать задачи.</a:t>
            </a:r>
          </a:p>
        </p:txBody>
      </p:sp>
      <p:pic>
        <p:nvPicPr>
          <p:cNvPr id="63" name="Picture 16">
            <a:extLst>
              <a:ext uri="{FF2B5EF4-FFF2-40B4-BE49-F238E27FC236}">
                <a16:creationId xmlns:a16="http://schemas.microsoft.com/office/drawing/2014/main" id="{6E421F99-F442-A3AA-6071-7598EA8B0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5768" y="1953228"/>
            <a:ext cx="301950" cy="301950"/>
          </a:xfrm>
          <a:prstGeom prst="rect">
            <a:avLst/>
          </a:prstGeom>
        </p:spPr>
      </p:pic>
      <p:sp>
        <p:nvSpPr>
          <p:cNvPr id="64" name="TextBox 17">
            <a:extLst>
              <a:ext uri="{FF2B5EF4-FFF2-40B4-BE49-F238E27FC236}">
                <a16:creationId xmlns:a16="http://schemas.microsoft.com/office/drawing/2014/main" id="{7911A896-F101-8140-10AF-E17FCE33DCC3}"/>
              </a:ext>
            </a:extLst>
          </p:cNvPr>
          <p:cNvSpPr txBox="1"/>
          <p:nvPr/>
        </p:nvSpPr>
        <p:spPr>
          <a:xfrm>
            <a:off x="5738745" y="1814753"/>
            <a:ext cx="42767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i="0" u="none">
                <a:solidFill>
                  <a:srgbClr val="222222"/>
                </a:solidFill>
                <a:latin typeface="Inter"/>
              </a:rPr>
              <a:t>Отладка бизнес-логики</a:t>
            </a:r>
          </a:p>
        </p:txBody>
      </p:sp>
      <p:sp>
        <p:nvSpPr>
          <p:cNvPr id="65" name="TextBox 18">
            <a:extLst>
              <a:ext uri="{FF2B5EF4-FFF2-40B4-BE49-F238E27FC236}">
                <a16:creationId xmlns:a16="http://schemas.microsoft.com/office/drawing/2014/main" id="{F4E2E996-06B7-546E-A5AE-5742518E667B}"/>
              </a:ext>
            </a:extLst>
          </p:cNvPr>
          <p:cNvSpPr txBox="1"/>
          <p:nvPr/>
        </p:nvSpPr>
        <p:spPr>
          <a:xfrm>
            <a:off x="5738745" y="2090946"/>
            <a:ext cx="2544585" cy="716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50000"/>
              </a:lnSpc>
              <a:defRPr sz="800" kern="1200">
                <a:solidFill>
                  <a:srgbClr val="333333"/>
                </a:solidFill>
                <a:latin typeface="Inter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Нейросеть исправит синтаксис и опечатки. Преподаватель укажет на фундаментальную ошибку в логике, которая приведет к сбою в будущем.</a:t>
            </a:r>
          </a:p>
        </p:txBody>
      </p:sp>
      <p:pic>
        <p:nvPicPr>
          <p:cNvPr id="66" name="Picture 19">
            <a:extLst>
              <a:ext uri="{FF2B5EF4-FFF2-40B4-BE49-F238E27FC236}">
                <a16:creationId xmlns:a16="http://schemas.microsoft.com/office/drawing/2014/main" id="{36E606EB-BBE2-1DEA-6CF5-663981CED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6128" y="3404453"/>
            <a:ext cx="381411" cy="301950"/>
          </a:xfrm>
          <a:prstGeom prst="rect">
            <a:avLst/>
          </a:prstGeom>
        </p:spPr>
      </p:pic>
      <p:sp>
        <p:nvSpPr>
          <p:cNvPr id="67" name="TextBox 20">
            <a:extLst>
              <a:ext uri="{FF2B5EF4-FFF2-40B4-BE49-F238E27FC236}">
                <a16:creationId xmlns:a16="http://schemas.microsoft.com/office/drawing/2014/main" id="{38BC6E32-E5E0-BE28-28D8-34F3DA4C8A54}"/>
              </a:ext>
            </a:extLst>
          </p:cNvPr>
          <p:cNvSpPr txBox="1"/>
          <p:nvPr/>
        </p:nvSpPr>
        <p:spPr>
          <a:xfrm>
            <a:off x="5729220" y="3291601"/>
            <a:ext cx="427672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i="0" u="none">
                <a:solidFill>
                  <a:srgbClr val="222222"/>
                </a:solidFill>
                <a:latin typeface="Inter"/>
              </a:rPr>
              <a:t>Мотивация и опыт продакшена</a:t>
            </a:r>
          </a:p>
        </p:txBody>
      </p:sp>
      <p:sp>
        <p:nvSpPr>
          <p:cNvPr id="68" name="TextBox 21">
            <a:extLst>
              <a:ext uri="{FF2B5EF4-FFF2-40B4-BE49-F238E27FC236}">
                <a16:creationId xmlns:a16="http://schemas.microsoft.com/office/drawing/2014/main" id="{85228936-5D87-ABDB-0DFC-0A4F5BB60E2E}"/>
              </a:ext>
            </a:extLst>
          </p:cNvPr>
          <p:cNvSpPr txBox="1"/>
          <p:nvPr/>
        </p:nvSpPr>
        <p:spPr>
          <a:xfrm>
            <a:off x="5729220" y="3592461"/>
            <a:ext cx="2500313" cy="716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defTabSz="457200" eaLnBrk="1" latinLnBrk="0" hangingPunct="1">
              <a:lnSpc>
                <a:spcPct val="150000"/>
              </a:lnSpc>
              <a:defRPr sz="800" kern="1200">
                <a:solidFill>
                  <a:srgbClr val="333333"/>
                </a:solidFill>
                <a:latin typeface="Inter"/>
                <a:ea typeface="+mn-ea"/>
                <a:cs typeface="+mn-cs"/>
              </a:defRPr>
            </a:lvl1pPr>
            <a:lvl2pPr marL="457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defTabSz="45720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Наставник делится реальным опытом разработки (дедлайны, чтение чужого кода) и помогает не бросить обучение на сложных этапах.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FA9D59-7B25-C9CB-D851-A98D63862AC0}"/>
              </a:ext>
            </a:extLst>
          </p:cNvPr>
          <p:cNvSpPr txBox="1"/>
          <p:nvPr/>
        </p:nvSpPr>
        <p:spPr>
          <a:xfrm>
            <a:off x="305708" y="467472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00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Inter SemiBold" panose="02000503000000020004" pitchFamily="2" charset="0"/>
              </a:defRPr>
            </a:lvl1pPr>
          </a:lstStyle>
          <a:p>
            <a:r>
              <a:rPr lang="ru-RU"/>
              <a:t>Зачем нужен наставник, если есть нейросеть?</a:t>
            </a:r>
          </a:p>
        </p:txBody>
      </p:sp>
    </p:spTree>
    <p:extLst>
      <p:ext uri="{BB962C8B-B14F-4D97-AF65-F5344CB8AC3E}">
        <p14:creationId xmlns:p14="http://schemas.microsoft.com/office/powerpoint/2010/main" val="958340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  <a:effectLst>
            <a:outerShdw blurRad="142875" dist="9525" dir="600000" algn="ctr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21749226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</TotalTime>
  <Words>1103</Words>
  <Application>Microsoft Office PowerPoint</Application>
  <PresentationFormat>Экран (16:9)</PresentationFormat>
  <Paragraphs>157</Paragraphs>
  <Slides>14</Slides>
  <Notes>13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6" baseType="lpstr">
      <vt:lpstr>Montserrat Medium</vt:lpstr>
      <vt:lpstr>Montserrat</vt:lpstr>
      <vt:lpstr>Montserrat ExtraBold</vt:lpstr>
      <vt:lpstr>Arial</vt:lpstr>
      <vt:lpstr>Proxima Nova</vt:lpstr>
      <vt:lpstr>Inter</vt:lpstr>
      <vt:lpstr>Inter 18pt SemiBold</vt:lpstr>
      <vt:lpstr>Calibri</vt:lpstr>
      <vt:lpstr>Roboto</vt:lpstr>
      <vt:lpstr>Inter Medium</vt:lpstr>
      <vt:lpstr>PT Sans Caption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250</cp:revision>
  <dcterms:modified xsi:type="dcterms:W3CDTF">2026-09-04T17:20:40Z</dcterms:modified>
</cp:coreProperties>
</file>