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4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4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500" b="1">
                  <a:latin typeface="Montserrat"/>
                </a:rPr>
                <a:t>ВВЕДЕНИЕ В ПРОГРАММИРОВАНИЕ ИНТЕРФЕЙСОВ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sz="1000">
                <a:latin typeface="PT Sans Caption"/>
              </a:rPr>
              <a:t>Вебинар 4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1. Базовый синтаксис JS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Базовый синтаксис JavaScript: переменные, функции и логика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2. Манипуляция деревом DOM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Методы манипуляции деревом DOM (селекторы querySelector)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3. Обработка событий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Обработка событий: клики, жизненный цикл и DOMContentLoaded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4. Практика: Переходы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Реализация переходов между страницами и сопоставление путей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5. Практика: Стили элементов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Динамическое управление стилями элементов и активное меню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4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Интерактивные элементы управления и логика навигации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565900" y="259079"/>
            <a:ext cx="232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ЯЗЫК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Какую роль выполняет JavaScript в современном веб-приложении?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Архитектура Web: HTML + CSS + 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HTML: Структура и семантика каркаса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&lt;a href="catalog.html" class="nav-link"&gt;Каталог&lt;/a&gt;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Визуальные стили и оформление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.nav-link.active { color: #007bff;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JavaScript: Живая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navLinks = document.querySelectorAll(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currentPath = window.location.pathname;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navLinks.forEach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4ADE80"/>
                </a:solidFill>
                <a:latin typeface="Consolas"/>
              </a:rPr>
              <a:t>link</a:t>
            </a:r>
            <a:r>
              <a:rPr sz="800">
                <a:solidFill>
                  <a:srgbClr val="38BDF8"/>
                </a:solidFill>
                <a:latin typeface="Consolas"/>
              </a:rPr>
              <a:t> =&gt;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if (link.getAttribute(</a:t>
            </a:r>
            <a:r>
              <a:rPr sz="800">
                <a:solidFill>
                  <a:srgbClr val="FCD34D"/>
                </a:solidFill>
                <a:latin typeface="Consolas"/>
              </a:rPr>
              <a:t>'href'</a:t>
            </a:r>
            <a:r>
              <a:rPr sz="800">
                <a:solidFill>
                  <a:srgbClr val="D4D4D8"/>
                </a:solidFill>
                <a:latin typeface="Consolas"/>
              </a:rPr>
              <a:t>) === currentPath)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link.classList.add(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ТРИЕДИНСТВО WEB: СТРУКТУРА, СТИЛЬ, ПОВЕДЕНИЕ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Интерактивность в реальном времени: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HTML создает скелет, CSS задает красоту, а JavaScript вдыхает жизнь: реагирует на клики, переключает страницы и проверяет формы.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Клиентский язык (Client-Side):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Код выполняется прямо на компьютере пользователя в браузере, не требуя перезагрузки страницы при каждом действии.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Динамическое изменение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JS может на лету добавлять или снимать CSS-классы (.active, .open, .loading), мгновенно меняя оформление элементов.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Современный стандарт ES6+: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используем стрелочные функции (=&gt;), строгие константы const и встроенные методы перебора коллекций .forEach().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985000" y="259079"/>
            <a:ext cx="1905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ОСНОВЫ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Что такое Document Object Model и как браузер видит страницу?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DOM: Представление тегов в виде объектов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HTML в исходном коде: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&lt;a class="nav-link" href="catalog.html"&gt;Каталог&lt;/a&gt;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В памяти браузера это JS-объект HTMLElement: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linkObj =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tagName: </a:t>
            </a:r>
            <a:r>
              <a:rPr sz="800">
                <a:solidFill>
                  <a:srgbClr val="FCD34D"/>
                </a:solidFill>
                <a:latin typeface="Consolas"/>
              </a:rPr>
              <a:t>'A'</a:t>
            </a:r>
            <a:r>
              <a:rPr sz="8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className: </a:t>
            </a:r>
            <a:r>
              <a:rPr sz="800">
                <a:solidFill>
                  <a:srgbClr val="FCD34D"/>
                </a:solidFill>
                <a:latin typeface="Consolas"/>
              </a:rPr>
              <a:t>'nav-link'</a:t>
            </a:r>
            <a:r>
              <a:rPr sz="8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href: </a:t>
            </a:r>
            <a:r>
              <a:rPr sz="800">
                <a:solidFill>
                  <a:srgbClr val="FCD34D"/>
                </a:solidFill>
                <a:latin typeface="Consolas"/>
              </a:rPr>
              <a:t>'http://site.ru/catalog.html'</a:t>
            </a:r>
            <a:r>
              <a:rPr sz="8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textContent: </a:t>
            </a:r>
            <a:r>
              <a:rPr sz="800">
                <a:solidFill>
                  <a:srgbClr val="FCD34D"/>
                </a:solidFill>
                <a:latin typeface="Consolas"/>
              </a:rPr>
              <a:t>'Каталог'</a:t>
            </a:r>
            <a:r>
              <a:rPr sz="8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classList: { add: ƒ, remove: ƒ, toggle: ƒ },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style: { color: '', backgroundColor: ''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Мы можем управлять объектом через JS: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linkObj.classList.add(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38989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DOCUMENT OBJECT MODEL (DOM)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557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Превращение HTML в дерево объектов: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чтении HTML браузер парсит каждый тег и создает в оперативной памяти древовидную модель объектов документа (DOM).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129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19685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Программный интерфейс (API):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DOM предоставляет сотни встроенных функций (document.getElementById, addEventListener), через которые JS общается с HTML.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257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813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Двусторонняя реакция: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Когда JS меняет свойство объекта в DOM (например, textContent или classList), браузер тут же перерисовывает экран пользователя.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385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941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Доступ через глобальный document: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Служебный объект document служит входными воротами во все дерево элементов текущей загруженной веб-страницы.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316980" y="259079"/>
            <a:ext cx="25730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ДЕРЕВО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устроена иерархия объектов внутри окна браузера?</a:t>
            </a:r>
          </a:p>
        </p:txBody>
      </p:sp>
      <p:sp>
        <p:nvSpPr>
          <p:cNvPr id="4" name="DOM Card Col 1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КОРЕНЬ И СТРУКТУРА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Объекты window и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8800" y="1574800"/>
            <a:ext cx="2159000" cy="355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window (Глобальный объект)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1981200"/>
            <a:ext cx="2159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38BDF8"/>
                </a:solidFill>
                <a:latin typeface="Consolas"/>
              </a:rPr>
              <a:t>│
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362200"/>
            <a:ext cx="2159000" cy="355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38BDF8"/>
                </a:solidFill>
                <a:latin typeface="Consolas"/>
              </a:rPr>
              <a:t>document (DOM-дерево)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844800"/>
            <a:ext cx="2159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D4D4D8"/>
                </a:solidFill>
                <a:latin typeface="Consolas"/>
              </a:rPr>
              <a:t>• location.pathname
• localStorage
• document.body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Inter"/>
              </a:rPr>
              <a:t>Корень и окружение: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window представляет окно браузера, а document — загруженную веб-страницу и точку входа в дерево.</a:t>
            </a:r>
          </a:p>
        </p:txBody>
      </p:sp>
      <p:sp>
        <p:nvSpPr>
          <p:cNvPr id="13" name="DOM Card Col 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ВЕТВИ И ЭЛЕМЕНТЫ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Древовидная иерархия тегов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2500" y="1524000"/>
            <a:ext cx="2159000" cy="304800"/>
          </a:xfrm>
          <a:prstGeom prst="roundRect">
            <a:avLst>
              <a:gd name="adj" fmla="val 10000"/>
            </a:avLst>
          </a:prstGeom>
          <a:solidFill>
            <a:srgbClr val="132E22"/>
          </a:solidFill>
          <a:ln w="12700">
            <a:solidFill>
              <a:srgbClr val="4ADE80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FFFFFF"/>
                </a:solidFill>
                <a:latin typeface="Consolas"/>
              </a:rPr>
              <a:t>&lt;html&gt; (Корневой тег)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981200"/>
            <a:ext cx="990600" cy="685800"/>
          </a:xfrm>
          <a:prstGeom prst="roundRect">
            <a:avLst>
              <a:gd name="adj" fmla="val 10000"/>
            </a:avLst>
          </a:prstGeom>
          <a:solidFill>
            <a:srgbClr val="1B2433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38BDF8"/>
                </a:solidFill>
                <a:latin typeface="Consolas"/>
              </a:rPr>
              <a:t>&lt;head&gt;
</a:t>
            </a:r>
            <a:r>
              <a:rPr sz="650">
                <a:solidFill>
                  <a:srgbClr val="71717A"/>
                </a:solidFill>
                <a:latin typeface="Consolas"/>
              </a:rPr>
              <a:t>• &lt;script defer&gt;
• &lt;link css&gt;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0100" y="1981200"/>
            <a:ext cx="990600" cy="685800"/>
          </a:xfrm>
          <a:prstGeom prst="roundRect">
            <a:avLst>
              <a:gd name="adj" fmla="val 10000"/>
            </a:avLst>
          </a:prstGeom>
          <a:solidFill>
            <a:srgbClr val="1B2433"/>
          </a:solidFill>
          <a:ln w="12700">
            <a:solidFill>
              <a:srgbClr val="4ADE80"/>
            </a:solidFill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&lt;body&gt;
</a:t>
            </a:r>
            <a:r>
              <a:rPr sz="650">
                <a:solidFill>
                  <a:srgbClr val="D4D4D8"/>
                </a:solidFill>
                <a:latin typeface="Consolas"/>
              </a:rPr>
              <a:t>• &lt;header&gt;
• &lt;main&gt;
• &lt;footer&gt;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2500" y="2819400"/>
            <a:ext cx="2159000" cy="635000"/>
          </a:xfrm>
          <a:prstGeom prst="roundRect">
            <a:avLst>
              <a:gd name="adj" fmla="val 10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l"/>
            <a:r>
              <a:rPr sz="750">
                <a:solidFill>
                  <a:srgbClr val="4ADE80"/>
                </a:solidFill>
                <a:latin typeface="Consolas"/>
              </a:rPr>
              <a:t> └─ &lt;nav class="nav"&gt;
      └─ &lt;a class="nav-link"&gt;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4ADE80"/>
                </a:solidFill>
                <a:latin typeface="Inter"/>
              </a:rPr>
              <a:t>Древовидная связь узлов: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Каждый тег превращается в узел DOM (Node). Родители содержат детей, формируя строгую иерархию.</a:t>
            </a:r>
          </a:p>
        </p:txBody>
      </p:sp>
      <p:sp>
        <p:nvSpPr>
          <p:cNvPr id="22" name="DOM Card Col 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УПРАВЛЕНИЕ ИЗ JS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Свойства, классы и события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1524000"/>
            <a:ext cx="2209800" cy="431800"/>
          </a:xfrm>
          <a:prstGeom prst="roundRect">
            <a:avLst>
              <a:gd name="adj" fmla="val 8000"/>
            </a:avLst>
          </a:prstGeom>
          <a:solidFill>
            <a:srgbClr val="1E1B2A"/>
          </a:solidFill>
          <a:ln w="9525">
            <a:solidFill>
              <a:srgbClr val="2D3139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700" b="1">
                <a:solidFill>
                  <a:srgbClr val="A78BFA"/>
                </a:solidFill>
                <a:latin typeface="Consolas"/>
              </a:rPr>
              <a:t> 1. ПОИСК:</a:t>
            </a:r>
          </a:p>
          <a:p>
            <a:r>
              <a:rPr sz="650">
                <a:solidFill>
                  <a:srgbClr val="D4D4D8"/>
                </a:solidFill>
                <a:latin typeface="Consolas"/>
              </a:rPr>
              <a:t> document.querySelectorAll('.nav-link')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32000"/>
            <a:ext cx="2209800" cy="431800"/>
          </a:xfrm>
          <a:prstGeom prst="roundRect">
            <a:avLst>
              <a:gd name="adj" fmla="val 8000"/>
            </a:avLst>
          </a:prstGeom>
          <a:solidFill>
            <a:srgbClr val="1E1B2A"/>
          </a:solidFill>
          <a:ln w="9525">
            <a:solidFill>
              <a:srgbClr val="2D3139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Consolas"/>
              </a:rPr>
              <a:t> 2. ЧТЕНИЕ:</a:t>
            </a:r>
          </a:p>
          <a:p>
            <a:r>
              <a:rPr sz="650">
                <a:solidFill>
                  <a:srgbClr val="D4D4D8"/>
                </a:solidFill>
                <a:latin typeface="Consolas"/>
              </a:rPr>
              <a:t> link.getAttribute('href')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540000"/>
            <a:ext cx="2209800" cy="431800"/>
          </a:xfrm>
          <a:prstGeom prst="roundRect">
            <a:avLst>
              <a:gd name="adj" fmla="val 8000"/>
            </a:avLst>
          </a:prstGeom>
          <a:solidFill>
            <a:srgbClr val="1E1B2A"/>
          </a:solidFill>
          <a:ln w="9525">
            <a:solidFill>
              <a:srgbClr val="2D3139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700" b="1">
                <a:solidFill>
                  <a:srgbClr val="4ADE80"/>
                </a:solidFill>
                <a:latin typeface="Consolas"/>
              </a:rPr>
              <a:t> 3. КЛАССЫ:</a:t>
            </a:r>
          </a:p>
          <a:p>
            <a:r>
              <a:rPr sz="650">
                <a:solidFill>
                  <a:srgbClr val="D4D4D8"/>
                </a:solidFill>
                <a:latin typeface="Consolas"/>
              </a:rPr>
              <a:t> link.classList.add('active')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48000"/>
            <a:ext cx="2209800" cy="431800"/>
          </a:xfrm>
          <a:prstGeom prst="roundRect">
            <a:avLst>
              <a:gd name="adj" fmla="val 8000"/>
            </a:avLst>
          </a:prstGeom>
          <a:solidFill>
            <a:srgbClr val="1E1B2A"/>
          </a:solidFill>
          <a:ln w="9525">
            <a:solidFill>
              <a:srgbClr val="2D3139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700" b="1">
                <a:solidFill>
                  <a:srgbClr val="FCD34D"/>
                </a:solidFill>
                <a:latin typeface="Consolas"/>
              </a:rPr>
              <a:t> 4. УВЕДОМЛЕНИЕ:</a:t>
            </a:r>
          </a:p>
          <a:p>
            <a:r>
              <a:rPr sz="650">
                <a:solidFill>
                  <a:srgbClr val="D4D4D8"/>
                </a:solidFill>
                <a:latin typeface="Consolas"/>
              </a:rPr>
              <a:t> document.createElement('div')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A78BFA"/>
                </a:solidFill>
                <a:latin typeface="Inter"/>
              </a:rPr>
              <a:t>Живой интерактивный интерфейс: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Через методы DOM JavaScript находит кнопки, меняет классы, выводит уведомления и управляет навигацией.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690360" y="259079"/>
            <a:ext cx="21996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ПОДКЛЮЧЕНИЕ 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Почему атрибут defer является золотым стандартом подключения скриптов?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(&lt;script src="..." defer&gt;)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Без defer (ОПАСНО: блокирует парсинг)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&lt;script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"js/main.js"</a:t>
            </a:r>
            <a:r>
              <a:rPr sz="800">
                <a:solidFill>
                  <a:srgbClr val="F472B6"/>
                </a:solidFill>
                <a:latin typeface="Consolas"/>
              </a:rPr>
              <a:t>&gt;&lt;/script&gt;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&lt;!-- 2. С async (Хаотично: выполнится когда скачается)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&lt;script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"js/main.js"</a:t>
            </a:r>
            <a:r>
              <a:rPr sz="800">
                <a:solidFill>
                  <a:srgbClr val="38BDF8"/>
                </a:solidFill>
                <a:latin typeface="Consolas"/>
              </a:rPr>
              <a:t> async</a:t>
            </a:r>
            <a:r>
              <a:rPr sz="800">
                <a:solidFill>
                  <a:srgbClr val="F472B6"/>
                </a:solidFill>
                <a:latin typeface="Consolas"/>
              </a:rPr>
              <a:t>&gt;&lt;/script&gt;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&lt;!-- 3. С defer (ИДЕАЛЬНО: фон + порядок + после DOM)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&lt;script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"js/main.js"</a:t>
            </a:r>
            <a:r>
              <a:rPr sz="800">
                <a:solidFill>
                  <a:srgbClr val="38BDF8"/>
                </a:solidFill>
                <a:latin typeface="Consolas"/>
              </a:rPr>
              <a:t> defer</a:t>
            </a:r>
            <a:r>
              <a:rPr sz="800">
                <a:solidFill>
                  <a:srgbClr val="F472B6"/>
                </a:solidFill>
                <a:latin typeface="Consolas"/>
              </a:rPr>
              <a:t>&gt;&lt;/script&gt;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Место подключения: внутри &lt;head&gt;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meta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charset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rel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&lt;script src="js/main.js" defer&gt;&lt;/script&gt;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АТРИБУТ DEFER: БЫСТРОДЕЙСТВИЕ И НАДЕЖНОСТЬ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классического &lt;script&gt;: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defer браузер останавливает построение страницы, скачивает JS-файл и только потом продолжает. Пользователь видит белый экран.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Фоновая загрузка (Non-blocking):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Атрибут defer указывает браузеру загружать скрипт параллельно в фоне, вообще не замедляя отображение стилей и верстки.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Гарантия готовности DOM: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Скрипт с defer гарантированно запускается только тогда, когда весь HTML-документ уже полностью прочитан и построен.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Сохранение порядка вызовов: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отличие от async, несколько скриптов с defer всегда выполняются строго в том порядке, в котором они указаны в HTML.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814820" y="259079"/>
            <a:ext cx="20751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СТАРТ СКРИПТА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гарантировать, что JavaScript запустится вовремя?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(DOMContentLoaded)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СмартОфис — Скрипт веб-приложения (Вебинар 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Подписка на событие готовности DOM-дерева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document.</a:t>
            </a:r>
            <a:r>
              <a:rPr sz="800">
                <a:solidFill>
                  <a:srgbClr val="A78BFA"/>
                </a:solidFill>
                <a:latin typeface="Consolas"/>
              </a:rPr>
              <a:t>addEventListener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'DOMContentLoaded'</a:t>
            </a:r>
            <a:r>
              <a:rPr sz="800">
                <a:solidFill>
                  <a:srgbClr val="38BDF8"/>
                </a:solidFill>
                <a:latin typeface="Consolas"/>
              </a:rPr>
              <a:t>, ()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Вся разметка готова к поиску и манипуляциям!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console.log(</a:t>
            </a:r>
            <a:r>
              <a:rPr sz="800">
                <a:solidFill>
                  <a:srgbClr val="FCD34D"/>
                </a:solidFill>
                <a:latin typeface="Consolas"/>
              </a:rPr>
              <a:t>'DOM полностью загружен и готов!'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initNavigation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Функция инициализации навигации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function </a:t>
            </a:r>
            <a:r>
              <a:rPr sz="800">
                <a:solidFill>
                  <a:srgbClr val="D4D4D8"/>
                </a:solidFill>
                <a:latin typeface="Consolas"/>
              </a:rPr>
              <a:t>initNavigation()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Безопасный поиск ссылок внутри DOM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querySelectorAll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`</a:t>
            </a:r>
            <a:r>
              <a:rPr sz="800">
                <a:solidFill>
                  <a:srgbClr val="FCD34D"/>
                </a:solidFill>
                <a:latin typeface="Consolas"/>
              </a:rPr>
              <a:t>Найдено ссылок меню: </a:t>
            </a:r>
            <a:r>
              <a:rPr sz="800">
                <a:solidFill>
                  <a:srgbClr val="FCD34D"/>
                </a:solidFill>
                <a:latin typeface="Consolas"/>
              </a:rPr>
              <a:t>${</a:t>
            </a:r>
            <a:r>
              <a:rPr sz="800">
                <a:solidFill>
                  <a:srgbClr val="D4D4D8"/>
                </a:solidFill>
                <a:latin typeface="Consolas"/>
              </a:rPr>
              <a:t>links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length</a:t>
            </a:r>
            <a:r>
              <a:rPr sz="800">
                <a:solidFill>
                  <a:srgbClr val="FCD34D"/>
                </a:solidFill>
                <a:latin typeface="Consolas"/>
              </a:rPr>
              <a:t>}</a:t>
            </a:r>
            <a:r>
              <a:rPr sz="800">
                <a:solidFill>
                  <a:srgbClr val="FCD34D"/>
                </a:solidFill>
                <a:latin typeface="Consolas"/>
              </a:rPr>
              <a:t>`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СОБЫТИЕ ГОТОВНОСТИ DOMCONTENTLOADED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Системное событие DOMContentLoaded: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тот миллисекундный момент, когда браузер завершил построение дерева тегов, не дожидаясь тяжелых фото и шрифтов.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addEventListener: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Универсальный механизм подписки на события. Принимает имя события ('DOMContentLoaded') и функцию-обработчик (callback).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Защита от фатального Cannot read null: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вызвать querySelector до DOMContentLoaded, браузер не найдет элемент, вернет null, и вызов .classList вызовет сбой.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Быстрый отклик интерфейса: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Интерактивная логика меню подключается мгновенно, не заставляя пользователя ждать догрузки всех баннеров каталога.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819140" y="259079"/>
            <a:ext cx="30708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ЖИЗНЕННЫЙ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Какова точная последовательность загрузки страницы и выполнения кода?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85344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889000"/>
            <a:ext cx="8128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ЖИЗНЕННЫЙ ЦИКЛ СТРАНИЦЫ И БЕЗОПАСНЫЙ СТАРТ JAVASCRIPT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193800"/>
            <a:ext cx="8128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000" y="1397000"/>
            <a:ext cx="1905000" cy="2286000"/>
          </a:xfrm>
          <a:prstGeom prst="roundRect">
            <a:avLst>
              <a:gd name="adj" fmla="val 6000"/>
            </a:avLst>
          </a:prstGeom>
          <a:solidFill>
            <a:srgbClr val="13161C"/>
          </a:solidFill>
          <a:ln w="12700">
            <a:solidFill>
              <a:srgbClr val="38B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74800"/>
            <a:ext cx="304800" cy="3048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181A1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1200"/>
            <a:ext cx="15494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38BDF8"/>
                </a:solidFill>
                <a:latin typeface="Montserrat"/>
              </a:rPr>
              <a:t>ШАГ 1: ЗАГРУЗКА 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38400"/>
            <a:ext cx="15494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549400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Браузер считывает HTML сверху вниз и строит DOM-дерево в памяти.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0800" y="1397000"/>
            <a:ext cx="1905000" cy="2286000"/>
          </a:xfrm>
          <a:prstGeom prst="roundRect">
            <a:avLst>
              <a:gd name="adj" fmla="val 6000"/>
            </a:avLst>
          </a:prstGeom>
          <a:solidFill>
            <a:srgbClr val="13161C"/>
          </a:solidFill>
          <a:ln w="12700">
            <a:solidFill>
              <a:srgbClr val="FCD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8600" y="1574800"/>
            <a:ext cx="304800" cy="304800"/>
          </a:xfrm>
          <a:prstGeom prst="ellipse">
            <a:avLst/>
          </a:prstGeom>
          <a:solidFill>
            <a:srgbClr val="FCD34D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181A1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8600" y="1981200"/>
            <a:ext cx="15494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CD34D"/>
                </a:solidFill>
                <a:latin typeface="Montserrat"/>
              </a:rPr>
              <a:t>ШАГ 2: СКРИПТ DEFER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8600" y="2438400"/>
            <a:ext cx="15494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8600" y="2514600"/>
            <a:ext cx="1549400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Скрипт скачивается в фоне, не блокируя отрисовку стилей и картинок.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3600" y="1397000"/>
            <a:ext cx="1905000" cy="2286000"/>
          </a:xfrm>
          <a:prstGeom prst="roundRect">
            <a:avLst>
              <a:gd name="adj" fmla="val 6000"/>
            </a:avLst>
          </a:prstGeom>
          <a:solidFill>
            <a:srgbClr val="13161C"/>
          </a:solidFill>
          <a:ln w="12700">
            <a:solidFill>
              <a:srgbClr val="4ADE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51400" y="1574800"/>
            <a:ext cx="304800" cy="3048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181A1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1400" y="1981200"/>
            <a:ext cx="15494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4ADE80"/>
                </a:solidFill>
                <a:latin typeface="Montserrat"/>
              </a:rPr>
              <a:t>ШАГ 3: DOMCONTENTLOADED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1400" y="2438400"/>
            <a:ext cx="15494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1400" y="2514600"/>
            <a:ext cx="1549400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HTML полностью готов! Браузер мгновенно стреляет системным событием.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6400" y="1397000"/>
            <a:ext cx="1905000" cy="2286000"/>
          </a:xfrm>
          <a:prstGeom prst="roundRect">
            <a:avLst>
              <a:gd name="adj" fmla="val 6000"/>
            </a:avLst>
          </a:prstGeom>
          <a:solidFill>
            <a:srgbClr val="13161C"/>
          </a:solidFill>
          <a:ln w="12700">
            <a:solidFill>
              <a:srgbClr val="A78B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34200" y="1574800"/>
            <a:ext cx="304800" cy="3048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181A1F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4200" y="1981200"/>
            <a:ext cx="15494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A78BFA"/>
                </a:solidFill>
                <a:latin typeface="Montserrat"/>
              </a:rPr>
              <a:t>ШАГ 4: ЗАПУСК ЛОГИКИ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34200" y="2438400"/>
            <a:ext cx="15494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4200" y="2514600"/>
            <a:ext cx="1549400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Скрипт main.js безопасно находит элементы .nav-link и подсвечивает меню.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383540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E6002"/>
                </a:solidFill>
                <a:latin typeface="Montserrat"/>
              </a:rPr>
              <a:t>Ключевое правило: </a:t>
            </a:r>
            <a:r>
              <a:rPr sz="850">
                <a:solidFill>
                  <a:srgbClr val="D4D4D8"/>
                </a:solidFill>
                <a:latin typeface="Inter"/>
              </a:rPr>
              <a:t>Никогда не обращайтесь к DOM до события DOMContentLoaded — всегда используйте атрибут defer.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985000" y="259079"/>
            <a:ext cx="1905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ПОИСК В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находить элементы страницы с помощью селекторов CSS?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(Методы выборки элементов)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Поиск ОДНОГО элемента по ID (быстрый доступ)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authBtn = document.</a:t>
            </a:r>
            <a:r>
              <a:rPr sz="800">
                <a:solidFill>
                  <a:srgbClr val="A78BFA"/>
                </a:solidFill>
                <a:latin typeface="Consolas"/>
              </a:rPr>
              <a:t>getElementById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'authNavBtn'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2. Поиск ПЕРВОГО совпадения по CSS-селектору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mainTitle = document.</a:t>
            </a:r>
            <a:r>
              <a:rPr sz="800">
                <a:solidFill>
                  <a:srgbClr val="A78BFA"/>
                </a:solidFill>
                <a:latin typeface="Consolas"/>
              </a:rPr>
              <a:t>querySelector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'.hero-title'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Поиск ВСЕХ элементов по CSS-селектору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links = document.</a:t>
            </a:r>
            <a:r>
              <a:rPr sz="800">
                <a:solidFill>
                  <a:srgbClr val="A78BFA"/>
                </a:solidFill>
                <a:latin typeface="Consolas"/>
              </a:rPr>
              <a:t>querySelectorAll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Результат querySelectorAll — псевдомассив NodeList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console.log(links);        // NodeList(3) [a, a, a]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console.log(links.length); // 3 (количество найденных)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ИНСТРУМЕНТЫ ВЫБОРКИ ЭЛЕМЕНТОВ В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document.getElementById('id'):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Самый быстрый метод в движке браузера. Ищет единственный уникальный элемент по его идентификатору без решетки '#'.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document.querySelector('селектор'):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Принимает любой валидный CSS-селектор (.card, #btn, nav &gt; ul a). Возвращает первый найденный элемент или null.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document.querySelectorAll('селектор'):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Находит абсолютно все элементы на странице, соответствующие CSS-правилу, и возвращает их в виде коллекции NodeList.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такое NodeList: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упорядоченный список элементов, похожий на массив. Он имеет свойство .length и поддерживает удобный перебор через .forEach().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316980" y="259079"/>
            <a:ext cx="25730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ПЕРЕБОР ЭЛЕМЕНТОВ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применить логику к каждому найденному пункту меню?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(Цикл forEach)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function </a:t>
            </a:r>
            <a:r>
              <a:rPr sz="800">
                <a:solidFill>
                  <a:srgbClr val="D4D4D8"/>
                </a:solidFill>
                <a:latin typeface="Consolas"/>
              </a:rPr>
              <a:t>initNavigation()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querySelectorAll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Перебираем каждую ссылку по очереди: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links.</a:t>
            </a:r>
            <a:r>
              <a:rPr sz="800">
                <a:solidFill>
                  <a:srgbClr val="A78BFA"/>
                </a:solidFill>
                <a:latin typeface="Consolas"/>
              </a:rPr>
              <a:t>forEach</a:t>
            </a:r>
            <a:r>
              <a:rPr sz="800">
                <a:solidFill>
                  <a:srgbClr val="D4D4D8"/>
                </a:solidFill>
                <a:latin typeface="Consolas"/>
              </a:rPr>
              <a:t>((</a:t>
            </a:r>
            <a:r>
              <a:rPr sz="800">
                <a:solidFill>
                  <a:srgbClr val="4ADE80"/>
                </a:solidFill>
                <a:latin typeface="Consolas"/>
              </a:rPr>
              <a:t>link, index</a:t>
            </a:r>
            <a:r>
              <a:rPr sz="800">
                <a:solidFill>
                  <a:srgbClr val="38BDF8"/>
                </a:solidFill>
                <a:latin typeface="Consolas"/>
              </a:rPr>
              <a:t>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`</a:t>
            </a:r>
            <a:r>
              <a:rPr sz="800">
                <a:solidFill>
                  <a:srgbClr val="FCD34D"/>
                </a:solidFill>
                <a:latin typeface="Consolas"/>
              </a:rPr>
              <a:t>Ссылка #</a:t>
            </a:r>
            <a:r>
              <a:rPr sz="800">
                <a:solidFill>
                  <a:srgbClr val="FCD34D"/>
                </a:solidFill>
                <a:latin typeface="Consolas"/>
              </a:rPr>
              <a:t>${</a:t>
            </a:r>
            <a:r>
              <a:rPr sz="800">
                <a:solidFill>
                  <a:srgbClr val="D4D4D8"/>
                </a:solidFill>
                <a:latin typeface="Consolas"/>
              </a:rPr>
              <a:t>index</a:t>
            </a:r>
            <a:r>
              <a:rPr sz="800">
                <a:solidFill>
                  <a:srgbClr val="FCD34D"/>
                </a:solidFill>
                <a:latin typeface="Consolas"/>
              </a:rPr>
              <a:t>}</a:t>
            </a:r>
            <a:r>
              <a:rPr sz="800">
                <a:solidFill>
                  <a:srgbClr val="FCD34D"/>
                </a:solidFill>
                <a:latin typeface="Consolas"/>
              </a:rPr>
              <a:t>:</a:t>
            </a:r>
            <a:r>
              <a:rPr sz="800">
                <a:solidFill>
                  <a:srgbClr val="FCD34D"/>
                </a:solidFill>
                <a:latin typeface="Consolas"/>
              </a:rPr>
              <a:t>`</a:t>
            </a:r>
            <a:r>
              <a:rPr sz="800">
                <a:solidFill>
                  <a:srgbClr val="D4D4D8"/>
                </a:solidFill>
                <a:latin typeface="Consolas"/>
              </a:rPr>
              <a:t>,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textContent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Получаем адрес, куда ведет ссылка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getAttribute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'href'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!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38BDF8"/>
                </a:solidFill>
                <a:latin typeface="Consolas"/>
              </a:rPr>
              <a:t>return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71717A"/>
                </a:solidFill>
                <a:latin typeface="Consolas"/>
              </a:rPr>
              <a:t>// Пропуск пустых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Подготовка элемента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classList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remove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});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МЕТОД FOREACH: ПРОСТОТА И НАДЕЖНОСТЬ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Перебор без счетчиков и i++: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отличие от старого for(let i = 0; ...), метод .forEach() автоматически передает каждый элемент в функцию без риска выйти за границы.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Аргументы колбэк-функции: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Первым параметром передается сам DOM-узел (link), вторым — порядковый индекс элемента (0, 1, 2...), если он необходим.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Оператор return в forEach: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return внутри forEach работает как continue в обычном цикле: завершает текущую итерацию и переходит к следующей ссылке.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Чистота функционального стиля: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Стрелочные функции делают код компактным, легко читаемым для коллег и снижают количество синтаксических ошибок.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068060" y="259079"/>
            <a:ext cx="2821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РАБОТА С АТРИБУТАМИ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извлечь значение атрибута href у тега ссылки?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(getAttribute vs .href)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Ссылка в разметке: &lt;a href="pages/catalog.html"&gt;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link = document.querySelector(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Вариант А: Свойство объекта .href (Абсолютный URL)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Выведет: 'http://127.0.0.1:5500/pages/catalog.html'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Вариант Б: Метод getAttribute (Исходная строка)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href = link.</a:t>
            </a:r>
            <a:r>
              <a:rPr sz="800">
                <a:solidFill>
                  <a:srgbClr val="A78BFA"/>
                </a:solidFill>
                <a:latin typeface="Consolas"/>
              </a:rPr>
              <a:t>getAttribute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'href'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Выведет строго то, что написано в HTML: 'pages/catalog.html'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Защитная проверка: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!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||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===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'#'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return; // Ссылка без адреса, пропускаем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GETATTRIBUTE: ТОЧНОСТЬ И БЕЗОПАСНОСТЬ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Разница между .href и getAttribute('href'):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.href возвращает полный адрес с доменом и протоколом. getAttribute('href') возвращает ровно ту строку, что вбита в HTML.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Независимость от сервера и домена: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getAttribute возвращает относительный путь ('catalog.html'), благодаря чему скрипт навигации работает и локально, и на боевом сервере.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Универсальность для любых атрибутов: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Метод getAttribute считывает любые атрибуты: 'src', 'alt', 'data-id', 'title', 'aria-label', давая полный контроль над разметкой.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Защитное программирование: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Проверка if (!href) защищает код от падений, если верстальщик оставит в меню пустую ссылку без атрибута href.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МАРШРУТИЗАЦИЯ В 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скрипт определяет текущий адрес открытой веб-страницы?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Объект window.location в консоли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Допустим, адрес: https://smartoffice.ru/pages/catalog.html?sort=price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Полный URL страницы: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window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location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'https://smartoffice.ru/pages/catalog.html?sort=price'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2. Имя домена: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window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location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hostname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'smartoffice.ru'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Путь к текущему файлу (Pathname):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current = window.location.pathname;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'/pages/catalog.html' — ИМЕННО ЭТО НАМ И НУЖНО!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АНАТОМИЯ АДРЕСНОЙ СТРОКИ: WINDOW.LOCATION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Служебный объект window.location: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Встроенный объект браузера, содержащий полную информацию об URL текущей страницы и инструменты для перехода по ссылкам.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.pathname: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Возвращает путь к ресурсу, отсекая протокол (https://), домен и query-параметры. Например: '/index.html' или '/pages/catalog.html'.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Устойчивость к портам локальных серверов: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Запуск через Live Server (порт 5500) или Node.js не ломает сравнение путей, так как .pathname не зависит от номера порта.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Основа SPA-маршрутизации: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Именно на разборе pathname строятся современные роутеры во фреймворках React, Vue, Angular и нативных веб-приложениях.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565900" y="259079"/>
            <a:ext cx="232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УМНАЯ НАВИГАЦИЯ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устроена логика функции сопоставления ссылок с текущим адресом?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(Функция initNavigation)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function </a:t>
            </a:r>
            <a:r>
              <a:rPr sz="800">
                <a:solidFill>
                  <a:srgbClr val="D4D4D8"/>
                </a:solidFill>
                <a:latin typeface="Consolas"/>
              </a:rPr>
              <a:t>initNavigation()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querySelectorAll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window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location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pathname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links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forEach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=&gt;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getAttribute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'href'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!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38BDF8"/>
                </a:solidFill>
                <a:latin typeface="Consolas"/>
              </a:rPr>
              <a:t>return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classList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remove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71717A"/>
                </a:solidFill>
                <a:latin typeface="Consolas"/>
              </a:rPr>
              <a:t>// Сброс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Главная страница (корень / или index.html)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isHome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endsWith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'index.html'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||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endsWith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'/'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||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===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isHome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&amp;&amp;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===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'index.html'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||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===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'../index.html'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classList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add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38BDF8"/>
                </a:solidFill>
                <a:latin typeface="Consolas"/>
              </a:rPr>
              <a:t>else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includes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'catalog.html'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&amp;&amp;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includes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'catalog.html'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</a:t>
            </a:r>
            <a:r>
              <a:rPr sz="800">
                <a:solidFill>
                  <a:srgbClr val="D4D4D8"/>
                </a:solidFill>
                <a:latin typeface="Consolas"/>
              </a:rPr>
              <a:t>link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classList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add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71717A"/>
                </a:solidFill>
                <a:latin typeface="Consolas"/>
              </a:rPr>
              <a:t>// Каталог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38989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АЛГОРИТМ СОПОСТАВЛЕНИЯ ПУТЕЙ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557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Очистка старых классов: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Перед проверкой с каждой ссылки снимается класс active (link.classList.remove). Это исключает подсветку двух пунктов одновременно.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129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19685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endsWith('index.html'):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Проверяет окончание строки адреса, корректно распознавая и прямые ссылки на файл, и заходы в корень сайта ('/').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257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813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includes('catalog.html'):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Ищет вхождение подстроки в URL. Если в адресе есть catalog.html, пункт каталога моментально получает подсветку.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385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941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Поддержка вложенных папок (/pages/):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Логика учитывает ссылки с выходом наверх ('../index.html'), одинаково четко работая на главной и внутренних страницах.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068060" y="259079"/>
            <a:ext cx="2821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УПРАВЛЕНИЕ КЛАССАМИ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безопасно манипулировать CSS-классами без повреждения строки className?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(Свойства объекта classList)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link = document.querySelector(</a:t>
            </a:r>
            <a:r>
              <a:rPr sz="800">
                <a:solidFill>
                  <a:srgbClr val="FCD34D"/>
                </a:solidFill>
                <a:latin typeface="Consolas"/>
              </a:rPr>
              <a:t>'.nav-link'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Добавить класс (если его еще нет)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link.</a:t>
            </a:r>
            <a:r>
              <a:rPr sz="800">
                <a:solidFill>
                  <a:srgbClr val="A78BFA"/>
                </a:solidFill>
                <a:latin typeface="Consolas"/>
              </a:rPr>
              <a:t>classList.add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2. Удалить класс (если он присутствует)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link.</a:t>
            </a:r>
            <a:r>
              <a:rPr sz="800">
                <a:solidFill>
                  <a:srgbClr val="A78BFA"/>
                </a:solidFill>
                <a:latin typeface="Consolas"/>
              </a:rPr>
              <a:t>classList.remove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Переключить класс (добавить если нет, убрать если есть)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link.</a:t>
            </a:r>
            <a:r>
              <a:rPr sz="800">
                <a:solidFill>
                  <a:srgbClr val="A78BFA"/>
                </a:solidFill>
                <a:latin typeface="Consolas"/>
              </a:rPr>
              <a:t>classList.toggle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'open'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4. Проверить наличие класса (вернет true или false)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if (link.</a:t>
            </a:r>
            <a:r>
              <a:rPr sz="800">
                <a:solidFill>
                  <a:srgbClr val="A78BFA"/>
                </a:solidFill>
                <a:latin typeface="Consolas"/>
              </a:rPr>
              <a:t>classList.contains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'active'</a:t>
            </a:r>
            <a:r>
              <a:rPr sz="800">
                <a:solidFill>
                  <a:srgbClr val="D4D4D8"/>
                </a:solidFill>
                <a:latin typeface="Consolas"/>
              </a:rPr>
              <a:t>))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A78BFA"/>
                </a:solidFill>
                <a:latin typeface="Consolas"/>
              </a:rPr>
              <a:t>console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log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'Ссылка сейчас активна!'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CLASSLIST: СОВРЕМЕННЫЙ СТАНДАРТ РАБОТЫ С КЛАССАМИ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Отказ от устаревшего className: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писали elem.className += ' active'. Это часто приводило к слипанию слов 'nav-linkactive' и поломке стилей.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Умная защита от дубликатов: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Метод classList.add('active') проверяет список: если класс уже есть у тега, повторно он добавлен не будет.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classList.toggle():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 для бургер-меню и аккордеонов: по одному клику включает класс, по повторному — автоматически выключает.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Предикат classList.contains():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Позволяет писать понятные логические ветвления if (elem.classList.contains('active')) для проверок состояния интерфейса.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943600" y="259079"/>
            <a:ext cx="29464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СТИЛИЗАЦИЯ НАВИГАЦИИ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оформить активный пункт меню, чтобы он гармонировал с дизайн-системой?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(.nav-link &amp; .nav-link.active)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Базовый вид пункта меню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.nav-link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transition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all 0.2s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Состояние наведения (:hover) и активная страница (.active)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.nav-link:hover,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.nav-link.active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/* Акцентный синий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71717A"/>
                </a:solidFill>
                <a:latin typeface="Consolas"/>
              </a:rPr>
              <a:t>;  /* Мягкая голубая подложка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38989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ВИЗУАЛЬНЫЙ СТАТУС ТЕКУЩЕЙ СТРАНИЦЫ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557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Сцепленный селектор .nav-link.active: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Выбирает элемент, у которого одновременно присутствуют оба класса. Имеет более высокий вес специфичности, чем одиночный .nav-link.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129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19685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Согласованность с hover-состоянием: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Объединение :hover и .active через запятую гарантирует, что активный пункт выглядит так же аккуратно, как при наведении курсора.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257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813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Мягкая подложка #eaf2ff: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Деликатный светлый фон выделяет активную вкладку, подсказывая пользователю его положение на сайте без кричащих контрастов.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385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941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Плавный переход transition: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all 0.2s обеспечивает мягкую смену цвета и фона при перемещении курсора между пунктами навигации.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СОЗДАНИЕ ЭЛЕМЕНТОВ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создавать новые HTML-теги и вставлять их на страницу из JavaScript?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(Создание DOM-узлов)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Создаем новый тег &lt;div&gt; в памяти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toast = document.</a:t>
            </a:r>
            <a:r>
              <a:rPr sz="800">
                <a:solidFill>
                  <a:srgbClr val="A78BFA"/>
                </a:solidFill>
                <a:latin typeface="Consolas"/>
              </a:rPr>
              <a:t>createElement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'div'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2. Настраиваем CSS-классы и параметры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toast.className = </a:t>
            </a:r>
            <a:r>
              <a:rPr sz="800">
                <a:solidFill>
                  <a:srgbClr val="FCD34D"/>
                </a:solidFill>
                <a:latin typeface="Consolas"/>
              </a:rPr>
              <a:t>'toast toast-success'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Задаем безопасный текстовый контент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toast.textContent = </a:t>
            </a:r>
            <a:r>
              <a:rPr sz="800">
                <a:solidFill>
                  <a:srgbClr val="FCD34D"/>
                </a:solidFill>
                <a:latin typeface="Consolas"/>
              </a:rPr>
              <a:t>'Бронирование подтверждено!'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4. Добавляем созданный элемент в дерево DOM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getElementById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'toastContainer'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container.</a:t>
            </a:r>
            <a:r>
              <a:rPr sz="800">
                <a:solidFill>
                  <a:srgbClr val="A78BFA"/>
                </a:solidFill>
                <a:latin typeface="Consolas"/>
              </a:rPr>
              <a:t>appendChild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4ADE80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Элемент мгновенно появляется на экране пользователя!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КОНВЕЙЕР ГЕНЕРАЦИИ ДИНАМИЧЕСКОГО КОНТЕНТА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document.createElement('tag'):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Создает полноценный узел DOM в оперативной памяти. До вызова appendChild элемент невидим и не нагружает страницу.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textContent против innerHTML (Безопасность):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textContent вставляет текст как есть, экранируя опасные теги и надежно защищая сайт от атак XSS-инъекций.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appendChild():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Вставляет узел в конец списка дочерних элементов родителя. Элемент становится частью DOM и отрисовывается браузером.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Основа динамических интерфейсов: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Именно так создаются всплывающие подсказки, модальные окна, корзины заказов и карточки товаров при подгрузке с сервера.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565900" y="259079"/>
            <a:ext cx="232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СИСТЕМНЫЕ TOAST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спроектировать компонент всплывающих уведомлений вместо устаревшего alert?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(Функция showNotification)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function </a:t>
            </a:r>
            <a:r>
              <a:rPr sz="800">
                <a:solidFill>
                  <a:srgbClr val="D4D4D8"/>
                </a:solidFill>
                <a:latin typeface="Consolas"/>
              </a:rPr>
              <a:t>showNotification(message, type = </a:t>
            </a:r>
            <a:r>
              <a:rPr sz="800">
                <a:solidFill>
                  <a:srgbClr val="FCD34D"/>
                </a:solidFill>
                <a:latin typeface="Consolas"/>
              </a:rPr>
              <a:t>'success'</a:t>
            </a:r>
            <a:r>
              <a:rPr sz="800">
                <a:solidFill>
                  <a:srgbClr val="38BDF8"/>
                </a:solidFill>
                <a:latin typeface="Consolas"/>
              </a:rPr>
              <a:t>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let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getElementById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'toastContainer'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!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createElement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'div'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'toastContainer'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className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'toast-container'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body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appendChild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createElement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'div'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className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'toast toast-'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+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type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textContent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message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appendChild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Таймер авто-скрытия через 3.5 секунды...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38989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СИСТЕМЫ УВЕДОМЛЕНИЙ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557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Отказ от блокирующего window.alert():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Стандартный alert замораживает всю страницу и выглядит архаично. Toast-уведомления всплывают плавно и не мешают пользователю.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129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19685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Ленивая инициализация контейнера: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#toastContainer создается автоматически при первом вызове функции. Если уведомлений нет, разметка не засоряется.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257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813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Параметр по умолчанию (type = 'success'):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тип не передан, сообщение автоматически оформляется зеленым цветом успеха. Можно передать 'danger' или 'info'.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385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941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Стек сообщений: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вызвать функцию несколько раз подряд, уведомления аккуратно встанут в вертикальную стопку в правом нижнем углу.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943600" y="259079"/>
            <a:ext cx="29464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ТАЙМЕРЫ В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настроить плавное автоматическое исчезновение уведомления через таймер?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(setTimeout и toast.remove)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container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appendChild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1. Ждем 3.5 секунды (3500 мс)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setTimeout(()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Включаем плавное угасание в CSS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style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transition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'opacity 0.3s ease, transform 0.3s ease'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style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opacity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'0'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toast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style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transform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'translateY(10px)'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2. После угасания (300 мс) удаляем узел из DOM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  setTimeout(()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toast.</a:t>
            </a:r>
            <a:r>
              <a:rPr sz="800">
                <a:solidFill>
                  <a:srgbClr val="A78BFA"/>
                </a:solidFill>
                <a:latin typeface="Consolas"/>
              </a:rPr>
              <a:t>remove</a:t>
            </a:r>
            <a:r>
              <a:rPr sz="800">
                <a:solidFill>
                  <a:srgbClr val="D4D4D8"/>
                </a:solidFill>
                <a:latin typeface="Consolas"/>
              </a:rPr>
              <a:t>(); // Очистка оперативной памяти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  }, 300);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}, 3500);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ДВУХЭТАПНЫЙ ЖИЗНЕННЫЙ ЦИКЛ АНИМАЦИИ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Функция setTimeout(callback, delay):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Запускает переданную функцию ровно через указанное количество миллисекунд (3500 мс = 3.5 секунды), не блокируя браузер.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Этап 1: Плавное угасание (Fade Out):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Снижение opacity до 0 и сдвиг вниз делают исчезновение мягким и приятным для глаз пользователя.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762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17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Этап 2: Физическое удаление elem.remove():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элемент просто скрыть (display: none), он останется в памяти. Вызов .remove() полностью удаляет его из DOM-дерева.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575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306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Защита от утечек памяти: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длительной работе приложения тысячи исчезнувших уведомлений не накапливаются в памяти браузера.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694680" y="259079"/>
            <a:ext cx="31953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ХРАНИЛИЩЕ LOCALSTORAGE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сохранять состояние пользователя между страницами без базы данных?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Консоль DevTools: localStorage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1. Запись данных в хранилище (Ключ - Значение)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localStorage.</a:t>
            </a:r>
            <a:r>
              <a:rPr sz="800">
                <a:solidFill>
                  <a:srgbClr val="A78BFA"/>
                </a:solidFill>
                <a:latin typeface="Consolas"/>
              </a:rPr>
              <a:t>setItem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'currentUser'</a:t>
            </a:r>
            <a:r>
              <a:rPr sz="800">
                <a:solidFill>
                  <a:srgbClr val="D4D4D8"/>
                </a:solidFill>
                <a:latin typeface="Consolas"/>
              </a:rPr>
              <a:t>, </a:t>
            </a:r>
            <a:r>
              <a:rPr sz="800">
                <a:solidFill>
                  <a:srgbClr val="FCD34D"/>
                </a:solidFill>
                <a:latin typeface="Consolas"/>
              </a:rPr>
              <a:t>'Иван Иванов'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2. Чтение сохраненных данных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const </a:t>
            </a:r>
            <a:r>
              <a:rPr sz="800">
                <a:solidFill>
                  <a:srgbClr val="D4D4D8"/>
                </a:solidFill>
                <a:latin typeface="Consolas"/>
              </a:rPr>
              <a:t>user = localStorage.</a:t>
            </a:r>
            <a:r>
              <a:rPr sz="800">
                <a:solidFill>
                  <a:srgbClr val="A78BFA"/>
                </a:solidFill>
                <a:latin typeface="Consolas"/>
              </a:rPr>
              <a:t>getItem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'currentUser'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console.log(user); // 'Иван Иванов'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3. Удаление при выходе из системы (Logout)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localStorage.</a:t>
            </a:r>
            <a:r>
              <a:rPr sz="800">
                <a:solidFill>
                  <a:srgbClr val="A78BFA"/>
                </a:solidFill>
                <a:latin typeface="Consolas"/>
              </a:rPr>
              <a:t>removeItem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'currentUser'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// 4. Если данных нет, getItem вернет null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console.log(localStorage.getItem('currentUser')); //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38989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КЛИЕНТСКАЯ БАЗА ДАННЫХ В БРАУЗЕРЕ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557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Энергонезависимое хранилище (Web Storage):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Данные в localStorage сохраняются даже при закрытии вкладки или перезагрузке браузера. Объем хранилища — до 5-10 МБ.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129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19685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Формат хранения 'Ключ — Значение':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данные сохраняются в виде строк. Для сложных объектов и массивов используется сериализация через JSON.stringify().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257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7813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Доступность для всех страниц домена: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Пользователь залогинился на index.html — и страница catalog.html мгновенно видит его статус авторизации.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385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5941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Простой метод очистки removeItem():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Позволяет одной строчкой реализовать выход из системы (Logout) и стереть временную сессию арендатора.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АВТОРИЗАЦИЯ В МЕНЮ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динамически переключать кнопку «Войти» на «Выйти» в шапке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(Функция updateAuthNav)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function </a:t>
            </a:r>
            <a:r>
              <a:rPr sz="800">
                <a:solidFill>
                  <a:srgbClr val="D4D4D8"/>
                </a:solidFill>
                <a:latin typeface="Consolas"/>
              </a:rPr>
              <a:t>updateAuthNav()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currentUser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localStorage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getItem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'currentUser'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myBookings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getElementById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'myBookingsNavItem'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document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getElementById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'authNavBtn'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if (currentUser)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Пользователь вошел: показываем брони и кнопку Выйти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myBookings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myBookings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style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display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'block'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textContent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'Выйти'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onclick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handleLogout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71717A"/>
                </a:solidFill>
                <a:latin typeface="Consolas"/>
              </a:rPr>
              <a:t>// Навешиваем клик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} else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// Гость: скрываем брони и предлагаем Войти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myBookings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myBookings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style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D4D4D8"/>
                </a:solidFill>
                <a:latin typeface="Consolas"/>
              </a:rPr>
              <a:t>display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'none'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if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authBtn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textContent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'Войти'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УПРАВЛЕНИЕ ИНТЕРФЕЙСОМ НА ОСНОВЕ СОСТОЯНИЯ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Проверка авторизации if (currentUser):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Скрипт проверяет наличие ключа в localStorage. Если значение есть — режим авторизованного пользователя, если null — гость.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Динамический показ пунктов меню: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style.display = 'block' открывает вкладку 'Мои бронирования', которая не должна мозолить глаза анонимным гостям.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Смена надписи textContent: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Текст на синей кнопке в шапке мгновенно меняется с 'Войти' на 'Выйти' без изменения разметки HTML.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Повторный вызов при смене страниц: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Функция вызывается внутри initNavigation(), гарантируя актуальный вид шапки на любой странице сайта.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441440" y="259079"/>
            <a:ext cx="24485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ОБРАБОТКА КЛИКОВ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перехватить нажатие на ссылку и выполнить свой JS-сценарий выхода?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js/main.js (Обработчик выхода Logout)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authBtn.onclick = (event)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1. Отменяем стандартный переход по ссылке href="#"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event.</a:t>
            </a:r>
            <a:r>
              <a:rPr sz="800">
                <a:solidFill>
                  <a:srgbClr val="A78BFA"/>
                </a:solidFill>
                <a:latin typeface="Consolas"/>
              </a:rPr>
              <a:t>preventDefault</a:t>
            </a:r>
            <a:r>
              <a:rPr sz="800">
                <a:solidFill>
                  <a:srgbClr val="D4D4D8"/>
                </a:solidFill>
                <a:latin typeface="Consolas"/>
              </a:rPr>
              <a:t>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2. Стираем сохраненную сессию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localStorage.</a:t>
            </a:r>
            <a:r>
              <a:rPr sz="800">
                <a:solidFill>
                  <a:srgbClr val="A78BFA"/>
                </a:solidFill>
                <a:latin typeface="Consolas"/>
              </a:rPr>
              <a:t>removeItem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'currentUser'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3. Показываем красивое системное уведомление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showNotification(</a:t>
            </a:r>
            <a:r>
              <a:rPr sz="800">
                <a:solidFill>
                  <a:srgbClr val="FCD34D"/>
                </a:solidFill>
                <a:latin typeface="Consolas"/>
              </a:rPr>
              <a:t>'Вы успешно вышли из системы'</a:t>
            </a:r>
            <a:r>
              <a:rPr sz="800">
                <a:solidFill>
                  <a:srgbClr val="D4D4D8"/>
                </a:solidFill>
                <a:latin typeface="Consolas"/>
              </a:rPr>
              <a:t>, </a:t>
            </a:r>
            <a:r>
              <a:rPr sz="800">
                <a:solidFill>
                  <a:srgbClr val="FCD34D"/>
                </a:solidFill>
                <a:latin typeface="Consolas"/>
              </a:rPr>
              <a:t>'info'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// 4. Через 1 секунду перенаправляем на главную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  <a:r>
              <a:rPr sz="800">
                <a:solidFill>
                  <a:srgbClr val="38BDF8"/>
                </a:solidFill>
                <a:latin typeface="Consolas"/>
              </a:rPr>
              <a:t>const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isPages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A78BFA"/>
                </a:solidFill>
                <a:latin typeface="Consolas"/>
              </a:rPr>
              <a:t>window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location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pathname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includes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FCD34D"/>
                </a:solidFill>
                <a:latin typeface="Consolas"/>
              </a:rPr>
              <a:t>'/pages/'</a:t>
            </a:r>
            <a:r>
              <a:rPr sz="800">
                <a:solidFill>
                  <a:srgbClr val="D4D4D8"/>
                </a:solidFill>
                <a:latin typeface="Consolas"/>
              </a:rPr>
              <a:t>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setTimeout(() =&gt;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A78BFA"/>
                </a:solidFill>
                <a:latin typeface="Consolas"/>
              </a:rPr>
              <a:t>window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location</a:t>
            </a:r>
            <a:r>
              <a:rPr sz="800">
                <a:solidFill>
                  <a:srgbClr val="D4D4D8"/>
                </a:solidFill>
                <a:latin typeface="Consolas"/>
              </a:rPr>
              <a:t>.</a:t>
            </a:r>
            <a:r>
              <a:rPr sz="800">
                <a:solidFill>
                  <a:srgbClr val="A78BFA"/>
                </a:solidFill>
                <a:latin typeface="Consolas"/>
              </a:rPr>
              <a:t>href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isPages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?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'../index.html'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D4D4D8"/>
                </a:solidFill>
                <a:latin typeface="Consolas"/>
              </a:rPr>
              <a:t>:</a:t>
            </a: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  <a:r>
              <a:rPr sz="800">
                <a:solidFill>
                  <a:srgbClr val="FCD34D"/>
                </a:solidFill>
                <a:latin typeface="Consolas"/>
              </a:rPr>
              <a:t>'index.html'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  }, 1000);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38989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КОНТРОЛЬ ПОВЕДЕНИЯ: PREVENTDEFAULT И РЕДИРЕКТ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38989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27600" y="1193800"/>
            <a:ext cx="37211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Метод event.preventDefault():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Критически важная команда: отменяет встроенное действие браузера (переход по ссылке href или отправку формы), передавая власть JS.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510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27600" y="20066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Защита от прыжка страницы (#):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preventDefault клик по ссылке href='#' мгновенно прокрутит страницу в самый верх, дергая экран пользователя.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638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27600" y="2819400"/>
            <a:ext cx="37211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Обратная связь для человека: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Вызов showNotification информирует арендатора об успешном выходе до того, как страница перезагрузится.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7665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27600" y="3632200"/>
            <a:ext cx="37211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Программный редирект (location.href):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Присвоение значения window.location.href перенаправляет браузер на главную страницу, учитывая относительную вложенность папок.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814820" y="259079"/>
            <a:ext cx="20751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первом написании JavaScript?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600" y="7874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1. Забытый атрибут defer у скрипта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600" y="10668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600" y="11684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Скрипт в &lt;head&gt; запускается до того, как браузер построил теги &lt;body&gt;. querySelector возвращает null, и код ломается.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Всегда добавлять атрибут defer в тег &lt;script&gt; и оборачивать старт в событие 'DOMContentLoaded'.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7874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2. Ошибка Cannot read properties of 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0668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1684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Попытка вызвать .classList.add() у переменной, в которую querySelector ничего не нашел из-за опечатки в селекторе.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Всегда проверять правильность точки перед классом ('.nav-link') и делать проверку if (elem) перед вызовом методов.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27178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3. Прыжок экрана при клике на ссылку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600" y="29972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600" y="30988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При клике на кнопку 'Выйти' с href='#' страница скачет наверх, потому что студент забыл вызвать event.preventDefault().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Всегда принимать объект event в обработчике клика и первой строчкой вызывать event.preventDefault().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27178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4. Путаница с путями во вложенных папках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400" y="29972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30988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 странице /pages/catalog.html скрипт пытается перейти на index.html вместо ../index.html, вызывая ошибку 404.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Проверять window.location.pathname.includes('/pages/') и динамически подставлять '../' при выходе из папки.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316980" y="259079"/>
            <a:ext cx="25730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ЧЕК-ЛИСТ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скрипт умной навигации работает на 100% стабильно?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КРИТЕРИИ КАЧЕСТВА ИНТЕРАКТИВНОЙ НАВИГАЦИИ САЙТА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Идеально чистая консоль разработчика (F12):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При переходе между страницами в консоли браузера нет красных ошибок (null, undefined, 404).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542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9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28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Автоматическая подсветка активного пункта: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На главной подсвечена 'Главная', в каталоге — 'Каталог', без жесткого прописывания active в HTML.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876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1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36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Скрипт подключен через defer: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Тег &lt;script src='js/main.js' defer&gt; расположен в &lt;head&gt;, страница загружается плавно без задержек.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10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46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2895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Всплывающие уведомления Toast работают штатно: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Сообщения появляются в правом нижнем углу и автоматически удаляются из DOM через 3.5 секунды.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544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9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429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Корректная реакция на статус авторизации: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При наличии currentUser в localStorage отображается вкладка броней и активна кнопка 'Выйти'.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878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13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200" y="3962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Безопасная обработка ссылок (preventDefault):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Клик по сервисным кнопкам не скроллит страницу и корректно перенаправляет пользователя.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