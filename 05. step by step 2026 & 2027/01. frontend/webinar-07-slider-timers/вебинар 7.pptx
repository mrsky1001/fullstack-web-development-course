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7" r:id="rId3"/>
    <p:sldId id="298" r:id="rId60"/>
    <p:sldId id="299" r:id="rId61"/>
    <p:sldId id="300" r:id="rId62"/>
    <p:sldId id="301" r:id="rId63"/>
    <p:sldId id="302" r:id="rId64"/>
    <p:sldId id="303" r:id="rId65"/>
    <p:sldId id="304" r:id="rId66"/>
    <p:sldId id="305" r:id="rId67"/>
    <p:sldId id="306" r:id="rId68"/>
    <p:sldId id="307" r:id="rId69"/>
    <p:sldId id="308" r:id="rId70"/>
    <p:sldId id="309" r:id="rId71"/>
    <p:sldId id="310" r:id="rId72"/>
    <p:sldId id="311" r:id="rId73"/>
    <p:sldId id="312" r:id="rId74"/>
    <p:sldId id="313" r:id="rId75"/>
    <p:sldId id="314" r:id="rId76"/>
    <p:sldId id="315" r:id="rId77"/>
    <p:sldId id="316" r:id="rId78"/>
    <p:sldId id="317" r:id="rId79"/>
    <p:sldId id="318" r:id="rId80"/>
    <p:sldId id="260" r:id="rId27"/>
    <p:sldId id="274" r:id="rId28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1"/>
      <p:bold r:id="rId32"/>
      <p:italic r:id="rId33"/>
      <p:boldItalic r:id="rId34"/>
    </p:embeddedFont>
    <p:embeddedFont>
      <p:font typeface="Inter" panose="02000503000000020004" pitchFamily="2" charset="0"/>
      <p:regular r:id="rId35"/>
      <p:bold r:id="rId36"/>
      <p:italic r:id="rId37"/>
      <p:boldItalic r:id="rId38"/>
    </p:embeddedFont>
    <p:embeddedFont>
      <p:font typeface="Inter Medium" panose="02000503000000020004" pitchFamily="2" charset="0"/>
      <p:regular r:id="rId39"/>
      <p:italic r:id="rId40"/>
    </p:embeddedFont>
    <p:embeddedFont>
      <p:font typeface="Montserrat" panose="00000500000000000000" pitchFamily="2" charset="-52"/>
      <p:regular r:id="rId41"/>
      <p:bold r:id="rId42"/>
      <p:italic r:id="rId43"/>
      <p:boldItalic r:id="rId44"/>
    </p:embeddedFont>
    <p:embeddedFont>
      <p:font typeface="Montserrat ExtraBold" panose="00000900000000000000" pitchFamily="2" charset="-52"/>
      <p:bold r:id="rId45"/>
      <p:boldItalic r:id="rId46"/>
    </p:embeddedFont>
    <p:embeddedFont>
      <p:font typeface="Montserrat SemiBold" panose="00000700000000000000" pitchFamily="2" charset="-52"/>
      <p:bold r:id="rId47"/>
      <p:boldItalic r:id="rId48"/>
    </p:embeddedFont>
    <p:embeddedFont>
      <p:font typeface="Proxima Nova" panose="020B0604020202020204" charset="0"/>
      <p:regular r:id="rId49"/>
      <p:bold r:id="rId50"/>
      <p:italic r:id="rId51"/>
      <p:boldItalic r:id="rId52"/>
    </p:embeddedFont>
    <p:embeddedFont>
      <p:font typeface="PT Sans Caption" panose="020B0603020203020204" pitchFamily="34" charset="-52"/>
      <p:regular r:id="rId53"/>
      <p:bold r:id="rId54"/>
    </p:embeddedFont>
    <p:embeddedFont>
      <p:font typeface="Segoe UI Symbol" panose="020B0502040204020203" pitchFamily="34" charset="0"/>
      <p:regular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45">
          <p15:clr>
            <a:srgbClr val="747775"/>
          </p15:clr>
        </p15:guide>
        <p15:guide id="2" pos="723">
          <p15:clr>
            <a:srgbClr val="747775"/>
          </p15:clr>
        </p15:guide>
        <p15:guide id="3" pos="5037">
          <p15:clr>
            <a:srgbClr val="747775"/>
          </p15:clr>
        </p15:guide>
        <p15:guide id="4" pos="1152">
          <p15:clr>
            <a:srgbClr val="747775"/>
          </p15:clr>
        </p15:guide>
        <p15:guide id="5" pos="4608">
          <p15:clr>
            <a:srgbClr val="747775"/>
          </p15:clr>
        </p15:guide>
        <p15:guide id="6" orient="horz" pos="1440">
          <p15:clr>
            <a:srgbClr val="747775"/>
          </p15:clr>
        </p15:guide>
        <p15:guide id="7" orient="horz" pos="1728">
          <p15:clr>
            <a:srgbClr val="747775"/>
          </p15:clr>
        </p15:guide>
        <p15:guide id="8" pos="2808">
          <p15:clr>
            <a:srgbClr val="747775"/>
          </p15:clr>
        </p15:guide>
        <p15:guide id="9" orient="horz" pos="2448">
          <p15:clr>
            <a:srgbClr val="747775"/>
          </p15:clr>
        </p15:guide>
        <p15:guide id="10" orient="horz" pos="2735">
          <p15:clr>
            <a:srgbClr val="747775"/>
          </p15:clr>
        </p15:guide>
        <p15:guide id="11" orient="horz" pos="1080">
          <p15:clr>
            <a:srgbClr val="747775"/>
          </p15:clr>
        </p15:guide>
        <p15:guide id="12" orient="horz" pos="868">
          <p15:clr>
            <a:srgbClr val="747775"/>
          </p15:clr>
        </p15:guide>
        <p15:guide id="13" orient="horz" pos="2391" userDrawn="1">
          <p15:clr>
            <a:srgbClr val="747775"/>
          </p15:clr>
        </p15:guide>
        <p15:guide id="14" pos="288">
          <p15:clr>
            <a:srgbClr val="747775"/>
          </p15:clr>
        </p15:guide>
        <p15:guide id="15" pos="5278">
          <p15:clr>
            <a:srgbClr val="747775"/>
          </p15:clr>
        </p15:guide>
        <p15:guide id="16" pos="5184">
          <p15:clr>
            <a:srgbClr val="747775"/>
          </p15:clr>
        </p15:guide>
        <p15:guide id="17" orient="horz" pos="2304">
          <p15:clr>
            <a:srgbClr val="747775"/>
          </p15:clr>
        </p15:guide>
        <p15:guide id="18" pos="427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F03"/>
    <a:srgbClr val="434343"/>
    <a:srgbClr val="F26101"/>
    <a:srgbClr val="F97316"/>
    <a:srgbClr val="FA9046"/>
    <a:srgbClr val="F88B06"/>
    <a:srgbClr val="FFFFFF"/>
    <a:srgbClr val="FF6102"/>
    <a:srgbClr val="FF600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989" autoAdjust="0"/>
  </p:normalViewPr>
  <p:slideViewPr>
    <p:cSldViewPr snapToGrid="0">
      <p:cViewPr varScale="1">
        <p:scale>
          <a:sx n="136" d="100"/>
          <a:sy n="136" d="100"/>
        </p:scale>
        <p:origin x="824" y="93"/>
      </p:cViewPr>
      <p:guideLst>
        <p:guide orient="horz" pos="145"/>
        <p:guide pos="723"/>
        <p:guide pos="5037"/>
        <p:guide pos="1152"/>
        <p:guide pos="4608"/>
        <p:guide orient="horz" pos="1440"/>
        <p:guide orient="horz" pos="1728"/>
        <p:guide pos="2808"/>
        <p:guide orient="horz" pos="2448"/>
        <p:guide orient="horz" pos="2735"/>
        <p:guide orient="horz" pos="1080"/>
        <p:guide orient="horz" pos="868"/>
        <p:guide orient="horz" pos="2391"/>
        <p:guide pos="288"/>
        <p:guide pos="5278"/>
        <p:guide pos="5184"/>
        <p:guide orient="horz" pos="2304"/>
        <p:guide pos="42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2973" y="75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handoutMaster" Target="handoutMasters/handoutMaster1.xml"/><Relationship Id="rId31" Type="http://schemas.openxmlformats.org/officeDocument/2006/relationships/font" Target="fonts/font1.fntdata"/><Relationship Id="rId32" Type="http://schemas.openxmlformats.org/officeDocument/2006/relationships/font" Target="fonts/font2.fntdata"/><Relationship Id="rId33" Type="http://schemas.openxmlformats.org/officeDocument/2006/relationships/font" Target="fonts/font3.fntdata"/><Relationship Id="rId34" Type="http://schemas.openxmlformats.org/officeDocument/2006/relationships/font" Target="fonts/font4.fntdata"/><Relationship Id="rId35" Type="http://schemas.openxmlformats.org/officeDocument/2006/relationships/font" Target="fonts/font5.fntdata"/><Relationship Id="rId36" Type="http://schemas.openxmlformats.org/officeDocument/2006/relationships/font" Target="fonts/font6.fntdata"/><Relationship Id="rId37" Type="http://schemas.openxmlformats.org/officeDocument/2006/relationships/font" Target="fonts/font7.fntdata"/><Relationship Id="rId38" Type="http://schemas.openxmlformats.org/officeDocument/2006/relationships/font" Target="fonts/font8.fntdata"/><Relationship Id="rId39" Type="http://schemas.openxmlformats.org/officeDocument/2006/relationships/font" Target="fonts/font9.fntdata"/><Relationship Id="rId40" Type="http://schemas.openxmlformats.org/officeDocument/2006/relationships/font" Target="fonts/font10.fntdata"/><Relationship Id="rId41" Type="http://schemas.openxmlformats.org/officeDocument/2006/relationships/font" Target="fonts/font11.fntdata"/><Relationship Id="rId42" Type="http://schemas.openxmlformats.org/officeDocument/2006/relationships/font" Target="fonts/font12.fntdata"/><Relationship Id="rId43" Type="http://schemas.openxmlformats.org/officeDocument/2006/relationships/font" Target="fonts/font13.fntdata"/><Relationship Id="rId44" Type="http://schemas.openxmlformats.org/officeDocument/2006/relationships/font" Target="fonts/font14.fntdata"/><Relationship Id="rId45" Type="http://schemas.openxmlformats.org/officeDocument/2006/relationships/font" Target="fonts/font15.fntdata"/><Relationship Id="rId46" Type="http://schemas.openxmlformats.org/officeDocument/2006/relationships/font" Target="fonts/font16.fntdata"/><Relationship Id="rId47" Type="http://schemas.openxmlformats.org/officeDocument/2006/relationships/font" Target="fonts/font17.fntdata"/><Relationship Id="rId48" Type="http://schemas.openxmlformats.org/officeDocument/2006/relationships/font" Target="fonts/font18.fntdata"/><Relationship Id="rId49" Type="http://schemas.openxmlformats.org/officeDocument/2006/relationships/font" Target="fonts/font19.fntdata"/><Relationship Id="rId50" Type="http://schemas.openxmlformats.org/officeDocument/2006/relationships/font" Target="fonts/font20.fntdata"/><Relationship Id="rId51" Type="http://schemas.openxmlformats.org/officeDocument/2006/relationships/font" Target="fonts/font21.fntdata"/><Relationship Id="rId52" Type="http://schemas.openxmlformats.org/officeDocument/2006/relationships/font" Target="fonts/font22.fntdata"/><Relationship Id="rId53" Type="http://schemas.openxmlformats.org/officeDocument/2006/relationships/font" Target="fonts/font23.fntdata"/><Relationship Id="rId54" Type="http://schemas.openxmlformats.org/officeDocument/2006/relationships/font" Target="fonts/font24.fntdata"/><Relationship Id="rId55" Type="http://schemas.openxmlformats.org/officeDocument/2006/relationships/font" Target="fonts/font25.fntdata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60" Type="http://schemas.openxmlformats.org/officeDocument/2006/relationships/slide" Target="slides/slide28.xml"/><Relationship Id="rId61" Type="http://schemas.openxmlformats.org/officeDocument/2006/relationships/slide" Target="slides/slide29.xml"/><Relationship Id="rId62" Type="http://schemas.openxmlformats.org/officeDocument/2006/relationships/slide" Target="slides/slide30.xml"/><Relationship Id="rId63" Type="http://schemas.openxmlformats.org/officeDocument/2006/relationships/slide" Target="slides/slide31.xml"/><Relationship Id="rId64" Type="http://schemas.openxmlformats.org/officeDocument/2006/relationships/slide" Target="slides/slide32.xml"/><Relationship Id="rId65" Type="http://schemas.openxmlformats.org/officeDocument/2006/relationships/slide" Target="slides/slide33.xml"/><Relationship Id="rId66" Type="http://schemas.openxmlformats.org/officeDocument/2006/relationships/slide" Target="slides/slide34.xml"/><Relationship Id="rId67" Type="http://schemas.openxmlformats.org/officeDocument/2006/relationships/slide" Target="slides/slide35.xml"/><Relationship Id="rId68" Type="http://schemas.openxmlformats.org/officeDocument/2006/relationships/slide" Target="slides/slide36.xml"/><Relationship Id="rId69" Type="http://schemas.openxmlformats.org/officeDocument/2006/relationships/slide" Target="slides/slide37.xml"/><Relationship Id="rId70" Type="http://schemas.openxmlformats.org/officeDocument/2006/relationships/slide" Target="slides/slide38.xml"/><Relationship Id="rId71" Type="http://schemas.openxmlformats.org/officeDocument/2006/relationships/slide" Target="slides/slide39.xml"/><Relationship Id="rId72" Type="http://schemas.openxmlformats.org/officeDocument/2006/relationships/slide" Target="slides/slide40.xml"/><Relationship Id="rId73" Type="http://schemas.openxmlformats.org/officeDocument/2006/relationships/slide" Target="slides/slide41.xml"/><Relationship Id="rId74" Type="http://schemas.openxmlformats.org/officeDocument/2006/relationships/slide" Target="slides/slide42.xml"/><Relationship Id="rId75" Type="http://schemas.openxmlformats.org/officeDocument/2006/relationships/slide" Target="slides/slide43.xml"/><Relationship Id="rId76" Type="http://schemas.openxmlformats.org/officeDocument/2006/relationships/slide" Target="slides/slide44.xml"/><Relationship Id="rId77" Type="http://schemas.openxmlformats.org/officeDocument/2006/relationships/slide" Target="slides/slide45.xml"/><Relationship Id="rId78" Type="http://schemas.openxmlformats.org/officeDocument/2006/relationships/slide" Target="slides/slide46.xml"/><Relationship Id="rId79" Type="http://schemas.openxmlformats.org/officeDocument/2006/relationships/slide" Target="slides/slide47.xml"/><Relationship Id="rId80" Type="http://schemas.openxmlformats.org/officeDocument/2006/relationships/slide" Target="slides/slide4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DA7DFBAC-B63D-5280-65B6-B690638518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134C276-34E3-4752-F41F-A3446FF2C3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67336A-A1AA-4037-A276-A09C8A017BD3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68F3828-288C-03B8-F09E-18B8EFBEC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2E26C3A-FE45-0464-1707-5D99E0D66A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EF0CBC-02B0-408E-89CC-D1E0D82861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3840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6031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6d0507c3f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6d0507c3f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6d0507c3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6d0507c3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F8C70B8F-B0FF-D376-584D-F24F346B242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userDrawn="1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>
            <a:extLst>
              <a:ext uri="{FF2B5EF4-FFF2-40B4-BE49-F238E27FC236}">
                <a16:creationId xmlns:a16="http://schemas.microsoft.com/office/drawing/2014/main" id="{D27988DF-5EA2-0147-1D2F-7D331508A08A}"/>
              </a:ext>
            </a:extLst>
          </p:cNvPr>
          <p:cNvSpPr/>
          <p:nvPr userDrawn="1"/>
        </p:nvSpPr>
        <p:spPr>
          <a:xfrm>
            <a:off x="6379159" y="259712"/>
            <a:ext cx="2510249" cy="386122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D79FDF7-B782-836A-FFF8-75C0371DE3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9;p13">
            <a:extLst>
              <a:ext uri="{FF2B5EF4-FFF2-40B4-BE49-F238E27FC236}">
                <a16:creationId xmlns:a16="http://schemas.microsoft.com/office/drawing/2014/main" id="{A0746FE1-7909-364E-106E-A03CFF905756}"/>
              </a:ext>
            </a:extLst>
          </p:cNvPr>
          <p:cNvSpPr/>
          <p:nvPr userDrawn="1"/>
        </p:nvSpPr>
        <p:spPr>
          <a:xfrm>
            <a:off x="7371081" y="4703888"/>
            <a:ext cx="1518328" cy="230700"/>
          </a:xfrm>
          <a:prstGeom prst="roundRect">
            <a:avLst>
              <a:gd name="adj" fmla="val 5000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Вебинар </a:t>
            </a:r>
            <a:r>
              <a:rPr lang="en-US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7</a:t>
            </a: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  / сл. </a:t>
            </a:r>
            <a:fld id="{D36D2716-0227-4748-B575-C0F681545F9F}" type="slidenum">
              <a:rPr lang="ru-RU" sz="900" b="0" smtClean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‹#›</a:t>
            </a:fld>
            <a:endParaRPr lang="ru-RU" sz="800" b="0">
              <a:solidFill>
                <a:schemeClr val="bg2">
                  <a:lumMod val="60000"/>
                  <a:lumOff val="40000"/>
                </a:schemeClr>
              </a:solidFill>
              <a:latin typeface="Montserrat" panose="00000500000000000000" pitchFamily="2" charset="-52"/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40F6D521-5D86-6760-69D6-E71DE65F9DE3}"/>
              </a:ext>
            </a:extLst>
          </p:cNvPr>
          <p:cNvGrpSpPr/>
          <p:nvPr userDrawn="1"/>
        </p:nvGrpSpPr>
        <p:grpSpPr>
          <a:xfrm>
            <a:off x="2205322" y="679814"/>
            <a:ext cx="5344770" cy="3994915"/>
            <a:chOff x="3873362" y="383111"/>
            <a:chExt cx="5344770" cy="3994915"/>
          </a:xfrm>
        </p:grpSpPr>
        <p:pic>
          <p:nvPicPr>
            <p:cNvPr id="7" name="Рисунок 6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49277216-7C7E-E7C1-68E9-2B49D803E4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" name="Рисунок 7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8B6CC871-C4C7-BC3A-E4B2-04FB22C86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" name="Рисунок 8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4C45FD2B-5227-0D3D-1188-E08C76CFD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5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D79FDF7-B782-836A-FFF8-75C0371DE3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9;p13">
            <a:extLst>
              <a:ext uri="{FF2B5EF4-FFF2-40B4-BE49-F238E27FC236}">
                <a16:creationId xmlns:a16="http://schemas.microsoft.com/office/drawing/2014/main" id="{1097012B-1A8E-82B3-5458-F0856BCC8605}"/>
              </a:ext>
            </a:extLst>
          </p:cNvPr>
          <p:cNvSpPr/>
          <p:nvPr userDrawn="1"/>
        </p:nvSpPr>
        <p:spPr>
          <a:xfrm>
            <a:off x="7371081" y="4703888"/>
            <a:ext cx="1518328" cy="230700"/>
          </a:xfrm>
          <a:prstGeom prst="roundRect">
            <a:avLst>
              <a:gd name="adj" fmla="val 5000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Вебинар </a:t>
            </a:r>
            <a:r>
              <a:rPr lang="en-US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7</a:t>
            </a: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  / сл. </a:t>
            </a:r>
            <a:fld id="{D36D2716-0227-4748-B575-C0F681545F9F}" type="slidenum">
              <a:rPr lang="ru-RU" sz="900" b="0" smtClean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lang="ru-RU" sz="800" b="0">
              <a:solidFill>
                <a:schemeClr val="bg2">
                  <a:lumMod val="60000"/>
                  <a:lumOff val="40000"/>
                </a:schemeClr>
              </a:solidFill>
              <a:latin typeface="Montserrat" panose="00000500000000000000" pitchFamily="2" charset="-52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106C148-16DA-11C2-72A6-2DA0FE60F5D4}"/>
              </a:ext>
            </a:extLst>
          </p:cNvPr>
          <p:cNvGrpSpPr/>
          <p:nvPr userDrawn="1"/>
        </p:nvGrpSpPr>
        <p:grpSpPr>
          <a:xfrm>
            <a:off x="2205322" y="679814"/>
            <a:ext cx="5344770" cy="3994915"/>
            <a:chOff x="3873362" y="383111"/>
            <a:chExt cx="5344770" cy="3994915"/>
          </a:xfrm>
        </p:grpSpPr>
        <p:pic>
          <p:nvPicPr>
            <p:cNvPr id="5" name="Рисунок 4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5310B86E-76FD-A323-DB10-4DD1D36E2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" name="Рисунок 5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3D4C76F9-53BE-88AC-A08A-6079C4847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" name="Рисунок 6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5C4AA954-2B31-6C9A-8DB6-0A9C91B37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5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58560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D79FDF7-B782-836A-FFF8-75C0371DE3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6358944C-C36B-53B2-E5FE-1A8017A396DF}"/>
              </a:ext>
            </a:extLst>
          </p:cNvPr>
          <p:cNvGrpSpPr/>
          <p:nvPr userDrawn="1"/>
        </p:nvGrpSpPr>
        <p:grpSpPr>
          <a:xfrm>
            <a:off x="2205322" y="679814"/>
            <a:ext cx="5344770" cy="3994915"/>
            <a:chOff x="3873362" y="383111"/>
            <a:chExt cx="5344770" cy="3994915"/>
          </a:xfrm>
        </p:grpSpPr>
        <p:pic>
          <p:nvPicPr>
            <p:cNvPr id="3" name="Рисунок 2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0689A308-1BDC-8C47-FBF9-706C2D72D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" name="Рисунок 4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9C37A5D0-2C6A-2A78-9DF0-BDA00CE1C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" name="Рисунок 5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DA38D3F9-EBE5-61E2-0F17-68765F6611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5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764802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60" r:id="rId3"/>
    <p:sldLayoutId id="2147483661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microsoft.com/office/2007/relationships/hdphoto" Target="../media/hdphoto2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BCAC3359-0D1C-2648-A3CE-8FD94D6624EC}"/>
              </a:ext>
            </a:extLst>
          </p:cNvPr>
          <p:cNvGrpSpPr/>
          <p:nvPr/>
        </p:nvGrpSpPr>
        <p:grpSpPr>
          <a:xfrm>
            <a:off x="4094651" y="586050"/>
            <a:ext cx="5344770" cy="3994915"/>
            <a:chOff x="3873362" y="383111"/>
            <a:chExt cx="5344770" cy="3994915"/>
          </a:xfrm>
        </p:grpSpPr>
        <p:pic>
          <p:nvPicPr>
            <p:cNvPr id="21" name="Рисунок 20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6B1608C3-64B6-A327-1599-2AAD5398E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0" name="Рисунок 19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3AB0EF07-2DC6-D314-2F23-DA864CFB12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9" name="Рисунок 18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CBD80F8B-785E-2918-7419-1A8EC472B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4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17" name="Рисунок 16" hidden="1">
            <a:extLst>
              <a:ext uri="{FF2B5EF4-FFF2-40B4-BE49-F238E27FC236}">
                <a16:creationId xmlns:a16="http://schemas.microsoft.com/office/drawing/2014/main" id="{667CD691-B117-44B3-3B0E-B39C202898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hotocopy trans="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162497">
            <a:off x="3524075" y="-36569"/>
            <a:ext cx="4877481" cy="4877481"/>
          </a:xfrm>
          <a:prstGeom prst="rect">
            <a:avLst/>
          </a:prstGeom>
          <a:ln>
            <a:noFill/>
          </a:ln>
        </p:spPr>
      </p:pic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4C36EF06-1A0C-80A6-7B2B-DED85B0CE9D3}"/>
              </a:ext>
            </a:extLst>
          </p:cNvPr>
          <p:cNvGrpSpPr>
            <a:grpSpLocks noChangeAspect="1"/>
          </p:cNvGrpSpPr>
          <p:nvPr/>
        </p:nvGrpSpPr>
        <p:grpSpPr>
          <a:xfrm>
            <a:off x="883906" y="1263674"/>
            <a:ext cx="9501187" cy="3444540"/>
            <a:chOff x="485609" y="1513539"/>
            <a:chExt cx="9501187" cy="344454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3C1C879-E7C0-BAF6-283A-AFB7548671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5609" y="1513539"/>
              <a:ext cx="9048750" cy="161583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r>
                <a:rPr sz="1400" b="1">
                  <a:latin typeface="Montserrat"/>
                </a:rPr>
                <a:t>ФУНКЦИОНАЛЬНЫЙ ПОДХОД И ТАЙМЕРЫ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F13DFB2-196B-9781-3BB6-B9E6C2AD5D1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5609" y="1836705"/>
              <a:ext cx="9501187" cy="184665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t>Проектирование </a:t>
              </a:r>
            </a:p>
            <a:p>
              <a:r>
                <a:t>и разработка интерфейсов пользователя</a:t>
              </a:r>
            </a:p>
          </p:txBody>
        </p:sp>
        <p:sp>
          <p:nvSpPr>
            <p:cNvPr id="11" name="Rounded Rectangle 6">
              <a:extLst>
                <a:ext uri="{FF2B5EF4-FFF2-40B4-BE49-F238E27FC236}">
                  <a16:creationId xmlns:a16="http://schemas.microsoft.com/office/drawing/2014/main" id="{FEDD9253-159E-2190-4737-EF5F83889817}"/>
                </a:ext>
              </a:extLst>
            </p:cNvPr>
            <p:cNvSpPr/>
            <p:nvPr/>
          </p:nvSpPr>
          <p:spPr>
            <a:xfrm>
              <a:off x="528139" y="4261815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A460AF5-DC82-A01F-35B1-F0D212A47FA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40697" y="4471214"/>
              <a:ext cx="9048750" cy="4868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bg2">
                      <a:lumMod val="40000"/>
                      <a:lumOff val="60000"/>
                    </a:schemeClr>
                  </a:solidFill>
                  <a:latin typeface="Montserrat" panose="00000500000000000000" pitchFamily="2" charset="-52"/>
                  <a:ea typeface="Inter SemiBold" panose="02000503000000020004" pitchFamily="2" charset="0"/>
                </a:rPr>
                <a:t>Преподаватель</a:t>
              </a:r>
              <a:br>
                <a:rPr lang="ru-RU" sz="1200" b="0" i="0" u="none">
                  <a:solidFill>
                    <a:srgbClr val="000000"/>
                  </a:solidFill>
                  <a:latin typeface="Inter"/>
                </a:rPr>
              </a:br>
              <a:r>
                <a:rPr sz="1200" b="0" i="0" u="none" err="1">
                  <a:solidFill>
                    <a:srgbClr val="1E293B"/>
                  </a:solidFill>
                  <a:latin typeface="Inter Medium"/>
                </a:rPr>
                <a:t>Коляда</a:t>
              </a:r>
              <a:r>
                <a:rPr sz="1200" b="0" i="0" u="none">
                  <a:solidFill>
                    <a:srgbClr val="1E293B"/>
                  </a:solidFill>
                  <a:latin typeface="Inter Medium"/>
                </a:rPr>
                <a:t> </a:t>
              </a:r>
              <a:r>
                <a:rPr sz="1200" b="0" i="0" u="none" err="1">
                  <a:solidFill>
                    <a:srgbClr val="1E293B"/>
                  </a:solidFill>
                  <a:latin typeface="Inter Medium"/>
                </a:rPr>
                <a:t>Никита</a:t>
              </a:r>
              <a:r>
                <a:rPr sz="1200" b="0" i="0" u="none">
                  <a:solidFill>
                    <a:srgbClr val="1E293B"/>
                  </a:solidFill>
                  <a:latin typeface="Inter Medium"/>
                </a:rPr>
                <a:t> </a:t>
              </a:r>
              <a:r>
                <a:rPr sz="1200" b="0" i="0" u="none" err="1">
                  <a:solidFill>
                    <a:srgbClr val="1E293B"/>
                  </a:solidFill>
                  <a:latin typeface="Inter Medium"/>
                </a:rPr>
                <a:t>Владимирович</a:t>
              </a:r>
              <a:endParaRPr sz="1200" b="0" i="0" u="none">
                <a:solidFill>
                  <a:srgbClr val="1E293B"/>
                </a:solidFill>
                <a:latin typeface="Inter Medium"/>
              </a:endParaRPr>
            </a:p>
          </p:txBody>
        </p:sp>
      </p:grpSp>
      <p:sp>
        <p:nvSpPr>
          <p:cNvPr id="3" name="Google Shape;59;p13">
            <a:extLst>
              <a:ext uri="{FF2B5EF4-FFF2-40B4-BE49-F238E27FC236}">
                <a16:creationId xmlns:a16="http://schemas.microsoft.com/office/drawing/2014/main" id="{917E88D5-EA94-D5A3-686B-9D40CD1F594B}"/>
              </a:ext>
            </a:extLst>
          </p:cNvPr>
          <p:cNvSpPr/>
          <p:nvPr/>
        </p:nvSpPr>
        <p:spPr>
          <a:xfrm>
            <a:off x="7576356" y="4477514"/>
            <a:ext cx="1257300" cy="230700"/>
          </a:xfrm>
          <a:prstGeom prst="roundRect">
            <a:avLst>
              <a:gd name="adj" fmla="val 50000"/>
            </a:avLst>
          </a:prstGeom>
          <a:solidFill>
            <a:srgbClr val="434343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Вебинар 7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0200184-121F-F05C-E93D-FAE98D6B282D}"/>
              </a:ext>
            </a:extLst>
          </p:cNvPr>
          <p:cNvSpPr/>
          <p:nvPr/>
        </p:nvSpPr>
        <p:spPr>
          <a:xfrm>
            <a:off x="1354281" y="1683158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395AA1B-3D46-8B23-C8C6-17018076BAB4}"/>
              </a:ext>
            </a:extLst>
          </p:cNvPr>
          <p:cNvSpPr/>
          <p:nvPr/>
        </p:nvSpPr>
        <p:spPr>
          <a:xfrm>
            <a:off x="1354281" y="2339341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A6399EB-F240-72CC-3353-A3A41459B334}"/>
              </a:ext>
            </a:extLst>
          </p:cNvPr>
          <p:cNvSpPr/>
          <p:nvPr/>
        </p:nvSpPr>
        <p:spPr>
          <a:xfrm>
            <a:off x="1354281" y="2995524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DA3E706-14A3-9E5E-0150-993D92615B2B}"/>
              </a:ext>
            </a:extLst>
          </p:cNvPr>
          <p:cNvSpPr/>
          <p:nvPr/>
        </p:nvSpPr>
        <p:spPr>
          <a:xfrm>
            <a:off x="1354281" y="3651707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10" name="Picture 11">
            <a:extLst>
              <a:ext uri="{FF2B5EF4-FFF2-40B4-BE49-F238E27FC236}">
                <a16:creationId xmlns:a16="http://schemas.microsoft.com/office/drawing/2014/main" id="{FE3CD0C6-B8FE-3432-6AEB-7276B21E5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618" y="1216879"/>
            <a:ext cx="361950" cy="285750"/>
          </a:xfrm>
          <a:prstGeom prst="rect">
            <a:avLst/>
          </a:prstGeom>
        </p:spPr>
      </p:pic>
      <p:sp>
        <p:nvSpPr>
          <p:cNvPr id="11" name="TextBox 12">
            <a:extLst>
              <a:ext uri="{FF2B5EF4-FFF2-40B4-BE49-F238E27FC236}">
                <a16:creationId xmlns:a16="http://schemas.microsoft.com/office/drawing/2014/main" id="{6021423E-1547-B118-B6ED-FFA0E250049B}"/>
              </a:ext>
            </a:extLst>
          </p:cNvPr>
          <p:cNvSpPr txBox="1"/>
          <p:nvPr/>
        </p:nvSpPr>
        <p:spPr>
          <a:xfrm>
            <a:off x="2021031" y="1169850"/>
            <a:ext cx="34099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1">
                <a:latin typeface="Montserrat"/>
              </a:rPr>
              <a:t>1. Аргументы и функции</a:t>
            </a:r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5312261A-8473-F36D-CEA1-EF3D6CBA49EE}"/>
              </a:ext>
            </a:extLst>
          </p:cNvPr>
          <p:cNvSpPr txBox="1"/>
          <p:nvPr/>
        </p:nvSpPr>
        <p:spPr>
          <a:xfrm>
            <a:off x="2021031" y="1388925"/>
            <a:ext cx="5715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>
                <a:latin typeface="Inter"/>
              </a:rPr>
              <a:t>Параметры функций, значения по умолчанию и чистые вызовы</a:t>
            </a:r>
          </a:p>
        </p:txBody>
      </p:sp>
      <p:pic>
        <p:nvPicPr>
          <p:cNvPr id="13" name="Picture 14">
            <a:extLst>
              <a:ext uri="{FF2B5EF4-FFF2-40B4-BE49-F238E27FC236}">
                <a16:creationId xmlns:a16="http://schemas.microsoft.com/office/drawing/2014/main" id="{DB7D649D-035F-23D7-8FE0-62D36D4C2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7618" y="1873062"/>
            <a:ext cx="361950" cy="285750"/>
          </a:xfrm>
          <a:prstGeom prst="rect">
            <a:avLst/>
          </a:prstGeom>
        </p:spPr>
      </p:pic>
      <p:sp>
        <p:nvSpPr>
          <p:cNvPr id="14" name="TextBox 15">
            <a:extLst>
              <a:ext uri="{FF2B5EF4-FFF2-40B4-BE49-F238E27FC236}">
                <a16:creationId xmlns:a16="http://schemas.microsoft.com/office/drawing/2014/main" id="{FDCDC837-9B52-2ABD-BE72-B99F4CA2105A}"/>
              </a:ext>
            </a:extLst>
          </p:cNvPr>
          <p:cNvSpPr txBox="1"/>
          <p:nvPr/>
        </p:nvSpPr>
        <p:spPr>
          <a:xfrm>
            <a:off x="2021031" y="1826033"/>
            <a:ext cx="4257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1">
                <a:latin typeface="Montserrat"/>
              </a:rPr>
              <a:t>2. Асинхронные таймеры</a:t>
            </a: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38F3EAC1-CF94-CC80-E491-0A0A8AA37276}"/>
              </a:ext>
            </a:extLst>
          </p:cNvPr>
          <p:cNvSpPr txBox="1"/>
          <p:nvPr/>
        </p:nvSpPr>
        <p:spPr>
          <a:xfrm>
            <a:off x="2021031" y="2045108"/>
            <a:ext cx="5715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>
                <a:latin typeface="Inter"/>
              </a:rPr>
              <a:t>Методы setInterval и clearInterval: циклы времени в браузере</a:t>
            </a:r>
          </a:p>
        </p:txBody>
      </p:sp>
      <p:pic>
        <p:nvPicPr>
          <p:cNvPr id="16" name="Picture 17">
            <a:extLst>
              <a:ext uri="{FF2B5EF4-FFF2-40B4-BE49-F238E27FC236}">
                <a16:creationId xmlns:a16="http://schemas.microsoft.com/office/drawing/2014/main" id="{6FCC824B-76CC-4AF8-9619-51A75DC9BB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6668" y="2529246"/>
            <a:ext cx="323850" cy="285750"/>
          </a:xfrm>
          <a:prstGeom prst="rect">
            <a:avLst/>
          </a:prstGeom>
        </p:spPr>
      </p:pic>
      <p:sp>
        <p:nvSpPr>
          <p:cNvPr id="17" name="TextBox 18">
            <a:extLst>
              <a:ext uri="{FF2B5EF4-FFF2-40B4-BE49-F238E27FC236}">
                <a16:creationId xmlns:a16="http://schemas.microsoft.com/office/drawing/2014/main" id="{B44B7737-0986-B05E-A142-78D0B4A97F3F}"/>
              </a:ext>
            </a:extLst>
          </p:cNvPr>
          <p:cNvSpPr txBox="1"/>
          <p:nvPr/>
        </p:nvSpPr>
        <p:spPr>
          <a:xfrm>
            <a:off x="2021031" y="2482216"/>
            <a:ext cx="41624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1">
                <a:latin typeface="Montserrat"/>
              </a:rPr>
              <a:t>3. Области видимости</a:t>
            </a:r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40344B22-C18D-2718-3D60-543000748FD6}"/>
              </a:ext>
            </a:extLst>
          </p:cNvPr>
          <p:cNvSpPr txBox="1"/>
          <p:nvPr/>
        </p:nvSpPr>
        <p:spPr>
          <a:xfrm>
            <a:off x="2021031" y="2701291"/>
            <a:ext cx="5715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>
                <a:latin typeface="Inter"/>
              </a:rPr>
              <a:t>Глобальная, блочная видимость (let/const) и концепция замыкания</a:t>
            </a:r>
          </a:p>
        </p:txBody>
      </p:sp>
      <p:pic>
        <p:nvPicPr>
          <p:cNvPr id="19" name="Picture 20">
            <a:extLst>
              <a:ext uri="{FF2B5EF4-FFF2-40B4-BE49-F238E27FC236}">
                <a16:creationId xmlns:a16="http://schemas.microsoft.com/office/drawing/2014/main" id="{80BE5282-4324-BB0D-B278-5DB149B206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5718" y="3185429"/>
            <a:ext cx="285750" cy="285750"/>
          </a:xfrm>
          <a:prstGeom prst="rect">
            <a:avLst/>
          </a:prstGeom>
        </p:spPr>
      </p:pic>
      <p:sp>
        <p:nvSpPr>
          <p:cNvPr id="20" name="TextBox 21">
            <a:extLst>
              <a:ext uri="{FF2B5EF4-FFF2-40B4-BE49-F238E27FC236}">
                <a16:creationId xmlns:a16="http://schemas.microsoft.com/office/drawing/2014/main" id="{B6E465BC-260C-26E3-31D6-0C45C4AE6C2D}"/>
              </a:ext>
            </a:extLst>
          </p:cNvPr>
          <p:cNvSpPr txBox="1"/>
          <p:nvPr/>
        </p:nvSpPr>
        <p:spPr>
          <a:xfrm>
            <a:off x="2021031" y="3138399"/>
            <a:ext cx="36385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1">
                <a:latin typeface="Montserrat"/>
              </a:rPr>
              <a:t>4. Модульная структура</a:t>
            </a:r>
          </a:p>
        </p:txBody>
      </p:sp>
      <p:sp>
        <p:nvSpPr>
          <p:cNvPr id="21" name="TextBox 22">
            <a:extLst>
              <a:ext uri="{FF2B5EF4-FFF2-40B4-BE49-F238E27FC236}">
                <a16:creationId xmlns:a16="http://schemas.microsoft.com/office/drawing/2014/main" id="{F0038057-42C9-F769-C0C5-F9AB41E8587B}"/>
              </a:ext>
            </a:extLst>
          </p:cNvPr>
          <p:cNvSpPr txBox="1"/>
          <p:nvPr/>
        </p:nvSpPr>
        <p:spPr>
          <a:xfrm>
            <a:off x="2021031" y="3357474"/>
            <a:ext cx="5715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>
                <a:latin typeface="Inter"/>
              </a:rPr>
              <a:t>Организация файлов проекта и разделение зон ответственности</a:t>
            </a:r>
          </a:p>
        </p:txBody>
      </p:sp>
      <p:pic>
        <p:nvPicPr>
          <p:cNvPr id="22" name="Picture 23">
            <a:extLst>
              <a:ext uri="{FF2B5EF4-FFF2-40B4-BE49-F238E27FC236}">
                <a16:creationId xmlns:a16="http://schemas.microsoft.com/office/drawing/2014/main" id="{3EC1D119-6080-BDF3-AF83-63F592656C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6668" y="3841612"/>
            <a:ext cx="323850" cy="285750"/>
          </a:xfrm>
          <a:prstGeom prst="rect">
            <a:avLst/>
          </a:prstGeom>
        </p:spPr>
      </p:pic>
      <p:sp>
        <p:nvSpPr>
          <p:cNvPr id="23" name="TextBox 24">
            <a:extLst>
              <a:ext uri="{FF2B5EF4-FFF2-40B4-BE49-F238E27FC236}">
                <a16:creationId xmlns:a16="http://schemas.microsoft.com/office/drawing/2014/main" id="{E915CC21-797D-8D4A-4DA5-A5A9A395DDD8}"/>
              </a:ext>
            </a:extLst>
          </p:cNvPr>
          <p:cNvSpPr txBox="1"/>
          <p:nvPr/>
        </p:nvSpPr>
        <p:spPr>
          <a:xfrm>
            <a:off x="2021031" y="3794582"/>
            <a:ext cx="42100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1">
                <a:latin typeface="Montserrat"/>
              </a:rPr>
              <a:t>5. Практика: Слайдер</a:t>
            </a:r>
          </a:p>
        </p:txBody>
      </p:sp>
      <p:sp>
        <p:nvSpPr>
          <p:cNvPr id="24" name="TextBox 25">
            <a:extLst>
              <a:ext uri="{FF2B5EF4-FFF2-40B4-BE49-F238E27FC236}">
                <a16:creationId xmlns:a16="http://schemas.microsoft.com/office/drawing/2014/main" id="{27AC8D58-8C59-EA0F-D299-B0D5290F9D54}"/>
              </a:ext>
            </a:extLst>
          </p:cNvPr>
          <p:cNvSpPr txBox="1"/>
          <p:nvPr/>
        </p:nvSpPr>
        <p:spPr>
          <a:xfrm>
            <a:off x="2021031" y="4013657"/>
            <a:ext cx="5715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>
                <a:latin typeface="Inter"/>
              </a:rPr>
              <a:t>Разработка интерактивного авто-слайдера с ручным управлением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9000" y="259715"/>
            <a:ext cx="165100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ПЛАН ЗАНЯТИЯ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6667500" y="259079"/>
            <a:ext cx="22225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ТЕОРИЯ: HTML И CSS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Что такое HTML и CSS и по каким правилам они пишутся?</a:t>
            </a:r>
          </a:p>
        </p:txBody>
      </p:sp>
      <p:sp>
        <p:nvSpPr>
          <p:cNvPr id="4" name="Rounded Rectangle HTML"/>
          <p:cNvSpPr/>
          <p:nvPr/>
        </p:nvSpPr>
        <p:spPr>
          <a:xfrm>
            <a:off x="304800" y="711200"/>
            <a:ext cx="4127500" cy="1625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Header HTML"/>
          <p:cNvSpPr txBox="1"/>
          <p:nvPr/>
        </p:nvSpPr>
        <p:spPr>
          <a:xfrm>
            <a:off x="482600" y="787400"/>
            <a:ext cx="3746500" cy="20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ФАЙЛ 1: index.html (Разметка страницы)</a:t>
            </a:r>
          </a:p>
        </p:txBody>
      </p:sp>
      <p:sp>
        <p:nvSpPr>
          <p:cNvPr id="6" name="Rectangle Line HTML"/>
          <p:cNvSpPr/>
          <p:nvPr/>
        </p:nvSpPr>
        <p:spPr>
          <a:xfrm>
            <a:off x="457200" y="10160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Code HTML"/>
          <p:cNvSpPr txBox="1"/>
          <p:nvPr/>
        </p:nvSpPr>
        <p:spPr>
          <a:xfrm>
            <a:off x="457200" y="1079500"/>
            <a:ext cx="38227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&lt;!-- 1. HTML: Каркас и теги элемента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&lt;</a:t>
            </a:r>
            <a:r>
              <a:rPr sz="800">
                <a:solidFill>
                  <a:srgbClr val="F472B6"/>
                </a:solidFill>
                <a:latin typeface="Consolas"/>
              </a:rPr>
              <a:t>button </a:t>
            </a:r>
            <a:r>
              <a:rPr sz="800">
                <a:solidFill>
                  <a:srgbClr val="A78BFA"/>
                </a:solidFill>
                <a:latin typeface="Consolas"/>
              </a:rPr>
              <a:t>class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FCD34D"/>
                </a:solidFill>
                <a:latin typeface="Consolas"/>
              </a:rPr>
              <a:t>"btn-login" </a:t>
            </a:r>
            <a:r>
              <a:rPr sz="800">
                <a:solidFill>
                  <a:srgbClr val="A78BFA"/>
                </a:solidFill>
                <a:latin typeface="Consolas"/>
              </a:rPr>
              <a:t>id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FCD34D"/>
                </a:solidFill>
                <a:latin typeface="Consolas"/>
              </a:rPr>
              <a:t>"submitBtn"</a:t>
            </a:r>
            <a:r>
              <a:rPr sz="8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Войти в профиль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&lt;/</a:t>
            </a:r>
            <a:r>
              <a:rPr sz="800">
                <a:solidFill>
                  <a:srgbClr val="F472B6"/>
                </a:solidFill>
                <a:latin typeface="Consolas"/>
              </a:rPr>
              <a:t>button</a:t>
            </a:r>
            <a:r>
              <a:rPr sz="8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&lt;!-- Теги, атрибуты и контент. Только разметка! --&gt;</a:t>
            </a:r>
          </a:p>
        </p:txBody>
      </p:sp>
      <p:sp>
        <p:nvSpPr>
          <p:cNvPr id="8" name="Rounded Rectangle CSS"/>
          <p:cNvSpPr/>
          <p:nvPr/>
        </p:nvSpPr>
        <p:spPr>
          <a:xfrm>
            <a:off x="304800" y="2514600"/>
            <a:ext cx="4127500" cy="1981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Header CSS"/>
          <p:cNvSpPr txBox="1"/>
          <p:nvPr/>
        </p:nvSpPr>
        <p:spPr>
          <a:xfrm>
            <a:off x="482600" y="2590800"/>
            <a:ext cx="3746500" cy="20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ФАЙЛ 2: css/style.css (Стили оформления)</a:t>
            </a:r>
          </a:p>
        </p:txBody>
      </p:sp>
      <p:sp>
        <p:nvSpPr>
          <p:cNvPr id="10" name="Rectangle Line CSS"/>
          <p:cNvSpPr/>
          <p:nvPr/>
        </p:nvSpPr>
        <p:spPr>
          <a:xfrm>
            <a:off x="457200" y="28194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Code CSS"/>
          <p:cNvSpPr txBox="1"/>
          <p:nvPr/>
        </p:nvSpPr>
        <p:spPr>
          <a:xfrm>
            <a:off x="457200" y="2882900"/>
            <a:ext cx="3822700" cy="154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CSS: Правило стилизации селектора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.btn-login</a:t>
            </a:r>
            <a:r>
              <a:rPr sz="800">
                <a:solidFill>
                  <a:srgbClr val="D4D4D8"/>
                </a:solidFill>
                <a:latin typeface="Consolas"/>
              </a:rPr>
              <a:t>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#fe6002</a:t>
            </a:r>
            <a:r>
              <a:rPr sz="800">
                <a:solidFill>
                  <a:srgbClr val="71717A"/>
                </a:solidFill>
                <a:latin typeface="Consolas"/>
              </a:rPr>
              <a:t>; /* Фон кнопки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71717A"/>
                </a:solidFill>
                <a:latin typeface="Consolas"/>
              </a:rPr>
              <a:t>;            /* Цвет текста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12px 24px</a:t>
            </a:r>
            <a:r>
              <a:rPr sz="800">
                <a:solidFill>
                  <a:srgbClr val="71717A"/>
                </a:solidFill>
                <a:latin typeface="Consolas"/>
              </a:rPr>
              <a:t>;       /* Внутр. поля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border-radius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6px</a:t>
            </a:r>
            <a:r>
              <a:rPr sz="800">
                <a:solidFill>
                  <a:srgbClr val="71717A"/>
                </a:solidFill>
                <a:latin typeface="Consolas"/>
              </a:rPr>
              <a:t>;         /* Скругление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12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ФУНДАМЕНТАЛЬНЫЕ ПРАВИЛА ВЕРСТКИ</a:t>
            </a:r>
          </a:p>
        </p:txBody>
      </p:sp>
      <p:sp>
        <p:nvSpPr>
          <p:cNvPr id="13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HTML — язык гипертекстовой разметки: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Это «скелет» страницы. Он создает структуру документа: заголовки, параграфы, кнопки, формы и ссылки. HTML не выполняет вычислений — он размечает смысл.</a:t>
            </a:r>
          </a:p>
        </p:txBody>
      </p:sp>
      <p:sp>
        <p:nvSpPr>
          <p:cNvPr id="16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CSS — каскадные таблицы стилей: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Это «одежда» и оформление. CSS управляет цветами, шрифтами, фоном, отступами, позиционированием (Flexbox) и адаптивностью под смартфоны.</a:t>
            </a:r>
          </a:p>
        </p:txBody>
      </p:sp>
      <p:sp>
        <p:nvSpPr>
          <p:cNvPr id="18" name="Rounded Rectangle 13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4"/>
          <p:cNvSpPr txBox="1"/>
          <p:nvPr/>
        </p:nvSpPr>
        <p:spPr>
          <a:xfrm>
            <a:off x="5003800" y="24638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Правила написания HTML (Теги и атрибуты):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Большинство тегов парные: &lt;тег&gt;...&lt;/тег&gt;. Внутри открывающего тега задаются атрибуты (класс, id, ссылка). Теги должны строго закрываться в правильном порядке!</a:t>
            </a:r>
          </a:p>
        </p:txBody>
      </p:sp>
      <p:sp>
        <p:nvSpPr>
          <p:cNvPr id="20" name="Rounded Rectangle 15"/>
          <p:cNvSpPr/>
          <p:nvPr/>
        </p:nvSpPr>
        <p:spPr>
          <a:xfrm>
            <a:off x="4826000" y="3162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16"/>
          <p:cNvSpPr txBox="1"/>
          <p:nvPr/>
        </p:nvSpPr>
        <p:spPr>
          <a:xfrm>
            <a:off x="5003800" y="31242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Правила написания CSS (Селектор и свойства):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Синтаксис: селектор { свойство: значение; }. Селектор (.btn-login) указывает, кому задать стиль, двоеточие отделяет значение, а точка с запятой «;» обязательна!</a:t>
            </a:r>
          </a:p>
        </p:txBody>
      </p:sp>
      <p:sp>
        <p:nvSpPr>
          <p:cNvPr id="22" name="Rounded Rectangle 17"/>
          <p:cNvSpPr/>
          <p:nvPr/>
        </p:nvSpPr>
        <p:spPr>
          <a:xfrm>
            <a:off x="4826000" y="38227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18"/>
          <p:cNvSpPr txBox="1"/>
          <p:nvPr/>
        </p:nvSpPr>
        <p:spPr>
          <a:xfrm>
            <a:off x="5003800" y="37846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Принцип разделения ответственности: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Разметка хранится в index.html, а дизайн — в css/style.css. Разделение структуры и стиля делает код профессиональным, чистым и удобным для командной работы.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правильно организовать файлы в веб-разработке?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Файловая система: smart-office / basic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CD34D"/>
                </a:solidFill>
                <a:latin typeface="Consolas"/>
              </a:rPr>
              <a:t>📁 smart-office / basic/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├── 📄 </a:t>
            </a:r>
            <a:r>
              <a:rPr sz="800">
                <a:solidFill>
                  <a:srgbClr val="38BDF8"/>
                </a:solidFill>
                <a:latin typeface="Consolas"/>
              </a:rPr>
              <a:t>index.html</a:t>
            </a:r>
            <a:r>
              <a:rPr sz="800">
                <a:solidFill>
                  <a:srgbClr val="71717A"/>
                </a:solidFill>
                <a:latin typeface="Consolas"/>
              </a:rPr>
              <a:t>        # Главная разметка страницы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├── 📁 </a:t>
            </a:r>
            <a:r>
              <a:rPr sz="800">
                <a:solidFill>
                  <a:srgbClr val="A78BFA"/>
                </a:solidFill>
                <a:latin typeface="Consolas"/>
              </a:rPr>
              <a:t>css/</a:t>
            </a:r>
            <a:r>
              <a:rPr sz="800">
                <a:solidFill>
                  <a:srgbClr val="71717A"/>
                </a:solidFill>
                <a:latin typeface="Consolas"/>
              </a:rPr>
              <a:t>               # Стили оформления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   └── 📄 </a:t>
            </a:r>
            <a:r>
              <a:rPr sz="800">
                <a:solidFill>
                  <a:srgbClr val="4ADE80"/>
                </a:solidFill>
                <a:latin typeface="Consolas"/>
              </a:rPr>
              <a:t>style.css</a:t>
            </a:r>
            <a:r>
              <a:rPr sz="800">
                <a:solidFill>
                  <a:srgbClr val="71717A"/>
                </a:solidFill>
                <a:latin typeface="Consolas"/>
              </a:rPr>
              <a:t>        # Таблица каскадных стилей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├── 📁 </a:t>
            </a:r>
            <a:r>
              <a:rPr sz="800">
                <a:solidFill>
                  <a:srgbClr val="A78BFA"/>
                </a:solidFill>
                <a:latin typeface="Consolas"/>
              </a:rPr>
              <a:t>js/</a:t>
            </a:r>
            <a:r>
              <a:rPr sz="800">
                <a:solidFill>
                  <a:srgbClr val="71717A"/>
                </a:solidFill>
                <a:latin typeface="Consolas"/>
              </a:rPr>
              <a:t>                # Клиентские скрипты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   └── 📄 </a:t>
            </a:r>
            <a:r>
              <a:rPr sz="800">
                <a:solidFill>
                  <a:srgbClr val="4ADE80"/>
                </a:solidFill>
                <a:latin typeface="Consolas"/>
              </a:rPr>
              <a:t>script.js</a:t>
            </a:r>
            <a:r>
              <a:rPr sz="800">
                <a:solidFill>
                  <a:srgbClr val="71717A"/>
                </a:solidFill>
                <a:latin typeface="Consolas"/>
              </a:rPr>
              <a:t>       # Интерактивная логика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└── 📁 </a:t>
            </a:r>
            <a:r>
              <a:rPr sz="800">
                <a:solidFill>
                  <a:srgbClr val="A78BFA"/>
                </a:solidFill>
                <a:latin typeface="Consolas"/>
              </a:rPr>
              <a:t>img/</a:t>
            </a:r>
            <a:r>
              <a:rPr sz="800">
                <a:solidFill>
                  <a:srgbClr val="71717A"/>
                </a:solidFill>
                <a:latin typeface="Consolas"/>
              </a:rPr>
              <a:t>               # Графика и медиафайлы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├── 🖼️ </a:t>
            </a:r>
            <a:r>
              <a:rPr sz="800">
                <a:solidFill>
                  <a:srgbClr val="D4D4D8"/>
                </a:solidFill>
                <a:latin typeface="Consolas"/>
              </a:rPr>
              <a:t>logo.svg</a:t>
            </a:r>
            <a:r>
              <a:rPr sz="800">
                <a:solidFill>
                  <a:srgbClr val="71717A"/>
                </a:solidFill>
                <a:latin typeface="Consolas"/>
              </a:rPr>
              <a:t>        # Векторный логотип бренда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└── 🖼️ </a:t>
            </a:r>
            <a:r>
              <a:rPr sz="800">
                <a:solidFill>
                  <a:srgbClr val="D4D4D8"/>
                </a:solidFill>
                <a:latin typeface="Consolas"/>
              </a:rPr>
              <a:t>no-image.svg</a:t>
            </a:r>
            <a:r>
              <a:rPr sz="800">
                <a:solidFill>
                  <a:srgbClr val="71717A"/>
                </a:solidFill>
                <a:latin typeface="Consolas"/>
              </a:rPr>
              <a:t>    # Заглушка для фото комнат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ПРИНЦИП ЧИСТОЙ АРХИТЕКТУРЫ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Файл index.html в корне: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Браузер по умолчанию ищет именно index.html как стартовую страницу. Он лежит в корне проекта.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034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7653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Изоляция стилей в папке css/: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Стили хранятся в файле style.css. Это разделяет разметку (HTML) и визуальный дизайн (CSS).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374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336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Папка js/ для скриптов: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Здесь хранятся файлы JavaScript (script.js). В них пишется логика: клики, слайдеры, фильтры и интерактив.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035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2997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Графика в папке img/: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Все логотипы, иконки и фото комнат лежат отдельно, чтобы не засорять корень проекта.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6068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3800" y="35687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Относительные пути к файлам: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 коде мы пишем путь от текущей папки: css/style.css, js/script.js, img/logo.svg.</a:t>
            </a:r>
          </a:p>
        </p:txBody>
      </p:sp>
      <p:sp>
        <p:nvSpPr>
          <p:cNvPr id="20" name="Google Shape;69;p14">
            <a:extLst>
              <a:ext uri="{FF2B5EF4-FFF2-40B4-BE49-F238E27FC236}">
                <a16:creationId xmlns:a16="http://schemas.microsoft.com/office/drawing/2014/main" id="{71A23B6C-F869-B64D-42C7-20AD29731627}"/>
              </a:ext>
            </a:extLst>
          </p:cNvPr>
          <p:cNvSpPr/>
          <p:nvPr/>
        </p:nvSpPr>
        <p:spPr>
          <a:xfrm>
            <a:off x="6869927" y="259712"/>
            <a:ext cx="2019481" cy="286388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200" b="0">
                <a:solidFill>
                  <a:srgbClr val="FFFFFF"/>
                </a:solidFill>
                <a:latin typeface="Inter"/>
              </a:rPr>
              <a:t>СТРУКТУРА ПРОЕКТА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Из каких смысловых блоков строится современный сайт?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(семантический каркас)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&lt;!DOCTYPE html&gt;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&lt;html </a:t>
            </a:r>
            <a:r>
              <a:rPr sz="800">
                <a:solidFill>
                  <a:srgbClr val="A78BFA"/>
                </a:solidFill>
                <a:latin typeface="Consolas"/>
              </a:rPr>
              <a:t>lang=</a:t>
            </a:r>
            <a:r>
              <a:rPr sz="800">
                <a:solidFill>
                  <a:srgbClr val="FCD34D"/>
                </a:solidFill>
                <a:latin typeface="Consolas"/>
              </a:rPr>
              <a:t>"ru"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&lt;head&gt;</a:t>
            </a:r>
            <a:r>
              <a:rPr sz="800">
                <a:solidFill>
                  <a:srgbClr val="71717A"/>
                </a:solidFill>
                <a:latin typeface="Consolas"/>
              </a:rPr>
              <a:t> ... </a:t>
            </a:r>
            <a:r>
              <a:rPr sz="800">
                <a:solidFill>
                  <a:srgbClr val="F472B6"/>
                </a:solidFill>
                <a:latin typeface="Consolas"/>
              </a:rPr>
              <a:t>&lt;/head&gt;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&lt;body&gt;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&lt;!-- 1. Шапка сайта (лого + меню)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&lt;header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"header"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 header-container"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&lt;/header&gt;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&lt;!-- 2. Главный уникальный контент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&lt;main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"main"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&lt;section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"hero-section"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&gt;...&lt;/section&gt;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&lt;/main&gt;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&lt;!-- 3. Подвал сайта (копирайт и контакты)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&lt;footer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&gt;...&lt;/footer&gt;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&lt;/body&gt;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&lt;/html&gt;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СЕМАНТИЧЕСКИЕ ТЕГИ HTML5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Зачем нужны &lt;header&gt;, &lt;main&gt;, &lt;footer&gt;?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Раньше сайты верстали сплошными тегами &lt;div&gt;. Семантические теги делают код понятным людям, поисковикам и скринридерам.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&lt;header&gt; (Шапка):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Верхняя часть страницы: содержит бренд, логотип, навигационные ссылки по разделам и кнопки профиля.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&lt;main&gt; (Главный блок):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Центральная область. Здесь располагается уникальное содержимое страницы, не повторяющееся на других вкладках.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&lt;footer&gt; (Подвал):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Нижняя часть сайта: юридическая информация, авторские права (копирайт), контакты техподдержки и соцсети.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67550" y="259715"/>
            <a:ext cx="182245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HTML5 СЕМАНТИКА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Что подключается в невидимой части документа?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(настройка &lt;head&gt;)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&lt;head&gt;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&lt;meta </a:t>
            </a:r>
            <a:r>
              <a:rPr sz="800">
                <a:solidFill>
                  <a:srgbClr val="A78BFA"/>
                </a:solidFill>
                <a:latin typeface="Consolas"/>
              </a:rPr>
              <a:t>charset=</a:t>
            </a:r>
            <a:r>
              <a:rPr sz="800">
                <a:solidFill>
                  <a:srgbClr val="FCD34D"/>
                </a:solidFill>
                <a:latin typeface="Consolas"/>
              </a:rPr>
              <a:t>"UTF-8"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&lt;meta </a:t>
            </a:r>
            <a:r>
              <a:rPr sz="800">
                <a:solidFill>
                  <a:srgbClr val="A78BFA"/>
                </a:solidFill>
                <a:latin typeface="Consolas"/>
              </a:rPr>
              <a:t>name=</a:t>
            </a:r>
            <a:r>
              <a:rPr sz="800">
                <a:solidFill>
                  <a:srgbClr val="FCD34D"/>
                </a:solidFill>
                <a:latin typeface="Consolas"/>
              </a:rPr>
              <a:t>"viewport"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  </a:t>
            </a:r>
            <a:r>
              <a:rPr sz="800">
                <a:solidFill>
                  <a:srgbClr val="A78BFA"/>
                </a:solidFill>
                <a:latin typeface="Consolas"/>
              </a:rPr>
              <a:t>content=</a:t>
            </a:r>
            <a:r>
              <a:rPr sz="800">
                <a:solidFill>
                  <a:srgbClr val="FCD34D"/>
                </a:solidFill>
                <a:latin typeface="Consolas"/>
              </a:rPr>
              <a:t>"width=device-width, initial-scale=1.0"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&lt;title&gt;</a:t>
            </a:r>
            <a:r>
              <a:rPr sz="800">
                <a:solidFill>
                  <a:srgbClr val="D4D4D8"/>
                </a:solidFill>
                <a:latin typeface="Consolas"/>
              </a:rPr>
              <a:t>СмартОфис — Бронирование</a:t>
            </a:r>
            <a:r>
              <a:rPr sz="800">
                <a:solidFill>
                  <a:srgbClr val="F472B6"/>
                </a:solidFill>
                <a:latin typeface="Consolas"/>
              </a:rPr>
              <a:t>&lt;/title&gt;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Подключение шрифта Inter из Google Fonts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"preconnect"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"https://fonts.googleapis.com"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"preconnect"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"https://fonts.gstatic.com"</a:t>
            </a:r>
            <a:r>
              <a:rPr sz="800">
                <a:solidFill>
                  <a:srgbClr val="F472B6"/>
                </a:solidFill>
                <a:latin typeface="Consolas"/>
              </a:rPr>
              <a:t> crossorigin&gt;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"https://fonts.googleapis.com/css2?family=Inter:wght@400;500;600;700;800&amp;display=swap"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 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"stylesheet"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Подключение таблицы стилей и иконки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"stylesheet"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"css/style.css"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"icon"</a:t>
            </a:r>
            <a:r>
              <a:rPr sz="800">
                <a:solidFill>
                  <a:srgbClr val="A78BFA"/>
                </a:solidFill>
                <a:latin typeface="Consolas"/>
              </a:rPr>
              <a:t> type=</a:t>
            </a:r>
            <a:r>
              <a:rPr sz="800">
                <a:solidFill>
                  <a:srgbClr val="FCD34D"/>
                </a:solidFill>
                <a:latin typeface="Consolas"/>
              </a:rPr>
              <a:t>"image/svg+xml"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"img/logo.svg"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&lt;/head&gt;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СЛУЖЕБНЫЕ МЕТАТЕГИ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Кодировка UTF-8: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Указывает браузеру стандарт символов. Без &lt;meta charset="UTF-8"&gt; кириллические буквы превратятся в иероглифы.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92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54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Метатег Viewport: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Говорит браузеру отображать страницу в масштабе 1:1 в соответствии с реальной шириной экрана экрана устройства.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52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14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Google Fonts (Inter):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Шрифт Inter — мировой стандарт интерфейсов (Figma, Linear). preconnect заранее открывает скоростное соединение с сервером.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63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25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Фавикон сайта (Favicon):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Векторная иконка img/logo.svg в теге &lt;link rel="icon"&gt; украшает вкладку в браузере и закладки.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0810" y="259715"/>
            <a:ext cx="24091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СЛУЖЕБНЫЙ БЛОК &lt;HEAD&gt;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4972050" y="259079"/>
            <a:ext cx="39179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СХЕМА: BLOCK vs FLEXBOX vs 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В чем визуальная разница блочного потока, Flexbox и CSS Grid?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26670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838200"/>
            <a:ext cx="23622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Montserrat"/>
              </a:rPr>
              <a:t>1. BLOCK (Поток)</a:t>
            </a:r>
          </a:p>
          <a:p>
            <a:r>
              <a:rPr sz="800">
                <a:solidFill>
                  <a:srgbClr val="71717A"/>
                </a:solidFill>
                <a:latin typeface="Inter"/>
              </a:rPr>
              <a:t>Вертикальный стек друг под друга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5400"/>
            <a:ext cx="2362200" cy="127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397000"/>
            <a:ext cx="2362200" cy="2235200"/>
          </a:xfrm>
          <a:prstGeom prst="roundRect">
            <a:avLst>
              <a:gd name="adj" fmla="val 4000"/>
            </a:avLst>
          </a:prstGeom>
          <a:solidFill>
            <a:srgbClr val="22252B"/>
          </a:solidFill>
          <a:ln w="12700">
            <a:solidFill>
              <a:srgbClr val="3B4252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8000" y="1422400"/>
            <a:ext cx="226060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>
                <a:solidFill>
                  <a:srgbClr val="71717A"/>
                </a:solidFill>
                <a:latin typeface="Consolas"/>
              </a:rPr>
              <a:t>Родитель: width: 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8800" y="1651000"/>
            <a:ext cx="2159000" cy="482600"/>
          </a:xfrm>
          <a:prstGeom prst="roundRect">
            <a:avLst>
              <a:gd name="adj" fmla="val 6000"/>
            </a:avLst>
          </a:prstGeom>
          <a:solidFill>
            <a:srgbClr val="1B2A38"/>
          </a:solidFill>
          <a:ln w="15240">
            <a:solidFill>
              <a:srgbClr val="38BDF8"/>
            </a:solidFill>
          </a:ln>
        </p:spPr>
        <p:txBody>
          <a:bodyPr wrap="square" lIns="7620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nsolas"/>
              </a:rPr>
              <a:t>&lt;div&gt; Блок 1</a:t>
            </a:r>
          </a:p>
          <a:p>
            <a:pPr algn="ctr"/>
            <a:r>
              <a:rPr sz="700">
                <a:solidFill>
                  <a:srgbClr val="38BDF8"/>
                </a:solidFill>
                <a:latin typeface="Inter"/>
              </a:rPr>
              <a:t>width: 100% (выталкивает вниз)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8800" y="2260600"/>
            <a:ext cx="2159000" cy="482600"/>
          </a:xfrm>
          <a:prstGeom prst="roundRect">
            <a:avLst>
              <a:gd name="adj" fmla="val 6000"/>
            </a:avLst>
          </a:prstGeom>
          <a:solidFill>
            <a:srgbClr val="1B2A38"/>
          </a:solidFill>
          <a:ln w="15240">
            <a:solidFill>
              <a:srgbClr val="38BDF8"/>
            </a:solidFill>
          </a:ln>
        </p:spPr>
        <p:txBody>
          <a:bodyPr wrap="square" lIns="7620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nsolas"/>
              </a:rPr>
              <a:t>&lt;div&gt; Блок 2</a:t>
            </a:r>
          </a:p>
          <a:p>
            <a:pPr algn="ctr"/>
            <a:r>
              <a:rPr sz="700">
                <a:solidFill>
                  <a:srgbClr val="38BDF8"/>
                </a:solidFill>
                <a:latin typeface="Inter"/>
              </a:rPr>
              <a:t>width: 100% (выталкивает вниз)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8800" y="2870200"/>
            <a:ext cx="2159000" cy="482600"/>
          </a:xfrm>
          <a:prstGeom prst="roundRect">
            <a:avLst>
              <a:gd name="adj" fmla="val 6000"/>
            </a:avLst>
          </a:prstGeom>
          <a:solidFill>
            <a:srgbClr val="1B2A38"/>
          </a:solidFill>
          <a:ln w="15240">
            <a:solidFill>
              <a:srgbClr val="38BDF8"/>
            </a:solidFill>
          </a:ln>
        </p:spPr>
        <p:txBody>
          <a:bodyPr wrap="square" lIns="7620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nsolas"/>
              </a:rPr>
              <a:t>&lt;div&gt; Блок 3</a:t>
            </a:r>
          </a:p>
          <a:p>
            <a:pPr algn="ctr"/>
            <a:r>
              <a:rPr sz="700">
                <a:solidFill>
                  <a:srgbClr val="38BDF8"/>
                </a:solidFill>
                <a:latin typeface="Inter"/>
              </a:rPr>
              <a:t>width: 100% (выталкивает вниз)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08400"/>
            <a:ext cx="2362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222222"/>
                </a:solidFill>
                <a:latin typeface="Inter"/>
              </a:rPr>
              <a:t>Свойство по умолчанию:
</a:t>
            </a:r>
            <a:r>
              <a:rPr sz="750">
                <a:solidFill>
                  <a:srgbClr val="D4D4D8"/>
                </a:solidFill>
                <a:latin typeface="Inter"/>
              </a:rPr>
              <a:t>Каждый тег занимает всю ширину строки и переносит следующий элемент вниз.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38500" y="711200"/>
            <a:ext cx="26670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90900" y="838200"/>
            <a:ext cx="23622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4ADE80"/>
                </a:solidFill>
                <a:latin typeface="Montserrat"/>
              </a:rPr>
              <a:t>2. FLEXBOX (1D)</a:t>
            </a:r>
          </a:p>
          <a:p>
            <a:r>
              <a:rPr sz="800">
                <a:solidFill>
                  <a:srgbClr val="71717A"/>
                </a:solidFill>
                <a:latin typeface="Inter"/>
              </a:rPr>
              <a:t>Вдоль одной оси (строка / колонка)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1295400"/>
            <a:ext cx="2362200" cy="127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390900" y="1397000"/>
            <a:ext cx="2362200" cy="2235200"/>
          </a:xfrm>
          <a:prstGeom prst="roundRect">
            <a:avLst>
              <a:gd name="adj" fmla="val 4000"/>
            </a:avLst>
          </a:prstGeom>
          <a:solidFill>
            <a:srgbClr val="22252B"/>
          </a:solidFill>
          <a:ln w="12700">
            <a:solidFill>
              <a:srgbClr val="3B4252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41700" y="1422400"/>
            <a:ext cx="226060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>
                <a:solidFill>
                  <a:srgbClr val="71717A"/>
                </a:solidFill>
                <a:latin typeface="Consolas"/>
              </a:rPr>
              <a:t>display: flex; gap: 8px;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92500" y="1651000"/>
            <a:ext cx="2159000" cy="228600"/>
          </a:xfrm>
          <a:prstGeom prst="roundRect">
            <a:avLst>
              <a:gd name="adj" fmla="val 20000"/>
            </a:avLst>
          </a:prstGeom>
          <a:solidFill>
            <a:srgbClr val="132A1E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750" b="1">
                <a:solidFill>
                  <a:srgbClr val="4ADE80"/>
                </a:solidFill>
                <a:latin typeface="Consolas"/>
              </a:rPr>
              <a:t>ГЛАВНАЯ ОСЬ X (row) ──►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92500" y="1955800"/>
            <a:ext cx="647700" cy="965200"/>
          </a:xfrm>
          <a:prstGeom prst="roundRect">
            <a:avLst>
              <a:gd name="adj" fmla="val 8000"/>
            </a:avLst>
          </a:prstGeom>
          <a:solidFill>
            <a:srgbClr val="1A3324"/>
          </a:solidFill>
          <a:ln w="15240">
            <a:solidFill>
              <a:srgbClr val="4ADE80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Item 1</a:t>
            </a:r>
          </a:p>
          <a:p>
            <a:pPr algn="ctr"/>
            <a:r>
              <a:rPr sz="700">
                <a:solidFill>
                  <a:srgbClr val="4ADE80"/>
                </a:solidFill>
                <a:latin typeface="Consolas"/>
              </a:rPr>
              <a:t>auto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29100" y="1955800"/>
            <a:ext cx="647700" cy="965200"/>
          </a:xfrm>
          <a:prstGeom prst="roundRect">
            <a:avLst>
              <a:gd name="adj" fmla="val 8000"/>
            </a:avLst>
          </a:prstGeom>
          <a:solidFill>
            <a:srgbClr val="1A3324"/>
          </a:solidFill>
          <a:ln w="15240">
            <a:solidFill>
              <a:srgbClr val="4ADE80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Item 2</a:t>
            </a:r>
          </a:p>
          <a:p>
            <a:pPr algn="ctr"/>
            <a:r>
              <a:rPr sz="700">
                <a:solidFill>
                  <a:srgbClr val="4ADE80"/>
                </a:solidFill>
                <a:latin typeface="Consolas"/>
              </a:rPr>
              <a:t>flex: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65700" y="1955800"/>
            <a:ext cx="647700" cy="965200"/>
          </a:xfrm>
          <a:prstGeom prst="roundRect">
            <a:avLst>
              <a:gd name="adj" fmla="val 8000"/>
            </a:avLst>
          </a:prstGeom>
          <a:solidFill>
            <a:srgbClr val="1A3324"/>
          </a:solidFill>
          <a:ln w="15240">
            <a:solidFill>
              <a:srgbClr val="4ADE80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Item 3</a:t>
            </a:r>
          </a:p>
          <a:p>
            <a:pPr algn="ctr"/>
            <a:r>
              <a:rPr sz="700">
                <a:solidFill>
                  <a:srgbClr val="4ADE80"/>
                </a:solidFill>
                <a:latin typeface="Consolas"/>
              </a:rPr>
              <a:t>auto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92500" y="3022600"/>
            <a:ext cx="2159000" cy="482600"/>
          </a:xfrm>
          <a:prstGeom prst="rect">
            <a:avLst/>
          </a:prstGeom>
          <a:solidFill>
            <a:srgbClr val="18222A"/>
          </a:solidFill>
          <a:ln w="9525">
            <a:solidFill>
              <a:srgbClr val="2D3A45"/>
            </a:solidFill>
          </a:ln>
        </p:spPr>
        <p:txBody>
          <a:bodyPr wrap="square" rtlCol="0" anchor="ctr"/>
          <a:lstStyle/>
          <a:p>
            <a:pPr algn="ctr"/>
            <a:r>
              <a:rPr sz="700">
                <a:solidFill>
                  <a:srgbClr val="D4D4D8"/>
                </a:solidFill>
                <a:latin typeface="Consolas"/>
              </a:rPr>
              <a:t>justify-content: space-between;
align-items: center;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90900" y="3708400"/>
            <a:ext cx="2362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222222"/>
                </a:solidFill>
                <a:latin typeface="Inter"/>
              </a:rPr>
              <a:t>Одномерное управление (1D):
</a:t>
            </a:r>
            <a:r>
              <a:rPr sz="750">
                <a:solidFill>
                  <a:srgbClr val="D4D4D8"/>
                </a:solidFill>
                <a:latin typeface="Inter"/>
              </a:rPr>
              <a:t>Идеально выстраивает элементы в одну линию (шапка, меню, ряд кнопок) и делит пустоту.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711200"/>
            <a:ext cx="26670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24600" y="838200"/>
            <a:ext cx="23622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A78BFA"/>
                </a:solidFill>
                <a:latin typeface="Montserrat"/>
              </a:rPr>
              <a:t>3. CSS GRID (2D)</a:t>
            </a:r>
          </a:p>
          <a:p>
            <a:r>
              <a:rPr sz="800">
                <a:solidFill>
                  <a:srgbClr val="71717A"/>
                </a:solidFill>
                <a:latin typeface="Inter"/>
              </a:rPr>
              <a:t>Строки + Столбцы (Сетка матрица)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24600" y="1295400"/>
            <a:ext cx="2362200" cy="127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24600" y="1397000"/>
            <a:ext cx="2362200" cy="2235200"/>
          </a:xfrm>
          <a:prstGeom prst="roundRect">
            <a:avLst>
              <a:gd name="adj" fmla="val 4000"/>
            </a:avLst>
          </a:prstGeom>
          <a:solidFill>
            <a:srgbClr val="22252B"/>
          </a:solidFill>
          <a:ln w="12700">
            <a:solidFill>
              <a:srgbClr val="3B4252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75400" y="1422400"/>
            <a:ext cx="226060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>
                <a:solidFill>
                  <a:srgbClr val="71717A"/>
                </a:solidFill>
                <a:latin typeface="Consolas"/>
              </a:rPr>
              <a:t>grid-template-columns: 1fr 1fr;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26200" y="16764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1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1 / row 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16764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2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2 / row 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26200" y="25908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3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1 / row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43800" y="25908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4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2 / row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4600" y="3708400"/>
            <a:ext cx="2362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222222"/>
                </a:solidFill>
                <a:latin typeface="Inter"/>
              </a:rPr>
              <a:t>Двумерная матрица (2D):
</a:t>
            </a:r>
            <a:r>
              <a:rPr sz="750">
                <a:solidFill>
                  <a:srgbClr val="D4D4D8"/>
                </a:solidFill>
                <a:latin typeface="Inter"/>
              </a:rPr>
              <a:t>Управляет строками и колонками одновременно. Идеально для каталогов карточек и фото.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5295900" y="259079"/>
            <a:ext cx="35941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ТЕОРИЯ: ВЫБОР МОДЕЛИ ВЕРСТКИ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Какую модель верстки выбрать для конкретной задачи сайта?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(Выбор модели)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1. ОБЫЧНЫЙ ТЕКСТ И АБЗАЦЫ (Block)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.article-text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block</a:t>
            </a:r>
            <a:r>
              <a:rPr sz="800">
                <a:solidFill>
                  <a:srgbClr val="71717A"/>
                </a:solidFill>
                <a:latin typeface="Consolas"/>
              </a:rPr>
              <a:t>; /* Поток сверху вниз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ШАПКА И НАВИГАЦИЯ В РЯД (Flexbox)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.header-nav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justify-content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space-between</a:t>
            </a:r>
            <a:r>
              <a:rPr sz="800">
                <a:solidFill>
                  <a:srgbClr val="71717A"/>
                </a:solidFill>
                <a:latin typeface="Consolas"/>
              </a:rPr>
              <a:t>; /* Разнос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3. КАТАЛОГ КОМНАТ 3x3 (CSS Grid)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.rooms-grid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grid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grid-template-columns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repeat(3, 1fr)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71717A"/>
                </a:solidFill>
                <a:latin typeface="Consolas"/>
              </a:rPr>
              <a:t>; /* Отступы сетки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ПРАВИЛА И СЦЕНАРИИ ПРИМЕНЕНИЯ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Dot 0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Bullet 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Block — для текстовых смысловых блоков: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Теги &lt;p&gt;, &lt;h1&gt;, &lt;div&gt; по умолчанию блочные. Они естественным образом формируют классический вертикальный поток документа для чтения.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Bullet 1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Flexbox — для линейных цепочек (1D):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Идеален, когда элементы нужно расположить вдоль одной оси: шапка сайта, меню ссылок, строка с тегами или кнопка с иконкой.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Bullet 2"/>
          <p:cNvSpPr txBox="1"/>
          <p:nvPr/>
        </p:nvSpPr>
        <p:spPr>
          <a:xfrm>
            <a:off x="5003800" y="24638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CSS Grid — для сложных сеток каталогов (2D):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Используется, когда нужно контролировать и строки, и столбцы одновременно: галерея фото, витрина товаров, сетка переговорных комнат.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826000" y="3162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Bullet 3"/>
          <p:cNvSpPr txBox="1"/>
          <p:nvPr/>
        </p:nvSpPr>
        <p:spPr>
          <a:xfrm>
            <a:off x="5003800" y="3124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Командная работа технологий: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Grid организует общую 3-колоночную сетку каталога, Flexbox центрирует содержимое внутри каждой карточки, а Block держит описание.</a:t>
            </a:r>
          </a:p>
        </p:txBody>
      </p:sp>
      <p:sp>
        <p:nvSpPr>
          <p:cNvPr id="18" name="Rounded Rectangle Dot 4"/>
          <p:cNvSpPr/>
          <p:nvPr/>
        </p:nvSpPr>
        <p:spPr>
          <a:xfrm>
            <a:off x="4826000" y="3797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Bullet 4"/>
          <p:cNvSpPr txBox="1"/>
          <p:nvPr/>
        </p:nvSpPr>
        <p:spPr>
          <a:xfrm>
            <a:off x="5003800" y="37592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Итог: как выбирать инструмент: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Ряд кнопок или выравнивание шапки? → Flexbox. Матрица карточек 3х3 или дашборд? → Grid. Стандартный текст статьи? → Block!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5619750" y="259079"/>
            <a:ext cx="32702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БЛОЧНАЯ МОДЕЛЬ: BOX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устроена блочная модель и почему важен box-sizing?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(Box Model Anatomy)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АНАТОМИЯ ЛЮБОГО HTML-ЭЛЕМЕНТА</a:t>
            </a:r>
          </a:p>
        </p:txBody>
      </p:sp>
      <p:sp>
        <p:nvSpPr>
          <p:cNvPr id="8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 АНАТОМИЯ БЛОЧНОЙ КОРОБКИ 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┌───────────────────────────────────┐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 MARGIN (Внешний отступ от соседей)│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┌─────────────────────────────┐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│  │ BORDER (Видимая рамка/грань)│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┌───────────────────────┐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CD34D"/>
                </a:solidFill>
                <a:latin typeface="Consolas"/>
              </a:rPr>
              <a:t>│  │  │ PADDING (Внутр. поля)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│  ┌─────────────────┐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│  │  │  │     CONTENT     │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│  │  │  │ (Текст, иконка) │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│  └─────────────────┘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└───────────────────────┘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└─────────────────────────────┘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└───────────────────────────────────┘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Главное правило сброса в начале CSS: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*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box-sizing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border-box</a:t>
            </a:r>
            <a:r>
              <a:rPr sz="800">
                <a:solidFill>
                  <a:srgbClr val="71717A"/>
                </a:solidFill>
                <a:latin typeface="Consolas"/>
              </a:rPr>
              <a:t>; /* Честный расчет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Content (Контент / Содержимое):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Сердцевина элемента — сам текст, изображение или векторная иконка. Его базовые размеры определяются свойствами width и height.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41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03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Padding (Внутренние поля):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Воздушная подушка безопасности внутри блока от контента до его рамки. Заливается фоновым цветом блока (background-color).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476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438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Border (Граница / Рамка):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Линия, очерчивающая блок. Имеет толщину, стиль и цвет (например, border: 1px solid #fe6002). Завершает физическое тело элемента.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111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0734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Margin (Внешние отступы):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Пространство снаружи блока, отталкивающее соседей. Margin всегда абсолютно прозрачен и не имеет цвета фона.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7211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3800" y="3683000"/>
            <a:ext cx="3619500" cy="63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Спасение через box-sizing: border-box: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Без этого правила любой padding раздувает блок наружу и ломает верстку. С border-box ширина 300px всегда строго 300px!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5619750" y="259079"/>
            <a:ext cx="32702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FLEXBOX: ОДНОМЕРНЫЙ МАКЕТ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работает Flexbox и почему он незаменим в верстке?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(Flexbox Syntax)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МЕХАНИКА И СИЛА ТЕХНОЛОГИИ FLEXBOX</a:t>
            </a:r>
          </a:p>
        </p:txBody>
      </p:sp>
      <p:sp>
        <p:nvSpPr>
          <p:cNvPr id="8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1. РОДИТЕЛЬ (Flex-контейнер)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.navbar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71717A"/>
                </a:solidFill>
                <a:latin typeface="Consolas"/>
              </a:rPr>
              <a:t>; /* Включаем флекс-режим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row</a:t>
            </a:r>
            <a:r>
              <a:rPr sz="800">
                <a:solidFill>
                  <a:srgbClr val="71717A"/>
                </a:solidFill>
                <a:latin typeface="Consolas"/>
              </a:rPr>
              <a:t>;     /* Ось X: слева направо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justify-content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space-between</a:t>
            </a:r>
            <a:r>
              <a:rPr sz="800">
                <a:solidFill>
                  <a:srgbClr val="71717A"/>
                </a:solidFill>
                <a:latin typeface="Consolas"/>
              </a:rPr>
              <a:t>; /* Разнос краев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71717A"/>
                </a:solidFill>
                <a:latin typeface="Consolas"/>
              </a:rPr>
              <a:t>;        /* Центр по высоте Y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20px</a:t>
            </a:r>
            <a:r>
              <a:rPr sz="800">
                <a:solidFill>
                  <a:srgbClr val="71717A"/>
                </a:solidFill>
                <a:latin typeface="Consolas"/>
              </a:rPr>
              <a:t>;                /* Шаг между детьми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ПОТОМОК (Flex-элемент)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.main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</a:t>
            </a:r>
            <a:r>
              <a:rPr sz="800">
                <a:solidFill>
                  <a:srgbClr val="71717A"/>
                </a:solidFill>
                <a:latin typeface="Consolas"/>
              </a:rPr>
              <a:t>; /* Занимает всю пустоту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.logo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flex-shrink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</a:t>
            </a:r>
            <a:r>
              <a:rPr sz="800">
                <a:solidFill>
                  <a:srgbClr val="71717A"/>
                </a:solidFill>
                <a:latin typeface="Consolas"/>
              </a:rPr>
              <a:t>; /* Не сжиматься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Родитель (Container) и дети (Items):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Свойство display: flex пишется у родительского блока, но мгновенно подчиняет всех прямых потомков, выстраивая их в ряд.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Главная (Main) и поперечная (Cross) оси: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 умолчанию элементы строятся слева направо (row). Но с flex-direction: column ось легко поворачивается сверху вниз.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4638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Выравнивание: justify-content и align-items: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justify-content выравнивает вдоль главной оси (center, space-between), а align-items — центрирует по высоте без костылей.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162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124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Свойство gap — идеальные отступы: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Заменяет мучения с margin-right и :last-child. Одной командой gap: 20px создает равные промежутки между дочерними блоками.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797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3800" y="37592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Магический flex: 1 (Жадное растяжение):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Говорит элементу: «Забери всё свободное место!». Именно благодаря этому блок .main выталкивает футер в самый низ экрана.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5619750" y="259079"/>
            <a:ext cx="32702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CSS GRID: ДВУМЕРНЫЕ СЕТКИ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Когда и зачем использовать CSS Grid вместо Flexbox?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(CSS Grid Syntax)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ДВУМЕРНЫЙ СЕТОЧНЫЙ КАРКАС</a:t>
            </a:r>
          </a:p>
        </p:txBody>
      </p:sp>
      <p:sp>
        <p:nvSpPr>
          <p:cNvPr id="8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1. СЕТОЧНЫЙ КОНТЕЙНЕР (Grid)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.rooms-catalog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grid</a:t>
            </a:r>
            <a:r>
              <a:rPr sz="800">
                <a:solidFill>
                  <a:srgbClr val="71717A"/>
                </a:solidFill>
                <a:latin typeface="Consolas"/>
              </a:rPr>
              <a:t>; /* Включаем 2D-сетку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3 равные колонки по 1 доле (fr):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grid-template-columns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repeat(3, 1fr)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71717A"/>
                </a:solidFill>
                <a:latin typeface="Consolas"/>
              </a:rPr>
              <a:t>; /* Отступ строк и колонок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ОСОБАЯ КАРТОЧКА (Grid-элемент)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.card-featured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grid-column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span 2</a:t>
            </a:r>
            <a:r>
              <a:rPr sz="800">
                <a:solidFill>
                  <a:srgbClr val="71717A"/>
                </a:solidFill>
                <a:latin typeface="Consolas"/>
              </a:rPr>
              <a:t>; /* Растянуть на 2 ячейки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.card-full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grid-column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 / -1</a:t>
            </a:r>
            <a:r>
              <a:rPr sz="800">
                <a:solidFill>
                  <a:srgbClr val="71717A"/>
                </a:solidFill>
                <a:latin typeface="Consolas"/>
              </a:rPr>
              <a:t>; /* На всю ширину ряда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Двумерная координатная плоскость (2D):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Grid одновременно управляет и строками, и столбцами. Элементы распределяются по ячейкам, как на шахматной доске.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Шаблон колонок: repeat(3, 1fr):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Команда repeat(3, 1fr) делит ширину родителя на 3 абсолютно равные колонки. Браузер сам пересчитывает ширину ячеек!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4638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Единица измерения fr (Fraction):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Доля от свободного места. Шаблон 1fr 2fr создаст две колонки, где правая будет ровно в два раза шире левой.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111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0734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Объединение ячеек через span: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Свойство grid-column: span 2 позволяет карточке переговорной или баннеру занять сразу две ячейки, не ломая соседей.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77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3800" y="373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Где применяется в веб-разработке: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Витрины интернет-магазинов, каталоги комнат и услуг, галереи фото и дашборды с графиками создаются именно на CSS Grid!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Зачем сбрасывать стандартные отступы браузеров?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(базовый сброс)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СБРОС СТИЛЕЙ И БАЗОВЫЕ НАСТРОЙКИ        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Селектор * выбирает абсолютно все теги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*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Включаем padding и border в общую ширину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box-sizing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border-box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Сбрасываем браузерные внешние отступы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Сбрасываем браузерные внутренние поля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МАГИЯ BOX-SIZING: BORDER-BOX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Проблема браузерных стилей: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 каждого браузера (Chrome, Safari, Firefox, Edge) свои отступы для &lt;body&gt;, &lt;h1&gt;, &lt;p&gt;, &lt;ul&gt;. Сброс делает их одинаковыми.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Что делает margin: 0; padding: 0;?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Убирает паразитные белые поля по краям экрана и у списков, давая нам полный контроль над каждым пикселем.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Главное свойство — box-sizing: border-box: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 умолчанию (content-box) если блоку шириной 100px задать padding: 20px, он станет 140px! Это ломает сетку верстки.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Результат border-box: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Ширина блока всегда остается ровно 100px, а внутренние отступы аккуратно сжимают контент внутри него.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0810" y="259715"/>
            <a:ext cx="24091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CSS: СБРОС СТИЛЕЙ (*)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настроить тело страницы и заложить прижатие подвала?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(body)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body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Базовый шрифт и цвет текста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font-family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'Inter', sans-serif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line-height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1.5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Flexbox-раскладка для прижатия футера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column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min-height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100vh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min-width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1200px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ФУНДАМЕНТ СТРАНИЦЫ (BODY)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font-family: 'Inter', sans-serif: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Браузер использует загруженный шрифт Inter, а если интернета нет — системный шрифт без засечек sans-serif.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line-height: 1.5 (Интерлиньяж):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Полуторный межстрочный интервал делает даже длинный текст легким и приятным для чтения студентами.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78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40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min-height: 100vh (Высота viewport):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100vh означает 100% высоты экрана. Страница гарантированно не сожмется, даже если на ней всего одно слово.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63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25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display: flex; flex-direction: column: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Выстраивает шапку, контент и футер вертикально друг под другом, подготавливая почву для идеального прижатия футера.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3020" y="259715"/>
            <a:ext cx="250698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БАЗОВЫЕ НАСТРОЙКИ BODY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удержать контент в центре экрана на любом мониторе?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(.container)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Ограничивающий и центрирующий контейнер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.container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Фиксированная ширина контентной зоны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width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1200px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Автоматическое центрирование по горизонтали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 auto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Внутренние поля безопасности слева и справа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 15px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АНАТОМИЯ КЛАССА .CONTAINER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width: 1200px (Ширина контента):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На мониторах 2K и 4K текст без контейнера растянулся бы на 2 метра. 1200px — золотой стандарт читаемости.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Секрет margin: 0 auto: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Первое значение (0) — отступы сверху и снизу. Второе (auto) — браузер делит оставшееся место поровну слева и справа!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28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90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padding: 0 15px (Боковые поля):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Если окно уменьшится, текст не упрется в край экрана, а сохранит эстетичный зазор в 15 пикселей.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Где применяется: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Мы оборачиваем в .container контент внутри &lt;header&gt;, &lt;main&gt; и &lt;footer&gt;, выстраивая всю страницу по единой линейке.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3020" y="259715"/>
            <a:ext cx="250698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ЦЕНТРИРУЮЩИЙ КОНТЕЙНЕР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структурировать элементы внутри шапки сайта?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(&lt;header&gt;)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&lt;header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"header"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 header-container"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Логотип со ссылкой на Главную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"index.html"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"logo"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&lt;img </a:t>
            </a:r>
            <a:r>
              <a:rPr sz="800">
                <a:solidFill>
                  <a:srgbClr val="A78BFA"/>
                </a:solidFill>
                <a:latin typeface="Consolas"/>
              </a:rPr>
              <a:t>src=</a:t>
            </a:r>
            <a:r>
              <a:rPr sz="800">
                <a:solidFill>
                  <a:srgbClr val="FCD34D"/>
                </a:solidFill>
                <a:latin typeface="Consolas"/>
              </a:rPr>
              <a:t>"img/logo.svg"</a:t>
            </a:r>
            <a:r>
              <a:rPr sz="800">
                <a:solidFill>
                  <a:srgbClr val="A78BFA"/>
                </a:solidFill>
                <a:latin typeface="Consolas"/>
              </a:rPr>
              <a:t> alt=</a:t>
            </a:r>
            <a:r>
              <a:rPr sz="800">
                <a:solidFill>
                  <a:srgbClr val="FCD34D"/>
                </a:solidFill>
                <a:latin typeface="Consolas"/>
              </a:rPr>
              <a:t>"Логотип"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"logo-icon"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&lt;span&gt;</a:t>
            </a:r>
            <a:r>
              <a:rPr sz="800">
                <a:solidFill>
                  <a:srgbClr val="D4D4D8"/>
                </a:solidFill>
                <a:latin typeface="Consolas"/>
              </a:rPr>
              <a:t>СмартОфис</a:t>
            </a:r>
            <a:r>
              <a:rPr sz="800">
                <a:solidFill>
                  <a:srgbClr val="F472B6"/>
                </a:solidFill>
                <a:latin typeface="Consolas"/>
              </a:rPr>
              <a:t>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&lt;/a&gt;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Навигационное меню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&lt;nav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"nav"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&lt;ul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"nav-list"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  &lt;li&gt;&lt;a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"index.html"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"nav-link active"</a:t>
            </a:r>
            <a:r>
              <a:rPr sz="800">
                <a:solidFill>
                  <a:srgbClr val="F472B6"/>
                </a:solidFill>
                <a:latin typeface="Consolas"/>
              </a:rPr>
              <a:t>&gt;Главная&lt;/a&gt;&lt;/li&gt;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  &lt;li&gt;&lt;a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"pages/catalog.html"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"nav-link"</a:t>
            </a:r>
            <a:r>
              <a:rPr sz="800">
                <a:solidFill>
                  <a:srgbClr val="F472B6"/>
                </a:solidFill>
                <a:latin typeface="Consolas"/>
              </a:rPr>
              <a:t>&gt;Каталог&lt;/a&gt;&lt;/li&gt;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  &lt;li&gt;&lt;a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"pages/login.html"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"nav-link nav-btn"</a:t>
            </a:r>
            <a:r>
              <a:rPr sz="800">
                <a:solidFill>
                  <a:srgbClr val="F472B6"/>
                </a:solidFill>
                <a:latin typeface="Consolas"/>
              </a:rPr>
              <a:t>&gt;Войти&lt;/a&gt;&lt;/li&gt;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&lt;/ul&gt;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&lt;/nav&gt;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&lt;/header&gt;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СТРУКТУРА И ВЛОЖЕННОСТЬ ШАПКИ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Двухуровневая обертка: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Внешний тег &lt;header&gt; отвечает за фон и нижнюю границу на всю ширину. Внутренний .header-container центрирует элементы.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Логотип как ссылка (&lt;a&gt;):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Логотип объединяет SVG-иконку и текст. Клик по любой его части перезагружает сайт или возвращает пользователя на главную.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54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16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Семантический тег &lt;nav&gt;: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Группирует основные ссылки сайта. Поисковые роботы сразу понимают, что здесь находится карта разделов.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Класс .active и кнопка .nav-btn: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.active показывает пользователю, на какой странице он находится. .nav-btn превращает третью ссылку в акцентную кнопку.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91860" y="259715"/>
            <a:ext cx="289814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ШАПКА САЙТА (HEADER): HTML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разнести логотип и меню по противоположным краям?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(header flexbox)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.header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1px solid #dddddd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18px 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.header-container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justify-content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space-between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.logo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text-decoration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none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.logo-icon { width: 32px; height: 32px;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СИЛА FLEXBOX В ДЕЙСТВИИ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display: flex (Включаем гибкую сетку):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Превращает .header-container в флекс-контейнер. Все прямые потомки (логотип и меню) встают в одну ровную линию.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justify-content: space-between: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Главный трюк верстки! Первый элемент (лого) прижимается к левой стенке, последний (меню) — к правой стенке.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54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16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align-items: center: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Выравнивает элементы по вертикальной оси. Логотип и кнопки встают строго по центру без ручных отступов.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Свойство gap: 10px в .logo: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Современный способ задать отступ ровно в 10px между иконкой логотипа и текстом бренда без margin-right.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91860" y="259715"/>
            <a:ext cx="289814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ШАПКА САЙТА: CSS &amp; FLEXBOX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оформить ссылки, состояния hover и кнопку «Войти»?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(навигация)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.nav-list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list-style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none</a:t>
            </a:r>
            <a:r>
              <a:rPr sz="800">
                <a:solidFill>
                  <a:srgbClr val="71717A"/>
                </a:solidFill>
                <a:latin typeface="Consolas"/>
              </a:rPr>
              <a:t>; /* Убираем маркеры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.nav-link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text-decoration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none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8px 14px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border-radius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500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.nav-link:hover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#eaf2ff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.nav-btn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.nav-btn:hover { background-color: #0056b3;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СТИЛИЗАЦИЯ И ИНТЕРАКТИВНОСТЬ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list-style: none: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Убирает браузерные черные точки у тегов &lt;li&gt;. Меню превращается в аккуратную группу кнопок.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Псевдокласс :hover: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Срабатывает в момент наведения курсора мыши. Ссылка меняет цвет на синий и получает легкий голубой фон #eaf2ff.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78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40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Кнопка призыва к действию (.nav-btn):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Класс .nav-btn окрашивает кнопку «Войти» в насыщенный цвет #007bff с белым текстом, делая её заметной.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border-radius: 4px: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Легкое скругление углов придает элементам интерфейса современный мягкий вид.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4070" y="259715"/>
            <a:ext cx="299593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НАВИГАЦИОННОЕ МЕНЮ И КНОПКА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сверстать эффектный презентационный заголовок?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&amp; style.css (Hero)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&lt;!-- Главный баннер (Hero-блок)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&lt;section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"hero-section"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&lt;h1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"hero-title"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Портал бронирования офисных комнат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"brand-highlight"</a:t>
            </a:r>
            <a:r>
              <a:rPr sz="800">
                <a:solidFill>
                  <a:srgbClr val="F472B6"/>
                </a:solidFill>
                <a:latin typeface="Consolas"/>
              </a:rPr>
              <a:t>&gt;«СмартОфис»&lt;/span&gt;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&lt;/h1&gt;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"hero-bottom"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&lt;/section&gt;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Стили гигантского заголовка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.hero-title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108px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line-height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0.95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letter-spacing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-0.04em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margin-bottom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25px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.brand-highlight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ПЛАКАТНАЯ ТИПОГРАФИКА HERO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Единственный заголовок &lt;h1&gt;: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 стандартам веб-доступности и поисковых систем Google/Яндекс на странице должен быть только один &lt;h1&gt;.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font-size: 108px: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Смелый плакатный размер сразу приковывает внимание студента и формирует премиальное ощущение от сервиса.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line-height: 0.95 и letter-spacing: -0.04em: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При экстремально больших шрифтах буквы разъезжаются. Отрицательный кернинг и плотный интерлиньяж делают текст монолитным.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Подсветка бренда через &lt;span&gt;: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Тег &lt;span&gt; позволяет изменить цвет слова «СмартОфис» на фирменный синий, не разбивая заголовок на части.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96280" y="259715"/>
            <a:ext cx="309372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ГЛАВНЫЙ ЭКРАН (HERO SECTION)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скомпоновать цифры и показатели сервиса в одну линию?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&amp; style.css (Metrics)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"hero-bottom"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&lt;p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"hero-subtitle"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Удобный выбор и быстрое бронирование...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"hero-metrics"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"metric-item"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"metric-val"</a:t>
            </a:r>
            <a:r>
              <a:rPr sz="800">
                <a:solidFill>
                  <a:srgbClr val="F472B6"/>
                </a:solidFill>
                <a:latin typeface="Consolas"/>
              </a:rPr>
              <a:t>&gt;24/7&lt;/span&gt;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"metric-lbl"</a:t>
            </a:r>
            <a:r>
              <a:rPr sz="800">
                <a:solidFill>
                  <a:srgbClr val="F472B6"/>
                </a:solidFill>
                <a:latin typeface="Consolas"/>
              </a:rPr>
              <a:t>&gt;Доступ&lt;/span&gt;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"metric-item"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"metric-val"</a:t>
            </a:r>
            <a:r>
              <a:rPr sz="800">
                <a:solidFill>
                  <a:srgbClr val="F472B6"/>
                </a:solidFill>
                <a:latin typeface="Consolas"/>
              </a:rPr>
              <a:t>&gt;от 250 ₽&lt;/span&gt;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"metric-lbl"</a:t>
            </a:r>
            <a:r>
              <a:rPr sz="800">
                <a:solidFill>
                  <a:srgbClr val="F472B6"/>
                </a:solidFill>
                <a:latin typeface="Consolas"/>
              </a:rPr>
              <a:t>&gt;Почасовая аренда&lt;/span&gt;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.hero-bottom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border-top: 2px solid #222222; padding-top: 20px;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display: flex; justify-content: space-between;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.metric-val { font-size: 20px; font-weight: 800; color: #007bff;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АРХИТЕКТУРА НИЖНЕЙ ЧАСТИ HERO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Графическая черта border-top: 2px solid: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Контрастная черная линия отделяет масштабный заголовок от подробностей, задавая строгий журнальный стиль.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Раскладка justify-content: space-between: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Подзаголовок аккуратно размещается слева (max-width: 600px), а метрики выстраиваются в правой части экрана.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28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90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Вертикальная колонка .metric-item: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Свойство display: flex; flex-direction: column ставит яркую цифру 24/7 строго над маленькой подписью «Доступ».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40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302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Контраст типографики: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Значение (.metric-val): 20px, жирный шрифт 800, синий цвет. Подпись (.metric-lbl): 12px, серый нейтральный цвет #777777.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9650" y="259715"/>
            <a:ext cx="280035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БЛОК ПРЕИМУЩЕСТВ И МЕТРИК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Зачем в стилях классы .page-title и .page-subtitle?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(.page-title)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СТИЛИ ДЛЯ ВНУТРЕННИХ СТРАНИЦ ПРОЕКТА     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Главный заголовок страниц Каталога и Входа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.page-title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28px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letter-spacing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-0.02em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margin-bottom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text-align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Серый центрированный подзаголовок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.page-subtitle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#666666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text-align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15px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ПРОЕКТИРОВАНИЕ НА ОПЕРЕЖЕНИЕ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Задел для следующих вебинаров: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На 3 и 4 вебинарах мы создадим catalog.html и login.html. Классы .page-title и .page-subtitle уже готовы для них!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text-align: center: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Центрирует текст по горизонтали внутри контейнера, создавая симметричную шапку внутренних разделов.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Принцип DRY (Don't Repeat Yourself):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Мы не пишем заново оформление заголовков для каждой страницы. Мы создаем единый переиспользуемый класс.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Визуальная иерархия: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Крупный жирный заголовок 28px и деликатный серый подзаголовок 15px создают гармоничную композицию.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02910" y="259715"/>
            <a:ext cx="33870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УНИВЕРСАЛЬНЫЕ ЗАГОЛОВКИ СТРАНИЦ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оформить кликабельные контакты и юридический блок?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&amp; style.css (footer)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&lt;footer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 footer-container"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Левая колонка: описание и копирайт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"footer-info"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&lt;p&gt;&lt;strong&gt;СмартОфис&lt;/strong&gt; — Сервис бронирования&lt;/p&gt;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&lt;p&gt;© 2026 СмартОфис. Все права защищены.&lt;/p&gt;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Правая колонка: интерактивные контакты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"footer-contacts"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&lt;p&gt;Email: 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"mailto:info@smartoffice.ru"</a:t>
            </a:r>
            <a:r>
              <a:rPr sz="800">
                <a:solidFill>
                  <a:srgbClr val="D4D4D8"/>
                </a:solidFill>
                <a:latin typeface="Consolas"/>
              </a:rPr>
              <a:t>&gt;info@smartoffice.ru&lt;/a&gt;&lt;/p&gt;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&lt;p&gt;Телефон: 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"tel:+78005553535"</a:t>
            </a:r>
            <a:r>
              <a:rPr sz="800">
                <a:solidFill>
                  <a:srgbClr val="D4D4D8"/>
                </a:solidFill>
                <a:latin typeface="Consolas"/>
              </a:rPr>
              <a:t>&gt;+7 (800) 555-35-35&lt;/a&gt;&lt;/p&gt;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&lt;/footer&gt;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.footer { background-color: #f8f9fa; border-top: 1px solid #dddddd; padding: 25px 0;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.footer-contacts a { color: #007bff; text-decoration: none;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СТАНДАРТЫ ОФОРМЛЕНИЯ ПОДВАЛА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Протокол mailto: в ссылках: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При клике на ссылку href="mailto:..." устройство пользователя автоматически открывает почтовую программу с заполненным адресом.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68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30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Протокол tel: для быстрых звонков: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Ссылка href="tel:+78005553535" на смартфонах сразу запускает набор телефонного номера. Это стандарт мобильного UX.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705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67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&lt;strong&gt; для акцента: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Выделяет название сервиса жирным шрифтом в первом абзаце футера.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Фон #f8f9fa и разделитель #dddddd: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Мягкий светлый фон и тонкая верхняя рамка деликатно завершают страницу в самом низу.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0810" y="259715"/>
            <a:ext cx="24091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ПОДВАЛ САЙТА (FOOTER)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Почему футер не улетает вверх при малом количестве контента?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(Sticky Footer)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ШАГ 1: Тело сайта тянется минимум на 100vh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body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column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min-height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100vh</a:t>
            </a:r>
            <a:r>
              <a:rPr sz="800">
                <a:solidFill>
                  <a:srgbClr val="71717A"/>
                </a:solidFill>
                <a:latin typeface="Consolas"/>
              </a:rPr>
              <a:t>; /* 100% высоты окна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ШАГ 2: Блок main забирает всё свободное место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.main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</a:t>
            </a:r>
            <a:r>
              <a:rPr sz="800">
                <a:solidFill>
                  <a:srgbClr val="71717A"/>
                </a:solidFill>
                <a:latin typeface="Consolas"/>
              </a:rPr>
              <a:t>; /* Жадно растягивается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40px 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ШАГ 3: Подвал гарантированно прижат вниз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.footer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margin-top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auto</a:t>
            </a:r>
            <a:r>
              <a:rPr sz="800">
                <a:solidFill>
                  <a:srgbClr val="71717A"/>
                </a:solidFill>
                <a:latin typeface="Consolas"/>
              </a:rPr>
              <a:t>; /* Выталкивается вниз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МЕХАНИКА «ЛИПКОГО» ПОДВАЛА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Классическая беда новичков: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Если на странице мало текста, футер поднимается к середине монитора, а под ним висит пустота. Это выглядит непрофессионально.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Шаг 1: body на 100vh: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Окно браузера делится на флекс-колонку, которая всегда занимает как минимум 100% высоты экрана.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Шаг 2: flex: 1 для .main: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Магическое свойство flex: 1 говорит браузеру: «Растяни блок main на всю оставшуюся пустоту страницы».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Шаг 3: margin-top: auto: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Финальная страховка. Футер выталкивается в самый нижний край экрана при любом объеме информации!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5121" y="259715"/>
            <a:ext cx="3484879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ТЕХНИКА FLEXBOX: ПРИЖАТИЕ ФУТЕРА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работают всплывающие системные уведомления?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(Toast &amp; Animation)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Контейнер прикреплен к правому нижнему углу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.toast-container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position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fixed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right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z-index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column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.toast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14px 18px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border-radius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6px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animation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toastFadeIn 0.3s ease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.toast-success { border-left: 4px solid #28a745;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.toast-danger  { border-left: 4px solid #dc3545;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Плавная анимация всплытия снизу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@keyframes toastFadeIn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  from { opacity: 0; transform: translateY(15px);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  to   { opacity: 1; transform: translateY(0);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ПОЗИЦИОНИРОВАНИЕ И ЭФФЕКТЫ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position: fixed (Фиксация на экране):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Контейнер уведомлений вырван из общего потока и привязан к углу монитора. При прокрутке страницы он остается на месте.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Свойство z-index: 1000: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Определяет слой по высоте. Значение 1000 гарантирует, что всплывающее сообщение перекроет любой другой элемент сайта.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54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16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Цветовой индикатор статуса: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border-left: 4px solid #28a745 красит левую грань в зеленый при успехе и в красный #dc3545 при ошибке.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Анимация @keyframes toastFadeIn: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Сообщение появляется из прозрачности (opacity: 0 -&gt; 1) и сдвигается на 15px снизу вверх за треть секунды (0.3s).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5121" y="259715"/>
            <a:ext cx="3484879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TOAST-УВЕДОМЛЕНИЯ И CSS-АНИМАЦИИ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На чем чаще всего спотыкаются студенты при первой верстке?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Забыли rel="stylesheet"</a:t>
            </a:r>
          </a:p>
        </p:txBody>
      </p:sp>
      <p:sp>
        <p:nvSpPr>
          <p:cNvPr id="5" name="Rectangle 4"/>
          <p:cNvSpPr/>
          <p:nvPr/>
        </p:nvSpPr>
        <p:spPr>
          <a:xfrm>
            <a:off x="482600" y="1117600"/>
            <a:ext cx="37719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2600" y="1193800"/>
            <a:ext cx="37719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Написали &lt;link href="css/style.css"&gt; без атрибута rel="stylesheet".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Браузер скачает файл, но не поймет, что это таблица стилей. Обязательно пишите rel="stylesheet"!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3300" y="838200"/>
            <a:ext cx="38354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Опечатка в пути к стилям или иконке</a:t>
            </a:r>
          </a:p>
        </p:txBody>
      </p:sp>
      <p:sp>
        <p:nvSpPr>
          <p:cNvPr id="8" name="Rectangle 7"/>
          <p:cNvSpPr/>
          <p:nvPr/>
        </p:nvSpPr>
        <p:spPr>
          <a:xfrm>
            <a:off x="4813300" y="1117600"/>
            <a:ext cx="38354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13300" y="1193800"/>
            <a:ext cx="38354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Указали href="style.css" вместо правильного относительного пути href="css/style.css".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Стили лежат во вложенной папке css/. Проверяйте пути в проводнике VS Code или WebStorm.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794000"/>
            <a:ext cx="37719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Незакрытые парные теги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2600" y="3073400"/>
            <a:ext cx="37719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2600" y="3149600"/>
            <a:ext cx="37719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Забыли закрыть тег &lt;/div&gt;, &lt;header&gt;, &lt;section&gt; или &lt;ul&gt;.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Один незакрытый тег ломает всю сетку Flexbox дальше по коду. Пользуйтесь подсветкой парных тегов в 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3300" y="2794000"/>
            <a:ext cx="38354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Пропустили сброс box-sizing: border-box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13300" y="3073400"/>
            <a:ext cx="38354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13300" y="3149600"/>
            <a:ext cx="38354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Не написали сброс * { box-sizing: border-box; } в самом начале CSS.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Любой padding и border будут увеличивать ширину блоков, создавая неприятный горизонтальный скролл.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83020" y="259715"/>
            <a:ext cx="250698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РАЗБОР ТИПИЧНЫХ ОШИБОК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убедиться, что код вебинара написан на 100% правильно?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3600"/>
            <a:ext cx="7620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6F03"/>
                </a:solidFill>
                <a:latin typeface="Montserrat"/>
              </a:rPr>
              <a:t>ЧЕК-ЛИСТ ГОТОВНОСТИ ПРАКТИЧЕСКОЙ ЧАСТИ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68400"/>
            <a:ext cx="77724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3208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462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200" y="12954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Файловая структура проекта организована корректно: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Файл index.html находится в корне, таблица стилей в папке css/style.css, векторный логотип в img/logo.svg.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050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304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200" y="18796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Кодировка и шрифты подключены без сбоев: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Указан &lt;meta charset="UTF-8"&gt;, шрифт Inter подгружается из Google Fonts, текст не содержит символов-кракозябр.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892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5146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200" y="24638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Семантический каркас страницы валиден: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Использованы семантические теги HTML5: &lt;header&gt;, &lt;nav&gt;, &lt;main&gt;, &lt;section class="hero-section"&gt;, &lt;footer&gt;.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734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0988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200" y="30480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Контент центрирован внутри .container на 1200px: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Шапка, hero-блок и футер аккуратно держатся по центру экрана с полями безопасности благодаря margin: 0 auto.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576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6830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2200" y="36322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Футер надежно прижат к низу страницы: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Благодаря связке body { min-height: 100vh; flex-direction: column; } и main { flex: 1; } футер никогда не зависает в воздухе.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98490" y="259715"/>
            <a:ext cx="319151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ИТОГИ И ЧЕК-ЛИСТ САМОПРОВЕРКИ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7239000" y="259715"/>
            <a:ext cx="165100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РЕЗУЛЬТАТ</a:t>
            </a:r>
          </a:p>
        </p:txBody>
      </p:sp>
      <p:pic>
        <p:nvPicPr>
          <p:cNvPr id="13" name="Picture 12" descr="webinar7_result_ex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863600"/>
            <a:ext cx="6477000" cy="3581400"/>
          </a:xfrm>
          <a:prstGeom prst="rect">
            <a:avLst/>
          </a:prstGeom>
        </p:spPr>
      </p:pic>
      <p:sp>
        <p:nvSpPr>
          <p:cNvPr id="1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Результат: Завершенный медиа-компонент для главной страницы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/>
          <p:nvPr/>
        </p:nvSpPr>
        <p:spPr>
          <a:xfrm>
            <a:off x="1147350" y="1375225"/>
            <a:ext cx="6849300" cy="2282400"/>
          </a:xfrm>
          <a:prstGeom prst="roundRect">
            <a:avLst>
              <a:gd name="adj" fmla="val 11015"/>
            </a:avLst>
          </a:prstGeom>
          <a:gradFill flip="none" rotWithShape="1"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108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3"/>
          <p:cNvSpPr txBox="1"/>
          <p:nvPr/>
        </p:nvSpPr>
        <p:spPr>
          <a:xfrm>
            <a:off x="1828800" y="1734203"/>
            <a:ext cx="54864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ДО </a:t>
            </a:r>
            <a:r>
              <a:rPr lang="ru-RU" sz="28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ВСТРЕЧИ</a:t>
            </a:r>
            <a:r>
              <a:rPr lang="en" sz="30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! </a:t>
            </a:r>
            <a:endParaRPr sz="3000">
              <a:solidFill>
                <a:schemeClr val="lt1"/>
              </a:solidFill>
              <a:latin typeface="Montserrat ExtraBold" panose="00000900000000000000" pitchFamily="2" charset="-52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УВИДИМСЯ НА СЛЕДУЮЩЕМ ЗАНЯТИИ</a:t>
            </a:r>
            <a:endParaRPr sz="1800">
              <a:solidFill>
                <a:schemeClr val="lt1"/>
              </a:solidFill>
              <a:latin typeface="Montserrat ExtraBold" panose="00000900000000000000" pitchFamily="2" charset="-52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703060" y="259079"/>
            <a:ext cx="218694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ФУНКЦИИ И АРГУМЕНТЫ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В чем принципиальная разница между параметрами и аргументами функции?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Объявление и вызов функции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Параметры функции при объявлении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function </a:t>
            </a:r>
            <a:r>
              <a:rPr sz="850" b="0">
                <a:solidFill>
                  <a:srgbClr val="61AFEF"/>
                </a:solidFill>
                <a:latin typeface="Consolas"/>
              </a:rPr>
              <a:t>setSlideActive</a:t>
            </a:r>
            <a:r>
              <a:rPr sz="850" b="0">
                <a:solidFill>
                  <a:srgbClr val="D4D4D8"/>
                </a:solidFill>
                <a:latin typeface="Consolas"/>
              </a:rPr>
              <a:t>(slideIndex, isSmooth)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console.log(</a:t>
            </a:r>
            <a:r>
              <a:rPr sz="850" b="0">
                <a:solidFill>
                  <a:srgbClr val="98C379"/>
                </a:solidFill>
                <a:latin typeface="Consolas"/>
              </a:rPr>
              <a:t>'Слайд:'</a:t>
            </a:r>
            <a:r>
              <a:rPr sz="850" b="0">
                <a:solidFill>
                  <a:srgbClr val="D4D4D8"/>
                </a:solidFill>
                <a:latin typeface="Consolas"/>
              </a:rPr>
              <a:t>, slideIndex);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console.log(</a:t>
            </a:r>
            <a:r>
              <a:rPr sz="850" b="0">
                <a:solidFill>
                  <a:srgbClr val="98C379"/>
                </a:solidFill>
                <a:latin typeface="Consolas"/>
              </a:rPr>
              <a:t>'Анимация:'</a:t>
            </a:r>
            <a:r>
              <a:rPr sz="850" b="0">
                <a:solidFill>
                  <a:srgbClr val="D4D4D8"/>
                </a:solidFill>
                <a:latin typeface="Consolas"/>
              </a:rPr>
              <a:t>, isSmooth);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Передача аргументов при вызове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setSlideActive(</a:t>
            </a:r>
            <a:r>
              <a:rPr sz="850" b="0">
                <a:solidFill>
                  <a:srgbClr val="D19A66"/>
                </a:solidFill>
                <a:latin typeface="Consolas"/>
              </a:rPr>
              <a:t>2</a:t>
            </a:r>
            <a:r>
              <a:rPr sz="850" b="0">
                <a:solidFill>
                  <a:srgbClr val="D4D4D8"/>
                </a:solidFill>
                <a:latin typeface="Consolas"/>
              </a:rPr>
              <a:t>, </a:t>
            </a:r>
            <a:r>
              <a:rPr sz="850" b="0">
                <a:solidFill>
                  <a:srgbClr val="C678DD"/>
                </a:solidFill>
                <a:latin typeface="Consolas"/>
              </a:rPr>
              <a:t>true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setSlideActive(</a:t>
            </a:r>
            <a:r>
              <a:rPr sz="850" b="0">
                <a:solidFill>
                  <a:srgbClr val="D19A66"/>
                </a:solidFill>
                <a:latin typeface="Consolas"/>
              </a:rPr>
              <a:t>0</a:t>
            </a:r>
            <a:r>
              <a:rPr sz="850" b="0">
                <a:solidFill>
                  <a:srgbClr val="D4D4D8"/>
                </a:solidFill>
                <a:latin typeface="Consolas"/>
              </a:rPr>
              <a:t>, </a:t>
            </a:r>
            <a:r>
              <a:rPr sz="850" b="0">
                <a:solidFill>
                  <a:srgbClr val="C678DD"/>
                </a:solidFill>
                <a:latin typeface="Consolas"/>
              </a:rPr>
              <a:t>false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Параметры vs Аргументы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Параметры функции:
</a:t>
            </a:r>
            <a:r>
              <a:rPr sz="850" b="0">
                <a:solidFill>
                  <a:srgbClr val="555555"/>
                </a:solidFill>
                <a:latin typeface="Inter"/>
              </a:rPr>
              <a:t>Именованные переменные в круглых скобках объявления функции. Служат шаблоном для входящих данных.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3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018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Аргументы вызова:
</a:t>
            </a:r>
            <a:r>
              <a:rPr sz="850" b="0">
                <a:solidFill>
                  <a:srgbClr val="555555"/>
                </a:solidFill>
                <a:latin typeface="Inter"/>
              </a:rPr>
              <a:t>Фактические конкретные значения, которые передаются в функцию в момент её исполнения.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298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2606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Локальная видимость:
</a:t>
            </a:r>
            <a:r>
              <a:rPr sz="850" b="0">
                <a:solidFill>
                  <a:srgbClr val="555555"/>
                </a:solidFill>
                <a:latin typeface="Inter"/>
              </a:rPr>
              <a:t>Параметры slideIndex и isSmooth существуют исключительно внутри тела функции.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2857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8194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Повторное использование:
</a:t>
            </a:r>
            <a:r>
              <a:rPr sz="850" b="0">
                <a:solidFill>
                  <a:srgbClr val="555555"/>
                </a:solidFill>
                <a:latin typeface="Inter"/>
              </a:rPr>
              <a:t>Единая функция переключения обслуживает любые слайды каталога «СмартОфис».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703060" y="259079"/>
            <a:ext cx="218694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ФУНКЦИИ И АРГУМЕНТЫ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Зачем указывать значения параметров по умолчанию при объявлении функции?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Параметры по умолчанию (ES6)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Синтаксис дефолтных значений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function </a:t>
            </a:r>
            <a:r>
              <a:rPr sz="850" b="0">
                <a:solidFill>
                  <a:srgbClr val="61AFEF"/>
                </a:solidFill>
                <a:latin typeface="Consolas"/>
              </a:rPr>
              <a:t>changeSlide</a:t>
            </a:r>
            <a:r>
              <a:rPr sz="850" b="0">
                <a:solidFill>
                  <a:srgbClr val="D4D4D8"/>
                </a:solidFill>
                <a:latin typeface="Consolas"/>
              </a:rPr>
              <a:t>(step = </a:t>
            </a:r>
            <a:r>
              <a:rPr sz="850" b="0">
                <a:solidFill>
                  <a:srgbClr val="D19A66"/>
                </a:solidFill>
                <a:latin typeface="Consolas"/>
              </a:rPr>
              <a:t>1</a:t>
            </a:r>
            <a:r>
              <a:rPr sz="850" b="0">
                <a:solidFill>
                  <a:srgbClr val="D4D4D8"/>
                </a:solidFill>
                <a:latin typeface="Consolas"/>
              </a:rPr>
              <a:t>, autoLoop = </a:t>
            </a:r>
            <a:r>
              <a:rPr sz="850" b="0">
                <a:solidFill>
                  <a:srgbClr val="C678DD"/>
                </a:solidFill>
                <a:latin typeface="Consolas"/>
              </a:rPr>
              <a:t>true</a:t>
            </a:r>
            <a:r>
              <a:rPr sz="850" b="0">
                <a:solidFill>
                  <a:srgbClr val="D4D4D8"/>
                </a:solidFill>
                <a:latin typeface="Consolas"/>
              </a:rPr>
              <a:t>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let </a:t>
            </a:r>
            <a:r>
              <a:rPr sz="850" b="0">
                <a:solidFill>
                  <a:srgbClr val="D4D4D8"/>
                </a:solidFill>
                <a:latin typeface="Consolas"/>
              </a:rPr>
              <a:t>next = currentSlide + step;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if </a:t>
            </a:r>
            <a:r>
              <a:rPr sz="850" b="0">
                <a:solidFill>
                  <a:srgbClr val="D4D4D8"/>
                </a:solidFill>
                <a:latin typeface="Consolas"/>
              </a:rPr>
              <a:t>(autoLoop &amp;&amp; next &gt;= totalSlides)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next = </a:t>
            </a:r>
            <a:r>
              <a:rPr sz="850" b="0">
                <a:solidFill>
                  <a:srgbClr val="D19A66"/>
                </a:solidFill>
                <a:latin typeface="Consolas"/>
              </a:rPr>
              <a:t>0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return </a:t>
            </a:r>
            <a:r>
              <a:rPr sz="850" b="0">
                <a:solidFill>
                  <a:srgbClr val="D4D4D8"/>
                </a:solidFill>
                <a:latin typeface="Consolas"/>
              </a:rPr>
              <a:t>next;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Вызовы с пропуском аргументов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changeSlide();      </a:t>
            </a:r>
            <a:r>
              <a:rPr sz="850" b="0">
                <a:solidFill>
                  <a:srgbClr val="5C6370"/>
                </a:solidFill>
                <a:latin typeface="Consolas"/>
              </a:rPr>
              <a:t>// step=1, autoLoop=true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changeSlide(</a:t>
            </a:r>
            <a:r>
              <a:rPr sz="850" b="0">
                <a:solidFill>
                  <a:srgbClr val="D19A66"/>
                </a:solidFill>
                <a:latin typeface="Consolas"/>
              </a:rPr>
              <a:t>2</a:t>
            </a:r>
            <a:r>
              <a:rPr sz="850" b="0">
                <a:solidFill>
                  <a:srgbClr val="D4D4D8"/>
                </a:solidFill>
                <a:latin typeface="Consolas"/>
              </a:rPr>
              <a:t>);     </a:t>
            </a:r>
            <a:r>
              <a:rPr sz="850" b="0">
                <a:solidFill>
                  <a:srgbClr val="5C6370"/>
                </a:solidFill>
                <a:latin typeface="Consolas"/>
              </a:rPr>
              <a:t>// step=2, autoLoop=true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Значения по умолчанию (ES6)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Синтаксис ES6:
</a:t>
            </a:r>
            <a:r>
              <a:rPr sz="850" b="0">
                <a:solidFill>
                  <a:srgbClr val="555555"/>
                </a:solidFill>
                <a:latin typeface="Inter"/>
              </a:rPr>
              <a:t>Значение по умолчанию задается через оператор = прямо в списке параметров заголовка.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3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018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Защита от undefined:
</a:t>
            </a:r>
            <a:r>
              <a:rPr sz="850" b="0">
                <a:solidFill>
                  <a:srgbClr val="555555"/>
                </a:solidFill>
                <a:latin typeface="Inter"/>
              </a:rPr>
              <a:t>Если аргумент не передан или равен undefined, функция автоматически берет дефолт.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298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2606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Опциональные параметры:
</a:t>
            </a:r>
            <a:r>
              <a:rPr sz="850" b="0">
                <a:solidFill>
                  <a:srgbClr val="555555"/>
                </a:solidFill>
                <a:latin typeface="Inter"/>
              </a:rPr>
              <a:t>Устраняет необходимость в громоздких проверках вида step = step || 1.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2857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8194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Порядок параметров:
</a:t>
            </a:r>
            <a:r>
              <a:rPr sz="850" b="0">
                <a:solidFill>
                  <a:srgbClr val="555555"/>
                </a:solidFill>
                <a:latin typeface="Inter"/>
              </a:rPr>
              <a:t>Обязательные параметры всегда располагают в начале, а параметры с дефолтами — в конце.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009640" y="259079"/>
            <a:ext cx="288036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СХЕМА: АРХИТЕКТУРА ФУНКЦИИ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правильно разделять входные аргументы, тело функции и возвращаемый результат?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4800" y="711200"/>
            <a:ext cx="26670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38200"/>
            <a:ext cx="2362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1AFEF"/>
                </a:solidFill>
                <a:latin typeface="Montserrat"/>
              </a:rPr>
              <a:t>1. ВХОД (АРГУМЕНТЫ)</a:t>
            </a:r>
          </a:p>
          <a:p>
            <a:r>
              <a:rPr sz="850">
                <a:solidFill>
                  <a:srgbClr val="AAAAAA"/>
                </a:solidFill>
                <a:latin typeface="Inter"/>
              </a:rPr>
              <a:t>Параметры и defaults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70000"/>
            <a:ext cx="2362200" cy="1270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75000" y="711200"/>
            <a:ext cx="26670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7400" y="838200"/>
            <a:ext cx="2362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19A66"/>
                </a:solidFill>
                <a:latin typeface="Montserrat"/>
              </a:rPr>
              <a:t>2. ОБРАБОТКА (ТЕЛО)</a:t>
            </a:r>
          </a:p>
          <a:p>
            <a:r>
              <a:rPr sz="850">
                <a:solidFill>
                  <a:srgbClr val="AAAAAA"/>
                </a:solidFill>
                <a:latin typeface="Inter"/>
              </a:rPr>
              <a:t>Чистая логика и расчет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27400" y="1270000"/>
            <a:ext cx="2362200" cy="12700"/>
          </a:xfrm>
          <a:prstGeom prst="rect">
            <a:avLst/>
          </a:prstGeom>
          <a:solidFill>
            <a:srgbClr val="D19A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45200" y="711200"/>
            <a:ext cx="26670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7600" y="838200"/>
            <a:ext cx="2362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98C379"/>
                </a:solidFill>
                <a:latin typeface="Montserrat"/>
              </a:rPr>
              <a:t>3. ВЫХОД И ЭФФЕКТЫ</a:t>
            </a:r>
          </a:p>
          <a:p>
            <a:r>
              <a:rPr sz="850">
                <a:solidFill>
                  <a:srgbClr val="AAAAAA"/>
                </a:solidFill>
                <a:latin typeface="Inter"/>
              </a:rPr>
              <a:t>Return и реакция DOM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7600" y="1270000"/>
            <a:ext cx="2362200" cy="12700"/>
          </a:xfrm>
          <a:prstGeom prst="rect">
            <a:avLst/>
          </a:prstGeom>
          <a:solidFill>
            <a:srgbClr val="98C3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2362200" cy="685800"/>
          </a:xfrm>
          <a:prstGeom prst="roundRect">
            <a:avLst>
              <a:gd name="adj" fmla="val 8000"/>
            </a:avLst>
          </a:prstGeom>
          <a:solidFill>
            <a:srgbClr val="1F242E"/>
          </a:solidFill>
          <a:ln w="12700">
            <a:solidFill>
              <a:srgbClr val="61AFEF"/>
            </a:solidFill>
          </a:ln>
        </p:spPr>
        <p:txBody>
          <a:bodyPr rtlCol="0" anchor="ctr" tIns="76200"/>
          <a:lstStyle/>
          <a:p>
            <a:pPr algn="ctr"/>
            <a:r>
              <a:rPr sz="750">
                <a:solidFill>
                  <a:srgbClr val="D4D4D8"/>
                </a:solidFill>
                <a:latin typeface="Consolas"/>
              </a:rPr>
              <a:t>function showSlide(
  index = 0,
  step = 1
) {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7400" y="1371600"/>
            <a:ext cx="2362200" cy="685800"/>
          </a:xfrm>
          <a:prstGeom prst="roundRect">
            <a:avLst>
              <a:gd name="adj" fmla="val 8000"/>
            </a:avLst>
          </a:prstGeom>
          <a:solidFill>
            <a:srgbClr val="28241E"/>
          </a:solidFill>
          <a:ln w="12700">
            <a:solidFill>
              <a:srgbClr val="D19A66"/>
            </a:solidFill>
          </a:ln>
        </p:spPr>
        <p:txBody>
          <a:bodyPr rtlCol="0" anchor="ctr" tIns="76200"/>
          <a:lstStyle/>
          <a:p>
            <a:pPr algn="ctr"/>
            <a:r>
              <a:rPr sz="750">
                <a:solidFill>
                  <a:srgbClr val="D4D4D8"/>
                </a:solidFill>
                <a:latin typeface="Consolas"/>
              </a:rPr>
              <a:t>const len = slides.length;
let next = (index + len) % len;
currentSlide = next;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7600" y="1371600"/>
            <a:ext cx="2362200" cy="685800"/>
          </a:xfrm>
          <a:prstGeom prst="roundRect">
            <a:avLst>
              <a:gd name="adj" fmla="val 8000"/>
            </a:avLst>
          </a:prstGeom>
          <a:solidFill>
            <a:srgbClr val="1E2720"/>
          </a:solidFill>
          <a:ln w="12700">
            <a:solidFill>
              <a:srgbClr val="98C379"/>
            </a:solidFill>
          </a:ln>
        </p:spPr>
        <p:txBody>
          <a:bodyPr rtlCol="0" anchor="ctr" tIns="76200"/>
          <a:lstStyle/>
          <a:p>
            <a:pPr algn="ctr"/>
            <a:r>
              <a:rPr sz="750">
                <a:solidFill>
                  <a:srgbClr val="D4D4D8"/>
                </a:solidFill>
                <a:latin typeface="Consolas"/>
              </a:rPr>
              <a:t>slides.forEach((s, i) =&gt; {
  s.classList.toggle('active', ...);
});
return next;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184400"/>
            <a:ext cx="2362200" cy="2095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FFFFFF"/>
                </a:solidFill>
                <a:latin typeface="Montserrat"/>
              </a:rPr>
              <a:t>Параметры и изоляция:
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Входные данные передаются через аргументы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Дефолтные значения (index = 0) для защиты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Параметры изолированы внутри тела функции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Исключение зависимости от глобальных данных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Функция как универсальный черный ящик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27400" y="2184400"/>
            <a:ext cx="2362200" cy="2095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FFFFFF"/>
                </a:solidFill>
                <a:latin typeface="Montserrat"/>
              </a:rPr>
              <a:t>Вычислительная логика:
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Расчет нового индекса без мутации данных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Кольцевой переход: после 3 идет 0, до 0 идет 3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Исключение непредвиденных side-effects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Детерминированный предсказуемый расчет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Легкость проверки юнит-тестами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7600" y="2184400"/>
            <a:ext cx="2362200" cy="2095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FFFFFF"/>
                </a:solidFill>
                <a:latin typeface="Montserrat"/>
              </a:rPr>
              <a:t>Эффект в интерфейсе:
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Возврат вычисленного значения return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Синхронизация классов .active у слайдов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Подсветка круглой точки-индикатора (Dot)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Плавный transition прозрачности 0.3s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Интерфейс приведен в консистентное состояние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112000" y="259079"/>
            <a:ext cx="1778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ЧИСТЫЕ ФУНКЦИИ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Почему чистые функции проще тестировать и поддерживать в интерфейсах?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Чистая функция расчета индекса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Чистая функция без побочных эффектов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function </a:t>
            </a:r>
            <a:r>
              <a:rPr sz="850" b="0">
                <a:solidFill>
                  <a:srgbClr val="61AFEF"/>
                </a:solidFill>
                <a:latin typeface="Consolas"/>
              </a:rPr>
              <a:t>calcIndex</a:t>
            </a:r>
            <a:r>
              <a:rPr sz="850" b="0">
                <a:solidFill>
                  <a:srgbClr val="D4D4D8"/>
                </a:solidFill>
                <a:latin typeface="Consolas"/>
              </a:rPr>
              <a:t>(current, total, step = </a:t>
            </a:r>
            <a:r>
              <a:rPr sz="850" b="0">
                <a:solidFill>
                  <a:srgbClr val="D19A66"/>
                </a:solidFill>
                <a:latin typeface="Consolas"/>
              </a:rPr>
              <a:t>1</a:t>
            </a:r>
            <a:r>
              <a:rPr sz="850" b="0">
                <a:solidFill>
                  <a:srgbClr val="D4D4D8"/>
                </a:solidFill>
                <a:latin typeface="Consolas"/>
              </a:rPr>
              <a:t>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return </a:t>
            </a:r>
            <a:r>
              <a:rPr sz="850" b="0">
                <a:solidFill>
                  <a:srgbClr val="D4D4D8"/>
                </a:solidFill>
                <a:latin typeface="Consolas"/>
              </a:rPr>
              <a:t>(current + step + total) % total;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Детерминированный результат: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const </a:t>
            </a:r>
            <a:r>
              <a:rPr sz="850" b="0">
                <a:solidFill>
                  <a:srgbClr val="D4D4D8"/>
                </a:solidFill>
                <a:latin typeface="Consolas"/>
              </a:rPr>
              <a:t>next1 = calcIndex(</a:t>
            </a:r>
            <a:r>
              <a:rPr sz="850" b="0">
                <a:solidFill>
                  <a:srgbClr val="D19A66"/>
                </a:solidFill>
                <a:latin typeface="Consolas"/>
              </a:rPr>
              <a:t>0</a:t>
            </a:r>
            <a:r>
              <a:rPr sz="850" b="0">
                <a:solidFill>
                  <a:srgbClr val="D4D4D8"/>
                </a:solidFill>
                <a:latin typeface="Consolas"/>
              </a:rPr>
              <a:t>, </a:t>
            </a:r>
            <a:r>
              <a:rPr sz="850" b="0">
                <a:solidFill>
                  <a:srgbClr val="D19A66"/>
                </a:solidFill>
                <a:latin typeface="Consolas"/>
              </a:rPr>
              <a:t>4</a:t>
            </a:r>
            <a:r>
              <a:rPr sz="850" b="0">
                <a:solidFill>
                  <a:srgbClr val="D4D4D8"/>
                </a:solidFill>
                <a:latin typeface="Consolas"/>
              </a:rPr>
              <a:t>, </a:t>
            </a:r>
            <a:r>
              <a:rPr sz="850" b="0">
                <a:solidFill>
                  <a:srgbClr val="D19A66"/>
                </a:solidFill>
                <a:latin typeface="Consolas"/>
              </a:rPr>
              <a:t>1</a:t>
            </a:r>
            <a:r>
              <a:rPr sz="850" b="0">
                <a:solidFill>
                  <a:srgbClr val="D4D4D8"/>
                </a:solidFill>
                <a:latin typeface="Consolas"/>
              </a:rPr>
              <a:t>);  </a:t>
            </a:r>
            <a:r>
              <a:rPr sz="850" b="0">
                <a:solidFill>
                  <a:srgbClr val="5C6370"/>
                </a:solidFill>
                <a:latin typeface="Consolas"/>
              </a:rPr>
              <a:t>// 1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const </a:t>
            </a:r>
            <a:r>
              <a:rPr sz="850" b="0">
                <a:solidFill>
                  <a:srgbClr val="D4D4D8"/>
                </a:solidFill>
                <a:latin typeface="Consolas"/>
              </a:rPr>
              <a:t>prev1 = calcIndex(</a:t>
            </a:r>
            <a:r>
              <a:rPr sz="850" b="0">
                <a:solidFill>
                  <a:srgbClr val="D19A66"/>
                </a:solidFill>
                <a:latin typeface="Consolas"/>
              </a:rPr>
              <a:t>0</a:t>
            </a:r>
            <a:r>
              <a:rPr sz="850" b="0">
                <a:solidFill>
                  <a:srgbClr val="D4D4D8"/>
                </a:solidFill>
                <a:latin typeface="Consolas"/>
              </a:rPr>
              <a:t>, </a:t>
            </a:r>
            <a:r>
              <a:rPr sz="850" b="0">
                <a:solidFill>
                  <a:srgbClr val="D19A66"/>
                </a:solidFill>
                <a:latin typeface="Consolas"/>
              </a:rPr>
              <a:t>4</a:t>
            </a:r>
            <a:r>
              <a:rPr sz="850" b="0">
                <a:solidFill>
                  <a:srgbClr val="D4D4D8"/>
                </a:solidFill>
                <a:latin typeface="Consolas"/>
              </a:rPr>
              <a:t>, -</a:t>
            </a:r>
            <a:r>
              <a:rPr sz="850" b="0">
                <a:solidFill>
                  <a:srgbClr val="D19A66"/>
                </a:solidFill>
                <a:latin typeface="Consolas"/>
              </a:rPr>
              <a:t>1</a:t>
            </a:r>
            <a:r>
              <a:rPr sz="850" b="0">
                <a:solidFill>
                  <a:srgbClr val="D4D4D8"/>
                </a:solidFill>
                <a:latin typeface="Consolas"/>
              </a:rPr>
              <a:t>); </a:t>
            </a:r>
            <a:r>
              <a:rPr sz="850" b="0">
                <a:solidFill>
                  <a:srgbClr val="5C6370"/>
                </a:solidFill>
                <a:latin typeface="Consolas"/>
              </a:rPr>
              <a:t>// 3 (конец)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const </a:t>
            </a:r>
            <a:r>
              <a:rPr sz="850" b="0">
                <a:solidFill>
                  <a:srgbClr val="D4D4D8"/>
                </a:solidFill>
                <a:latin typeface="Consolas"/>
              </a:rPr>
              <a:t>next2 = calcIndex(</a:t>
            </a:r>
            <a:r>
              <a:rPr sz="850" b="0">
                <a:solidFill>
                  <a:srgbClr val="D19A66"/>
                </a:solidFill>
                <a:latin typeface="Consolas"/>
              </a:rPr>
              <a:t>3</a:t>
            </a:r>
            <a:r>
              <a:rPr sz="850" b="0">
                <a:solidFill>
                  <a:srgbClr val="D4D4D8"/>
                </a:solidFill>
                <a:latin typeface="Consolas"/>
              </a:rPr>
              <a:t>, </a:t>
            </a:r>
            <a:r>
              <a:rPr sz="850" b="0">
                <a:solidFill>
                  <a:srgbClr val="D19A66"/>
                </a:solidFill>
                <a:latin typeface="Consolas"/>
              </a:rPr>
              <a:t>4</a:t>
            </a:r>
            <a:r>
              <a:rPr sz="850" b="0">
                <a:solidFill>
                  <a:srgbClr val="D4D4D8"/>
                </a:solidFill>
                <a:latin typeface="Consolas"/>
              </a:rPr>
              <a:t>, </a:t>
            </a:r>
            <a:r>
              <a:rPr sz="850" b="0">
                <a:solidFill>
                  <a:srgbClr val="D19A66"/>
                </a:solidFill>
                <a:latin typeface="Consolas"/>
              </a:rPr>
              <a:t>1</a:t>
            </a:r>
            <a:r>
              <a:rPr sz="850" b="0">
                <a:solidFill>
                  <a:srgbClr val="D4D4D8"/>
                </a:solidFill>
                <a:latin typeface="Consolas"/>
              </a:rPr>
              <a:t>);  </a:t>
            </a:r>
            <a:r>
              <a:rPr sz="850" b="0">
                <a:solidFill>
                  <a:srgbClr val="5C6370"/>
                </a:solidFill>
                <a:latin typeface="Consolas"/>
              </a:rPr>
              <a:t>// 0 (начало)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Концепция Pure Functions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Детерминированность:
</a:t>
            </a:r>
            <a:r>
              <a:rPr sz="850" b="0">
                <a:solidFill>
                  <a:srgbClr val="555555"/>
                </a:solidFill>
                <a:latin typeface="Inter"/>
              </a:rPr>
              <a:t>При одних и тех же аргументах чистая функция всегда возвращает строго одинаковый ответ.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3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018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Без Side-Effects:
</a:t>
            </a:r>
            <a:r>
              <a:rPr sz="850" b="0">
                <a:solidFill>
                  <a:srgbClr val="555555"/>
                </a:solidFill>
                <a:latin typeface="Inter"/>
              </a:rPr>
              <a:t>Функция не изменяет внешние переменные, не делает запросы и не манипулирует DOM напрямую.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298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2606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Изоляция математики:
</a:t>
            </a:r>
            <a:r>
              <a:rPr sz="850" b="0">
                <a:solidFill>
                  <a:srgbClr val="555555"/>
                </a:solidFill>
                <a:latin typeface="Inter"/>
              </a:rPr>
              <a:t>Математика кольцевого переключения отделена от графического рендеринга карточек.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2857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8194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Надежность кода:
</a:t>
            </a:r>
            <a:r>
              <a:rPr sz="850" b="0">
                <a:solidFill>
                  <a:srgbClr val="555555"/>
                </a:solidFill>
                <a:latin typeface="Inter"/>
              </a:rPr>
              <a:t>Такие функции легко тестировать, рефакторить и переносить между проектами.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703060" y="259079"/>
            <a:ext cx="218694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АСИНХРОННЫЕ ТАЙМЕРЫ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Почему setTimeout и setInterval не замораживают пользовательский интерфейс?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Event Loop и однопоточность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console.log(</a:t>
            </a:r>
            <a:r>
              <a:rPr sz="850" b="0">
                <a:solidFill>
                  <a:srgbClr val="98C379"/>
                </a:solidFill>
                <a:latin typeface="Consolas"/>
              </a:rPr>
              <a:t>'1. Инициализация слайдера'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Отправка колбэка в таймеры Web API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setTimeout(() =&gt;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console.log(</a:t>
            </a:r>
            <a:r>
              <a:rPr sz="850" b="0">
                <a:solidFill>
                  <a:srgbClr val="98C379"/>
                </a:solidFill>
                <a:latin typeface="Consolas"/>
              </a:rPr>
              <a:t>'2. Сработал таймер задержки'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}, </a:t>
            </a:r>
            <a:r>
              <a:rPr sz="850" b="0">
                <a:solidFill>
                  <a:srgbClr val="D19A66"/>
                </a:solidFill>
                <a:latin typeface="Consolas"/>
              </a:rPr>
              <a:t>1000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console.log(</a:t>
            </a:r>
            <a:r>
              <a:rPr sz="850" b="0">
                <a:solidFill>
                  <a:srgbClr val="98C379"/>
                </a:solidFill>
                <a:latin typeface="Consolas"/>
              </a:rPr>
              <a:t>'3. Страница готова к кликам'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Порядок в консоли: 1 -&gt; 3 -&gt; 2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Асинхронность в браузере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Однопоточный JS:
</a:t>
            </a:r>
            <a:r>
              <a:rPr sz="850" b="0">
                <a:solidFill>
                  <a:srgbClr val="555555"/>
                </a:solidFill>
                <a:latin typeface="Inter"/>
              </a:rPr>
              <a:t>JavaScript выполняет один поток инструкций, предотвращая конфликты при изменении DOM.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3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018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Web API таймеров:
</a:t>
            </a:r>
            <a:r>
              <a:rPr sz="850" b="0">
                <a:solidFill>
                  <a:srgbClr val="555555"/>
                </a:solidFill>
                <a:latin typeface="Inter"/>
              </a:rPr>
              <a:t>Отсчет времени ведет браузер в фоновом режиме, разгружая поток выполнения скрипта.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298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2606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Очередь задач (Queue):
</a:t>
            </a:r>
            <a:r>
              <a:rPr sz="850" b="0">
                <a:solidFill>
                  <a:srgbClr val="555555"/>
                </a:solidFill>
                <a:latin typeface="Inter"/>
              </a:rPr>
              <a:t>Функция таймера помещается в очередь и ждет завершения синхронного кода.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2857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8194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Отзывчивый UI:
</a:t>
            </a:r>
            <a:r>
              <a:rPr sz="850" b="0">
                <a:solidFill>
                  <a:srgbClr val="555555"/>
                </a:solidFill>
                <a:latin typeface="Inter"/>
              </a:rPr>
              <a:t>Кнопки, скролл и поля ввода остаются активными во время работы автопрокрутки.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901180" y="259079"/>
            <a:ext cx="198882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МЕТОД SETINTERVAL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Что возвращает метод setInterval и как этот результат используется в скрипте?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Запуск интервала автопрокрутки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Циклический запуск каждые 3000 мс (3 сек)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const </a:t>
            </a:r>
            <a:r>
              <a:rPr sz="850" b="0">
                <a:solidFill>
                  <a:srgbClr val="D4D4D8"/>
                </a:solidFill>
                <a:latin typeface="Consolas"/>
              </a:rPr>
              <a:t>INTERVAL_MS = </a:t>
            </a:r>
            <a:r>
              <a:rPr sz="850" b="0">
                <a:solidFill>
                  <a:srgbClr val="D19A66"/>
                </a:solidFill>
                <a:latin typeface="Consolas"/>
              </a:rPr>
              <a:t>3000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const </a:t>
            </a:r>
            <a:r>
              <a:rPr sz="850" b="0">
                <a:solidFill>
                  <a:srgbClr val="61AFEF"/>
                </a:solidFill>
                <a:latin typeface="Consolas"/>
              </a:rPr>
              <a:t>timerId = setInterval(() =&gt;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console.log(</a:t>
            </a:r>
            <a:r>
              <a:rPr sz="850" b="0">
                <a:solidFill>
                  <a:srgbClr val="98C379"/>
                </a:solidFill>
                <a:latin typeface="Consolas"/>
              </a:rPr>
              <a:t>'Автоматический тик слайдера'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nextSlide();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}, INTERVAL_MS);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console.log(</a:t>
            </a:r>
            <a:r>
              <a:rPr sz="850" b="0">
                <a:solidFill>
                  <a:srgbClr val="98C379"/>
                </a:solidFill>
                <a:latin typeface="Consolas"/>
              </a:rPr>
              <a:t>'ID таймера:'</a:t>
            </a:r>
            <a:r>
              <a:rPr sz="850" b="0">
                <a:solidFill>
                  <a:srgbClr val="D4D4D8"/>
                </a:solidFill>
                <a:latin typeface="Consolas"/>
              </a:rPr>
              <a:t>, timerId); </a:t>
            </a:r>
            <a:r>
              <a:rPr sz="850" b="0">
                <a:solidFill>
                  <a:srgbClr val="5C6370"/>
                </a:solidFill>
                <a:latin typeface="Consolas"/>
              </a:rPr>
              <a:t>// Число (напр. 1)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Циклический вызов setInterval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Назначение метода:
</a:t>
            </a:r>
            <a:r>
              <a:rPr sz="850" b="0">
                <a:solidFill>
                  <a:srgbClr val="555555"/>
                </a:solidFill>
                <a:latin typeface="Inter"/>
              </a:rPr>
              <a:t>setInterval вызывает переданную функцию-колбэк повторно через равные промежутки времени.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3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018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Миллисекунды:
</a:t>
            </a:r>
            <a:r>
              <a:rPr sz="850" b="0">
                <a:solidFill>
                  <a:srgbClr val="555555"/>
                </a:solidFill>
                <a:latin typeface="Inter"/>
              </a:rPr>
              <a:t>Время задается в миллисекундах: 1000 мс = 1 секунда, 3000 мс = 3 секунды.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298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2606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Числовой дескриптор:
</a:t>
            </a:r>
            <a:r>
              <a:rPr sz="850" b="0">
                <a:solidFill>
                  <a:srgbClr val="555555"/>
                </a:solidFill>
                <a:latin typeface="Inter"/>
              </a:rPr>
              <a:t>Возвращает уникальный числовой ID, по которому этот таймер можно остановить.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2857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8194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Оптимальная задержка:
</a:t>
            </a:r>
            <a:r>
              <a:rPr sz="850" b="0">
                <a:solidFill>
                  <a:srgbClr val="555555"/>
                </a:solidFill>
                <a:latin typeface="Inter"/>
              </a:rPr>
              <a:t>Для витрины «СмартОфис» 3 секунды идеальны: фото успевают рассмотреть.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802120" y="259079"/>
            <a:ext cx="208788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ОСТАНОВКА ТАЙМЕРОВ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Что произойдет со страницей, если многократно вызывать setInterval без clearInterval?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Остановка через clearInterval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let </a:t>
            </a:r>
            <a:r>
              <a:rPr sz="850" b="0">
                <a:solidFill>
                  <a:srgbClr val="D4D4D8"/>
                </a:solidFill>
                <a:latin typeface="Consolas"/>
              </a:rPr>
              <a:t>autoSlideTimer = </a:t>
            </a:r>
            <a:r>
              <a:rPr sz="850" b="0">
                <a:solidFill>
                  <a:srgbClr val="C678DD"/>
                </a:solidFill>
                <a:latin typeface="Consolas"/>
              </a:rPr>
              <a:t>null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function </a:t>
            </a:r>
            <a:r>
              <a:rPr sz="850" b="0">
                <a:solidFill>
                  <a:srgbClr val="61AFEF"/>
                </a:solidFill>
                <a:latin typeface="Consolas"/>
              </a:rPr>
              <a:t>stopAutoPlay</a:t>
            </a:r>
            <a:r>
              <a:rPr sz="850" b="0">
                <a:solidFill>
                  <a:srgbClr val="D4D4D8"/>
                </a:solidFill>
                <a:latin typeface="Consolas"/>
              </a:rPr>
              <a:t>()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if </a:t>
            </a:r>
            <a:r>
              <a:rPr sz="850" b="0">
                <a:solidFill>
                  <a:srgbClr val="D4D4D8"/>
                </a:solidFill>
                <a:latin typeface="Consolas"/>
              </a:rPr>
              <a:t>(autoSlideTimer)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  clearInterval(autoSlideTimer);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autoSlideTimer = </a:t>
            </a:r>
            <a:r>
              <a:rPr sz="850" b="0">
                <a:solidFill>
                  <a:srgbClr val="C678DD"/>
                </a:solidFill>
                <a:latin typeface="Consolas"/>
              </a:rPr>
              <a:t>null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console.log(</a:t>
            </a:r>
            <a:r>
              <a:rPr sz="850" b="0">
                <a:solidFill>
                  <a:srgbClr val="98C379"/>
                </a:solidFill>
                <a:latin typeface="Consolas"/>
              </a:rPr>
              <a:t>'Таймер остановлен'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Очистка с clearInterval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Остановка по ID:
</a:t>
            </a:r>
            <a:r>
              <a:rPr sz="850" b="0">
                <a:solidFill>
                  <a:srgbClr val="555555"/>
                </a:solidFill>
                <a:latin typeface="Inter"/>
              </a:rPr>
              <a:t>Функция clearInterval(timerId) находит таймер в Web API и навсегда гасит его интервал.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3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018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Сброс в null:
</a:t>
            </a:r>
            <a:r>
              <a:rPr sz="850" b="0">
                <a:solidFill>
                  <a:srgbClr val="555555"/>
                </a:solidFill>
                <a:latin typeface="Inter"/>
              </a:rPr>
              <a:t>Присвоение null переменной таймера позволяет надежно проверять, запущен ли слайдер.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298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2606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Утечки памяти:
</a:t>
            </a:r>
            <a:r>
              <a:rPr sz="850" b="0">
                <a:solidFill>
                  <a:srgbClr val="555555"/>
                </a:solidFill>
                <a:latin typeface="Inter"/>
              </a:rPr>
              <a:t>Без clearInterval неиспользуемые таймеры продолжают грузить память и процессор браузера.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2857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8194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Защитное условие:
</a:t>
            </a:r>
            <a:r>
              <a:rPr sz="850" b="0">
                <a:solidFill>
                  <a:srgbClr val="555555"/>
                </a:solidFill>
                <a:latin typeface="Inter"/>
              </a:rPr>
              <a:t>Проверка if (autoSlideTimer) исключает вызов очистки для уже выключенного таймера.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000240" y="259079"/>
            <a:ext cx="188976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МЕТОД SETTIMEOUT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В каких сценариях используется setTimeout вместо setInterval?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Отложенные вызовы setTimeout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Однократное выполнение с задержкой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function </a:t>
            </a:r>
            <a:r>
              <a:rPr sz="850" b="0">
                <a:solidFill>
                  <a:srgbClr val="61AFEF"/>
                </a:solidFill>
                <a:latin typeface="Consolas"/>
              </a:rPr>
              <a:t>showNotificationWithAutoClose</a:t>
            </a:r>
            <a:r>
              <a:rPr sz="850" b="0">
                <a:solidFill>
                  <a:srgbClr val="D4D4D8"/>
                </a:solidFill>
                <a:latin typeface="Consolas"/>
              </a:rPr>
              <a:t>(msg)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const </a:t>
            </a:r>
            <a:r>
              <a:rPr sz="850" b="0">
                <a:solidFill>
                  <a:srgbClr val="D4D4D8"/>
                </a:solidFill>
                <a:latin typeface="Consolas"/>
              </a:rPr>
              <a:t>toast = document.createElement(</a:t>
            </a:r>
            <a:r>
              <a:rPr sz="850" b="0">
                <a:solidFill>
                  <a:srgbClr val="98C379"/>
                </a:solidFill>
                <a:latin typeface="Consolas"/>
              </a:rPr>
              <a:t>'div'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toast.textContent = msg;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document.body.appendChild(toast);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  // Удаление через 3.5 секунды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setTimeout(() =&gt;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  toast.remove();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}, </a:t>
            </a:r>
            <a:r>
              <a:rPr sz="850" b="0">
                <a:solidFill>
                  <a:srgbClr val="D19A66"/>
                </a:solidFill>
                <a:latin typeface="Consolas"/>
              </a:rPr>
              <a:t>3500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Разовая задержка setTimeout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Однократный запуск:
</a:t>
            </a:r>
            <a:r>
              <a:rPr sz="850" b="0">
                <a:solidFill>
                  <a:srgbClr val="555555"/>
                </a:solidFill>
                <a:latin typeface="Inter"/>
              </a:rPr>
              <a:t>setTimeout(fn, delay) выполняет функцию ровно 1 раз по истечении указанного времени.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3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018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Применение в UI:
</a:t>
            </a:r>
            <a:r>
              <a:rPr sz="850" b="0">
                <a:solidFill>
                  <a:srgbClr val="555555"/>
                </a:solidFill>
                <a:latin typeface="Inter"/>
              </a:rPr>
              <a:t>Скрытие уведомлений Toast, закрытие модальных окон, пауза перед возобновлением слайдера.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298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2606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Очистка clearTimeout:
</a:t>
            </a:r>
            <a:r>
              <a:rPr sz="850" b="0">
                <a:solidFill>
                  <a:srgbClr val="555555"/>
                </a:solidFill>
                <a:latin typeface="Inter"/>
              </a:rPr>
              <a:t>При необходимости запланированный вызов можно отменить с помощью clearTimeout(id).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2857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8194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Debounce и задержки:
</a:t>
            </a:r>
            <a:r>
              <a:rPr sz="850" b="0">
                <a:solidFill>
                  <a:srgbClr val="555555"/>
                </a:solidFill>
                <a:latin typeface="Inter"/>
              </a:rPr>
              <a:t>Служит основой для ожидания окончания ввода пользователя в строку поиска.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604000" y="259079"/>
            <a:ext cx="2286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УПРАВЛЕНИЕ ТАЙМЕРАМИ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Почему перед каждым запуском setInterval необходимо вызывать clearInterval?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Безопасный перезапуск таймера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let </a:t>
            </a:r>
            <a:r>
              <a:rPr sz="850" b="0">
                <a:solidFill>
                  <a:srgbClr val="D4D4D8"/>
                </a:solidFill>
                <a:latin typeface="Consolas"/>
              </a:rPr>
              <a:t>timerId = </a:t>
            </a:r>
            <a:r>
              <a:rPr sz="850" b="0">
                <a:solidFill>
                  <a:srgbClr val="C678DD"/>
                </a:solidFill>
                <a:latin typeface="Consolas"/>
              </a:rPr>
              <a:t>null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function </a:t>
            </a:r>
            <a:r>
              <a:rPr sz="850" b="0">
                <a:solidFill>
                  <a:srgbClr val="61AFEF"/>
                </a:solidFill>
                <a:latin typeface="Consolas"/>
              </a:rPr>
              <a:t>startAuto</a:t>
            </a:r>
            <a:r>
              <a:rPr sz="850" b="0">
                <a:solidFill>
                  <a:srgbClr val="D4D4D8"/>
                </a:solidFill>
                <a:latin typeface="Consolas"/>
              </a:rPr>
              <a:t>()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  // КРИТИЧЕСКИ ВАЖНО: сбросить старый перед новым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stopAuto();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timerId = setInterval(next, </a:t>
            </a:r>
            <a:r>
              <a:rPr sz="850" b="0">
                <a:solidFill>
                  <a:srgbClr val="D19A66"/>
                </a:solidFill>
                <a:latin typeface="Consolas"/>
              </a:rPr>
              <a:t>3000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function </a:t>
            </a:r>
            <a:r>
              <a:rPr sz="850" b="0">
                <a:solidFill>
                  <a:srgbClr val="61AFEF"/>
                </a:solidFill>
                <a:latin typeface="Consolas"/>
              </a:rPr>
              <a:t>stopAuto</a:t>
            </a:r>
            <a:r>
              <a:rPr sz="850" b="0">
                <a:solidFill>
                  <a:srgbClr val="D4D4D8"/>
                </a:solidFill>
                <a:latin typeface="Consolas"/>
              </a:rPr>
              <a:t>()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if </a:t>
            </a:r>
            <a:r>
              <a:rPr sz="850" b="0">
                <a:solidFill>
                  <a:srgbClr val="D4D4D8"/>
                </a:solidFill>
                <a:latin typeface="Consolas"/>
              </a:rPr>
              <a:t>(timerId)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  clearInterval(timerId);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timerId = </a:t>
            </a:r>
            <a:r>
              <a:rPr sz="850" b="0">
                <a:solidFill>
                  <a:srgbClr val="C678DD"/>
                </a:solidFill>
                <a:latin typeface="Consolas"/>
              </a:rPr>
              <a:t>null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Паттерн анти-двоения таймеров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Проблема наложения:
</a:t>
            </a:r>
            <a:r>
              <a:rPr sz="850" b="0">
                <a:solidFill>
                  <a:srgbClr val="555555"/>
                </a:solidFill>
                <a:latin typeface="Inter"/>
              </a:rPr>
              <a:t>Если вызвать setInterval 5 раз подряд, запустятся 5 таймеров, и кадры замелькают хаотично.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3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018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Сброс перед стартом:
</a:t>
            </a:r>
            <a:r>
              <a:rPr sz="850" b="0">
                <a:solidFill>
                  <a:srgbClr val="555555"/>
                </a:solidFill>
                <a:latin typeface="Inter"/>
              </a:rPr>
              <a:t>Вызов stopAuto() перед каждым запуском гарантирует, что активен ровно один таймер.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298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2606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Управление из кликов:
</a:t>
            </a:r>
            <a:r>
              <a:rPr sz="850" b="0">
                <a:solidFill>
                  <a:srgbClr val="555555"/>
                </a:solidFill>
                <a:latin typeface="Inter"/>
              </a:rPr>
              <a:t>Когда пользователь щелкает стрелку, таймер перезапускается на чистые 3 секунды.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2857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8194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Предсказуемость:
</a:t>
            </a:r>
            <a:r>
              <a:rPr sz="850" b="0">
                <a:solidFill>
                  <a:srgbClr val="555555"/>
                </a:solidFill>
                <a:latin typeface="Inter"/>
              </a:rPr>
              <a:t>Поведение интерфейса остается стабильным даже при бешеном кликании по кнопкам.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604000" y="259079"/>
            <a:ext cx="2286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СХЕМА: ЦИКЛ ТАЙМЕРОВ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взаимодействуют автопрокрутка setInterval, клики пользователя и сброс таймера?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4800" y="711200"/>
            <a:ext cx="26670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38200"/>
            <a:ext cx="2362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1AFEF"/>
                </a:solidFill>
                <a:latin typeface="Montserrat"/>
              </a:rPr>
              <a:t>1. АВТОПРОКРУТКА</a:t>
            </a:r>
          </a:p>
          <a:p>
            <a:r>
              <a:rPr sz="850">
                <a:solidFill>
                  <a:srgbClr val="AAAAAA"/>
                </a:solidFill>
                <a:latin typeface="Inter"/>
              </a:rPr>
              <a:t>setInterval(next, 3000)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70000"/>
            <a:ext cx="2362200" cy="1270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75000" y="711200"/>
            <a:ext cx="26670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7400" y="838200"/>
            <a:ext cx="2362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C2626"/>
                </a:solidFill>
                <a:latin typeface="Montserrat"/>
              </a:rPr>
              <a:t>2. РУЧНОЙ КЛИК</a:t>
            </a:r>
          </a:p>
          <a:p>
            <a:r>
              <a:rPr sz="850">
                <a:solidFill>
                  <a:srgbClr val="AAAAAA"/>
                </a:solidFill>
                <a:latin typeface="Inter"/>
              </a:rPr>
              <a:t>Стрелки ‹ › и Dots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27400" y="1270000"/>
            <a:ext cx="2362200" cy="127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45200" y="711200"/>
            <a:ext cx="26670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7600" y="838200"/>
            <a:ext cx="2362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98C379"/>
                </a:solidFill>
                <a:latin typeface="Montserrat"/>
              </a:rPr>
              <a:t>3. СБРОС И РЕСТАРТ</a:t>
            </a:r>
          </a:p>
          <a:p>
            <a:r>
              <a:rPr sz="850">
                <a:solidFill>
                  <a:srgbClr val="AAAAAA"/>
                </a:solidFill>
                <a:latin typeface="Inter"/>
              </a:rPr>
              <a:t>clearInterval(timerId)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7600" y="1270000"/>
            <a:ext cx="2362200" cy="12700"/>
          </a:xfrm>
          <a:prstGeom prst="rect">
            <a:avLst/>
          </a:prstGeom>
          <a:solidFill>
            <a:srgbClr val="98C3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2362200" cy="685800"/>
          </a:xfrm>
          <a:prstGeom prst="roundRect">
            <a:avLst>
              <a:gd name="adj" fmla="val 8000"/>
            </a:avLst>
          </a:prstGeom>
          <a:solidFill>
            <a:srgbClr val="1F242E"/>
          </a:solidFill>
          <a:ln w="12700">
            <a:solidFill>
              <a:srgbClr val="61AFEF"/>
            </a:solidFill>
          </a:ln>
        </p:spPr>
        <p:txBody>
          <a:bodyPr rtlCol="0" anchor="ctr" tIns="76200"/>
          <a:lstStyle/>
          <a:p>
            <a:pPr algn="ctr"/>
            <a:r>
              <a:rPr sz="750">
                <a:solidFill>
                  <a:srgbClr val="D4D4D8"/>
                </a:solidFill>
                <a:latin typeface="Consolas"/>
              </a:rPr>
              <a:t>function startAuto() {
  stopAuto();
  timerId = setInterval(next, 3000);
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7400" y="1371600"/>
            <a:ext cx="2362200" cy="685800"/>
          </a:xfrm>
          <a:prstGeom prst="roundRect">
            <a:avLst>
              <a:gd name="adj" fmla="val 8000"/>
            </a:avLst>
          </a:prstGeom>
          <a:solidFill>
            <a:srgbClr val="2D1E20"/>
          </a:solidFill>
          <a:ln w="12700">
            <a:solidFill>
              <a:srgbClr val="DC2626"/>
            </a:solidFill>
          </a:ln>
        </p:spPr>
        <p:txBody>
          <a:bodyPr rtlCol="0" anchor="ctr" tIns="76200"/>
          <a:lstStyle/>
          <a:p>
            <a:pPr algn="ctr"/>
            <a:r>
              <a:rPr sz="750">
                <a:solidFill>
                  <a:srgbClr val="D4D4D8"/>
                </a:solidFill>
                <a:latin typeface="Consolas"/>
              </a:rPr>
              <a:t>nextBtn.addEventListener('click',
  () =&gt; {
    next();
    startAuto();
});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7600" y="1371600"/>
            <a:ext cx="2362200" cy="685800"/>
          </a:xfrm>
          <a:prstGeom prst="roundRect">
            <a:avLst>
              <a:gd name="adj" fmla="val 8000"/>
            </a:avLst>
          </a:prstGeom>
          <a:solidFill>
            <a:srgbClr val="1E2720"/>
          </a:solidFill>
          <a:ln w="12700">
            <a:solidFill>
              <a:srgbClr val="98C379"/>
            </a:solidFill>
          </a:ln>
        </p:spPr>
        <p:txBody>
          <a:bodyPr rtlCol="0" anchor="ctr" tIns="76200"/>
          <a:lstStyle/>
          <a:p>
            <a:pPr algn="ctr"/>
            <a:r>
              <a:rPr sz="750">
                <a:solidFill>
                  <a:srgbClr val="D4D4D8"/>
                </a:solidFill>
                <a:latin typeface="Consolas"/>
              </a:rPr>
              <a:t>function stopAuto() {
  if (timerId) {
    clearInterval(timerId);
  }
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184400"/>
            <a:ext cx="2362200" cy="2095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FFFFFF"/>
                </a:solidFill>
                <a:latin typeface="Montserrat"/>
              </a:rPr>
              <a:t>Регулярный цикл:
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Автоматический тик каждые 3000 миллисекунд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Фоновая работа через Web API браузера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Вызов функции next() и смена кадра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Не блокирует основной поток выполнения UI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Постоянное движение медиа-контента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27400" y="2184400"/>
            <a:ext cx="2362200" cy="2095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FFFFFF"/>
                </a:solidFill>
                <a:latin typeface="Montserrat"/>
              </a:rPr>
              <a:t>Событие пользователя:
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Клик по кнопке «‹» или «›», либо по Dot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Мгновенный показ выбранного изображения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Прерывание стандартного тайминга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Запрос на рестарт интервала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Пользователь получает мгновенный отклик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7600" y="2184400"/>
            <a:ext cx="2362200" cy="2095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FFFFFF"/>
                </a:solidFill>
                <a:latin typeface="Montserrat"/>
              </a:rPr>
              <a:t>Защита от сбоев UX:
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Остановка таймера перед созданием нового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Исключение наложения нескольких setInterval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Полные 3 секунды на просмотр после клика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Слайдер не переключается сразу после клика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E6002"/>
                </a:solidFill>
                <a:latin typeface="Inter"/>
              </a:rPr>
              <a:t>• </a:t>
            </a:r>
            <a:r>
              <a:rPr sz="800">
                <a:solidFill>
                  <a:srgbClr val="D4D4D8"/>
                </a:solidFill>
                <a:latin typeface="Inter"/>
              </a:rPr>
              <a:t>Полный контроль над утечками ресурсов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901180" y="259079"/>
            <a:ext cx="198882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ОБЛАСТЬ ВИДИМОСТИ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Чем блочная область видимости let и const безопаснее функциональной видимости var?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Блочная видимость let и const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Блочная область видимости (ES6)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if </a:t>
            </a:r>
            <a:r>
              <a:rPr sz="850" b="0">
                <a:solidFill>
                  <a:srgbClr val="D4D4D8"/>
                </a:solidFill>
                <a:latin typeface="Consolas"/>
              </a:rPr>
              <a:t>(true)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let </a:t>
            </a:r>
            <a:r>
              <a:rPr sz="850" b="0">
                <a:solidFill>
                  <a:srgbClr val="D4D4D8"/>
                </a:solidFill>
                <a:latin typeface="Consolas"/>
              </a:rPr>
              <a:t>sliderSpeed = </a:t>
            </a:r>
            <a:r>
              <a:rPr sz="850" b="0">
                <a:solidFill>
                  <a:srgbClr val="D19A66"/>
                </a:solidFill>
                <a:latin typeface="Consolas"/>
              </a:rPr>
              <a:t>300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const </a:t>
            </a:r>
            <a:r>
              <a:rPr sz="850" b="0">
                <a:solidFill>
                  <a:srgbClr val="D4D4D8"/>
                </a:solidFill>
                <a:latin typeface="Consolas"/>
              </a:rPr>
              <a:t>TOTAL_SLIDES = </a:t>
            </a:r>
            <a:r>
              <a:rPr sz="850" b="0">
                <a:solidFill>
                  <a:srgbClr val="D19A66"/>
                </a:solidFill>
                <a:latin typeface="Consolas"/>
              </a:rPr>
              <a:t>4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var </a:t>
            </a:r>
            <a:r>
              <a:rPr sz="850" b="0">
                <a:solidFill>
                  <a:srgbClr val="D4D4D8"/>
                </a:solidFill>
                <a:latin typeface="Consolas"/>
              </a:rPr>
              <a:t>legacyVar = </a:t>
            </a:r>
            <a:r>
              <a:rPr sz="850" b="0">
                <a:solidFill>
                  <a:srgbClr val="98C379"/>
                </a:solidFill>
                <a:latin typeface="Consolas"/>
              </a:rPr>
              <a:t>'Я протекаю наружу'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console.log(legacyVar);   </a:t>
            </a:r>
            <a:r>
              <a:rPr sz="850" b="0">
                <a:solidFill>
                  <a:srgbClr val="5C6370"/>
                </a:solidFill>
                <a:latin typeface="Consolas"/>
              </a:rPr>
              <a:t>// Работает: var протек!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console.log(sliderSpeed); // ReferenceError: not defined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Блочная vs Функциональная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Блочный Scope:
</a:t>
            </a:r>
            <a:r>
              <a:rPr sz="850" b="0">
                <a:solidFill>
                  <a:srgbClr val="555555"/>
                </a:solidFill>
                <a:latin typeface="Inter"/>
              </a:rPr>
              <a:t>Переменные let и const существуют строго внутри своего блока фигурных скобок {}.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3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018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Утечка var:
</a:t>
            </a:r>
            <a:r>
              <a:rPr sz="850" b="0">
                <a:solidFill>
                  <a:srgbClr val="555555"/>
                </a:solidFill>
                <a:latin typeface="Inter"/>
              </a:rPr>
              <a:t>Устаревший var игнорирует блоки if/for и проникает наружу, вызывая трудноуловимые баги.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298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2606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Защита от перезаписи:
</a:t>
            </a:r>
            <a:r>
              <a:rPr sz="850" b="0">
                <a:solidFill>
                  <a:srgbClr val="555555"/>
                </a:solidFill>
                <a:latin typeface="Inter"/>
              </a:rPr>
              <a:t>Блочная видимость не дает случайно переписать счетчик цикла или настройки слайдера.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2857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8194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Стандарт индустрии:
</a:t>
            </a:r>
            <a:r>
              <a:rPr sz="850" b="0">
                <a:solidFill>
                  <a:srgbClr val="555555"/>
                </a:solidFill>
                <a:latin typeface="Inter"/>
              </a:rPr>
              <a:t>В современном JS используют только const для констант и let для переменных состояния.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604000" y="259079"/>
            <a:ext cx="2286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ЗАМЫКАНИЯ (CLOSURES)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замыкание позволяет функции сохранять доступ к переменным внешней функции?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Механизм замыкания в JS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function </a:t>
            </a:r>
            <a:r>
              <a:rPr sz="850" b="0">
                <a:solidFill>
                  <a:srgbClr val="61AFEF"/>
                </a:solidFill>
                <a:latin typeface="Consolas"/>
              </a:rPr>
              <a:t>createSlideManager</a:t>
            </a:r>
            <a:r>
              <a:rPr sz="850" b="0">
                <a:solidFill>
                  <a:srgbClr val="D4D4D8"/>
                </a:solidFill>
                <a:latin typeface="Consolas"/>
              </a:rPr>
              <a:t>(total)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let </a:t>
            </a:r>
            <a:r>
              <a:rPr sz="850" b="0">
                <a:solidFill>
                  <a:srgbClr val="D4D4D8"/>
                </a:solidFill>
                <a:latin typeface="Consolas"/>
              </a:rPr>
              <a:t>current = </a:t>
            </a:r>
            <a:r>
              <a:rPr sz="850" b="0">
                <a:solidFill>
                  <a:srgbClr val="D19A66"/>
                </a:solidFill>
                <a:latin typeface="Consolas"/>
              </a:rPr>
              <a:t>0</a:t>
            </a:r>
            <a:r>
              <a:rPr sz="850" b="0">
                <a:solidFill>
                  <a:srgbClr val="D4D4D8"/>
                </a:solidFill>
                <a:latin typeface="Consolas"/>
              </a:rPr>
              <a:t>; </a:t>
            </a:r>
            <a:r>
              <a:rPr sz="850" b="0">
                <a:solidFill>
                  <a:srgbClr val="5C6370"/>
                </a:solidFill>
                <a:latin typeface="Consolas"/>
              </a:rPr>
              <a:t>// Закрытая переменная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return </a:t>
            </a:r>
            <a:r>
              <a:rPr sz="850" b="0">
                <a:solidFill>
                  <a:srgbClr val="C678DD"/>
                </a:solidFill>
                <a:latin typeface="Consolas"/>
              </a:rPr>
              <a:t>function </a:t>
            </a:r>
            <a:r>
              <a:rPr sz="850" b="0">
                <a:solidFill>
                  <a:srgbClr val="61AFEF"/>
                </a:solidFill>
                <a:latin typeface="Consolas"/>
              </a:rPr>
              <a:t>next</a:t>
            </a:r>
            <a:r>
              <a:rPr sz="850" b="0">
                <a:solidFill>
                  <a:srgbClr val="D4D4D8"/>
                </a:solidFill>
                <a:latin typeface="Consolas"/>
              </a:rPr>
              <a:t>()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current = (current + </a:t>
            </a:r>
            <a:r>
              <a:rPr sz="850" b="0">
                <a:solidFill>
                  <a:srgbClr val="D19A66"/>
                </a:solidFill>
                <a:latin typeface="Consolas"/>
              </a:rPr>
              <a:t>1</a:t>
            </a:r>
            <a:r>
              <a:rPr sz="850" b="0">
                <a:solidFill>
                  <a:srgbClr val="D4D4D8"/>
                </a:solidFill>
                <a:latin typeface="Consolas"/>
              </a:rPr>
              <a:t>) % total;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  return </a:t>
            </a:r>
            <a:r>
              <a:rPr sz="850" b="0">
                <a:solidFill>
                  <a:srgbClr val="D4D4D8"/>
                </a:solidFill>
                <a:latin typeface="Consolas"/>
              </a:rPr>
              <a:t>current; </a:t>
            </a:r>
            <a:r>
              <a:rPr sz="850" b="0">
                <a:solidFill>
                  <a:srgbClr val="5C6370"/>
                </a:solidFill>
                <a:latin typeface="Consolas"/>
              </a:rPr>
              <a:t>// Помнит 'current' из родителя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};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const </a:t>
            </a:r>
            <a:r>
              <a:rPr sz="850" b="0">
                <a:solidFill>
                  <a:srgbClr val="D4D4D8"/>
                </a:solidFill>
                <a:latin typeface="Consolas"/>
              </a:rPr>
              <a:t>sliderNext = createSlideManager(</a:t>
            </a:r>
            <a:r>
              <a:rPr sz="850" b="0">
                <a:solidFill>
                  <a:srgbClr val="D19A66"/>
                </a:solidFill>
                <a:latin typeface="Consolas"/>
              </a:rPr>
              <a:t>4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sliderNext(); </a:t>
            </a:r>
            <a:r>
              <a:rPr sz="850" b="0">
                <a:solidFill>
                  <a:srgbClr val="5C6370"/>
                </a:solidFill>
                <a:latin typeface="Consolas"/>
              </a:rPr>
              <a:t>// 1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sliderNext(); </a:t>
            </a:r>
            <a:r>
              <a:rPr sz="850" b="0">
                <a:solidFill>
                  <a:srgbClr val="5C6370"/>
                </a:solidFill>
                <a:latin typeface="Consolas"/>
              </a:rPr>
              <a:t>// 2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Замыкания (Closures)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Определение замыкания:
</a:t>
            </a:r>
            <a:r>
              <a:rPr sz="850" b="0">
                <a:solidFill>
                  <a:srgbClr val="555555"/>
                </a:solidFill>
                <a:latin typeface="Inter"/>
              </a:rPr>
              <a:t>Способность внутренней функции помнить и использовать переменные своего создателя.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3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018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Жизнь после возврата:
</a:t>
            </a:r>
            <a:r>
              <a:rPr sz="850" b="0">
                <a:solidFill>
                  <a:srgbClr val="555555"/>
                </a:solidFill>
                <a:latin typeface="Inter"/>
              </a:rPr>
              <a:t>Даже когда внешняя функция отработала, переменная current сохраняется в памяти.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298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2606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Приватные данные:
</a:t>
            </a:r>
            <a:r>
              <a:rPr sz="850" b="0">
                <a:solidFill>
                  <a:srgbClr val="555555"/>
                </a:solidFill>
                <a:latin typeface="Inter"/>
              </a:rPr>
              <a:t>Никакой внешний скрипт не может изменить current напрямую — только через вызов next().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2857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8194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Инженерная база:
</a:t>
            </a:r>
            <a:r>
              <a:rPr sz="850" b="0">
                <a:solidFill>
                  <a:srgbClr val="555555"/>
                </a:solidFill>
                <a:latin typeface="Inter"/>
              </a:rPr>
              <a:t>Замыкания лежат в основе модульного JS, обработчиков событий и фабричных функций.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112000" y="259079"/>
            <a:ext cx="1778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ИНКАПСУЛЯЦИЯ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Почему переменные слайдера currentSlide и timerId нельзя делать глобальными?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Изоляция модуля initSlider()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function </a:t>
            </a:r>
            <a:r>
              <a:rPr sz="850" b="0">
                <a:solidFill>
                  <a:srgbClr val="61AFEF"/>
                </a:solidFill>
                <a:latin typeface="Consolas"/>
              </a:rPr>
              <a:t>initSlider</a:t>
            </a:r>
            <a:r>
              <a:rPr sz="850" b="0">
                <a:solidFill>
                  <a:srgbClr val="D4D4D8"/>
                </a:solidFill>
                <a:latin typeface="Consolas"/>
              </a:rPr>
              <a:t>()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  // Локальное изолированное состояние: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const </a:t>
            </a:r>
            <a:r>
              <a:rPr sz="850" b="0">
                <a:solidFill>
                  <a:srgbClr val="D4D4D8"/>
                </a:solidFill>
                <a:latin typeface="Consolas"/>
              </a:rPr>
              <a:t>slides = document.querySelectorAll(</a:t>
            </a:r>
            <a:r>
              <a:rPr sz="850" b="0">
                <a:solidFill>
                  <a:srgbClr val="98C379"/>
                </a:solidFill>
                <a:latin typeface="Consolas"/>
              </a:rPr>
              <a:t>'.slide'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let </a:t>
            </a:r>
            <a:r>
              <a:rPr sz="850" b="0">
                <a:solidFill>
                  <a:srgbClr val="D4D4D8"/>
                </a:solidFill>
                <a:latin typeface="Consolas"/>
              </a:rPr>
              <a:t>currentSlide = </a:t>
            </a:r>
            <a:r>
              <a:rPr sz="850" b="0">
                <a:solidFill>
                  <a:srgbClr val="D19A66"/>
                </a:solidFill>
                <a:latin typeface="Consolas"/>
              </a:rPr>
              <a:t>0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let </a:t>
            </a:r>
            <a:r>
              <a:rPr sz="850" b="0">
                <a:solidFill>
                  <a:srgbClr val="D4D4D8"/>
                </a:solidFill>
                <a:latin typeface="Consolas"/>
              </a:rPr>
              <a:t>timerId = </a:t>
            </a:r>
            <a:r>
              <a:rPr sz="850" b="0">
                <a:solidFill>
                  <a:srgbClr val="C678DD"/>
                </a:solidFill>
                <a:latin typeface="Consolas"/>
              </a:rPr>
              <a:t>null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function </a:t>
            </a:r>
            <a:r>
              <a:rPr sz="850" b="0">
                <a:solidFill>
                  <a:srgbClr val="61AFEF"/>
                </a:solidFill>
                <a:latin typeface="Consolas"/>
              </a:rPr>
              <a:t>showSlide</a:t>
            </a:r>
            <a:r>
              <a:rPr sz="850" b="0">
                <a:solidFill>
                  <a:srgbClr val="D4D4D8"/>
                </a:solidFill>
                <a:latin typeface="Consolas"/>
              </a:rPr>
              <a:t>(index) { /* ... */ }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function </a:t>
            </a:r>
            <a:r>
              <a:rPr sz="850" b="0">
                <a:solidFill>
                  <a:srgbClr val="61AFEF"/>
                </a:solidFill>
                <a:latin typeface="Consolas"/>
              </a:rPr>
              <a:t>next</a:t>
            </a:r>
            <a:r>
              <a:rPr sz="850" b="0">
                <a:solidFill>
                  <a:srgbClr val="D4D4D8"/>
                </a:solidFill>
                <a:latin typeface="Consolas"/>
              </a:rPr>
              <a:t>() { showSlide(currentSlide + </a:t>
            </a:r>
            <a:r>
              <a:rPr sz="850" b="0">
                <a:solidFill>
                  <a:srgbClr val="D19A66"/>
                </a:solidFill>
                <a:latin typeface="Consolas"/>
              </a:rPr>
              <a:t>1</a:t>
            </a:r>
            <a:r>
              <a:rPr sz="850" b="0">
                <a:solidFill>
                  <a:srgbClr val="D4D4D8"/>
                </a:solidFill>
                <a:latin typeface="Consolas"/>
              </a:rPr>
              <a:t>); }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startAuto();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currentSlide и timerId снаружи недоступны!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Инкапсуляция слайдера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Чистота global scope:
</a:t>
            </a:r>
            <a:r>
              <a:rPr sz="850" b="0">
                <a:solidFill>
                  <a:srgbClr val="555555"/>
                </a:solidFill>
                <a:latin typeface="Inter"/>
              </a:rPr>
              <a:t>Отказ от глобальных переменных window исключает случайные конфликты с другими скриптами.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3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018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Автономия модуля:
</a:t>
            </a:r>
            <a:r>
              <a:rPr sz="850" b="0">
                <a:solidFill>
                  <a:srgbClr val="555555"/>
                </a:solidFill>
                <a:latin typeface="Inter"/>
              </a:rPr>
              <a:t>Слайдер становится законченным независимым виджетом, который можно внедрить куда угодно.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298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2606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Безопасность состояния:
</a:t>
            </a:r>
            <a:r>
              <a:rPr sz="850" b="0">
                <a:solidFill>
                  <a:srgbClr val="555555"/>
                </a:solidFill>
                <a:latin typeface="Inter"/>
              </a:rPr>
              <a:t>Внешние функции не смогут поломать счетчик currentSlide или обнулить таймер.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2857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8194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Простота инициализации:
</a:t>
            </a:r>
            <a:r>
              <a:rPr sz="850" b="0">
                <a:solidFill>
                  <a:srgbClr val="555555"/>
                </a:solidFill>
                <a:latin typeface="Inter"/>
              </a:rPr>
              <a:t>Для запуска на странице достаточно вызвать одну функцию initSlider().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703060" y="259079"/>
            <a:ext cx="218694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АРХИТЕКТУРА ПРОЕКТА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 каким проблемам приводит смешивание данных, стилей и логики в одном файле?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Разделение зон ответственности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Структура проекта «СмартОфис»: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webinar-07-slider-timers/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├── index.html        </a:t>
            </a:r>
            <a:r>
              <a:rPr sz="850" b="0">
                <a:solidFill>
                  <a:srgbClr val="5C6370"/>
                </a:solidFill>
                <a:latin typeface="Consolas"/>
              </a:rPr>
              <a:t># Каркас и разметка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├── css/style.css     </a:t>
            </a:r>
            <a:r>
              <a:rPr sz="850" b="0">
                <a:solidFill>
                  <a:srgbClr val="5C6370"/>
                </a:solidFill>
                <a:latin typeface="Consolas"/>
              </a:rPr>
              <a:t># Оформление и transitions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├── js/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│   ├── data.js       </a:t>
            </a:r>
            <a:r>
              <a:rPr sz="850" b="0">
                <a:solidFill>
                  <a:srgbClr val="5C6370"/>
                </a:solidFill>
                <a:latin typeface="Consolas"/>
              </a:rPr>
              <a:t># Mock-данные каталога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│   └── main.js       </a:t>
            </a:r>
            <a:r>
              <a:rPr sz="850" b="0">
                <a:solidFill>
                  <a:srgbClr val="5C6370"/>
                </a:solidFill>
                <a:latin typeface="Consolas"/>
              </a:rPr>
              <a:t># Поведение и таймеры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19A66"/>
                </a:solidFill>
                <a:latin typeface="Consolas"/>
              </a:rPr>
              <a:t>└── img/              </a:t>
            </a:r>
            <a:r>
              <a:rPr sz="850" b="0">
                <a:solidFill>
                  <a:srgbClr val="5C6370"/>
                </a:solidFill>
                <a:latin typeface="Consolas"/>
              </a:rPr>
              <a:t># Офисные фото и графика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Separation of Concerns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HTML — Каркас:
</a:t>
            </a:r>
            <a:r>
              <a:rPr sz="850" b="0">
                <a:solidFill>
                  <a:srgbClr val="555555"/>
                </a:solidFill>
                <a:latin typeface="Inter"/>
              </a:rPr>
              <a:t>Отвечает за семантику, DOM-дерево и наличие контейнеров слайдера и кнопок.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3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018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CSS — Визуал:
</a:t>
            </a:r>
            <a:r>
              <a:rPr sz="850" b="0">
                <a:solidFill>
                  <a:srgbClr val="555555"/>
                </a:solidFill>
                <a:latin typeface="Inter"/>
              </a:rPr>
              <a:t>Задает абсолютное позиционирование слайдов, размеры и плавность transition: opacity.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298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2606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JS — Поведение:
</a:t>
            </a:r>
            <a:r>
              <a:rPr sz="850" b="0">
                <a:solidFill>
                  <a:srgbClr val="555555"/>
                </a:solidFill>
                <a:latin typeface="Inter"/>
              </a:rPr>
              <a:t>Обрабатывает клики пользователей, управляет переключением классов и таймерами.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2857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8194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Масштабируемость:
</a:t>
            </a:r>
            <a:r>
              <a:rPr sz="850" b="0">
                <a:solidFill>
                  <a:srgbClr val="555555"/>
                </a:solidFill>
                <a:latin typeface="Inter"/>
              </a:rPr>
              <a:t>Разработчик интерфейса может менять стили стрелок, не трогая JavaScript-код.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802120" y="259079"/>
            <a:ext cx="208788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ФАЙЛОВАЯ СТРУКТУРА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В чем преимущество вынесения mock-данных в отдельный файл data.js?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Разделение data.js и main.js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js/data.js — только данные комнат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const </a:t>
            </a:r>
            <a:r>
              <a:rPr sz="850" b="0">
                <a:solidFill>
                  <a:srgbClr val="D4D4D8"/>
                </a:solidFill>
                <a:latin typeface="Consolas"/>
              </a:rPr>
              <a:t>roomsData = [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{ id: </a:t>
            </a:r>
            <a:r>
              <a:rPr sz="850" b="0">
                <a:solidFill>
                  <a:srgbClr val="98C379"/>
                </a:solidFill>
                <a:latin typeface="Consolas"/>
              </a:rPr>
              <a:t>'focus-1'</a:t>
            </a:r>
            <a:r>
              <a:rPr sz="850" b="0">
                <a:solidFill>
                  <a:srgbClr val="D4D4D8"/>
                </a:solidFill>
                <a:latin typeface="Consolas"/>
              </a:rPr>
              <a:t>, title: </a:t>
            </a:r>
            <a:r>
              <a:rPr sz="850" b="0">
                <a:solidFill>
                  <a:srgbClr val="98C379"/>
                </a:solidFill>
                <a:latin typeface="Consolas"/>
              </a:rPr>
              <a:t>'Мини-офис Focus'</a:t>
            </a:r>
            <a:r>
              <a:rPr sz="850" b="0">
                <a:solidFill>
                  <a:srgbClr val="D4D4D8"/>
                </a:solidFill>
                <a:latin typeface="Consolas"/>
              </a:rPr>
              <a:t>, price: </a:t>
            </a:r>
            <a:r>
              <a:rPr sz="850" b="0">
                <a:solidFill>
                  <a:srgbClr val="D19A66"/>
                </a:solidFill>
                <a:latin typeface="Consolas"/>
              </a:rPr>
              <a:t>450</a:t>
            </a:r>
            <a:r>
              <a:rPr sz="850" b="0">
                <a:solidFill>
                  <a:srgbClr val="D4D4D8"/>
                </a:solidFill>
                <a:latin typeface="Consolas"/>
              </a:rPr>
              <a:t> },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{ id: </a:t>
            </a:r>
            <a:r>
              <a:rPr sz="850" b="0">
                <a:solidFill>
                  <a:srgbClr val="98C379"/>
                </a:solidFill>
                <a:latin typeface="Consolas"/>
              </a:rPr>
              <a:t>'smart-2'</a:t>
            </a:r>
            <a:r>
              <a:rPr sz="850" b="0">
                <a:solidFill>
                  <a:srgbClr val="D4D4D8"/>
                </a:solidFill>
                <a:latin typeface="Consolas"/>
              </a:rPr>
              <a:t>, title: </a:t>
            </a:r>
            <a:r>
              <a:rPr sz="850" b="0">
                <a:solidFill>
                  <a:srgbClr val="98C379"/>
                </a:solidFill>
                <a:latin typeface="Consolas"/>
              </a:rPr>
              <a:t>'Смарт-офис Grand'</a:t>
            </a:r>
            <a:r>
              <a:rPr sz="850" b="0">
                <a:solidFill>
                  <a:srgbClr val="D4D4D8"/>
                </a:solidFill>
                <a:latin typeface="Consolas"/>
              </a:rPr>
              <a:t>, price: </a:t>
            </a:r>
            <a:r>
              <a:rPr sz="850" b="0">
                <a:solidFill>
                  <a:srgbClr val="D19A66"/>
                </a:solidFill>
                <a:latin typeface="Consolas"/>
              </a:rPr>
              <a:t>900</a:t>
            </a:r>
            <a:r>
              <a:rPr sz="850" b="0">
                <a:solidFill>
                  <a:srgbClr val="D4D4D8"/>
                </a:solidFill>
                <a:latin typeface="Consolas"/>
              </a:rPr>
              <a:t> }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];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js/main.js — только управляющая логика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function </a:t>
            </a:r>
            <a:r>
              <a:rPr sz="850" b="0">
                <a:solidFill>
                  <a:srgbClr val="61AFEF"/>
                </a:solidFill>
                <a:latin typeface="Consolas"/>
              </a:rPr>
              <a:t>renderCatalog</a:t>
            </a:r>
            <a:r>
              <a:rPr sz="850" b="0">
                <a:solidFill>
                  <a:srgbClr val="D4D4D8"/>
                </a:solidFill>
                <a:latin typeface="Consolas"/>
              </a:rPr>
              <a:t>()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  // Использует готовый массив roomsData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Модульное разделение скриптов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Чистота логики:
</a:t>
            </a:r>
            <a:r>
              <a:rPr sz="850" b="0">
                <a:solidFill>
                  <a:srgbClr val="555555"/>
                </a:solidFill>
                <a:latin typeface="Inter"/>
              </a:rPr>
              <a:t>main.js не загроможден длинными массивами объектов и текстами описаний офисов.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3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018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Простая замена:
</a:t>
            </a:r>
            <a:r>
              <a:rPr sz="850" b="0">
                <a:solidFill>
                  <a:srgbClr val="555555"/>
                </a:solidFill>
                <a:latin typeface="Inter"/>
              </a:rPr>
              <a:t>В будущем файл data.js легко заменить сетевым запросом fetch('/api/rooms').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298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2606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Командная работа:
</a:t>
            </a:r>
            <a:r>
              <a:rPr sz="850" b="0">
                <a:solidFill>
                  <a:srgbClr val="555555"/>
                </a:solidFill>
                <a:latin typeface="Inter"/>
              </a:rPr>
              <a:t>Контент-менеджер может редактировать цены комнат в data.js без риска поломать JS.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2857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8194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Удобство отладки:
</a:t>
            </a:r>
            <a:r>
              <a:rPr sz="850" b="0">
                <a:solidFill>
                  <a:srgbClr val="555555"/>
                </a:solidFill>
                <a:latin typeface="Inter"/>
              </a:rPr>
              <a:t>Ошибки в коде логики локализуются в main.js, опечатки в данных — в data.js.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604000" y="259079"/>
            <a:ext cx="2286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ПОДКЛЮЧЕНИЕ СКРИПТОВ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Почему при запуске слайдера в main.js критически важно дождаться DOMContentLoaded?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Порядок тегов script и DOMContentLoaded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&lt;!-- Порядок подключения в index.html --&gt;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&lt;script src="js/data.js"&gt;&lt;/script&gt;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&lt;script src="js/main.js"&gt;&lt;/script&gt;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Точка входа в js/main.js: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document.addEventListener(</a:t>
            </a:r>
            <a:r>
              <a:rPr sz="850" b="0">
                <a:solidFill>
                  <a:srgbClr val="98C379"/>
                </a:solidFill>
                <a:latin typeface="Consolas"/>
              </a:rPr>
              <a:t>'DOMContentLoaded'</a:t>
            </a:r>
            <a:r>
              <a:rPr sz="850" b="0">
                <a:solidFill>
                  <a:srgbClr val="D4D4D8"/>
                </a:solidFill>
                <a:latin typeface="Consolas"/>
              </a:rPr>
              <a:t>, () =&gt;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initNavigation();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initSlider();     </a:t>
            </a:r>
            <a:r>
              <a:rPr sz="850" b="0">
                <a:solidFill>
                  <a:srgbClr val="5C6370"/>
                </a:solidFill>
                <a:latin typeface="Consolas"/>
              </a:rPr>
              <a:t>// Слайдер запускается здесь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renderCatalog();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});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Безопасный запуск приложения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Очередность тегов:
</a:t>
            </a:r>
            <a:r>
              <a:rPr sz="850" b="0">
                <a:solidFill>
                  <a:srgbClr val="555555"/>
                </a:solidFill>
                <a:latin typeface="Inter"/>
              </a:rPr>
              <a:t>Скрипт data.js объявляется первым, чтобы глобальный массив комнат был готов до старта main.js.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3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018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DOMContentLoaded:
</a:t>
            </a:r>
            <a:r>
              <a:rPr sz="850" b="0">
                <a:solidFill>
                  <a:srgbClr val="555555"/>
                </a:solidFill>
                <a:latin typeface="Inter"/>
              </a:rPr>
              <a:t>Гарантирует, что браузер полностью построил HTML-дерево перед выполнением querySelector.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298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2606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Защита от null:
</a:t>
            </a:r>
            <a:r>
              <a:rPr sz="850" b="0">
                <a:solidFill>
                  <a:srgbClr val="555555"/>
                </a:solidFill>
                <a:latin typeface="Inter"/>
              </a:rPr>
              <a:t>Предотвращает фатальную ошибку Cannot read properties of null (reading 'addEventListener').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2857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8194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Централизация старта:
</a:t>
            </a:r>
            <a:r>
              <a:rPr sz="850" b="0">
                <a:solidFill>
                  <a:srgbClr val="555555"/>
                </a:solidFill>
                <a:latin typeface="Inter"/>
              </a:rPr>
              <a:t>Единый обработчик DOMContentLoaded прозрачно управляет порядком запуска всех систем.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000240" y="259079"/>
            <a:ext cx="188976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ВЕРСТКА СЛАЙДЕРА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Почему для плавного появления слайдов используется opacity, а не display: none?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CSS-наложение и плавность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/* Родительский контейнер слайдера */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.slider { position: relative; overflow: hidden; height: 420px; }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/* Все слайды лежат друг под другом */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.slide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position: absolute; top: 0; left: 0; width: 100%; height: 100%;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opacity: 0;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transition: opacity 0.3s ease-in-out;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/* Активный видимый слайд */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.slide.active { opacity: 1; z-index: 2; }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Принцип наложения слайдов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Абсолютное наложение:
</a:t>
            </a:r>
            <a:r>
              <a:rPr sz="850" b="0">
                <a:solidFill>
                  <a:srgbClr val="555555"/>
                </a:solidFill>
                <a:latin typeface="Inter"/>
              </a:rPr>
              <a:t>Все 4 слайда занимают одинаковые координаты top: 0, left: 0 внутри .slider.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3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018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Скрытие через opacity:
</a:t>
            </a:r>
            <a:r>
              <a:rPr sz="850" b="0">
                <a:solidFill>
                  <a:srgbClr val="555555"/>
                </a:solidFill>
                <a:latin typeface="Inter"/>
              </a:rPr>
              <a:t>В отличие от display: none, изменение opacity плавно анимируется браузером через transition.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298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2606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Стек слоев z-index:
</a:t>
            </a:r>
            <a:r>
              <a:rPr sz="850" b="0">
                <a:solidFill>
                  <a:srgbClr val="555555"/>
                </a:solidFill>
                <a:latin typeface="Inter"/>
              </a:rPr>
              <a:t>Класс .active поднимает видимый кадр выше остальных слоев, исключая артефакты.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2857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8194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Быстродействие GPU:
</a:t>
            </a:r>
            <a:r>
              <a:rPr sz="850" b="0">
                <a:solidFill>
                  <a:srgbClr val="555555"/>
                </a:solidFill>
                <a:latin typeface="Inter"/>
              </a:rPr>
              <a:t>Анимация opacity ускоряется видеокартой и обеспечивает стабильные 60 кадров/сек.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901180" y="259079"/>
            <a:ext cx="198882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АЛГОРИТМ СЛАЙДЕРА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работает условие закольцовывания слайдов при выходе за пределы массива?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Кольцевая функция showSlide()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function </a:t>
            </a:r>
            <a:r>
              <a:rPr sz="850" b="0">
                <a:solidFill>
                  <a:srgbClr val="61AFEF"/>
                </a:solidFill>
                <a:latin typeface="Consolas"/>
              </a:rPr>
              <a:t>showSlide</a:t>
            </a:r>
            <a:r>
              <a:rPr sz="850" b="0">
                <a:solidFill>
                  <a:srgbClr val="D4D4D8"/>
                </a:solidFill>
                <a:latin typeface="Consolas"/>
              </a:rPr>
              <a:t>(index)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  // Проверка правого и левого краев: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if </a:t>
            </a:r>
            <a:r>
              <a:rPr sz="850" b="0">
                <a:solidFill>
                  <a:srgbClr val="D4D4D8"/>
                </a:solidFill>
                <a:latin typeface="Consolas"/>
              </a:rPr>
              <a:t>(index &gt;= slides.length)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currentSlide = </a:t>
            </a:r>
            <a:r>
              <a:rPr sz="850" b="0">
                <a:solidFill>
                  <a:srgbClr val="D19A66"/>
                </a:solidFill>
                <a:latin typeface="Consolas"/>
              </a:rPr>
              <a:t>0</a:t>
            </a:r>
            <a:r>
              <a:rPr sz="850" b="0">
                <a:solidFill>
                  <a:srgbClr val="D4D4D8"/>
                </a:solidFill>
                <a:latin typeface="Consolas"/>
              </a:rPr>
              <a:t>;             </a:t>
            </a:r>
            <a:r>
              <a:rPr sz="850" b="0">
                <a:solidFill>
                  <a:srgbClr val="5C6370"/>
                </a:solidFill>
                <a:latin typeface="Consolas"/>
              </a:rPr>
              <a:t>// Зацикливание в начало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} else if </a:t>
            </a:r>
            <a:r>
              <a:rPr sz="850" b="0">
                <a:solidFill>
                  <a:srgbClr val="D4D4D8"/>
                </a:solidFill>
                <a:latin typeface="Consolas"/>
              </a:rPr>
              <a:t>(index &lt; </a:t>
            </a:r>
            <a:r>
              <a:rPr sz="850" b="0">
                <a:solidFill>
                  <a:srgbClr val="D19A66"/>
                </a:solidFill>
                <a:latin typeface="Consolas"/>
              </a:rPr>
              <a:t>0</a:t>
            </a:r>
            <a:r>
              <a:rPr sz="850" b="0">
                <a:solidFill>
                  <a:srgbClr val="D4D4D8"/>
                </a:solidFill>
                <a:latin typeface="Consolas"/>
              </a:rPr>
              <a:t>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currentSlide = slides.length - </a:t>
            </a:r>
            <a:r>
              <a:rPr sz="850" b="0">
                <a:solidFill>
                  <a:srgbClr val="D19A66"/>
                </a:solidFill>
                <a:latin typeface="Consolas"/>
              </a:rPr>
              <a:t>1</a:t>
            </a:r>
            <a:r>
              <a:rPr sz="850" b="0">
                <a:solidFill>
                  <a:srgbClr val="D4D4D8"/>
                </a:solidFill>
                <a:latin typeface="Consolas"/>
              </a:rPr>
              <a:t>; </a:t>
            </a:r>
            <a:r>
              <a:rPr sz="850" b="0">
                <a:solidFill>
                  <a:srgbClr val="5C6370"/>
                </a:solidFill>
                <a:latin typeface="Consolas"/>
              </a:rPr>
              <a:t>// Зацикливание в конец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} else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currentSlide = index;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updateVisuals();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Кольцевая навигация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Бесконечный цикл:
</a:t>
            </a:r>
            <a:r>
              <a:rPr sz="850" b="0">
                <a:solidFill>
                  <a:srgbClr val="555555"/>
                </a:solidFill>
                <a:latin typeface="Inter"/>
              </a:rPr>
              <a:t>После слайда 3 открывается слайд 0. При клике назад со слайда 0 открывается слайд 3.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3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018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Единая точка правды:
</a:t>
            </a:r>
            <a:r>
              <a:rPr sz="850" b="0">
                <a:solidFill>
                  <a:srgbClr val="555555"/>
                </a:solidFill>
                <a:latin typeface="Inter"/>
              </a:rPr>
              <a:t>Переменная currentSlide всегда хранит точный номер кадра, показанного пользователю.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298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2606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Универсальный вход:
</a:t>
            </a:r>
            <a:r>
              <a:rPr sz="850" b="0">
                <a:solidFill>
                  <a:srgbClr val="555555"/>
                </a:solidFill>
                <a:latin typeface="Inter"/>
              </a:rPr>
              <a:t>Функция принимает целевой номер слайда и от стрелок, и от нижних индикаторов точек.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2857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8194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Разделение логики:
</a:t>
            </a:r>
            <a:r>
              <a:rPr sz="850" b="0">
                <a:solidFill>
                  <a:srgbClr val="555555"/>
                </a:solidFill>
                <a:latin typeface="Inter"/>
              </a:rPr>
              <a:t>Сначала рассчитывается корректный индекс, а затем обновляется графика в updateVisuals().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000240" y="259079"/>
            <a:ext cx="188976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ИНДИКАТОРЫ ТОЧЕК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В чем преимущество использования classList.toggle со вторым аргументом-условием?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Синхронизация слайдов и Dots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function </a:t>
            </a:r>
            <a:r>
              <a:rPr sz="850" b="0">
                <a:solidFill>
                  <a:srgbClr val="61AFEF"/>
                </a:solidFill>
                <a:latin typeface="Consolas"/>
              </a:rPr>
              <a:t>updateVisuals</a:t>
            </a:r>
            <a:r>
              <a:rPr sz="850" b="0">
                <a:solidFill>
                  <a:srgbClr val="D4D4D8"/>
                </a:solidFill>
                <a:latin typeface="Consolas"/>
              </a:rPr>
              <a:t>()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  // Элегантный переключатель классов одной строкой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slides.forEach((slide, i) =&gt;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slide.classList.toggle(</a:t>
            </a:r>
            <a:r>
              <a:rPr sz="850" b="0">
                <a:solidFill>
                  <a:srgbClr val="98C379"/>
                </a:solidFill>
                <a:latin typeface="Consolas"/>
              </a:rPr>
              <a:t>'active'</a:t>
            </a:r>
            <a:r>
              <a:rPr sz="850" b="0">
                <a:solidFill>
                  <a:srgbClr val="D4D4D8"/>
                </a:solidFill>
                <a:latin typeface="Consolas"/>
              </a:rPr>
              <a:t>, i === currentSlide);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});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dots.forEach((dot, i) =&gt;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dot.classList.toggle(</a:t>
            </a:r>
            <a:r>
              <a:rPr sz="850" b="0">
                <a:solidFill>
                  <a:srgbClr val="98C379"/>
                </a:solidFill>
                <a:latin typeface="Consolas"/>
              </a:rPr>
              <a:t>'active'</a:t>
            </a:r>
            <a:r>
              <a:rPr sz="850" b="0">
                <a:solidFill>
                  <a:srgbClr val="D4D4D8"/>
                </a:solidFill>
                <a:latin typeface="Consolas"/>
              </a:rPr>
              <a:t>, i === currentSlide);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});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Метод classList.toggle()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Второй аргумент:
</a:t>
            </a:r>
            <a:r>
              <a:rPr sz="850" b="0">
                <a:solidFill>
                  <a:srgbClr val="555555"/>
                </a:solidFill>
                <a:latin typeface="Inter"/>
              </a:rPr>
              <a:t>classList.toggle('active', condition) добавляет класс при true и удаляет при false.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3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018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Никаких дубликатов:
</a:t>
            </a:r>
            <a:r>
              <a:rPr sz="850" b="0">
                <a:solidFill>
                  <a:srgbClr val="555555"/>
                </a:solidFill>
                <a:latin typeface="Inter"/>
              </a:rPr>
              <a:t>Исключает ситуацию, когда из-за бага активными одновременно оказываются 2 кадра.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298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2606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Идеальная связка:
</a:t>
            </a:r>
            <a:r>
              <a:rPr sz="850" b="0">
                <a:solidFill>
                  <a:srgbClr val="555555"/>
                </a:solidFill>
                <a:latin typeface="Inter"/>
              </a:rPr>
              <a:t>Слайды и круглые индикаторы снизу меняются одновременно без рассинхронизации.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2857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8194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Лаконичность кода:
</a:t>
            </a:r>
            <a:r>
              <a:rPr sz="850" b="0">
                <a:solidFill>
                  <a:srgbClr val="555555"/>
                </a:solidFill>
                <a:latin typeface="Inter"/>
              </a:rPr>
              <a:t>Заменяет длинные блоки if/else с add() и remove(), повышая читаемость.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901180" y="259079"/>
            <a:ext cx="198882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РУЧНОЕ УПРАВЛЕНИЕ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Зачем сбрасывать интервал таймера при ручном переключении слайда пользователем?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Слушатели кликов со сбросом таймера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Кнопки вперед и назад: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nextBtn.addEventListener(</a:t>
            </a:r>
            <a:r>
              <a:rPr sz="850" b="0">
                <a:solidFill>
                  <a:srgbClr val="98C379"/>
                </a:solidFill>
                <a:latin typeface="Consolas"/>
              </a:rPr>
              <a:t>'click'</a:t>
            </a:r>
            <a:r>
              <a:rPr sz="850" b="0">
                <a:solidFill>
                  <a:srgbClr val="D4D4D8"/>
                </a:solidFill>
                <a:latin typeface="Consolas"/>
              </a:rPr>
              <a:t>, () =&gt;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next();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startAuto(); </a:t>
            </a:r>
            <a:r>
              <a:rPr sz="850" b="0">
                <a:solidFill>
                  <a:srgbClr val="5C6370"/>
                </a:solidFill>
                <a:latin typeface="Consolas"/>
              </a:rPr>
              <a:t>// Сброс таймера на полные 3 сек!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Нижние круглые индикаторы Dots: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dots.forEach((dot, idx) =&gt;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dot.addEventListener(</a:t>
            </a:r>
            <a:r>
              <a:rPr sz="850" b="0">
                <a:solidFill>
                  <a:srgbClr val="98C379"/>
                </a:solidFill>
                <a:latin typeface="Consolas"/>
              </a:rPr>
              <a:t>'click'</a:t>
            </a:r>
            <a:r>
              <a:rPr sz="850" b="0">
                <a:solidFill>
                  <a:srgbClr val="D4D4D8"/>
                </a:solidFill>
                <a:latin typeface="Consolas"/>
              </a:rPr>
              <a:t>, () =&gt;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  showSlide(idx);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  startAuto();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});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});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Комфортный интерактивный UX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Мгновенная реакция:
</a:t>
            </a:r>
            <a:r>
              <a:rPr sz="850" b="0">
                <a:solidFill>
                  <a:srgbClr val="555555"/>
                </a:solidFill>
                <a:latin typeface="Inter"/>
              </a:rPr>
              <a:t>Клик по стрелке или точке сразу же переключает медиа-контент без задержки.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3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018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Уважение к пользователю:
</a:t>
            </a:r>
            <a:r>
              <a:rPr sz="850" b="0">
                <a:solidFill>
                  <a:srgbClr val="555555"/>
                </a:solidFill>
                <a:latin typeface="Inter"/>
              </a:rPr>
              <a:t>Вызов startAuto() сбрасывает старый таймер: слайд не уедет через долю секунды.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298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2606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Полные 3 секунды:
</a:t>
            </a:r>
            <a:r>
              <a:rPr sz="850" b="0">
                <a:solidFill>
                  <a:srgbClr val="555555"/>
                </a:solidFill>
                <a:latin typeface="Inter"/>
              </a:rPr>
              <a:t>После ручного клика пользователь получает полные 3 секунды на изучение фотографии.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2857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8194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Бесшовный гибрид:
</a:t>
            </a:r>
            <a:r>
              <a:rPr sz="850" b="0">
                <a:solidFill>
                  <a:srgbClr val="555555"/>
                </a:solidFill>
                <a:latin typeface="Inter"/>
              </a:rPr>
              <a:t>Автопрокрутка и ручное управление работают в полной гармонии без сбоев.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112000" y="259079"/>
            <a:ext cx="1778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ИТОГИ ВЕБИНАРА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Какие критерии определяют надежность и стабильность интерактивного слайдера?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Финальная сборка медиа-компонента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function </a:t>
            </a:r>
            <a:r>
              <a:rPr sz="850" b="0">
                <a:solidFill>
                  <a:srgbClr val="61AFEF"/>
                </a:solidFill>
                <a:latin typeface="Consolas"/>
              </a:rPr>
              <a:t>initSlider</a:t>
            </a:r>
            <a:r>
              <a:rPr sz="850" b="0">
                <a:solidFill>
                  <a:srgbClr val="D4D4D8"/>
                </a:solidFill>
                <a:latin typeface="Consolas"/>
              </a:rPr>
              <a:t>()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const </a:t>
            </a:r>
            <a:r>
              <a:rPr sz="850" b="0">
                <a:solidFill>
                  <a:srgbClr val="D4D4D8"/>
                </a:solidFill>
                <a:latin typeface="Consolas"/>
              </a:rPr>
              <a:t>slides = document.querySelectorAll(</a:t>
            </a:r>
            <a:r>
              <a:rPr sz="850" b="0">
                <a:solidFill>
                  <a:srgbClr val="98C379"/>
                </a:solidFill>
                <a:latin typeface="Consolas"/>
              </a:rPr>
              <a:t>'.slide'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if </a:t>
            </a:r>
            <a:r>
              <a:rPr sz="850" b="0">
                <a:solidFill>
                  <a:srgbClr val="D4D4D8"/>
                </a:solidFill>
                <a:latin typeface="Consolas"/>
              </a:rPr>
              <a:t>(!slides.length) return; </a:t>
            </a:r>
            <a:r>
              <a:rPr sz="850" b="0">
                <a:solidFill>
                  <a:srgbClr val="5C6370"/>
                </a:solidFill>
                <a:latin typeface="Consolas"/>
              </a:rPr>
              <a:t>// Защита от ошибок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  // 1. Инкапсулированные let currentSlide, timerId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  // 2. Кольцевой алгоритм showSlide(index)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  // 3. Безопасные startAuto() и stopAuto()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  // 4. Поддержка стрелок и точек-индикаторов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startAuto();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Чек-лист качества компонента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Защита от сбоев:
</a:t>
            </a:r>
            <a:r>
              <a:rPr sz="850" b="0">
                <a:solidFill>
                  <a:srgbClr val="555555"/>
                </a:solidFill>
                <a:latin typeface="Inter"/>
              </a:rPr>
              <a:t>Проверка if (!slides.length) return защищает другие страницы сайта от ошибок консоли.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3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018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Изоляция переменных:
</a:t>
            </a:r>
            <a:r>
              <a:rPr sz="850" b="0">
                <a:solidFill>
                  <a:srgbClr val="555555"/>
                </a:solidFill>
                <a:latin typeface="Inter"/>
              </a:rPr>
              <a:t>Вся логика запечатана внутри initSlider() без риска конфликтов в global scope.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298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2606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Контроль таймеров:
</a:t>
            </a:r>
            <a:r>
              <a:rPr sz="850" b="0">
                <a:solidFill>
                  <a:srgbClr val="555555"/>
                </a:solidFill>
                <a:latin typeface="Inter"/>
              </a:rPr>
              <a:t>Отсутствие утечек памяти и наложения параллельных интервалов автопрокрутки.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2857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819400"/>
            <a:ext cx="40767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Готовый медиа-блок:
</a:t>
            </a:r>
            <a:r>
              <a:rPr sz="850" b="0">
                <a:solidFill>
                  <a:srgbClr val="555555"/>
                </a:solidFill>
                <a:latin typeface="Inter"/>
              </a:rPr>
              <a:t>Главная страница «СмартОфис» получила эффектный интерактивный фото-слайдер.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Другая 2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00B0F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Другая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B0F0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2403</TotalTime>
  <Words>5609</Words>
  <Application>Microsoft Office PowerPoint</Application>
  <PresentationFormat>Экран (16:9)</PresentationFormat>
  <Paragraphs>688</Paragraphs>
  <Slides>27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9" baseType="lpstr">
      <vt:lpstr>Segoe UI Symbol</vt:lpstr>
      <vt:lpstr>Proxima Nova</vt:lpstr>
      <vt:lpstr>Calibri</vt:lpstr>
      <vt:lpstr>Montserrat ExtraBold</vt:lpstr>
      <vt:lpstr>Montserrat</vt:lpstr>
      <vt:lpstr>PT Sans Caption</vt:lpstr>
      <vt:lpstr>Inter</vt:lpstr>
      <vt:lpstr>Arial</vt:lpstr>
      <vt:lpstr>Consolas</vt:lpstr>
      <vt:lpstr>Montserrat SemiBold</vt:lpstr>
      <vt:lpstr>Inter Medium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mrsky1001</dc:creator>
  <cp:lastModifiedBy>Keith Allison</cp:lastModifiedBy>
  <cp:revision>259</cp:revision>
  <dcterms:modified xsi:type="dcterms:W3CDTF">2026-09-06T08:47:48Z</dcterms:modified>
</cp:coreProperties>
</file>