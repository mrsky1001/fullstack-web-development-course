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29"/>
  </p:notesMasterIdLst>
  <p:handoutMasterIdLst>
    <p:handoutMasterId r:id="rId30"/>
  </p:handoutMasterIdLst>
  <p:sldIdLst>
    <p:sldId id="256" r:id="rId2"/>
    <p:sldId id="257" r:id="rId3"/>
    <p:sldId id="298" r:id="rId60"/>
    <p:sldId id="299" r:id="rId61"/>
    <p:sldId id="300" r:id="rId62"/>
    <p:sldId id="301" r:id="rId63"/>
    <p:sldId id="302" r:id="rId64"/>
    <p:sldId id="303" r:id="rId65"/>
    <p:sldId id="304" r:id="rId66"/>
    <p:sldId id="305" r:id="rId67"/>
    <p:sldId id="306" r:id="rId68"/>
    <p:sldId id="307" r:id="rId69"/>
    <p:sldId id="308" r:id="rId70"/>
    <p:sldId id="309" r:id="rId71"/>
    <p:sldId id="310" r:id="rId72"/>
    <p:sldId id="311" r:id="rId73"/>
    <p:sldId id="312" r:id="rId74"/>
    <p:sldId id="313" r:id="rId75"/>
    <p:sldId id="314" r:id="rId76"/>
    <p:sldId id="315" r:id="rId77"/>
    <p:sldId id="316" r:id="rId78"/>
    <p:sldId id="317" r:id="rId79"/>
    <p:sldId id="318" r:id="rId80"/>
    <p:sldId id="319" r:id="rId81"/>
    <p:sldId id="260" r:id="rId27"/>
    <p:sldId id="274" r:id="rId28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31"/>
      <p:bold r:id="rId32"/>
      <p:italic r:id="rId33"/>
      <p:boldItalic r:id="rId34"/>
    </p:embeddedFont>
    <p:embeddedFont>
      <p:font typeface="Inter" panose="02000503000000020004" pitchFamily="2" charset="0"/>
      <p:regular r:id="rId35"/>
      <p:bold r:id="rId36"/>
      <p:italic r:id="rId37"/>
      <p:boldItalic r:id="rId38"/>
    </p:embeddedFont>
    <p:embeddedFont>
      <p:font typeface="Inter Medium" panose="02000503000000020004" pitchFamily="2" charset="0"/>
      <p:regular r:id="rId39"/>
      <p:italic r:id="rId40"/>
    </p:embeddedFont>
    <p:embeddedFont>
      <p:font typeface="Montserrat" panose="00000500000000000000" pitchFamily="2" charset="-52"/>
      <p:regular r:id="rId41"/>
      <p:bold r:id="rId42"/>
      <p:italic r:id="rId43"/>
      <p:boldItalic r:id="rId44"/>
    </p:embeddedFont>
    <p:embeddedFont>
      <p:font typeface="Montserrat ExtraBold" panose="00000900000000000000" pitchFamily="2" charset="-52"/>
      <p:bold r:id="rId45"/>
      <p:boldItalic r:id="rId46"/>
    </p:embeddedFont>
    <p:embeddedFont>
      <p:font typeface="Montserrat SemiBold" panose="00000700000000000000" pitchFamily="2" charset="-52"/>
      <p:bold r:id="rId47"/>
      <p:boldItalic r:id="rId48"/>
    </p:embeddedFont>
    <p:embeddedFont>
      <p:font typeface="Proxima Nova" panose="020B0604020202020204" charset="0"/>
      <p:regular r:id="rId49"/>
      <p:bold r:id="rId50"/>
      <p:italic r:id="rId51"/>
      <p:boldItalic r:id="rId52"/>
    </p:embeddedFont>
    <p:embeddedFont>
      <p:font typeface="PT Sans Caption" panose="020B0603020203020204" pitchFamily="34" charset="-52"/>
      <p:regular r:id="rId53"/>
      <p:bold r:id="rId54"/>
    </p:embeddedFont>
    <p:embeddedFont>
      <p:font typeface="Segoe UI Symbol" panose="020B0502040204020203" pitchFamily="34" charset="0"/>
      <p:regular r:id="rId5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45">
          <p15:clr>
            <a:srgbClr val="747775"/>
          </p15:clr>
        </p15:guide>
        <p15:guide id="2" pos="723">
          <p15:clr>
            <a:srgbClr val="747775"/>
          </p15:clr>
        </p15:guide>
        <p15:guide id="3" pos="5037">
          <p15:clr>
            <a:srgbClr val="747775"/>
          </p15:clr>
        </p15:guide>
        <p15:guide id="4" pos="1152">
          <p15:clr>
            <a:srgbClr val="747775"/>
          </p15:clr>
        </p15:guide>
        <p15:guide id="5" pos="4608">
          <p15:clr>
            <a:srgbClr val="747775"/>
          </p15:clr>
        </p15:guide>
        <p15:guide id="6" orient="horz" pos="1440">
          <p15:clr>
            <a:srgbClr val="747775"/>
          </p15:clr>
        </p15:guide>
        <p15:guide id="7" orient="horz" pos="1728">
          <p15:clr>
            <a:srgbClr val="747775"/>
          </p15:clr>
        </p15:guide>
        <p15:guide id="8" pos="2808">
          <p15:clr>
            <a:srgbClr val="747775"/>
          </p15:clr>
        </p15:guide>
        <p15:guide id="9" orient="horz" pos="2448">
          <p15:clr>
            <a:srgbClr val="747775"/>
          </p15:clr>
        </p15:guide>
        <p15:guide id="10" orient="horz" pos="2735">
          <p15:clr>
            <a:srgbClr val="747775"/>
          </p15:clr>
        </p15:guide>
        <p15:guide id="11" orient="horz" pos="1080">
          <p15:clr>
            <a:srgbClr val="747775"/>
          </p15:clr>
        </p15:guide>
        <p15:guide id="12" orient="horz" pos="868">
          <p15:clr>
            <a:srgbClr val="747775"/>
          </p15:clr>
        </p15:guide>
        <p15:guide id="13" orient="horz" pos="2391" userDrawn="1">
          <p15:clr>
            <a:srgbClr val="747775"/>
          </p15:clr>
        </p15:guide>
        <p15:guide id="14" pos="288">
          <p15:clr>
            <a:srgbClr val="747775"/>
          </p15:clr>
        </p15:guide>
        <p15:guide id="15" pos="5278">
          <p15:clr>
            <a:srgbClr val="747775"/>
          </p15:clr>
        </p15:guide>
        <p15:guide id="16" pos="5184">
          <p15:clr>
            <a:srgbClr val="747775"/>
          </p15:clr>
        </p15:guide>
        <p15:guide id="17" orient="horz" pos="2304">
          <p15:clr>
            <a:srgbClr val="747775"/>
          </p15:clr>
        </p15:guide>
        <p15:guide id="18" pos="427">
          <p15:clr>
            <a:srgbClr val="747775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F03"/>
    <a:srgbClr val="434343"/>
    <a:srgbClr val="F26101"/>
    <a:srgbClr val="F97316"/>
    <a:srgbClr val="FA9046"/>
    <a:srgbClr val="F88B06"/>
    <a:srgbClr val="FFFFFF"/>
    <a:srgbClr val="FF6102"/>
    <a:srgbClr val="FF6002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989" autoAdjust="0"/>
  </p:normalViewPr>
  <p:slideViewPr>
    <p:cSldViewPr snapToGrid="0">
      <p:cViewPr varScale="1">
        <p:scale>
          <a:sx n="136" d="100"/>
          <a:sy n="136" d="100"/>
        </p:scale>
        <p:origin x="824" y="93"/>
      </p:cViewPr>
      <p:guideLst>
        <p:guide orient="horz" pos="145"/>
        <p:guide pos="723"/>
        <p:guide pos="5037"/>
        <p:guide pos="1152"/>
        <p:guide pos="4608"/>
        <p:guide orient="horz" pos="1440"/>
        <p:guide orient="horz" pos="1728"/>
        <p:guide pos="2808"/>
        <p:guide orient="horz" pos="2448"/>
        <p:guide orient="horz" pos="2735"/>
        <p:guide orient="horz" pos="1080"/>
        <p:guide orient="horz" pos="868"/>
        <p:guide orient="horz" pos="2391"/>
        <p:guide pos="288"/>
        <p:guide pos="5278"/>
        <p:guide pos="5184"/>
        <p:guide orient="horz" pos="2304"/>
        <p:guide pos="42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3" d="100"/>
          <a:sy n="83" d="100"/>
        </p:scale>
        <p:origin x="2973" y="75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handoutMaster" Target="handoutMasters/handoutMaster1.xml"/><Relationship Id="rId31" Type="http://schemas.openxmlformats.org/officeDocument/2006/relationships/font" Target="fonts/font1.fntdata"/><Relationship Id="rId32" Type="http://schemas.openxmlformats.org/officeDocument/2006/relationships/font" Target="fonts/font2.fntdata"/><Relationship Id="rId33" Type="http://schemas.openxmlformats.org/officeDocument/2006/relationships/font" Target="fonts/font3.fntdata"/><Relationship Id="rId34" Type="http://schemas.openxmlformats.org/officeDocument/2006/relationships/font" Target="fonts/font4.fntdata"/><Relationship Id="rId35" Type="http://schemas.openxmlformats.org/officeDocument/2006/relationships/font" Target="fonts/font5.fntdata"/><Relationship Id="rId36" Type="http://schemas.openxmlformats.org/officeDocument/2006/relationships/font" Target="fonts/font6.fntdata"/><Relationship Id="rId37" Type="http://schemas.openxmlformats.org/officeDocument/2006/relationships/font" Target="fonts/font7.fntdata"/><Relationship Id="rId38" Type="http://schemas.openxmlformats.org/officeDocument/2006/relationships/font" Target="fonts/font8.fntdata"/><Relationship Id="rId39" Type="http://schemas.openxmlformats.org/officeDocument/2006/relationships/font" Target="fonts/font9.fntdata"/><Relationship Id="rId40" Type="http://schemas.openxmlformats.org/officeDocument/2006/relationships/font" Target="fonts/font10.fntdata"/><Relationship Id="rId41" Type="http://schemas.openxmlformats.org/officeDocument/2006/relationships/font" Target="fonts/font11.fntdata"/><Relationship Id="rId42" Type="http://schemas.openxmlformats.org/officeDocument/2006/relationships/font" Target="fonts/font12.fntdata"/><Relationship Id="rId43" Type="http://schemas.openxmlformats.org/officeDocument/2006/relationships/font" Target="fonts/font13.fntdata"/><Relationship Id="rId44" Type="http://schemas.openxmlformats.org/officeDocument/2006/relationships/font" Target="fonts/font14.fntdata"/><Relationship Id="rId45" Type="http://schemas.openxmlformats.org/officeDocument/2006/relationships/font" Target="fonts/font15.fntdata"/><Relationship Id="rId46" Type="http://schemas.openxmlformats.org/officeDocument/2006/relationships/font" Target="fonts/font16.fntdata"/><Relationship Id="rId47" Type="http://schemas.openxmlformats.org/officeDocument/2006/relationships/font" Target="fonts/font17.fntdata"/><Relationship Id="rId48" Type="http://schemas.openxmlformats.org/officeDocument/2006/relationships/font" Target="fonts/font18.fntdata"/><Relationship Id="rId49" Type="http://schemas.openxmlformats.org/officeDocument/2006/relationships/font" Target="fonts/font19.fntdata"/><Relationship Id="rId50" Type="http://schemas.openxmlformats.org/officeDocument/2006/relationships/font" Target="fonts/font20.fntdata"/><Relationship Id="rId51" Type="http://schemas.openxmlformats.org/officeDocument/2006/relationships/font" Target="fonts/font21.fntdata"/><Relationship Id="rId52" Type="http://schemas.openxmlformats.org/officeDocument/2006/relationships/font" Target="fonts/font22.fntdata"/><Relationship Id="rId53" Type="http://schemas.openxmlformats.org/officeDocument/2006/relationships/font" Target="fonts/font23.fntdata"/><Relationship Id="rId54" Type="http://schemas.openxmlformats.org/officeDocument/2006/relationships/font" Target="fonts/font24.fntdata"/><Relationship Id="rId55" Type="http://schemas.openxmlformats.org/officeDocument/2006/relationships/font" Target="fonts/font25.fntdata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Relationship Id="rId60" Type="http://schemas.openxmlformats.org/officeDocument/2006/relationships/slide" Target="slides/slide28.xml"/><Relationship Id="rId61" Type="http://schemas.openxmlformats.org/officeDocument/2006/relationships/slide" Target="slides/slide29.xml"/><Relationship Id="rId62" Type="http://schemas.openxmlformats.org/officeDocument/2006/relationships/slide" Target="slides/slide30.xml"/><Relationship Id="rId63" Type="http://schemas.openxmlformats.org/officeDocument/2006/relationships/slide" Target="slides/slide31.xml"/><Relationship Id="rId64" Type="http://schemas.openxmlformats.org/officeDocument/2006/relationships/slide" Target="slides/slide32.xml"/><Relationship Id="rId65" Type="http://schemas.openxmlformats.org/officeDocument/2006/relationships/slide" Target="slides/slide33.xml"/><Relationship Id="rId66" Type="http://schemas.openxmlformats.org/officeDocument/2006/relationships/slide" Target="slides/slide34.xml"/><Relationship Id="rId67" Type="http://schemas.openxmlformats.org/officeDocument/2006/relationships/slide" Target="slides/slide35.xml"/><Relationship Id="rId68" Type="http://schemas.openxmlformats.org/officeDocument/2006/relationships/slide" Target="slides/slide36.xml"/><Relationship Id="rId69" Type="http://schemas.openxmlformats.org/officeDocument/2006/relationships/slide" Target="slides/slide37.xml"/><Relationship Id="rId70" Type="http://schemas.openxmlformats.org/officeDocument/2006/relationships/slide" Target="slides/slide38.xml"/><Relationship Id="rId71" Type="http://schemas.openxmlformats.org/officeDocument/2006/relationships/slide" Target="slides/slide39.xml"/><Relationship Id="rId72" Type="http://schemas.openxmlformats.org/officeDocument/2006/relationships/slide" Target="slides/slide40.xml"/><Relationship Id="rId73" Type="http://schemas.openxmlformats.org/officeDocument/2006/relationships/slide" Target="slides/slide41.xml"/><Relationship Id="rId74" Type="http://schemas.openxmlformats.org/officeDocument/2006/relationships/slide" Target="slides/slide42.xml"/><Relationship Id="rId75" Type="http://schemas.openxmlformats.org/officeDocument/2006/relationships/slide" Target="slides/slide43.xml"/><Relationship Id="rId76" Type="http://schemas.openxmlformats.org/officeDocument/2006/relationships/slide" Target="slides/slide44.xml"/><Relationship Id="rId77" Type="http://schemas.openxmlformats.org/officeDocument/2006/relationships/slide" Target="slides/slide45.xml"/><Relationship Id="rId78" Type="http://schemas.openxmlformats.org/officeDocument/2006/relationships/slide" Target="slides/slide46.xml"/><Relationship Id="rId79" Type="http://schemas.openxmlformats.org/officeDocument/2006/relationships/slide" Target="slides/slide47.xml"/><Relationship Id="rId80" Type="http://schemas.openxmlformats.org/officeDocument/2006/relationships/slide" Target="slides/slide48.xml"/><Relationship Id="rId81" Type="http://schemas.openxmlformats.org/officeDocument/2006/relationships/slide" Target="slides/slide49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DA7DFBAC-B63D-5280-65B6-B6906385182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134C276-34E3-4752-F41F-A3446FF2C39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67336A-A1AA-4037-A276-A09C8A017BD3}" type="datetimeFigureOut">
              <a:rPr lang="ru-RU" smtClean="0"/>
              <a:t>06.09.2026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68F3828-288C-03B8-F09E-18B8EFBEC85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2E26C3A-FE45-0464-1707-5D99E0D66A8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EF0CBC-02B0-408E-89CC-D1E0D82861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3840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360314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6d0507c3f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f6d0507c3f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6d0507c3f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f6d0507c3f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microsoft.com/office/2007/relationships/hdphoto" Target="../media/hdphoto1.wdp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microsoft.com/office/2007/relationships/hdphoto" Target="../media/hdphoto1.wdp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microsoft.com/office/2007/relationships/hdphoto" Target="../media/hdphoto1.wdp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userDrawn="1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57;p13">
            <a:extLst>
              <a:ext uri="{FF2B5EF4-FFF2-40B4-BE49-F238E27FC236}">
                <a16:creationId xmlns:a16="http://schemas.microsoft.com/office/drawing/2014/main" id="{F8C70B8F-B0FF-D376-584D-F24F346B242B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409400" y="160772"/>
            <a:ext cx="1481600" cy="49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userDrawn="1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9;p14">
            <a:extLst>
              <a:ext uri="{FF2B5EF4-FFF2-40B4-BE49-F238E27FC236}">
                <a16:creationId xmlns:a16="http://schemas.microsoft.com/office/drawing/2014/main" id="{D27988DF-5EA2-0147-1D2F-7D331508A08A}"/>
              </a:ext>
            </a:extLst>
          </p:cNvPr>
          <p:cNvSpPr/>
          <p:nvPr userDrawn="1"/>
        </p:nvSpPr>
        <p:spPr>
          <a:xfrm>
            <a:off x="6379159" y="259712"/>
            <a:ext cx="2510249" cy="386122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4" name="Google Shape;57;p13">
            <a:extLst>
              <a:ext uri="{FF2B5EF4-FFF2-40B4-BE49-F238E27FC236}">
                <a16:creationId xmlns:a16="http://schemas.microsoft.com/office/drawing/2014/main" id="{7D79FDF7-B782-836A-FFF8-75C0371DE3D9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409400" y="160772"/>
            <a:ext cx="1481600" cy="49007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59;p13">
            <a:extLst>
              <a:ext uri="{FF2B5EF4-FFF2-40B4-BE49-F238E27FC236}">
                <a16:creationId xmlns:a16="http://schemas.microsoft.com/office/drawing/2014/main" id="{A0746FE1-7909-364E-106E-A03CFF905756}"/>
              </a:ext>
            </a:extLst>
          </p:cNvPr>
          <p:cNvSpPr/>
          <p:nvPr userDrawn="1"/>
        </p:nvSpPr>
        <p:spPr>
          <a:xfrm>
            <a:off x="7371081" y="4703888"/>
            <a:ext cx="1518328" cy="230700"/>
          </a:xfrm>
          <a:prstGeom prst="roundRect">
            <a:avLst>
              <a:gd name="adj" fmla="val 50000"/>
            </a:avLst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sz="1000" b="0">
                <a:solidFill>
                  <a:schemeClr val="bg2">
                    <a:lumMod val="60000"/>
                    <a:lumOff val="40000"/>
                  </a:schemeClr>
                </a:solidFill>
                <a:latin typeface="Montserrat" panose="00000500000000000000" pitchFamily="2" charset="-52"/>
                <a:ea typeface="Proxima Nova"/>
                <a:cs typeface="Proxima Nova"/>
                <a:sym typeface="Proxima Nova"/>
              </a:rPr>
              <a:t>Вебинар </a:t>
            </a:r>
            <a:r>
              <a:rPr lang="en-US" sz="1000" b="0">
                <a:solidFill>
                  <a:schemeClr val="bg2">
                    <a:lumMod val="60000"/>
                    <a:lumOff val="40000"/>
                  </a:schemeClr>
                </a:solidFill>
                <a:latin typeface="Montserrat" panose="00000500000000000000" pitchFamily="2" charset="-52"/>
                <a:ea typeface="Proxima Nova"/>
                <a:cs typeface="Proxima Nova"/>
                <a:sym typeface="Proxima Nova"/>
              </a:rPr>
              <a:t>3</a:t>
            </a:r>
            <a:r>
              <a:rPr lang="ru-RU" sz="1000" b="0">
                <a:solidFill>
                  <a:schemeClr val="bg2">
                    <a:lumMod val="60000"/>
                    <a:lumOff val="40000"/>
                  </a:schemeClr>
                </a:solidFill>
                <a:latin typeface="Montserrat" panose="00000500000000000000" pitchFamily="2" charset="-52"/>
                <a:ea typeface="Proxima Nova"/>
                <a:cs typeface="Proxima Nova"/>
                <a:sym typeface="Proxima Nova"/>
              </a:rPr>
              <a:t>  / сл. </a:t>
            </a:r>
            <a:fld id="{D36D2716-0227-4748-B575-C0F681545F9F}" type="slidenum">
              <a:rPr lang="ru-RU" sz="900" b="0" smtClean="0">
                <a:solidFill>
                  <a:schemeClr val="bg2">
                    <a:lumMod val="60000"/>
                    <a:lumOff val="40000"/>
                  </a:schemeClr>
                </a:solidFill>
                <a:latin typeface="Montserrat" panose="00000500000000000000" pitchFamily="2" charset="-52"/>
                <a:ea typeface="Proxima Nova"/>
                <a:cs typeface="Proxima Nova"/>
                <a:sym typeface="Proxima Nova"/>
              </a:rPr>
              <a:t>‹#›</a:t>
            </a:fld>
            <a:endParaRPr lang="ru-RU" sz="800" b="0">
              <a:solidFill>
                <a:schemeClr val="bg2">
                  <a:lumMod val="60000"/>
                  <a:lumOff val="40000"/>
                </a:schemeClr>
              </a:solidFill>
              <a:latin typeface="Montserrat" panose="00000500000000000000" pitchFamily="2" charset="-52"/>
            </a:endParaRPr>
          </a:p>
        </p:txBody>
      </p: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40F6D521-5D86-6760-69D6-E71DE65F9DE3}"/>
              </a:ext>
            </a:extLst>
          </p:cNvPr>
          <p:cNvGrpSpPr/>
          <p:nvPr userDrawn="1"/>
        </p:nvGrpSpPr>
        <p:grpSpPr>
          <a:xfrm>
            <a:off x="2205322" y="679814"/>
            <a:ext cx="5344770" cy="3994915"/>
            <a:chOff x="3873362" y="383111"/>
            <a:chExt cx="5344770" cy="3994915"/>
          </a:xfrm>
        </p:grpSpPr>
        <p:pic>
          <p:nvPicPr>
            <p:cNvPr id="7" name="Рисунок 6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49277216-7C7E-E7C1-68E9-2B49D803E4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1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5482421" y="383111"/>
              <a:ext cx="3735711" cy="373571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8" name="Рисунок 7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8B6CC871-C4C7-BC3A-E4B2-04FB22C8667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2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4677891" y="544365"/>
              <a:ext cx="3735711" cy="373571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9" name="Рисунок 8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4C45FD2B-5227-0D3D-1188-E08C76CFD20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5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3873362" y="642315"/>
              <a:ext cx="3735711" cy="3735711"/>
            </a:xfrm>
            <a:prstGeom prst="rect">
              <a:avLst/>
            </a:prstGeom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preserve="1" userDrawn="1">
  <p:cSld name="1_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57;p13">
            <a:extLst>
              <a:ext uri="{FF2B5EF4-FFF2-40B4-BE49-F238E27FC236}">
                <a16:creationId xmlns:a16="http://schemas.microsoft.com/office/drawing/2014/main" id="{7D79FDF7-B782-836A-FFF8-75C0371DE3D9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409400" y="160772"/>
            <a:ext cx="1481600" cy="4900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59;p13">
            <a:extLst>
              <a:ext uri="{FF2B5EF4-FFF2-40B4-BE49-F238E27FC236}">
                <a16:creationId xmlns:a16="http://schemas.microsoft.com/office/drawing/2014/main" id="{1097012B-1A8E-82B3-5458-F0856BCC8605}"/>
              </a:ext>
            </a:extLst>
          </p:cNvPr>
          <p:cNvSpPr/>
          <p:nvPr userDrawn="1"/>
        </p:nvSpPr>
        <p:spPr>
          <a:xfrm>
            <a:off x="7371081" y="4703888"/>
            <a:ext cx="1518328" cy="230700"/>
          </a:xfrm>
          <a:prstGeom prst="roundRect">
            <a:avLst>
              <a:gd name="adj" fmla="val 50000"/>
            </a:avLst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sz="1000" b="0">
                <a:solidFill>
                  <a:schemeClr val="bg2">
                    <a:lumMod val="60000"/>
                    <a:lumOff val="40000"/>
                  </a:schemeClr>
                </a:solidFill>
                <a:latin typeface="Montserrat" panose="00000500000000000000" pitchFamily="2" charset="-52"/>
                <a:ea typeface="Proxima Nova"/>
                <a:cs typeface="Proxima Nova"/>
                <a:sym typeface="Proxima Nova"/>
              </a:rPr>
              <a:t>Вебинар </a:t>
            </a:r>
            <a:r>
              <a:rPr lang="en-US" sz="1000" b="0">
                <a:solidFill>
                  <a:schemeClr val="bg2">
                    <a:lumMod val="60000"/>
                    <a:lumOff val="40000"/>
                  </a:schemeClr>
                </a:solidFill>
                <a:latin typeface="Montserrat" panose="00000500000000000000" pitchFamily="2" charset="-52"/>
                <a:ea typeface="Proxima Nova"/>
                <a:cs typeface="Proxima Nova"/>
                <a:sym typeface="Proxima Nova"/>
              </a:rPr>
              <a:t>3</a:t>
            </a:r>
            <a:r>
              <a:rPr lang="ru-RU" sz="1000" b="0">
                <a:solidFill>
                  <a:schemeClr val="bg2">
                    <a:lumMod val="60000"/>
                    <a:lumOff val="40000"/>
                  </a:schemeClr>
                </a:solidFill>
                <a:latin typeface="Montserrat" panose="00000500000000000000" pitchFamily="2" charset="-52"/>
                <a:ea typeface="Proxima Nova"/>
                <a:cs typeface="Proxima Nova"/>
                <a:sym typeface="Proxima Nova"/>
              </a:rPr>
              <a:t>  / сл. </a:t>
            </a:r>
            <a:fld id="{D36D2716-0227-4748-B575-C0F681545F9F}" type="slidenum">
              <a:rPr lang="ru-RU" sz="900" b="0" smtClean="0">
                <a:solidFill>
                  <a:schemeClr val="bg2">
                    <a:lumMod val="60000"/>
                    <a:lumOff val="40000"/>
                  </a:schemeClr>
                </a:solidFill>
                <a:latin typeface="Montserrat" panose="00000500000000000000" pitchFamily="2" charset="-52"/>
                <a:ea typeface="Proxima Nova"/>
                <a:cs typeface="Proxima Nova"/>
                <a:sym typeface="Proxima Nova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lang="ru-RU" sz="800" b="0">
              <a:solidFill>
                <a:schemeClr val="bg2">
                  <a:lumMod val="60000"/>
                  <a:lumOff val="40000"/>
                </a:schemeClr>
              </a:solidFill>
              <a:latin typeface="Montserrat" panose="00000500000000000000" pitchFamily="2" charset="-52"/>
            </a:endParaRP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F106C148-16DA-11C2-72A6-2DA0FE60F5D4}"/>
              </a:ext>
            </a:extLst>
          </p:cNvPr>
          <p:cNvGrpSpPr/>
          <p:nvPr userDrawn="1"/>
        </p:nvGrpSpPr>
        <p:grpSpPr>
          <a:xfrm>
            <a:off x="2205322" y="679814"/>
            <a:ext cx="5344770" cy="3994915"/>
            <a:chOff x="3873362" y="383111"/>
            <a:chExt cx="5344770" cy="3994915"/>
          </a:xfrm>
        </p:grpSpPr>
        <p:pic>
          <p:nvPicPr>
            <p:cNvPr id="5" name="Рисунок 4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5310B86E-76FD-A323-DB10-4DD1D36E2C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1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5482421" y="383111"/>
              <a:ext cx="3735711" cy="373571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6" name="Рисунок 5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3D4C76F9-53BE-88AC-A08A-6079C48472A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2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4677891" y="544365"/>
              <a:ext cx="3735711" cy="373571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7" name="Рисунок 6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5C4AA954-2B31-6C9A-8DB6-0A9C91B3719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5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3873362" y="642315"/>
              <a:ext cx="3735711" cy="3735711"/>
            </a:xfrm>
            <a:prstGeom prst="rect">
              <a:avLst/>
            </a:prstGeom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585603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preserve="1" userDrawn="1">
  <p:cSld name="1_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57;p13">
            <a:extLst>
              <a:ext uri="{FF2B5EF4-FFF2-40B4-BE49-F238E27FC236}">
                <a16:creationId xmlns:a16="http://schemas.microsoft.com/office/drawing/2014/main" id="{7D79FDF7-B782-836A-FFF8-75C0371DE3D9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409400" y="160772"/>
            <a:ext cx="1481600" cy="4900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6358944C-C36B-53B2-E5FE-1A8017A396DF}"/>
              </a:ext>
            </a:extLst>
          </p:cNvPr>
          <p:cNvGrpSpPr/>
          <p:nvPr userDrawn="1"/>
        </p:nvGrpSpPr>
        <p:grpSpPr>
          <a:xfrm>
            <a:off x="2205322" y="679814"/>
            <a:ext cx="5344770" cy="3994915"/>
            <a:chOff x="3873362" y="383111"/>
            <a:chExt cx="5344770" cy="3994915"/>
          </a:xfrm>
        </p:grpSpPr>
        <p:pic>
          <p:nvPicPr>
            <p:cNvPr id="3" name="Рисунок 2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0689A308-1BDC-8C47-FBF9-706C2D72D7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1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5482421" y="383111"/>
              <a:ext cx="3735711" cy="373571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5" name="Рисунок 4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9C37A5D0-2C6A-2A78-9DF0-BDA00CE1CA0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2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4677891" y="544365"/>
              <a:ext cx="3735711" cy="373571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6" name="Рисунок 5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DA38D3F9-EBE5-61E2-0F17-68765F6611C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5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3873362" y="642315"/>
              <a:ext cx="3735711" cy="3735711"/>
            </a:xfrm>
            <a:prstGeom prst="rect">
              <a:avLst/>
            </a:prstGeom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764802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60" r:id="rId3"/>
    <p:sldLayoutId id="2147483661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microsoft.com/office/2007/relationships/hdphoto" Target="../media/hdphoto1.wdp"/><Relationship Id="rId5" Type="http://schemas.openxmlformats.org/officeDocument/2006/relationships/image" Target="../media/image3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microsoft.com/office/2007/relationships/hdphoto" Target="../media/hdphoto2.wdp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Группа 21">
            <a:extLst>
              <a:ext uri="{FF2B5EF4-FFF2-40B4-BE49-F238E27FC236}">
                <a16:creationId xmlns:a16="http://schemas.microsoft.com/office/drawing/2014/main" id="{BCAC3359-0D1C-2648-A3CE-8FD94D6624EC}"/>
              </a:ext>
            </a:extLst>
          </p:cNvPr>
          <p:cNvGrpSpPr/>
          <p:nvPr/>
        </p:nvGrpSpPr>
        <p:grpSpPr>
          <a:xfrm>
            <a:off x="4094651" y="586050"/>
            <a:ext cx="5344770" cy="3994915"/>
            <a:chOff x="3873362" y="383111"/>
            <a:chExt cx="5344770" cy="3994915"/>
          </a:xfrm>
        </p:grpSpPr>
        <p:pic>
          <p:nvPicPr>
            <p:cNvPr id="21" name="Рисунок 20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6B1608C3-64B6-A327-1599-2AAD5398E6C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1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5482421" y="383111"/>
              <a:ext cx="3735711" cy="373571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20" name="Рисунок 19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3AB0EF07-2DC6-D314-2F23-DA864CFB126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2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4677891" y="544365"/>
              <a:ext cx="3735711" cy="373571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9" name="Рисунок 18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CBD80F8B-785E-2918-7419-1A8EC472BC7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4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3873362" y="642315"/>
              <a:ext cx="3735711" cy="3735711"/>
            </a:xfrm>
            <a:prstGeom prst="rect">
              <a:avLst/>
            </a:prstGeom>
            <a:ln>
              <a:noFill/>
            </a:ln>
          </p:spPr>
        </p:pic>
      </p:grpSp>
      <p:pic>
        <p:nvPicPr>
          <p:cNvPr id="17" name="Рисунок 16" hidden="1">
            <a:extLst>
              <a:ext uri="{FF2B5EF4-FFF2-40B4-BE49-F238E27FC236}">
                <a16:creationId xmlns:a16="http://schemas.microsoft.com/office/drawing/2014/main" id="{667CD691-B117-44B3-3B0E-B39C2028983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artisticPhotocopy trans="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162497">
            <a:off x="3524075" y="-36569"/>
            <a:ext cx="4877481" cy="4877481"/>
          </a:xfrm>
          <a:prstGeom prst="rect">
            <a:avLst/>
          </a:prstGeom>
          <a:ln>
            <a:noFill/>
          </a:ln>
        </p:spPr>
      </p:pic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4C36EF06-1A0C-80A6-7B2B-DED85B0CE9D3}"/>
              </a:ext>
            </a:extLst>
          </p:cNvPr>
          <p:cNvGrpSpPr>
            <a:grpSpLocks noChangeAspect="1"/>
          </p:cNvGrpSpPr>
          <p:nvPr/>
        </p:nvGrpSpPr>
        <p:grpSpPr>
          <a:xfrm>
            <a:off x="883906" y="1263674"/>
            <a:ext cx="9501187" cy="3444540"/>
            <a:chOff x="485609" y="1513539"/>
            <a:chExt cx="9501187" cy="344454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3C1C879-E7C0-BAF6-283A-AFB75486713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85609" y="1513539"/>
              <a:ext cx="9048750" cy="161583"/>
            </a:xfrm>
            <a:prstGeom prst="rect">
              <a:avLst/>
            </a:prstGeom>
          </p:spPr>
          <p:txBody>
            <a:bodyPr wrap="square" lIns="0" tIns="0" rIns="0" bIns="0" anchor="t">
              <a:spAutoFit/>
            </a:bodyPr>
            <a:lstStyle/>
            <a:p>
              <a:r>
                <a:rPr sz="1600" b="1">
                  <a:latin typeface="Montserrat"/>
                </a:rPr>
                <a:t>СОВРЕМЕННЫЕ МЕТОДЫ ВЕРСТКИ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F13DFB2-196B-9781-3BB6-B9E6C2AD5D13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85609" y="1836705"/>
              <a:ext cx="9501187" cy="184665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t>Проектирование </a:t>
              </a:r>
            </a:p>
            <a:p>
              <a:r>
                <a:t>и разработка интерфейсов пользователя</a:t>
              </a:r>
            </a:p>
          </p:txBody>
        </p:sp>
        <p:sp>
          <p:nvSpPr>
            <p:cNvPr id="11" name="Rounded Rectangle 6">
              <a:extLst>
                <a:ext uri="{FF2B5EF4-FFF2-40B4-BE49-F238E27FC236}">
                  <a16:creationId xmlns:a16="http://schemas.microsoft.com/office/drawing/2014/main" id="{FEDD9253-159E-2190-4737-EF5F83889817}"/>
                </a:ext>
              </a:extLst>
            </p:cNvPr>
            <p:cNvSpPr/>
            <p:nvPr/>
          </p:nvSpPr>
          <p:spPr>
            <a:xfrm>
              <a:off x="528139" y="4261815"/>
              <a:ext cx="762000" cy="38100"/>
            </a:xfrm>
            <a:prstGeom prst="roundRect">
              <a:avLst>
                <a:gd name="adj" fmla="val 50000"/>
              </a:avLst>
            </a:prstGeom>
            <a:solidFill>
              <a:srgbClr val="F9731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A460AF5-DC82-A01F-35B1-F0D212A47FA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40697" y="4471214"/>
              <a:ext cx="9048750" cy="48686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sz="1050">
                  <a:solidFill>
                    <a:schemeClr val="bg2">
                      <a:lumMod val="40000"/>
                      <a:lumOff val="60000"/>
                    </a:schemeClr>
                  </a:solidFill>
                  <a:latin typeface="Montserrat" panose="00000500000000000000" pitchFamily="2" charset="-52"/>
                  <a:ea typeface="Inter SemiBold" panose="02000503000000020004" pitchFamily="2" charset="0"/>
                </a:rPr>
                <a:t>Преподаватель</a:t>
              </a:r>
              <a:br>
                <a:rPr lang="ru-RU" sz="1200" b="0" i="0" u="none">
                  <a:solidFill>
                    <a:srgbClr val="000000"/>
                  </a:solidFill>
                  <a:latin typeface="Inter"/>
                </a:rPr>
              </a:br>
              <a:r>
                <a:rPr sz="1200" b="0" i="0" u="none" err="1">
                  <a:solidFill>
                    <a:srgbClr val="1E293B"/>
                  </a:solidFill>
                  <a:latin typeface="Inter Medium"/>
                </a:rPr>
                <a:t>Коляда</a:t>
              </a:r>
              <a:r>
                <a:rPr sz="1200" b="0" i="0" u="none">
                  <a:solidFill>
                    <a:srgbClr val="1E293B"/>
                  </a:solidFill>
                  <a:latin typeface="Inter Medium"/>
                </a:rPr>
                <a:t> </a:t>
              </a:r>
              <a:r>
                <a:rPr sz="1200" b="0" i="0" u="none" err="1">
                  <a:solidFill>
                    <a:srgbClr val="1E293B"/>
                  </a:solidFill>
                  <a:latin typeface="Inter Medium"/>
                </a:rPr>
                <a:t>Никита</a:t>
              </a:r>
              <a:r>
                <a:rPr sz="1200" b="0" i="0" u="none">
                  <a:solidFill>
                    <a:srgbClr val="1E293B"/>
                  </a:solidFill>
                  <a:latin typeface="Inter Medium"/>
                </a:rPr>
                <a:t> </a:t>
              </a:r>
              <a:r>
                <a:rPr sz="1200" b="0" i="0" u="none" err="1">
                  <a:solidFill>
                    <a:srgbClr val="1E293B"/>
                  </a:solidFill>
                  <a:latin typeface="Inter Medium"/>
                </a:rPr>
                <a:t>Владимирович</a:t>
              </a:r>
              <a:endParaRPr sz="1200" b="0" i="0" u="none">
                <a:solidFill>
                  <a:srgbClr val="1E293B"/>
                </a:solidFill>
                <a:latin typeface="Inter Medium"/>
              </a:endParaRPr>
            </a:p>
          </p:txBody>
        </p:sp>
      </p:grpSp>
      <p:sp>
        <p:nvSpPr>
          <p:cNvPr id="3" name="Google Shape;59;p13">
            <a:extLst>
              <a:ext uri="{FF2B5EF4-FFF2-40B4-BE49-F238E27FC236}">
                <a16:creationId xmlns:a16="http://schemas.microsoft.com/office/drawing/2014/main" id="{917E88D5-EA94-D5A3-686B-9D40CD1F594B}"/>
              </a:ext>
            </a:extLst>
          </p:cNvPr>
          <p:cNvSpPr/>
          <p:nvPr/>
        </p:nvSpPr>
        <p:spPr>
          <a:xfrm>
            <a:off x="7576356" y="4477514"/>
            <a:ext cx="1257300" cy="230700"/>
          </a:xfrm>
          <a:prstGeom prst="roundRect">
            <a:avLst>
              <a:gd name="adj" fmla="val 50000"/>
            </a:avLst>
          </a:prstGeom>
          <a:solidFill>
            <a:srgbClr val="434343"/>
          </a:solidFill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sz="1000">
                <a:latin typeface="PT Sans Caption"/>
              </a:rPr>
              <a:t>Вебинар 3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0200184-121F-F05C-E93D-FAE98D6B282D}"/>
              </a:ext>
            </a:extLst>
          </p:cNvPr>
          <p:cNvSpPr/>
          <p:nvPr/>
        </p:nvSpPr>
        <p:spPr>
          <a:xfrm>
            <a:off x="1354281" y="1683158"/>
            <a:ext cx="6477000" cy="9525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5395AA1B-3D46-8B23-C8C6-17018076BAB4}"/>
              </a:ext>
            </a:extLst>
          </p:cNvPr>
          <p:cNvSpPr/>
          <p:nvPr/>
        </p:nvSpPr>
        <p:spPr>
          <a:xfrm>
            <a:off x="1354281" y="2339341"/>
            <a:ext cx="6477000" cy="9525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AA6399EB-F240-72CC-3353-A3A41459B334}"/>
              </a:ext>
            </a:extLst>
          </p:cNvPr>
          <p:cNvSpPr/>
          <p:nvPr/>
        </p:nvSpPr>
        <p:spPr>
          <a:xfrm>
            <a:off x="1354281" y="2995524"/>
            <a:ext cx="6477000" cy="9525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3DA3E706-14A3-9E5E-0150-993D92615B2B}"/>
              </a:ext>
            </a:extLst>
          </p:cNvPr>
          <p:cNvSpPr/>
          <p:nvPr/>
        </p:nvSpPr>
        <p:spPr>
          <a:xfrm>
            <a:off x="1354281" y="3651707"/>
            <a:ext cx="6477000" cy="9525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pic>
        <p:nvPicPr>
          <p:cNvPr id="10" name="Picture 11">
            <a:extLst>
              <a:ext uri="{FF2B5EF4-FFF2-40B4-BE49-F238E27FC236}">
                <a16:creationId xmlns:a16="http://schemas.microsoft.com/office/drawing/2014/main" id="{FE3CD0C6-B8FE-3432-6AEB-7276B21E55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7618" y="1216879"/>
            <a:ext cx="361950" cy="285750"/>
          </a:xfrm>
          <a:prstGeom prst="rect">
            <a:avLst/>
          </a:prstGeom>
        </p:spPr>
      </p:pic>
      <p:sp>
        <p:nvSpPr>
          <p:cNvPr id="11" name="TextBox 12">
            <a:extLst>
              <a:ext uri="{FF2B5EF4-FFF2-40B4-BE49-F238E27FC236}">
                <a16:creationId xmlns:a16="http://schemas.microsoft.com/office/drawing/2014/main" id="{6021423E-1547-B118-B6ED-FFA0E250049B}"/>
              </a:ext>
            </a:extLst>
          </p:cNvPr>
          <p:cNvSpPr txBox="1"/>
          <p:nvPr/>
        </p:nvSpPr>
        <p:spPr>
          <a:xfrm>
            <a:off x="2021031" y="1169850"/>
            <a:ext cx="50800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00" b="1">
                <a:solidFill>
                  <a:srgbClr val="181A1F"/>
                </a:solidFill>
                <a:latin typeface="Montserrat"/>
              </a:rPr>
              <a:t>1. Сетки Flexbox и CSS Grid</a:t>
            </a:r>
          </a:p>
        </p:txBody>
      </p:sp>
      <p:sp>
        <p:nvSpPr>
          <p:cNvPr id="12" name="TextBox 13">
            <a:extLst>
              <a:ext uri="{FF2B5EF4-FFF2-40B4-BE49-F238E27FC236}">
                <a16:creationId xmlns:a16="http://schemas.microsoft.com/office/drawing/2014/main" id="{5312261A-8473-F36D-CEA1-EF3D6CBA49EE}"/>
              </a:ext>
            </a:extLst>
          </p:cNvPr>
          <p:cNvSpPr txBox="1"/>
          <p:nvPr/>
        </p:nvSpPr>
        <p:spPr>
          <a:xfrm>
            <a:off x="2021031" y="1388925"/>
            <a:ext cx="6096000" cy="1608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267"/>
              </a:lnSpc>
            </a:pPr>
            <a:r>
              <a:rPr sz="950" b="0">
                <a:solidFill>
                  <a:srgbClr val="555555"/>
                </a:solidFill>
                <a:latin typeface="Inter"/>
              </a:rPr>
              <a:t>Технологии Flexbox и CSS Grid</a:t>
            </a:r>
          </a:p>
        </p:txBody>
      </p:sp>
      <p:pic>
        <p:nvPicPr>
          <p:cNvPr id="13" name="Picture 14">
            <a:extLst>
              <a:ext uri="{FF2B5EF4-FFF2-40B4-BE49-F238E27FC236}">
                <a16:creationId xmlns:a16="http://schemas.microsoft.com/office/drawing/2014/main" id="{DB7D649D-035F-23D7-8FE0-62D36D4C2E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7618" y="1873062"/>
            <a:ext cx="361950" cy="285750"/>
          </a:xfrm>
          <a:prstGeom prst="rect">
            <a:avLst/>
          </a:prstGeom>
        </p:spPr>
      </p:pic>
      <p:sp>
        <p:nvSpPr>
          <p:cNvPr id="14" name="TextBox 15">
            <a:extLst>
              <a:ext uri="{FF2B5EF4-FFF2-40B4-BE49-F238E27FC236}">
                <a16:creationId xmlns:a16="http://schemas.microsoft.com/office/drawing/2014/main" id="{FDCDC837-9B52-2ABD-BE72-B99F4CA2105A}"/>
              </a:ext>
            </a:extLst>
          </p:cNvPr>
          <p:cNvSpPr txBox="1"/>
          <p:nvPr/>
        </p:nvSpPr>
        <p:spPr>
          <a:xfrm>
            <a:off x="2021031" y="1826033"/>
            <a:ext cx="50800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00" b="1">
                <a:solidFill>
                  <a:srgbClr val="181A1F"/>
                </a:solidFill>
                <a:latin typeface="Montserrat"/>
              </a:rPr>
              <a:t>2. Адаптивная верстка</a:t>
            </a:r>
          </a:p>
        </p:txBody>
      </p:sp>
      <p:sp>
        <p:nvSpPr>
          <p:cNvPr id="15" name="TextBox 16">
            <a:extLst>
              <a:ext uri="{FF2B5EF4-FFF2-40B4-BE49-F238E27FC236}">
                <a16:creationId xmlns:a16="http://schemas.microsoft.com/office/drawing/2014/main" id="{38F3EAC1-CF94-CC80-E491-0A0A8AA37276}"/>
              </a:ext>
            </a:extLst>
          </p:cNvPr>
          <p:cNvSpPr txBox="1"/>
          <p:nvPr/>
        </p:nvSpPr>
        <p:spPr>
          <a:xfrm>
            <a:off x="2021031" y="2045108"/>
            <a:ext cx="6096000" cy="1608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267"/>
              </a:lnSpc>
            </a:pPr>
            <a:r>
              <a:rPr sz="950" b="0">
                <a:solidFill>
                  <a:srgbClr val="555555"/>
                </a:solidFill>
                <a:latin typeface="Inter"/>
              </a:rPr>
              <a:t>Адаптивное отображение через медиа-запросы</a:t>
            </a:r>
          </a:p>
        </p:txBody>
      </p:sp>
      <p:pic>
        <p:nvPicPr>
          <p:cNvPr id="16" name="Picture 17">
            <a:extLst>
              <a:ext uri="{FF2B5EF4-FFF2-40B4-BE49-F238E27FC236}">
                <a16:creationId xmlns:a16="http://schemas.microsoft.com/office/drawing/2014/main" id="{6FCC824B-76CC-4AF8-9619-51A75DC9BB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6668" y="2529246"/>
            <a:ext cx="323850" cy="285750"/>
          </a:xfrm>
          <a:prstGeom prst="rect">
            <a:avLst/>
          </a:prstGeom>
        </p:spPr>
      </p:pic>
      <p:sp>
        <p:nvSpPr>
          <p:cNvPr id="17" name="TextBox 18">
            <a:extLst>
              <a:ext uri="{FF2B5EF4-FFF2-40B4-BE49-F238E27FC236}">
                <a16:creationId xmlns:a16="http://schemas.microsoft.com/office/drawing/2014/main" id="{B44B7737-0986-B05E-A142-78D0B4A97F3F}"/>
              </a:ext>
            </a:extLst>
          </p:cNvPr>
          <p:cNvSpPr txBox="1"/>
          <p:nvPr/>
        </p:nvSpPr>
        <p:spPr>
          <a:xfrm>
            <a:off x="2021031" y="2482216"/>
            <a:ext cx="50800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00" b="1">
                <a:solidFill>
                  <a:srgbClr val="181A1F"/>
                </a:solidFill>
                <a:latin typeface="Montserrat"/>
              </a:rPr>
              <a:t>3. Глобальные переменные</a:t>
            </a:r>
          </a:p>
        </p:txBody>
      </p:sp>
      <p:sp>
        <p:nvSpPr>
          <p:cNvPr id="18" name="TextBox 19">
            <a:extLst>
              <a:ext uri="{FF2B5EF4-FFF2-40B4-BE49-F238E27FC236}">
                <a16:creationId xmlns:a16="http://schemas.microsoft.com/office/drawing/2014/main" id="{40344B22-C18D-2718-3D60-543000748FD6}"/>
              </a:ext>
            </a:extLst>
          </p:cNvPr>
          <p:cNvSpPr txBox="1"/>
          <p:nvPr/>
        </p:nvSpPr>
        <p:spPr>
          <a:xfrm>
            <a:off x="2021031" y="2701291"/>
            <a:ext cx="6096000" cy="1608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267"/>
              </a:lnSpc>
            </a:pPr>
            <a:r>
              <a:rPr sz="950" b="0">
                <a:solidFill>
                  <a:srgbClr val="555555"/>
                </a:solidFill>
                <a:latin typeface="Inter"/>
              </a:rPr>
              <a:t>Работа с глобальными переменными</a:t>
            </a:r>
          </a:p>
        </p:txBody>
      </p:sp>
      <p:pic>
        <p:nvPicPr>
          <p:cNvPr id="19" name="Picture 20">
            <a:extLst>
              <a:ext uri="{FF2B5EF4-FFF2-40B4-BE49-F238E27FC236}">
                <a16:creationId xmlns:a16="http://schemas.microsoft.com/office/drawing/2014/main" id="{80BE5282-4324-BB0D-B278-5DB149B206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5718" y="3185429"/>
            <a:ext cx="285750" cy="285750"/>
          </a:xfrm>
          <a:prstGeom prst="rect">
            <a:avLst/>
          </a:prstGeom>
        </p:spPr>
      </p:pic>
      <p:sp>
        <p:nvSpPr>
          <p:cNvPr id="20" name="TextBox 21">
            <a:extLst>
              <a:ext uri="{FF2B5EF4-FFF2-40B4-BE49-F238E27FC236}">
                <a16:creationId xmlns:a16="http://schemas.microsoft.com/office/drawing/2014/main" id="{B6E465BC-260C-26E3-31D6-0C45C4AE6C2D}"/>
              </a:ext>
            </a:extLst>
          </p:cNvPr>
          <p:cNvSpPr txBox="1"/>
          <p:nvPr/>
        </p:nvSpPr>
        <p:spPr>
          <a:xfrm>
            <a:off x="2021031" y="3138399"/>
            <a:ext cx="50800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00" b="1">
                <a:solidFill>
                  <a:srgbClr val="181A1F"/>
                </a:solidFill>
                <a:latin typeface="Montserrat"/>
              </a:rPr>
              <a:t>4. Практика: Карточки каталога</a:t>
            </a:r>
          </a:p>
        </p:txBody>
      </p:sp>
      <p:sp>
        <p:nvSpPr>
          <p:cNvPr id="21" name="TextBox 22">
            <a:extLst>
              <a:ext uri="{FF2B5EF4-FFF2-40B4-BE49-F238E27FC236}">
                <a16:creationId xmlns:a16="http://schemas.microsoft.com/office/drawing/2014/main" id="{F0038057-42C9-F769-C0C5-F9AB41E8587B}"/>
              </a:ext>
            </a:extLst>
          </p:cNvPr>
          <p:cNvSpPr txBox="1"/>
          <p:nvPr/>
        </p:nvSpPr>
        <p:spPr>
          <a:xfrm>
            <a:off x="2021031" y="3357474"/>
            <a:ext cx="6096000" cy="1608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267"/>
              </a:lnSpc>
            </a:pPr>
            <a:r>
              <a:rPr sz="950" b="0">
                <a:solidFill>
                  <a:srgbClr val="555555"/>
                </a:solidFill>
                <a:latin typeface="Inter"/>
              </a:rPr>
              <a:t>Проектирование гибких карточек для каталога</a:t>
            </a:r>
          </a:p>
        </p:txBody>
      </p:sp>
      <p:pic>
        <p:nvPicPr>
          <p:cNvPr id="22" name="Picture 23">
            <a:extLst>
              <a:ext uri="{FF2B5EF4-FFF2-40B4-BE49-F238E27FC236}">
                <a16:creationId xmlns:a16="http://schemas.microsoft.com/office/drawing/2014/main" id="{3EC1D119-6080-BDF3-AF83-63F592656C7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06668" y="3841612"/>
            <a:ext cx="323850" cy="285750"/>
          </a:xfrm>
          <a:prstGeom prst="rect">
            <a:avLst/>
          </a:prstGeom>
        </p:spPr>
      </p:pic>
      <p:sp>
        <p:nvSpPr>
          <p:cNvPr id="23" name="TextBox 24">
            <a:extLst>
              <a:ext uri="{FF2B5EF4-FFF2-40B4-BE49-F238E27FC236}">
                <a16:creationId xmlns:a16="http://schemas.microsoft.com/office/drawing/2014/main" id="{E915CC21-797D-8D4A-4DA5-A5A9A395DDD8}"/>
              </a:ext>
            </a:extLst>
          </p:cNvPr>
          <p:cNvSpPr txBox="1"/>
          <p:nvPr/>
        </p:nvSpPr>
        <p:spPr>
          <a:xfrm>
            <a:off x="2021031" y="3794582"/>
            <a:ext cx="50800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00" b="1">
                <a:solidFill>
                  <a:srgbClr val="181A1F"/>
                </a:solidFill>
                <a:latin typeface="Montserrat"/>
              </a:rPr>
              <a:t>5. Практика: Цветовая схема</a:t>
            </a:r>
          </a:p>
        </p:txBody>
      </p:sp>
      <p:sp>
        <p:nvSpPr>
          <p:cNvPr id="24" name="TextBox 25">
            <a:extLst>
              <a:ext uri="{FF2B5EF4-FFF2-40B4-BE49-F238E27FC236}">
                <a16:creationId xmlns:a16="http://schemas.microsoft.com/office/drawing/2014/main" id="{27AC8D58-8C59-EA0F-D299-B0D5290F9D54}"/>
              </a:ext>
            </a:extLst>
          </p:cNvPr>
          <p:cNvSpPr txBox="1"/>
          <p:nvPr/>
        </p:nvSpPr>
        <p:spPr>
          <a:xfrm>
            <a:off x="2021031" y="4013657"/>
            <a:ext cx="6096000" cy="1608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267"/>
              </a:lnSpc>
            </a:pPr>
            <a:r>
              <a:rPr sz="950" b="0">
                <a:solidFill>
                  <a:srgbClr val="555555"/>
                </a:solidFill>
                <a:latin typeface="Inter"/>
              </a:rPr>
              <a:t>Настройка цветовой схемы через :root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39000" y="259715"/>
            <a:ext cx="165100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ПЛАН ЗАНЯТИЯ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53820" y="4343400"/>
            <a:ext cx="5905500" cy="330200"/>
          </a:xfrm>
          <a:prstGeom prst="roundRect">
            <a:avLst>
              <a:gd name="adj" fmla="val 25000"/>
            </a:avLst>
          </a:prstGeom>
          <a:solidFill>
            <a:srgbClr val="FAFAF9"/>
          </a:solidFill>
          <a:ln w="12700">
            <a:solidFill>
              <a:srgbClr val="FDBA74"/>
            </a:solidFill>
          </a:ln>
        </p:spPr>
        <p:txBody>
          <a:bodyPr rtlCol="0" anchor="ctr" wrap="none" lIns="152400" tIns="50800" bIns="0" rIns="101600"/>
          <a:lstStyle/>
          <a:p>
            <a:pPr algn="l"/>
            <a:r>
              <a:rPr sz="850" b="1">
                <a:solidFill>
                  <a:srgbClr val="FE6002"/>
                </a:solidFill>
                <a:latin typeface="Montserrat"/>
              </a:rPr>
              <a:t>РЕЗУЛЬТАТ: </a:t>
            </a:r>
            <a:r>
              <a:rPr sz="850" b="0">
                <a:solidFill>
                  <a:srgbClr val="333333"/>
                </a:solidFill>
                <a:latin typeface="Inter"/>
              </a:rPr>
              <a:t>Адаптивная секция популярных предложений с переиспользуемыми компонентами.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9;p14"/>
          <p:cNvSpPr/>
          <p:nvPr/>
        </p:nvSpPr>
        <p:spPr>
          <a:xfrm>
            <a:off x="6667500" y="259079"/>
            <a:ext cx="222250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</p:spPr>
        <p:txBody>
          <a:bodyPr wrap="none" lIns="101600" tIns="25400" rIns="1016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ТЕОРИЯ: HTML И CSS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Что такое HTML и CSS и по каким правилам они пишутся?</a:t>
            </a:r>
          </a:p>
        </p:txBody>
      </p:sp>
      <p:sp>
        <p:nvSpPr>
          <p:cNvPr id="4" name="Rounded Rectangle HTML"/>
          <p:cNvSpPr/>
          <p:nvPr/>
        </p:nvSpPr>
        <p:spPr>
          <a:xfrm>
            <a:off x="304800" y="711200"/>
            <a:ext cx="4127500" cy="1625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Header HTML"/>
          <p:cNvSpPr txBox="1"/>
          <p:nvPr/>
        </p:nvSpPr>
        <p:spPr>
          <a:xfrm>
            <a:off x="482600" y="787400"/>
            <a:ext cx="3746500" cy="20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ФАЙЛ 1: index.html (Разметка страницы)</a:t>
            </a:r>
          </a:p>
        </p:txBody>
      </p:sp>
      <p:sp>
        <p:nvSpPr>
          <p:cNvPr id="6" name="Rectangle Line HTML"/>
          <p:cNvSpPr/>
          <p:nvPr/>
        </p:nvSpPr>
        <p:spPr>
          <a:xfrm>
            <a:off x="457200" y="10160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Code HTML"/>
          <p:cNvSpPr txBox="1"/>
          <p:nvPr/>
        </p:nvSpPr>
        <p:spPr>
          <a:xfrm>
            <a:off x="457200" y="1079500"/>
            <a:ext cx="3822700" cy="1193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&lt;!-- 1. HTML: Каркас и теги элемента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&lt;</a:t>
            </a:r>
            <a:r>
              <a:rPr sz="800">
                <a:solidFill>
                  <a:srgbClr val="F472B6"/>
                </a:solidFill>
                <a:latin typeface="Consolas"/>
              </a:rPr>
              <a:t>button </a:t>
            </a:r>
            <a:r>
              <a:rPr sz="800">
                <a:solidFill>
                  <a:srgbClr val="A78BFA"/>
                </a:solidFill>
                <a:latin typeface="Consolas"/>
              </a:rPr>
              <a:t>class</a:t>
            </a:r>
            <a:r>
              <a:rPr sz="800">
                <a:solidFill>
                  <a:srgbClr val="D4D4D8"/>
                </a:solidFill>
                <a:latin typeface="Consolas"/>
              </a:rPr>
              <a:t>=</a:t>
            </a:r>
            <a:r>
              <a:rPr sz="800">
                <a:solidFill>
                  <a:srgbClr val="FCD34D"/>
                </a:solidFill>
                <a:latin typeface="Consolas"/>
              </a:rPr>
              <a:t>"btn-login" </a:t>
            </a:r>
            <a:r>
              <a:rPr sz="800">
                <a:solidFill>
                  <a:srgbClr val="A78BFA"/>
                </a:solidFill>
                <a:latin typeface="Consolas"/>
              </a:rPr>
              <a:t>id</a:t>
            </a:r>
            <a:r>
              <a:rPr sz="800">
                <a:solidFill>
                  <a:srgbClr val="D4D4D8"/>
                </a:solidFill>
                <a:latin typeface="Consolas"/>
              </a:rPr>
              <a:t>=</a:t>
            </a:r>
            <a:r>
              <a:rPr sz="800">
                <a:solidFill>
                  <a:srgbClr val="FCD34D"/>
                </a:solidFill>
                <a:latin typeface="Consolas"/>
              </a:rPr>
              <a:t>"submitBtn"</a:t>
            </a:r>
            <a:r>
              <a:rPr sz="800">
                <a:solidFill>
                  <a:srgbClr val="D4D4D8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Войти в профиль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&lt;/</a:t>
            </a:r>
            <a:r>
              <a:rPr sz="800">
                <a:solidFill>
                  <a:srgbClr val="F472B6"/>
                </a:solidFill>
                <a:latin typeface="Consolas"/>
              </a:rPr>
              <a:t>button</a:t>
            </a:r>
            <a:r>
              <a:rPr sz="800">
                <a:solidFill>
                  <a:srgbClr val="D4D4D8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&lt;!-- Теги, атрибуты и контент. Только разметка! --&gt;</a:t>
            </a:r>
          </a:p>
        </p:txBody>
      </p:sp>
      <p:sp>
        <p:nvSpPr>
          <p:cNvPr id="8" name="Rounded Rectangle CSS"/>
          <p:cNvSpPr/>
          <p:nvPr/>
        </p:nvSpPr>
        <p:spPr>
          <a:xfrm>
            <a:off x="304800" y="2514600"/>
            <a:ext cx="4127500" cy="1981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Header CSS"/>
          <p:cNvSpPr txBox="1"/>
          <p:nvPr/>
        </p:nvSpPr>
        <p:spPr>
          <a:xfrm>
            <a:off x="482600" y="2590800"/>
            <a:ext cx="3746500" cy="20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ФАЙЛ 2: css/style.css (Стили оформления)</a:t>
            </a:r>
          </a:p>
        </p:txBody>
      </p:sp>
      <p:sp>
        <p:nvSpPr>
          <p:cNvPr id="10" name="Rectangle Line CSS"/>
          <p:cNvSpPr/>
          <p:nvPr/>
        </p:nvSpPr>
        <p:spPr>
          <a:xfrm>
            <a:off x="457200" y="28194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Code CSS"/>
          <p:cNvSpPr txBox="1"/>
          <p:nvPr/>
        </p:nvSpPr>
        <p:spPr>
          <a:xfrm>
            <a:off x="457200" y="2882900"/>
            <a:ext cx="3822700" cy="1549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2. CSS: Правило стилизации селектора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.btn-login</a:t>
            </a:r>
            <a:r>
              <a:rPr sz="800">
                <a:solidFill>
                  <a:srgbClr val="D4D4D8"/>
                </a:solidFill>
                <a:latin typeface="Consolas"/>
              </a:rPr>
              <a:t>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background-color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#fe6002</a:t>
            </a:r>
            <a:r>
              <a:rPr sz="800">
                <a:solidFill>
                  <a:srgbClr val="71717A"/>
                </a:solidFill>
                <a:latin typeface="Consolas"/>
              </a:rPr>
              <a:t>; /* Фон кнопки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#ffffff</a:t>
            </a:r>
            <a:r>
              <a:rPr sz="800">
                <a:solidFill>
                  <a:srgbClr val="71717A"/>
                </a:solidFill>
                <a:latin typeface="Consolas"/>
              </a:rPr>
              <a:t>;            /* Цвет текста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padding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12px 24px</a:t>
            </a:r>
            <a:r>
              <a:rPr sz="800">
                <a:solidFill>
                  <a:srgbClr val="71717A"/>
                </a:solidFill>
                <a:latin typeface="Consolas"/>
              </a:rPr>
              <a:t>;       /* Внутр. поля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border-radius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6px</a:t>
            </a:r>
            <a:r>
              <a:rPr sz="800">
                <a:solidFill>
                  <a:srgbClr val="71717A"/>
                </a:solidFill>
                <a:latin typeface="Consolas"/>
              </a:rPr>
              <a:t>;         /* Скругление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}</a:t>
            </a:r>
          </a:p>
        </p:txBody>
      </p:sp>
      <p:sp>
        <p:nvSpPr>
          <p:cNvPr id="12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ФУНДАМЕНТАЛЬНЫЕ ПРАВИЛА ВЕРСТКИ</a:t>
            </a:r>
          </a:p>
        </p:txBody>
      </p:sp>
      <p:sp>
        <p:nvSpPr>
          <p:cNvPr id="13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HTML — язык гипертекстовой разметки: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Это «скелет» страницы. Он создает структуру документа: заголовки, параграфы, кнопки, формы и ссылки. HTML не выполняет вычислений — он размечает смысл.</a:t>
            </a:r>
          </a:p>
        </p:txBody>
      </p:sp>
      <p:sp>
        <p:nvSpPr>
          <p:cNvPr id="16" name="Rounded Rectangle 11"/>
          <p:cNvSpPr/>
          <p:nvPr/>
        </p:nvSpPr>
        <p:spPr>
          <a:xfrm>
            <a:off x="4826000" y="1866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2"/>
          <p:cNvSpPr txBox="1"/>
          <p:nvPr/>
        </p:nvSpPr>
        <p:spPr>
          <a:xfrm>
            <a:off x="5003800" y="1828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CSS — каскадные таблицы стилей: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Это «одежда» и оформление. CSS управляет цветами, шрифтами, фоном, отступами, позиционированием (Flexbox) и адаптивностью под смартфоны.</a:t>
            </a:r>
          </a:p>
        </p:txBody>
      </p:sp>
      <p:sp>
        <p:nvSpPr>
          <p:cNvPr id="18" name="Rounded Rectangle 13"/>
          <p:cNvSpPr/>
          <p:nvPr/>
        </p:nvSpPr>
        <p:spPr>
          <a:xfrm>
            <a:off x="4826000" y="2501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4"/>
          <p:cNvSpPr txBox="1"/>
          <p:nvPr/>
        </p:nvSpPr>
        <p:spPr>
          <a:xfrm>
            <a:off x="5003800" y="2463800"/>
            <a:ext cx="36195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Правила написания HTML (Теги и атрибуты):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Большинство тегов парные: &lt;тег&gt;...&lt;/тег&gt;. Внутри открывающего тега задаются атрибуты (класс, id, ссылка). Теги должны строго закрываться в правильном порядке!</a:t>
            </a:r>
          </a:p>
        </p:txBody>
      </p:sp>
      <p:sp>
        <p:nvSpPr>
          <p:cNvPr id="20" name="Rounded Rectangle 15"/>
          <p:cNvSpPr/>
          <p:nvPr/>
        </p:nvSpPr>
        <p:spPr>
          <a:xfrm>
            <a:off x="4826000" y="31623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16"/>
          <p:cNvSpPr txBox="1"/>
          <p:nvPr/>
        </p:nvSpPr>
        <p:spPr>
          <a:xfrm>
            <a:off x="5003800" y="3124200"/>
            <a:ext cx="36195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Правила написания CSS (Селектор и свойства):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Синтаксис: селектор { свойство: значение; }. Селектор (.btn-login) указывает, кому задать стиль, двоеточие отделяет значение, а точка с запятой «;» обязательна!</a:t>
            </a:r>
          </a:p>
        </p:txBody>
      </p:sp>
      <p:sp>
        <p:nvSpPr>
          <p:cNvPr id="22" name="Rounded Rectangle 17"/>
          <p:cNvSpPr/>
          <p:nvPr/>
        </p:nvSpPr>
        <p:spPr>
          <a:xfrm>
            <a:off x="4826000" y="38227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18"/>
          <p:cNvSpPr txBox="1"/>
          <p:nvPr/>
        </p:nvSpPr>
        <p:spPr>
          <a:xfrm>
            <a:off x="5003800" y="3784600"/>
            <a:ext cx="3619500" cy="55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Принцип разделения ответственности: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Разметка хранится в index.html, а дизайн — в css/style.css. Разделение структуры и стиля делает код профессиональным, чистым и удобным для командной работы.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правильно организовать файлы в веб-разработке?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Файловая система: smart-office / basic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CD34D"/>
                </a:solidFill>
                <a:latin typeface="Consolas"/>
              </a:rPr>
              <a:t>📁 smart-office / basic/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├── 📄 </a:t>
            </a:r>
            <a:r>
              <a:rPr sz="800">
                <a:solidFill>
                  <a:srgbClr val="38BDF8"/>
                </a:solidFill>
                <a:latin typeface="Consolas"/>
              </a:rPr>
              <a:t>index.html</a:t>
            </a:r>
            <a:r>
              <a:rPr sz="800">
                <a:solidFill>
                  <a:srgbClr val="71717A"/>
                </a:solidFill>
                <a:latin typeface="Consolas"/>
              </a:rPr>
              <a:t>        # Главная разметка страницы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├── 📁 </a:t>
            </a:r>
            <a:r>
              <a:rPr sz="800">
                <a:solidFill>
                  <a:srgbClr val="A78BFA"/>
                </a:solidFill>
                <a:latin typeface="Consolas"/>
              </a:rPr>
              <a:t>css/</a:t>
            </a:r>
            <a:r>
              <a:rPr sz="800">
                <a:solidFill>
                  <a:srgbClr val="71717A"/>
                </a:solidFill>
                <a:latin typeface="Consolas"/>
              </a:rPr>
              <a:t>               # Стили оформления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│   └── 📄 </a:t>
            </a:r>
            <a:r>
              <a:rPr sz="800">
                <a:solidFill>
                  <a:srgbClr val="4ADE80"/>
                </a:solidFill>
                <a:latin typeface="Consolas"/>
              </a:rPr>
              <a:t>style.css</a:t>
            </a:r>
            <a:r>
              <a:rPr sz="800">
                <a:solidFill>
                  <a:srgbClr val="71717A"/>
                </a:solidFill>
                <a:latin typeface="Consolas"/>
              </a:rPr>
              <a:t>        # Таблица каскадных стилей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├── 📁 </a:t>
            </a:r>
            <a:r>
              <a:rPr sz="800">
                <a:solidFill>
                  <a:srgbClr val="A78BFA"/>
                </a:solidFill>
                <a:latin typeface="Consolas"/>
              </a:rPr>
              <a:t>js/</a:t>
            </a:r>
            <a:r>
              <a:rPr sz="800">
                <a:solidFill>
                  <a:srgbClr val="71717A"/>
                </a:solidFill>
                <a:latin typeface="Consolas"/>
              </a:rPr>
              <a:t>                # Клиентские скрипты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│   └── 📄 </a:t>
            </a:r>
            <a:r>
              <a:rPr sz="800">
                <a:solidFill>
                  <a:srgbClr val="4ADE80"/>
                </a:solidFill>
                <a:latin typeface="Consolas"/>
              </a:rPr>
              <a:t>script.js</a:t>
            </a:r>
            <a:r>
              <a:rPr sz="800">
                <a:solidFill>
                  <a:srgbClr val="71717A"/>
                </a:solidFill>
                <a:latin typeface="Consolas"/>
              </a:rPr>
              <a:t>       # Интерактивная логика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└── 📁 </a:t>
            </a:r>
            <a:r>
              <a:rPr sz="800">
                <a:solidFill>
                  <a:srgbClr val="A78BFA"/>
                </a:solidFill>
                <a:latin typeface="Consolas"/>
              </a:rPr>
              <a:t>img/</a:t>
            </a:r>
            <a:r>
              <a:rPr sz="800">
                <a:solidFill>
                  <a:srgbClr val="71717A"/>
                </a:solidFill>
                <a:latin typeface="Consolas"/>
              </a:rPr>
              <a:t>               # Графика и медиафайлы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  ├── 🖼️ </a:t>
            </a:r>
            <a:r>
              <a:rPr sz="800">
                <a:solidFill>
                  <a:srgbClr val="D4D4D8"/>
                </a:solidFill>
                <a:latin typeface="Consolas"/>
              </a:rPr>
              <a:t>logo.svg</a:t>
            </a:r>
            <a:r>
              <a:rPr sz="800">
                <a:solidFill>
                  <a:srgbClr val="71717A"/>
                </a:solidFill>
                <a:latin typeface="Consolas"/>
              </a:rPr>
              <a:t>        # Векторный логотип бренда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  └── 🖼️ </a:t>
            </a:r>
            <a:r>
              <a:rPr sz="800">
                <a:solidFill>
                  <a:srgbClr val="D4D4D8"/>
                </a:solidFill>
                <a:latin typeface="Consolas"/>
              </a:rPr>
              <a:t>no-image.svg</a:t>
            </a:r>
            <a:r>
              <a:rPr sz="800">
                <a:solidFill>
                  <a:srgbClr val="71717A"/>
                </a:solidFill>
                <a:latin typeface="Consolas"/>
              </a:rPr>
              <a:t>    # Заглушка для фото комнат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ПРИНЦИП ЧИСТОЙ АРХИТЕКТУРЫ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Файл index.html в корне: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Браузер по умолчанию ищет именно index.html как стартовую страницу. Он лежит в корне проекта.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8034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7653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Изоляция стилей в папке css/: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Стили хранятся в файле style.css. Это разделяет разметку (HTML) и визуальный дизайн (CSS).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374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336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Папка js/ для скриптов: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Здесь хранятся файлы JavaScript (script.js). В них пишется логика: клики, слайдеры, фильтры и интерактив.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035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2997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Графика в папке img/: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Все логотипы, иконки и фото комнат лежат отдельно, чтобы не засорять корень проекта.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26000" y="36068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03800" y="35687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Относительные пути к файлам: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 коде мы пишем путь от текущей папки: css/style.css, js/script.js, img/logo.svg.</a:t>
            </a:r>
          </a:p>
        </p:txBody>
      </p:sp>
      <p:sp>
        <p:nvSpPr>
          <p:cNvPr id="20" name="Google Shape;69;p14">
            <a:extLst>
              <a:ext uri="{FF2B5EF4-FFF2-40B4-BE49-F238E27FC236}">
                <a16:creationId xmlns:a16="http://schemas.microsoft.com/office/drawing/2014/main" id="{71A23B6C-F869-B64D-42C7-20AD29731627}"/>
              </a:ext>
            </a:extLst>
          </p:cNvPr>
          <p:cNvSpPr/>
          <p:nvPr/>
        </p:nvSpPr>
        <p:spPr>
          <a:xfrm>
            <a:off x="6869927" y="259712"/>
            <a:ext cx="2019481" cy="286388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1200" b="0">
                <a:solidFill>
                  <a:srgbClr val="FFFFFF"/>
                </a:solidFill>
                <a:latin typeface="Inter"/>
              </a:rPr>
              <a:t>СТРУКТУРА ПРОЕКТА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Из каких смысловых блоков строится современный сайт?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index.html (семантический каркас)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&lt;!DOCTYPE html&gt;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&lt;html </a:t>
            </a:r>
            <a:r>
              <a:rPr sz="800">
                <a:solidFill>
                  <a:srgbClr val="A78BFA"/>
                </a:solidFill>
                <a:latin typeface="Consolas"/>
              </a:rPr>
              <a:t>lang=</a:t>
            </a:r>
            <a:r>
              <a:rPr sz="800">
                <a:solidFill>
                  <a:srgbClr val="FCD34D"/>
                </a:solidFill>
                <a:latin typeface="Consolas"/>
              </a:rPr>
              <a:t>"ru"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&lt;head&gt;</a:t>
            </a:r>
            <a:r>
              <a:rPr sz="800">
                <a:solidFill>
                  <a:srgbClr val="71717A"/>
                </a:solidFill>
                <a:latin typeface="Consolas"/>
              </a:rPr>
              <a:t> ... </a:t>
            </a:r>
            <a:r>
              <a:rPr sz="800">
                <a:solidFill>
                  <a:srgbClr val="F472B6"/>
                </a:solidFill>
                <a:latin typeface="Consolas"/>
              </a:rPr>
              <a:t>&lt;/head&gt;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&lt;body&gt;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&lt;!-- 1. Шапка сайта (лого + меню)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&lt;header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"header"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"container header-container"</a:t>
            </a:r>
            <a:r>
              <a:rPr sz="800">
                <a:solidFill>
                  <a:srgbClr val="F472B6"/>
                </a:solidFill>
                <a:latin typeface="Consolas"/>
              </a:rPr>
              <a:t>&gt;...&lt;/div&gt;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&lt;/header&gt;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&lt;!-- 2. Главный уникальный контент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&lt;main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"main"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"container"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&lt;section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"hero-section"</a:t>
            </a:r>
            <a:r>
              <a:rPr sz="800">
                <a:solidFill>
                  <a:srgbClr val="F472B6"/>
                </a:solidFill>
                <a:latin typeface="Consolas"/>
              </a:rPr>
              <a:t>&gt;...&lt;/section&gt;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&lt;/main&gt;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&lt;!-- 3. Подвал сайта (копирайт и контакты)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&lt;footer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"footer"</a:t>
            </a:r>
            <a:r>
              <a:rPr sz="800">
                <a:solidFill>
                  <a:srgbClr val="F472B6"/>
                </a:solidFill>
                <a:latin typeface="Consolas"/>
              </a:rPr>
              <a:t>&gt;...&lt;/footer&gt;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&lt;/body&gt;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&lt;/html&gt;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СЕМАНТИЧЕСКИЕ ТЕГИ HTML5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Зачем нужны &lt;header&gt;, &lt;main&gt;, &lt;footer&gt;?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Раньше сайты верстали сплошными тегами &lt;div&gt;. Семантические теги делают код понятным людям, поисковикам и скринридерам.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43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905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Тег &lt;header&gt; (Шапка):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Верхняя часть страницы: содержит бренд, логотип, навигационные ссылки по разделам и кнопки профиля.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6035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5654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Тег &lt;main&gt; (Главный блок):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Центральная область. Здесь располагается уникальное содержимое страницы, не повторяющееся на других вкладках.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289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51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Тег &lt;footer&gt; (Подвал):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Нижняя часть сайта: юридическая информация, авторские права (копирайт), контакты техподдержки и соцсети.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67550" y="259715"/>
            <a:ext cx="182245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HTML5 СЕМАНТИКА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Что подключается в невидимой части документа?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index.html (настройка &lt;head&gt;)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&lt;head&gt;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&lt;meta </a:t>
            </a:r>
            <a:r>
              <a:rPr sz="800">
                <a:solidFill>
                  <a:srgbClr val="A78BFA"/>
                </a:solidFill>
                <a:latin typeface="Consolas"/>
              </a:rPr>
              <a:t>charset=</a:t>
            </a:r>
            <a:r>
              <a:rPr sz="800">
                <a:solidFill>
                  <a:srgbClr val="FCD34D"/>
                </a:solidFill>
                <a:latin typeface="Consolas"/>
              </a:rPr>
              <a:t>"UTF-8"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&lt;meta </a:t>
            </a:r>
            <a:r>
              <a:rPr sz="800">
                <a:solidFill>
                  <a:srgbClr val="A78BFA"/>
                </a:solidFill>
                <a:latin typeface="Consolas"/>
              </a:rPr>
              <a:t>name=</a:t>
            </a:r>
            <a:r>
              <a:rPr sz="800">
                <a:solidFill>
                  <a:srgbClr val="FCD34D"/>
                </a:solidFill>
                <a:latin typeface="Consolas"/>
              </a:rPr>
              <a:t>"viewport"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    </a:t>
            </a:r>
            <a:r>
              <a:rPr sz="800">
                <a:solidFill>
                  <a:srgbClr val="A78BFA"/>
                </a:solidFill>
                <a:latin typeface="Consolas"/>
              </a:rPr>
              <a:t>content=</a:t>
            </a:r>
            <a:r>
              <a:rPr sz="800">
                <a:solidFill>
                  <a:srgbClr val="FCD34D"/>
                </a:solidFill>
                <a:latin typeface="Consolas"/>
              </a:rPr>
              <a:t>"width=device-width, initial-scale=1.0"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&lt;title&gt;</a:t>
            </a:r>
            <a:r>
              <a:rPr sz="800">
                <a:solidFill>
                  <a:srgbClr val="D4D4D8"/>
                </a:solidFill>
                <a:latin typeface="Consolas"/>
              </a:rPr>
              <a:t>СмартОфис — Бронирование</a:t>
            </a:r>
            <a:r>
              <a:rPr sz="800">
                <a:solidFill>
                  <a:srgbClr val="F472B6"/>
                </a:solidFill>
                <a:latin typeface="Consolas"/>
              </a:rPr>
              <a:t>&lt;/title&gt;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&lt;!-- Подключение шрифта Inter из Google Fonts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&lt;link </a:t>
            </a:r>
            <a:r>
              <a:rPr sz="800">
                <a:solidFill>
                  <a:srgbClr val="A78BFA"/>
                </a:solidFill>
                <a:latin typeface="Consolas"/>
              </a:rPr>
              <a:t>rel=</a:t>
            </a:r>
            <a:r>
              <a:rPr sz="800">
                <a:solidFill>
                  <a:srgbClr val="FCD34D"/>
                </a:solidFill>
                <a:latin typeface="Consolas"/>
              </a:rPr>
              <a:t>"preconnect"</a:t>
            </a:r>
            <a:r>
              <a:rPr sz="800">
                <a:solidFill>
                  <a:srgbClr val="A78BFA"/>
                </a:solidFill>
                <a:latin typeface="Consolas"/>
              </a:rPr>
              <a:t> href=</a:t>
            </a:r>
            <a:r>
              <a:rPr sz="800">
                <a:solidFill>
                  <a:srgbClr val="FCD34D"/>
                </a:solidFill>
                <a:latin typeface="Consolas"/>
              </a:rPr>
              <a:t>"https://fonts.googleapis.com"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&lt;link </a:t>
            </a:r>
            <a:r>
              <a:rPr sz="800">
                <a:solidFill>
                  <a:srgbClr val="A78BFA"/>
                </a:solidFill>
                <a:latin typeface="Consolas"/>
              </a:rPr>
              <a:t>rel=</a:t>
            </a:r>
            <a:r>
              <a:rPr sz="800">
                <a:solidFill>
                  <a:srgbClr val="FCD34D"/>
                </a:solidFill>
                <a:latin typeface="Consolas"/>
              </a:rPr>
              <a:t>"preconnect"</a:t>
            </a:r>
            <a:r>
              <a:rPr sz="800">
                <a:solidFill>
                  <a:srgbClr val="A78BFA"/>
                </a:solidFill>
                <a:latin typeface="Consolas"/>
              </a:rPr>
              <a:t> href=</a:t>
            </a:r>
            <a:r>
              <a:rPr sz="800">
                <a:solidFill>
                  <a:srgbClr val="FCD34D"/>
                </a:solidFill>
                <a:latin typeface="Consolas"/>
              </a:rPr>
              <a:t>"https://fonts.gstatic.com"</a:t>
            </a:r>
            <a:r>
              <a:rPr sz="800">
                <a:solidFill>
                  <a:srgbClr val="F472B6"/>
                </a:solidFill>
                <a:latin typeface="Consolas"/>
              </a:rPr>
              <a:t> crossorigin&gt;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&lt;link </a:t>
            </a:r>
            <a:r>
              <a:rPr sz="800">
                <a:solidFill>
                  <a:srgbClr val="A78BFA"/>
                </a:solidFill>
                <a:latin typeface="Consolas"/>
              </a:rPr>
              <a:t>href=</a:t>
            </a:r>
            <a:r>
              <a:rPr sz="800">
                <a:solidFill>
                  <a:srgbClr val="FCD34D"/>
                </a:solidFill>
                <a:latin typeface="Consolas"/>
              </a:rPr>
              <a:t>"https://fonts.googleapis.com/css2?family=Inter:wght@400;500;600;700;800&amp;display=swap"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    </a:t>
            </a:r>
            <a:r>
              <a:rPr sz="800">
                <a:solidFill>
                  <a:srgbClr val="A78BFA"/>
                </a:solidFill>
                <a:latin typeface="Consolas"/>
              </a:rPr>
              <a:t>rel=</a:t>
            </a:r>
            <a:r>
              <a:rPr sz="800">
                <a:solidFill>
                  <a:srgbClr val="FCD34D"/>
                </a:solidFill>
                <a:latin typeface="Consolas"/>
              </a:rPr>
              <a:t>"stylesheet"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&lt;!-- Подключение таблицы стилей и иконки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&lt;link </a:t>
            </a:r>
            <a:r>
              <a:rPr sz="800">
                <a:solidFill>
                  <a:srgbClr val="A78BFA"/>
                </a:solidFill>
                <a:latin typeface="Consolas"/>
              </a:rPr>
              <a:t>rel=</a:t>
            </a:r>
            <a:r>
              <a:rPr sz="800">
                <a:solidFill>
                  <a:srgbClr val="FCD34D"/>
                </a:solidFill>
                <a:latin typeface="Consolas"/>
              </a:rPr>
              <a:t>"stylesheet"</a:t>
            </a:r>
            <a:r>
              <a:rPr sz="800">
                <a:solidFill>
                  <a:srgbClr val="A78BFA"/>
                </a:solidFill>
                <a:latin typeface="Consolas"/>
              </a:rPr>
              <a:t> href=</a:t>
            </a:r>
            <a:r>
              <a:rPr sz="800">
                <a:solidFill>
                  <a:srgbClr val="FCD34D"/>
                </a:solidFill>
                <a:latin typeface="Consolas"/>
              </a:rPr>
              <a:t>"css/style.css"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&lt;link </a:t>
            </a:r>
            <a:r>
              <a:rPr sz="800">
                <a:solidFill>
                  <a:srgbClr val="A78BFA"/>
                </a:solidFill>
                <a:latin typeface="Consolas"/>
              </a:rPr>
              <a:t>rel=</a:t>
            </a:r>
            <a:r>
              <a:rPr sz="800">
                <a:solidFill>
                  <a:srgbClr val="FCD34D"/>
                </a:solidFill>
                <a:latin typeface="Consolas"/>
              </a:rPr>
              <a:t>"icon"</a:t>
            </a:r>
            <a:r>
              <a:rPr sz="800">
                <a:solidFill>
                  <a:srgbClr val="A78BFA"/>
                </a:solidFill>
                <a:latin typeface="Consolas"/>
              </a:rPr>
              <a:t> type=</a:t>
            </a:r>
            <a:r>
              <a:rPr sz="800">
                <a:solidFill>
                  <a:srgbClr val="FCD34D"/>
                </a:solidFill>
                <a:latin typeface="Consolas"/>
              </a:rPr>
              <a:t>"image/svg+xml"</a:t>
            </a:r>
            <a:r>
              <a:rPr sz="800">
                <a:solidFill>
                  <a:srgbClr val="A78BFA"/>
                </a:solidFill>
                <a:latin typeface="Consolas"/>
              </a:rPr>
              <a:t> href=</a:t>
            </a:r>
            <a:r>
              <a:rPr sz="800">
                <a:solidFill>
                  <a:srgbClr val="FCD34D"/>
                </a:solidFill>
                <a:latin typeface="Consolas"/>
              </a:rPr>
              <a:t>"img/logo.svg"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&lt;/head&gt;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СЛУЖЕБНЫЕ МЕТАТЕГИ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Кодировка UTF-8: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Указывает браузеру стандарт символов. Без &lt;meta charset="UTF-8"&gt; кириллические буквы превратятся в иероглифы.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892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854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Метатег Viewport: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Говорит браузеру отображать страницу в масштабе 1:1 в соответствии с реальной шириной экрана экрана устройства.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5527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5146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Google Fonts (Inter):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Шрифт Inter — мировой стандарт интерфейсов (Figma, Linear). preconnect заранее открывает скоростное соединение с сервером.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263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25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Фавикон сайта (Favicon):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Векторная иконка img/logo.svg в теге &lt;link rel="icon"&gt; украшает вкладку в браузере и закладки.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80810" y="259715"/>
            <a:ext cx="240919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СЛУЖЕБНЫЙ БЛОК &lt;HEAD&gt;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9;p14"/>
          <p:cNvSpPr/>
          <p:nvPr/>
        </p:nvSpPr>
        <p:spPr>
          <a:xfrm>
            <a:off x="4972050" y="259079"/>
            <a:ext cx="391795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</p:spPr>
        <p:txBody>
          <a:bodyPr wrap="none" lIns="101600" tIns="25400" rIns="1016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СХЕМА: BLOCK vs FLEXBOX vs GRID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В чем визуальная разница блочного потока, Flexbox и CSS Grid?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26670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838200"/>
            <a:ext cx="2362200" cy="406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38BDF8"/>
                </a:solidFill>
                <a:latin typeface="Montserrat"/>
              </a:rPr>
              <a:t>1. BLOCK (Поток)</a:t>
            </a:r>
          </a:p>
          <a:p>
            <a:r>
              <a:rPr sz="800">
                <a:solidFill>
                  <a:srgbClr val="71717A"/>
                </a:solidFill>
                <a:latin typeface="Inter"/>
              </a:rPr>
              <a:t>Вертикальный стек друг под друга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5400"/>
            <a:ext cx="2362200" cy="127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" y="1397000"/>
            <a:ext cx="2362200" cy="2235200"/>
          </a:xfrm>
          <a:prstGeom prst="roundRect">
            <a:avLst>
              <a:gd name="adj" fmla="val 4000"/>
            </a:avLst>
          </a:prstGeom>
          <a:solidFill>
            <a:srgbClr val="22252B"/>
          </a:solidFill>
          <a:ln w="12700">
            <a:solidFill>
              <a:srgbClr val="3B4252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8000" y="1422400"/>
            <a:ext cx="2260600" cy="177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50">
                <a:solidFill>
                  <a:srgbClr val="71717A"/>
                </a:solidFill>
                <a:latin typeface="Consolas"/>
              </a:rPr>
              <a:t>Родитель: width: 100%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8800" y="1651000"/>
            <a:ext cx="2159000" cy="482600"/>
          </a:xfrm>
          <a:prstGeom prst="roundRect">
            <a:avLst>
              <a:gd name="adj" fmla="val 6000"/>
            </a:avLst>
          </a:prstGeom>
          <a:solidFill>
            <a:srgbClr val="1B2A38"/>
          </a:solidFill>
          <a:ln w="15240">
            <a:solidFill>
              <a:srgbClr val="38BDF8"/>
            </a:solidFill>
          </a:ln>
        </p:spPr>
        <p:txBody>
          <a:bodyPr wrap="square" lIns="7620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Consolas"/>
              </a:rPr>
              <a:t>&lt;div&gt; Блок 1</a:t>
            </a:r>
          </a:p>
          <a:p>
            <a:pPr algn="ctr"/>
            <a:r>
              <a:rPr sz="700">
                <a:solidFill>
                  <a:srgbClr val="38BDF8"/>
                </a:solidFill>
                <a:latin typeface="Inter"/>
              </a:rPr>
              <a:t>width: 100% (выталкивает вниз)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8800" y="2260600"/>
            <a:ext cx="2159000" cy="482600"/>
          </a:xfrm>
          <a:prstGeom prst="roundRect">
            <a:avLst>
              <a:gd name="adj" fmla="val 6000"/>
            </a:avLst>
          </a:prstGeom>
          <a:solidFill>
            <a:srgbClr val="1B2A38"/>
          </a:solidFill>
          <a:ln w="15240">
            <a:solidFill>
              <a:srgbClr val="38BDF8"/>
            </a:solidFill>
          </a:ln>
        </p:spPr>
        <p:txBody>
          <a:bodyPr wrap="square" lIns="7620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Consolas"/>
              </a:rPr>
              <a:t>&lt;div&gt; Блок 2</a:t>
            </a:r>
          </a:p>
          <a:p>
            <a:pPr algn="ctr"/>
            <a:r>
              <a:rPr sz="700">
                <a:solidFill>
                  <a:srgbClr val="38BDF8"/>
                </a:solidFill>
                <a:latin typeface="Inter"/>
              </a:rPr>
              <a:t>width: 100% (выталкивает вниз)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8800" y="2870200"/>
            <a:ext cx="2159000" cy="482600"/>
          </a:xfrm>
          <a:prstGeom prst="roundRect">
            <a:avLst>
              <a:gd name="adj" fmla="val 6000"/>
            </a:avLst>
          </a:prstGeom>
          <a:solidFill>
            <a:srgbClr val="1B2A38"/>
          </a:solidFill>
          <a:ln w="15240">
            <a:solidFill>
              <a:srgbClr val="38BDF8"/>
            </a:solidFill>
          </a:ln>
        </p:spPr>
        <p:txBody>
          <a:bodyPr wrap="square" lIns="7620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Consolas"/>
              </a:rPr>
              <a:t>&lt;div&gt; Блок 3</a:t>
            </a:r>
          </a:p>
          <a:p>
            <a:pPr algn="ctr"/>
            <a:r>
              <a:rPr sz="700">
                <a:solidFill>
                  <a:srgbClr val="38BDF8"/>
                </a:solidFill>
                <a:latin typeface="Inter"/>
              </a:rPr>
              <a:t>width: 100% (выталкивает вниз)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708400"/>
            <a:ext cx="23622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1">
                <a:solidFill>
                  <a:srgbClr val="222222"/>
                </a:solidFill>
                <a:latin typeface="Inter"/>
              </a:rPr>
              <a:t>Свойство по умолчанию:
</a:t>
            </a:r>
            <a:r>
              <a:rPr sz="750">
                <a:solidFill>
                  <a:srgbClr val="D4D4D8"/>
                </a:solidFill>
                <a:latin typeface="Inter"/>
              </a:rPr>
              <a:t>Каждый тег занимает всю ширину строки и переносит следующий элемент вниз.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38500" y="711200"/>
            <a:ext cx="26670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90900" y="838200"/>
            <a:ext cx="2362200" cy="406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4ADE80"/>
                </a:solidFill>
                <a:latin typeface="Montserrat"/>
              </a:rPr>
              <a:t>2. FLEXBOX (1D)</a:t>
            </a:r>
          </a:p>
          <a:p>
            <a:r>
              <a:rPr sz="800">
                <a:solidFill>
                  <a:srgbClr val="71717A"/>
                </a:solidFill>
                <a:latin typeface="Inter"/>
              </a:rPr>
              <a:t>Вдоль одной оси (строка / колонка)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90900" y="1295400"/>
            <a:ext cx="2362200" cy="127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390900" y="1397000"/>
            <a:ext cx="2362200" cy="2235200"/>
          </a:xfrm>
          <a:prstGeom prst="roundRect">
            <a:avLst>
              <a:gd name="adj" fmla="val 4000"/>
            </a:avLst>
          </a:prstGeom>
          <a:solidFill>
            <a:srgbClr val="22252B"/>
          </a:solidFill>
          <a:ln w="12700">
            <a:solidFill>
              <a:srgbClr val="3B4252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41700" y="1422400"/>
            <a:ext cx="2260600" cy="177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50">
                <a:solidFill>
                  <a:srgbClr val="71717A"/>
                </a:solidFill>
                <a:latin typeface="Consolas"/>
              </a:rPr>
              <a:t>display: flex; gap: 8px;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92500" y="1651000"/>
            <a:ext cx="2159000" cy="228600"/>
          </a:xfrm>
          <a:prstGeom prst="roundRect">
            <a:avLst>
              <a:gd name="adj" fmla="val 20000"/>
            </a:avLst>
          </a:prstGeom>
          <a:solidFill>
            <a:srgbClr val="132A1E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750" b="1">
                <a:solidFill>
                  <a:srgbClr val="4ADE80"/>
                </a:solidFill>
                <a:latin typeface="Consolas"/>
              </a:rPr>
              <a:t>ГЛАВНАЯ ОСЬ X (row) ──►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92500" y="1955800"/>
            <a:ext cx="647700" cy="965200"/>
          </a:xfrm>
          <a:prstGeom prst="roundRect">
            <a:avLst>
              <a:gd name="adj" fmla="val 8000"/>
            </a:avLst>
          </a:prstGeom>
          <a:solidFill>
            <a:srgbClr val="1A3324"/>
          </a:solidFill>
          <a:ln w="15240">
            <a:solidFill>
              <a:srgbClr val="4ADE80"/>
            </a:solidFill>
          </a:ln>
        </p:spPr>
        <p:txBody>
          <a:bodyPr wrap="squar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onsolas"/>
              </a:rPr>
              <a:t>Item 1</a:t>
            </a:r>
          </a:p>
          <a:p>
            <a:pPr algn="ctr"/>
            <a:r>
              <a:rPr sz="700">
                <a:solidFill>
                  <a:srgbClr val="4ADE80"/>
                </a:solidFill>
                <a:latin typeface="Consolas"/>
              </a:rPr>
              <a:t>auto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29100" y="1955800"/>
            <a:ext cx="647700" cy="965200"/>
          </a:xfrm>
          <a:prstGeom prst="roundRect">
            <a:avLst>
              <a:gd name="adj" fmla="val 8000"/>
            </a:avLst>
          </a:prstGeom>
          <a:solidFill>
            <a:srgbClr val="1A3324"/>
          </a:solidFill>
          <a:ln w="15240">
            <a:solidFill>
              <a:srgbClr val="4ADE80"/>
            </a:solidFill>
          </a:ln>
        </p:spPr>
        <p:txBody>
          <a:bodyPr wrap="squar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onsolas"/>
              </a:rPr>
              <a:t>Item 2</a:t>
            </a:r>
          </a:p>
          <a:p>
            <a:pPr algn="ctr"/>
            <a:r>
              <a:rPr sz="700">
                <a:solidFill>
                  <a:srgbClr val="4ADE80"/>
                </a:solidFill>
                <a:latin typeface="Consolas"/>
              </a:rPr>
              <a:t>flex: 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65700" y="1955800"/>
            <a:ext cx="647700" cy="965200"/>
          </a:xfrm>
          <a:prstGeom prst="roundRect">
            <a:avLst>
              <a:gd name="adj" fmla="val 8000"/>
            </a:avLst>
          </a:prstGeom>
          <a:solidFill>
            <a:srgbClr val="1A3324"/>
          </a:solidFill>
          <a:ln w="15240">
            <a:solidFill>
              <a:srgbClr val="4ADE80"/>
            </a:solidFill>
          </a:ln>
        </p:spPr>
        <p:txBody>
          <a:bodyPr wrap="squar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onsolas"/>
              </a:rPr>
              <a:t>Item 3</a:t>
            </a:r>
          </a:p>
          <a:p>
            <a:pPr algn="ctr"/>
            <a:r>
              <a:rPr sz="700">
                <a:solidFill>
                  <a:srgbClr val="4ADE80"/>
                </a:solidFill>
                <a:latin typeface="Consolas"/>
              </a:rPr>
              <a:t>auto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92500" y="3022600"/>
            <a:ext cx="2159000" cy="482600"/>
          </a:xfrm>
          <a:prstGeom prst="rect">
            <a:avLst/>
          </a:prstGeom>
          <a:solidFill>
            <a:srgbClr val="18222A"/>
          </a:solidFill>
          <a:ln w="9525">
            <a:solidFill>
              <a:srgbClr val="2D3A45"/>
            </a:solidFill>
          </a:ln>
        </p:spPr>
        <p:txBody>
          <a:bodyPr wrap="square" rtlCol="0" anchor="ctr"/>
          <a:lstStyle/>
          <a:p>
            <a:pPr algn="ctr"/>
            <a:r>
              <a:rPr sz="700">
                <a:solidFill>
                  <a:srgbClr val="D4D4D8"/>
                </a:solidFill>
                <a:latin typeface="Consolas"/>
              </a:rPr>
              <a:t>justify-content: space-between;
align-items: center;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90900" y="3708400"/>
            <a:ext cx="23622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1">
                <a:solidFill>
                  <a:srgbClr val="222222"/>
                </a:solidFill>
                <a:latin typeface="Inter"/>
              </a:rPr>
              <a:t>Одномерное управление (1D):
</a:t>
            </a:r>
            <a:r>
              <a:rPr sz="750">
                <a:solidFill>
                  <a:srgbClr val="D4D4D8"/>
                </a:solidFill>
                <a:latin typeface="Inter"/>
              </a:rPr>
              <a:t>Идеально выстраивает элементы в одну линию (шапка, меню, ряд кнопок) и делит пустоту.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711200"/>
            <a:ext cx="26670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24600" y="838200"/>
            <a:ext cx="2362200" cy="406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A78BFA"/>
                </a:solidFill>
                <a:latin typeface="Montserrat"/>
              </a:rPr>
              <a:t>3. CSS GRID (2D)</a:t>
            </a:r>
          </a:p>
          <a:p>
            <a:r>
              <a:rPr sz="800">
                <a:solidFill>
                  <a:srgbClr val="71717A"/>
                </a:solidFill>
                <a:latin typeface="Inter"/>
              </a:rPr>
              <a:t>Строки + Столбцы (Сетка матрица)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24600" y="1295400"/>
            <a:ext cx="2362200" cy="127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324600" y="1397000"/>
            <a:ext cx="2362200" cy="2235200"/>
          </a:xfrm>
          <a:prstGeom prst="roundRect">
            <a:avLst>
              <a:gd name="adj" fmla="val 4000"/>
            </a:avLst>
          </a:prstGeom>
          <a:solidFill>
            <a:srgbClr val="22252B"/>
          </a:solidFill>
          <a:ln w="12700">
            <a:solidFill>
              <a:srgbClr val="3B4252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75400" y="1422400"/>
            <a:ext cx="2260600" cy="177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50">
                <a:solidFill>
                  <a:srgbClr val="71717A"/>
                </a:solidFill>
                <a:latin typeface="Consolas"/>
              </a:rPr>
              <a:t>grid-template-columns: 1fr 1fr;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26200" y="1676400"/>
            <a:ext cx="1003300" cy="838200"/>
          </a:xfrm>
          <a:prstGeom prst="roundRect">
            <a:avLst>
              <a:gd name="adj" fmla="val 8000"/>
            </a:avLst>
          </a:prstGeom>
          <a:solidFill>
            <a:srgbClr val="271F3D"/>
          </a:solidFill>
          <a:ln w="15240">
            <a:solidFill>
              <a:srgbClr val="A78BFA"/>
            </a:solidFill>
          </a:ln>
        </p:spPr>
        <p:txBody>
          <a:bodyPr wrap="squar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onsolas"/>
              </a:rPr>
              <a:t>Ячейка 1</a:t>
            </a:r>
          </a:p>
          <a:p>
            <a:pPr algn="ctr"/>
            <a:r>
              <a:rPr sz="650">
                <a:solidFill>
                  <a:srgbClr val="A78BFA"/>
                </a:solidFill>
                <a:latin typeface="Inter"/>
              </a:rPr>
              <a:t>col 1 / row 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43800" y="1676400"/>
            <a:ext cx="1003300" cy="838200"/>
          </a:xfrm>
          <a:prstGeom prst="roundRect">
            <a:avLst>
              <a:gd name="adj" fmla="val 8000"/>
            </a:avLst>
          </a:prstGeom>
          <a:solidFill>
            <a:srgbClr val="271F3D"/>
          </a:solidFill>
          <a:ln w="15240">
            <a:solidFill>
              <a:srgbClr val="A78BFA"/>
            </a:solidFill>
          </a:ln>
        </p:spPr>
        <p:txBody>
          <a:bodyPr wrap="squar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onsolas"/>
              </a:rPr>
              <a:t>Ячейка 2</a:t>
            </a:r>
          </a:p>
          <a:p>
            <a:pPr algn="ctr"/>
            <a:r>
              <a:rPr sz="650">
                <a:solidFill>
                  <a:srgbClr val="A78BFA"/>
                </a:solidFill>
                <a:latin typeface="Inter"/>
              </a:rPr>
              <a:t>col 2 / row 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26200" y="2590800"/>
            <a:ext cx="1003300" cy="838200"/>
          </a:xfrm>
          <a:prstGeom prst="roundRect">
            <a:avLst>
              <a:gd name="adj" fmla="val 8000"/>
            </a:avLst>
          </a:prstGeom>
          <a:solidFill>
            <a:srgbClr val="271F3D"/>
          </a:solidFill>
          <a:ln w="15240">
            <a:solidFill>
              <a:srgbClr val="A78BFA"/>
            </a:solidFill>
          </a:ln>
        </p:spPr>
        <p:txBody>
          <a:bodyPr wrap="squar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onsolas"/>
              </a:rPr>
              <a:t>Ячейка 3</a:t>
            </a:r>
          </a:p>
          <a:p>
            <a:pPr algn="ctr"/>
            <a:r>
              <a:rPr sz="650">
                <a:solidFill>
                  <a:srgbClr val="A78BFA"/>
                </a:solidFill>
                <a:latin typeface="Inter"/>
              </a:rPr>
              <a:t>col 1 / row 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43800" y="2590800"/>
            <a:ext cx="1003300" cy="838200"/>
          </a:xfrm>
          <a:prstGeom prst="roundRect">
            <a:avLst>
              <a:gd name="adj" fmla="val 8000"/>
            </a:avLst>
          </a:prstGeom>
          <a:solidFill>
            <a:srgbClr val="271F3D"/>
          </a:solidFill>
          <a:ln w="15240">
            <a:solidFill>
              <a:srgbClr val="A78BFA"/>
            </a:solidFill>
          </a:ln>
        </p:spPr>
        <p:txBody>
          <a:bodyPr wrap="squar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onsolas"/>
              </a:rPr>
              <a:t>Ячейка 4</a:t>
            </a:r>
          </a:p>
          <a:p>
            <a:pPr algn="ctr"/>
            <a:r>
              <a:rPr sz="650">
                <a:solidFill>
                  <a:srgbClr val="A78BFA"/>
                </a:solidFill>
                <a:latin typeface="Inter"/>
              </a:rPr>
              <a:t>col 2 / row 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4600" y="3708400"/>
            <a:ext cx="23622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1">
                <a:solidFill>
                  <a:srgbClr val="222222"/>
                </a:solidFill>
                <a:latin typeface="Inter"/>
              </a:rPr>
              <a:t>Двумерная матрица (2D):
</a:t>
            </a:r>
            <a:r>
              <a:rPr sz="750">
                <a:solidFill>
                  <a:srgbClr val="D4D4D8"/>
                </a:solidFill>
                <a:latin typeface="Inter"/>
              </a:rPr>
              <a:t>Управляет строками и колонками одновременно. Идеально для каталогов карточек и фото.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9;p14"/>
          <p:cNvSpPr/>
          <p:nvPr/>
        </p:nvSpPr>
        <p:spPr>
          <a:xfrm>
            <a:off x="5295900" y="259079"/>
            <a:ext cx="359410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</p:spPr>
        <p:txBody>
          <a:bodyPr wrap="none" lIns="101600" tIns="25400" rIns="1016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ТЕОРИЯ: ВЫБОР МОДЕЛИ ВЕРСТКИ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Какую модель верстки выбрать для конкретной задачи сайта?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(Выбор модели)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1. ОБЫЧНЫЙ ТЕКСТ И АБЗАЦЫ (Block)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.article-text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block</a:t>
            </a:r>
            <a:r>
              <a:rPr sz="800">
                <a:solidFill>
                  <a:srgbClr val="71717A"/>
                </a:solidFill>
                <a:latin typeface="Consolas"/>
              </a:rPr>
              <a:t>; /* Поток сверху вниз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2. ШАПКА И НАВИГАЦИЯ В РЯД (Flexbox)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.header-nav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flex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justify-content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space-between</a:t>
            </a:r>
            <a:r>
              <a:rPr sz="800">
                <a:solidFill>
                  <a:srgbClr val="71717A"/>
                </a:solidFill>
                <a:latin typeface="Consolas"/>
              </a:rPr>
              <a:t>; /* Разнос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align-items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center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3. КАТАЛОГ КОМНАТ 3x3 (CSS Grid)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.rooms-grid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grid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grid-template-columns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repeat(3, 1fr)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gap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24px</a:t>
            </a:r>
            <a:r>
              <a:rPr sz="800">
                <a:solidFill>
                  <a:srgbClr val="71717A"/>
                </a:solidFill>
                <a:latin typeface="Consolas"/>
              </a:rPr>
              <a:t>; /* Отступы сетки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ПРАВИЛА И СЦЕНАРИИ ПРИМЕНЕНИЯ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Dot 0"/>
          <p:cNvSpPr/>
          <p:nvPr/>
        </p:nvSpPr>
        <p:spPr>
          <a:xfrm>
            <a:off x="4826000" y="1231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Bullet 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Block — для текстовых смысловых блоков: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Теги &lt;p&gt;, &lt;h1&gt;, &lt;div&gt; по умолчанию блочные. Они естественным образом формируют классический вертикальный поток документа для чтения.</a:t>
            </a:r>
          </a:p>
        </p:txBody>
      </p:sp>
      <p:sp>
        <p:nvSpPr>
          <p:cNvPr id="12" name="Rounded Rectangle Dot 1"/>
          <p:cNvSpPr/>
          <p:nvPr/>
        </p:nvSpPr>
        <p:spPr>
          <a:xfrm>
            <a:off x="4826000" y="1866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Bullet 1"/>
          <p:cNvSpPr txBox="1"/>
          <p:nvPr/>
        </p:nvSpPr>
        <p:spPr>
          <a:xfrm>
            <a:off x="5003800" y="1828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Flexbox — для линейных цепочек (1D):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Идеален, когда элементы нужно расположить вдоль одной оси: шапка сайта, меню ссылок, строка с тегами или кнопка с иконкой.</a:t>
            </a:r>
          </a:p>
        </p:txBody>
      </p:sp>
      <p:sp>
        <p:nvSpPr>
          <p:cNvPr id="14" name="Rounded Rectangle Dot 2"/>
          <p:cNvSpPr/>
          <p:nvPr/>
        </p:nvSpPr>
        <p:spPr>
          <a:xfrm>
            <a:off x="4826000" y="2501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Bullet 2"/>
          <p:cNvSpPr txBox="1"/>
          <p:nvPr/>
        </p:nvSpPr>
        <p:spPr>
          <a:xfrm>
            <a:off x="5003800" y="2463800"/>
            <a:ext cx="36195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CSS Grid — для сложных сеток каталогов (2D):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Используется, когда нужно контролировать и строки, и столбцы одновременно: галерея фото, витрина товаров, сетка переговорных комнат.</a:t>
            </a:r>
          </a:p>
        </p:txBody>
      </p:sp>
      <p:sp>
        <p:nvSpPr>
          <p:cNvPr id="16" name="Rounded Rectangle Dot 3"/>
          <p:cNvSpPr/>
          <p:nvPr/>
        </p:nvSpPr>
        <p:spPr>
          <a:xfrm>
            <a:off x="4826000" y="31623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Bullet 3"/>
          <p:cNvSpPr txBox="1"/>
          <p:nvPr/>
        </p:nvSpPr>
        <p:spPr>
          <a:xfrm>
            <a:off x="5003800" y="3124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Командная работа технологий: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Grid организует общую 3-колоночную сетку каталога, Flexbox центрирует содержимое внутри каждой карточки, а Block держит описание.</a:t>
            </a:r>
          </a:p>
        </p:txBody>
      </p:sp>
      <p:sp>
        <p:nvSpPr>
          <p:cNvPr id="18" name="Rounded Rectangle Dot 4"/>
          <p:cNvSpPr/>
          <p:nvPr/>
        </p:nvSpPr>
        <p:spPr>
          <a:xfrm>
            <a:off x="4826000" y="37973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Bullet 4"/>
          <p:cNvSpPr txBox="1"/>
          <p:nvPr/>
        </p:nvSpPr>
        <p:spPr>
          <a:xfrm>
            <a:off x="5003800" y="3759200"/>
            <a:ext cx="3619500" cy="55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Итог: как выбирать инструмент: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Ряд кнопок или выравнивание шапки? → Flexbox. Матрица карточек 3х3 или дашборд? → Grid. Стандартный текст статьи? → Block!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9;p14"/>
          <p:cNvSpPr/>
          <p:nvPr/>
        </p:nvSpPr>
        <p:spPr>
          <a:xfrm>
            <a:off x="5619750" y="259079"/>
            <a:ext cx="327025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</p:spPr>
        <p:txBody>
          <a:bodyPr wrap="none" lIns="101600" tIns="25400" rIns="1016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БЛОЧНАЯ МОДЕЛЬ: BOX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устроена блочная модель и почему важен box-sizing?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(Box Model Anatomy)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АНАТОМИЯ ЛЮБОГО HTML-ЭЛЕМЕНТА</a:t>
            </a:r>
          </a:p>
        </p:txBody>
      </p:sp>
      <p:sp>
        <p:nvSpPr>
          <p:cNvPr id="8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=== АНАТОМИЯ БЛОЧНОЙ КОРОБКИ ===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┌───────────────────────────────────┐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│ MARGIN (Внешний отступ от соседей)│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│  ┌─────────────────────────────┐  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│  │ BORDER (Видимая рамка/грань)│  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│  │  ┌───────────────────────┐  │  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CD34D"/>
                </a:solidFill>
                <a:latin typeface="Consolas"/>
              </a:rPr>
              <a:t>│  │  │ PADDING (Внутр. поля) │  │  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│  │  │  ┌─────────────────┐  │  │  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4ADE80"/>
                </a:solidFill>
                <a:latin typeface="Consolas"/>
              </a:rPr>
              <a:t>│  │  │  │     CONTENT     │  │  │  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4ADE80"/>
                </a:solidFill>
                <a:latin typeface="Consolas"/>
              </a:rPr>
              <a:t>│  │  │  │ (Текст, иконка) │  │  │  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│  │  │  └─────────────────┘  │  │  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│  │  └───────────────────────┘  │  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│  └─────────────────────────────┘  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└───────────────────────────────────┘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Главное правило сброса в начале CSS: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*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box-sizing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border-box</a:t>
            </a:r>
            <a:r>
              <a:rPr sz="800">
                <a:solidFill>
                  <a:srgbClr val="71717A"/>
                </a:solidFill>
                <a:latin typeface="Consolas"/>
              </a:rPr>
              <a:t>; /* Честный расчет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5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Content (Контент / Содержимое):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Сердцевина элемента — сам текст, изображение или векторная иконка. Его базовые размеры определяются свойствами width и height.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8415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8034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Padding (Внутренние поля):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Воздушная подушка безопасности внутри блока от контента до его рамки. Заливается фоновым цветом блока (background-color).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4765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4384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Border (Граница / Рамка):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Линия, очерчивающая блок. Имеет толщину, стиль и цвет (например, border: 1px solid #fe6002). Завершает физическое тело элемента.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1115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073400"/>
            <a:ext cx="3619500" cy="55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Margin (Внешние отступы):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Пространство снаружи блока, отталкивающее соседей. Margin всегда абсолютно прозрачен и не имеет цвета фона.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26000" y="37211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03800" y="3683000"/>
            <a:ext cx="3619500" cy="635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Спасение через box-sizing: border-box: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Без этого правила любой padding раздувает блок наружу и ломает верстку. С border-box ширина 300px всегда строго 300px!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9;p14"/>
          <p:cNvSpPr/>
          <p:nvPr/>
        </p:nvSpPr>
        <p:spPr>
          <a:xfrm>
            <a:off x="5619750" y="259079"/>
            <a:ext cx="327025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</p:spPr>
        <p:txBody>
          <a:bodyPr wrap="none" lIns="101600" tIns="25400" rIns="1016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FLEXBOX: ОДНОМЕРНЫЙ МАКЕТ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работает Flexbox и почему он незаменим в верстке?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(Flexbox Syntax)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МЕХАНИКА И СИЛА ТЕХНОЛОГИИ FLEXBOX</a:t>
            </a:r>
          </a:p>
        </p:txBody>
      </p:sp>
      <p:sp>
        <p:nvSpPr>
          <p:cNvPr id="8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1. РОДИТЕЛЬ (Flex-контейнер)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.navbar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flex</a:t>
            </a:r>
            <a:r>
              <a:rPr sz="800">
                <a:solidFill>
                  <a:srgbClr val="71717A"/>
                </a:solidFill>
                <a:latin typeface="Consolas"/>
              </a:rPr>
              <a:t>; /* Включаем флекс-режим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flex-direction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row</a:t>
            </a:r>
            <a:r>
              <a:rPr sz="800">
                <a:solidFill>
                  <a:srgbClr val="71717A"/>
                </a:solidFill>
                <a:latin typeface="Consolas"/>
              </a:rPr>
              <a:t>;     /* Ось X: слева направо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justify-content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space-between</a:t>
            </a:r>
            <a:r>
              <a:rPr sz="800">
                <a:solidFill>
                  <a:srgbClr val="71717A"/>
                </a:solidFill>
                <a:latin typeface="Consolas"/>
              </a:rPr>
              <a:t>; /* Разнос краев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align-items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center</a:t>
            </a:r>
            <a:r>
              <a:rPr sz="800">
                <a:solidFill>
                  <a:srgbClr val="71717A"/>
                </a:solidFill>
                <a:latin typeface="Consolas"/>
              </a:rPr>
              <a:t>;        /* Центр по высоте Y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gap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20px</a:t>
            </a:r>
            <a:r>
              <a:rPr sz="800">
                <a:solidFill>
                  <a:srgbClr val="71717A"/>
                </a:solidFill>
                <a:latin typeface="Consolas"/>
              </a:rPr>
              <a:t>;                /* Шаг между детьми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2. ПОТОМОК (Flex-элемент)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.main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flex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</a:t>
            </a:r>
            <a:r>
              <a:rPr sz="800">
                <a:solidFill>
                  <a:srgbClr val="71717A"/>
                </a:solidFill>
                <a:latin typeface="Consolas"/>
              </a:rPr>
              <a:t>; /* Занимает всю пустоту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.logo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flex-shrink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0</a:t>
            </a:r>
            <a:r>
              <a:rPr sz="800">
                <a:solidFill>
                  <a:srgbClr val="71717A"/>
                </a:solidFill>
                <a:latin typeface="Consolas"/>
              </a:rPr>
              <a:t>; /* Не сжиматься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Родитель (Container) и дети (Items):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Свойство display: flex пишется у родительского блока, но мгновенно подчиняет всех прямых потомков, выстраивая их в ряд.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866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828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Главная (Main) и поперечная (Cross) оси: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По умолчанию элементы строятся слева направо (row). Но с flex-direction: column ось легко поворачивается сверху вниз.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501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463800"/>
            <a:ext cx="36195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Выравнивание: justify-content и align-items: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justify-content выравнивает вдоль главной оси (center, space-between), а align-items — центрирует по высоте без костылей.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1623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124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Свойство gap — идеальные отступы: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Заменяет мучения с margin-right и :last-child. Одной командой gap: 20px создает равные промежутки между дочерними блоками.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26000" y="37973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03800" y="3759200"/>
            <a:ext cx="3619500" cy="55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Магический flex: 1 (Жадное растяжение):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Говорит элементу: «Забери всё свободное место!». Именно благодаря этому блок .main выталкивает футер в самый низ экрана.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9;p14"/>
          <p:cNvSpPr/>
          <p:nvPr/>
        </p:nvSpPr>
        <p:spPr>
          <a:xfrm>
            <a:off x="5619750" y="259079"/>
            <a:ext cx="327025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</p:spPr>
        <p:txBody>
          <a:bodyPr wrap="none" lIns="101600" tIns="25400" rIns="1016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CSS GRID: ДВУМЕРНЫЕ СЕТКИ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Когда и зачем использовать CSS Grid вместо Flexbox?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(CSS Grid Syntax)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ДВУМЕРНЫЙ СЕТОЧНЫЙ КАРКАС</a:t>
            </a:r>
          </a:p>
        </p:txBody>
      </p:sp>
      <p:sp>
        <p:nvSpPr>
          <p:cNvPr id="8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1. СЕТОЧНЫЙ КОНТЕЙНЕР (Grid)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.rooms-catalog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grid</a:t>
            </a:r>
            <a:r>
              <a:rPr sz="800">
                <a:solidFill>
                  <a:srgbClr val="71717A"/>
                </a:solidFill>
                <a:latin typeface="Consolas"/>
              </a:rPr>
              <a:t>; /* Включаем 2D-сетку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/* 3 равные колонки по 1 доле (fr):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grid-template-columns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repeat(3, 1fr)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gap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24px</a:t>
            </a:r>
            <a:r>
              <a:rPr sz="800">
                <a:solidFill>
                  <a:srgbClr val="71717A"/>
                </a:solidFill>
                <a:latin typeface="Consolas"/>
              </a:rPr>
              <a:t>; /* Отступ строк и колонок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2. ОСОБАЯ КАРТОЧКА (Grid-элемент)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.card-featured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grid-column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span 2</a:t>
            </a:r>
            <a:r>
              <a:rPr sz="800">
                <a:solidFill>
                  <a:srgbClr val="71717A"/>
                </a:solidFill>
                <a:latin typeface="Consolas"/>
              </a:rPr>
              <a:t>; /* Растянуть на 2 ячейки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.card-full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grid-column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 / -1</a:t>
            </a:r>
            <a:r>
              <a:rPr sz="800">
                <a:solidFill>
                  <a:srgbClr val="71717A"/>
                </a:solidFill>
                <a:latin typeface="Consolas"/>
              </a:rPr>
              <a:t>; /* На всю ширину ряда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Двумерная координатная плоскость (2D):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Grid одновременно управляет и строками, и столбцами. Элементы распределяются по ячейкам, как на шахматной доске.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866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828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Шаблон колонок: repeat(3, 1fr):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Команда repeat(3, 1fr) делит ширину родителя на 3 абсолютно равные колонки. Браузер сам пересчитывает ширину ячеек!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501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463800"/>
            <a:ext cx="3619500" cy="55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Единица измерения fr (Fraction):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Доля от свободного места. Шаблон 1fr 2fr создаст две колонки, где правая будет ровно в два раза шире левой.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1115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073400"/>
            <a:ext cx="36195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Объединение ячеек через span: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Свойство grid-column: span 2 позволяет карточке переговорной или баннеру занять сразу две ячейки, не ломая соседей.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26000" y="3771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03800" y="373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Где применяется в веб-разработке: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Витрины интернет-магазинов, каталоги комнат и услуг, галереи фото и дашборды с графиками создаются именно на CSS Grid!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Зачем сбрасывать стандартные отступы браузеров?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(базовый сброс)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=========================================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СБРОС СТИЛЕЙ И БАЗОВЫЕ НАСТРОЙКИ        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=========================================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Селектор * выбирает абсолютно все теги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*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/* Включаем padding и border в общую ширину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box-sizing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border-box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/* Сбрасываем браузерные внешние отступы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margin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0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/* Сбрасываем браузерные внутренние поля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padding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0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МАГИЯ BOX-SIZING: BORDER-BOX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Проблема браузерных стилей: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У каждого браузера (Chrome, Safari, Firefox, Edge) свои отступы для &lt;body&gt;, &lt;h1&gt;, &lt;p&gt;, &lt;ul&gt;. Сброс делает их одинаковыми.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177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8796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Что делает margin: 0; padding: 0;?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Убирает паразитные белые поля по краям экрана и у списков, давая нам полный контроль над каждым пикселем.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6035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5654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Главное свойство — box-sizing: border-box: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По умолчанию (content-box) если блоку шириной 100px задать padding: 20px, он станет 140px! Это ломает сетку верстки.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3147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766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Результат border-box: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Ширина блока всегда остается ровно 100px, а внутренние отступы аккуратно сжимают контент внутри него.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80810" y="259715"/>
            <a:ext cx="240919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CSS: СБРОС СТИЛЕЙ (*)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настроить тело страницы и заложить прижатие подвала?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(body)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body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/* Базовый шрифт и цвет текста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font-family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'Inter', sans-serif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#222222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background-color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#ffffff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line-height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1.5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/* Flexbox-раскладка для прижатия футера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flex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flex-direction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column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min-height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100vh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min-width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1200px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ФУНДАМЕНТ СТРАНИЦЫ (BODY)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font-family: 'Inter', sans-serif: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Браузер использует загруженный шрифт Inter, а если интернета нет — системный шрифт без засечек sans-serif.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177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8796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line-height: 1.5 (Интерлиньяж):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Полуторный межстрочный интервал делает даже длинный текст легким и приятным для чтения студентами.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578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540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min-height: 100vh (Высота viewport):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100vh означает 100% высоты экрана. Страница гарантированно не сожмется, даже если на ней всего одно слово.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263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25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display: flex; flex-direction: column: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Выстраивает шапку, контент и футер вертикально друг под другом, подготавливая почву для идеального прижатия футера.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83020" y="259715"/>
            <a:ext cx="250698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БАЗОВЫЕ НАСТРОЙКИ BODY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удержать контент в центре экрана на любом мониторе?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(.container)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Ограничивающий и центрирующий контейнер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.container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/* Фиксированная ширина контентной зоны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width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1200px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/* Автоматическое центрирование по горизонтали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margin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0 auto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/* Внутренние поля безопасности слева и справа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padding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0 15px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АНАТОМИЯ КЛАССА .CONTAINER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width: 1200px (Ширина контента):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На мониторах 2K и 4K текст без контейнера растянулся бы на 2 метра. 1200px — золотой стандарт читаемости.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177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8796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Секрет margin: 0 auto: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Первое значение (0) — отступы сверху и снизу. Второе (auto) — браузер делит оставшееся место поровну слева и справа!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628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590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padding: 0 15px (Боковые поля):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Если окно уменьшится, текст не упрется в край экрана, а сохранит эстетичный зазор в 15 пикселей.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289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51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Где применяется: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Мы оборачиваем в .container контент внутри &lt;header&gt;, &lt;main&gt; и &lt;footer&gt;, выстраивая всю страницу по единой линейке.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83020" y="259715"/>
            <a:ext cx="250698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ЦЕНТРИРУЮЩИЙ КОНТЕЙНЕР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структурировать элементы внутри шапки сайта?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index.html (&lt;header&gt;)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&lt;header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"header"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"container header-container"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  &lt;!-- Логотип со ссылкой на Главную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&lt;a </a:t>
            </a:r>
            <a:r>
              <a:rPr sz="800">
                <a:solidFill>
                  <a:srgbClr val="A78BFA"/>
                </a:solidFill>
                <a:latin typeface="Consolas"/>
              </a:rPr>
              <a:t>href=</a:t>
            </a:r>
            <a:r>
              <a:rPr sz="800">
                <a:solidFill>
                  <a:srgbClr val="FCD34D"/>
                </a:solidFill>
                <a:latin typeface="Consolas"/>
              </a:rPr>
              <a:t>"index.html"</a:t>
            </a:r>
            <a:r>
              <a:rPr sz="800">
                <a:solidFill>
                  <a:srgbClr val="A78BFA"/>
                </a:solidFill>
                <a:latin typeface="Consolas"/>
              </a:rPr>
              <a:t> class=</a:t>
            </a:r>
            <a:r>
              <a:rPr sz="800">
                <a:solidFill>
                  <a:srgbClr val="FCD34D"/>
                </a:solidFill>
                <a:latin typeface="Consolas"/>
              </a:rPr>
              <a:t>"logo"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&lt;img </a:t>
            </a:r>
            <a:r>
              <a:rPr sz="800">
                <a:solidFill>
                  <a:srgbClr val="A78BFA"/>
                </a:solidFill>
                <a:latin typeface="Consolas"/>
              </a:rPr>
              <a:t>src=</a:t>
            </a:r>
            <a:r>
              <a:rPr sz="800">
                <a:solidFill>
                  <a:srgbClr val="FCD34D"/>
                </a:solidFill>
                <a:latin typeface="Consolas"/>
              </a:rPr>
              <a:t>"img/logo.svg"</a:t>
            </a:r>
            <a:r>
              <a:rPr sz="800">
                <a:solidFill>
                  <a:srgbClr val="A78BFA"/>
                </a:solidFill>
                <a:latin typeface="Consolas"/>
              </a:rPr>
              <a:t> alt=</a:t>
            </a:r>
            <a:r>
              <a:rPr sz="800">
                <a:solidFill>
                  <a:srgbClr val="FCD34D"/>
                </a:solidFill>
                <a:latin typeface="Consolas"/>
              </a:rPr>
              <a:t>"Логотип"</a:t>
            </a:r>
            <a:r>
              <a:rPr sz="800">
                <a:solidFill>
                  <a:srgbClr val="A78BFA"/>
                </a:solidFill>
                <a:latin typeface="Consolas"/>
              </a:rPr>
              <a:t> class=</a:t>
            </a:r>
            <a:r>
              <a:rPr sz="800">
                <a:solidFill>
                  <a:srgbClr val="FCD34D"/>
                </a:solidFill>
                <a:latin typeface="Consolas"/>
              </a:rPr>
              <a:t>"logo-icon"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&lt;span&gt;</a:t>
            </a:r>
            <a:r>
              <a:rPr sz="800">
                <a:solidFill>
                  <a:srgbClr val="D4D4D8"/>
                </a:solidFill>
                <a:latin typeface="Consolas"/>
              </a:rPr>
              <a:t>СмартОфис</a:t>
            </a:r>
            <a:r>
              <a:rPr sz="800">
                <a:solidFill>
                  <a:srgbClr val="F472B6"/>
                </a:solidFill>
                <a:latin typeface="Consolas"/>
              </a:rPr>
              <a:t>&lt;/span&gt;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&lt;/a&gt;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  &lt;!-- Навигационное меню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&lt;nav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"nav"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&lt;ul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"nav-list"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  &lt;li&gt;&lt;a </a:t>
            </a:r>
            <a:r>
              <a:rPr sz="800">
                <a:solidFill>
                  <a:srgbClr val="A78BFA"/>
                </a:solidFill>
                <a:latin typeface="Consolas"/>
              </a:rPr>
              <a:t>href=</a:t>
            </a:r>
            <a:r>
              <a:rPr sz="800">
                <a:solidFill>
                  <a:srgbClr val="FCD34D"/>
                </a:solidFill>
                <a:latin typeface="Consolas"/>
              </a:rPr>
              <a:t>"index.html"</a:t>
            </a:r>
            <a:r>
              <a:rPr sz="800">
                <a:solidFill>
                  <a:srgbClr val="A78BFA"/>
                </a:solidFill>
                <a:latin typeface="Consolas"/>
              </a:rPr>
              <a:t> class=</a:t>
            </a:r>
            <a:r>
              <a:rPr sz="800">
                <a:solidFill>
                  <a:srgbClr val="FCD34D"/>
                </a:solidFill>
                <a:latin typeface="Consolas"/>
              </a:rPr>
              <a:t>"nav-link active"</a:t>
            </a:r>
            <a:r>
              <a:rPr sz="800">
                <a:solidFill>
                  <a:srgbClr val="F472B6"/>
                </a:solidFill>
                <a:latin typeface="Consolas"/>
              </a:rPr>
              <a:t>&gt;Главная&lt;/a&gt;&lt;/li&gt;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  &lt;li&gt;&lt;a </a:t>
            </a:r>
            <a:r>
              <a:rPr sz="800">
                <a:solidFill>
                  <a:srgbClr val="A78BFA"/>
                </a:solidFill>
                <a:latin typeface="Consolas"/>
              </a:rPr>
              <a:t>href=</a:t>
            </a:r>
            <a:r>
              <a:rPr sz="800">
                <a:solidFill>
                  <a:srgbClr val="FCD34D"/>
                </a:solidFill>
                <a:latin typeface="Consolas"/>
              </a:rPr>
              <a:t>"pages/catalog.html"</a:t>
            </a:r>
            <a:r>
              <a:rPr sz="800">
                <a:solidFill>
                  <a:srgbClr val="A78BFA"/>
                </a:solidFill>
                <a:latin typeface="Consolas"/>
              </a:rPr>
              <a:t> class=</a:t>
            </a:r>
            <a:r>
              <a:rPr sz="800">
                <a:solidFill>
                  <a:srgbClr val="FCD34D"/>
                </a:solidFill>
                <a:latin typeface="Consolas"/>
              </a:rPr>
              <a:t>"nav-link"</a:t>
            </a:r>
            <a:r>
              <a:rPr sz="800">
                <a:solidFill>
                  <a:srgbClr val="F472B6"/>
                </a:solidFill>
                <a:latin typeface="Consolas"/>
              </a:rPr>
              <a:t>&gt;Каталог&lt;/a&gt;&lt;/li&gt;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  &lt;li&gt;&lt;a </a:t>
            </a:r>
            <a:r>
              <a:rPr sz="800">
                <a:solidFill>
                  <a:srgbClr val="A78BFA"/>
                </a:solidFill>
                <a:latin typeface="Consolas"/>
              </a:rPr>
              <a:t>href=</a:t>
            </a:r>
            <a:r>
              <a:rPr sz="800">
                <a:solidFill>
                  <a:srgbClr val="FCD34D"/>
                </a:solidFill>
                <a:latin typeface="Consolas"/>
              </a:rPr>
              <a:t>"pages/login.html"</a:t>
            </a:r>
            <a:r>
              <a:rPr sz="800">
                <a:solidFill>
                  <a:srgbClr val="A78BFA"/>
                </a:solidFill>
                <a:latin typeface="Consolas"/>
              </a:rPr>
              <a:t> class=</a:t>
            </a:r>
            <a:r>
              <a:rPr sz="800">
                <a:solidFill>
                  <a:srgbClr val="FCD34D"/>
                </a:solidFill>
                <a:latin typeface="Consolas"/>
              </a:rPr>
              <a:t>"nav-link nav-btn"</a:t>
            </a:r>
            <a:r>
              <a:rPr sz="800">
                <a:solidFill>
                  <a:srgbClr val="F472B6"/>
                </a:solidFill>
                <a:latin typeface="Consolas"/>
              </a:rPr>
              <a:t>&gt;Войти&lt;/a&gt;&lt;/li&gt;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&lt;/ul&gt;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&lt;/nav&gt;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&lt;/header&gt;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СТРУКТУРА И ВЛОЖЕННОСТЬ ШАПКИ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Двухуровневая обертка: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Внешний тег &lt;header&gt; отвечает за фон и нижнюю границу на всю ширину. Внутренний .header-container центрирует элементы.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43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905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Логотип как ссылка (&lt;a&gt;):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Логотип объединяет SVG-иконку и текст. Клик по любой его части перезагружает сайт или возвращает пользователя на главную.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654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616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Семантический тег &lt;nav&gt;: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Группирует основные ссылки сайта. Поисковые роботы сразу понимают, что здесь находится карта разделов.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289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51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Класс .active и кнопка .nav-btn: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.active показывает пользователю, на какой странице он находится. .nav-btn превращает третью ссылку в акцентную кнопку.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91860" y="259715"/>
            <a:ext cx="289814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ШАПКА САЙТА (HEADER): HTML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разнести логотип и меню по противоположным краям?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(header flexbox)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.header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border-bottom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1px solid #dddddd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padding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18px 0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background-color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#ffffff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.header-container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flex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justify-content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space-between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align-items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center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.logo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flex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align-items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center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gap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10px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text-decoration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none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#222222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font-size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20px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font-weight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800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.logo-icon { width: 32px; height: 32px;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СИЛА FLEXBOX В ДЕЙСТВИИ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display: flex (Включаем гибкую сетку):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Превращает .header-container в флекс-контейнер. Все прямые потомки (логотип и меню) встают в одну ровную линию.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43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905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justify-content: space-between: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Главный трюк верстки! Первый элемент (лого) прижимается к левой стенке, последний (меню) — к правой стенке.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654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616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align-items: center: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Выравнивает элементы по вертикальной оси. Логотип и кнопки встают строго по центру без ручных отступов.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3147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766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Свойство gap: 10px в .logo: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Современный способ задать отступ ровно в 10px между иконкой логотипа и текстом бренда без margin-right.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91860" y="259715"/>
            <a:ext cx="289814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ШАПКА САЙТА: CSS &amp; FLEXBOX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оформить ссылки, состояния hover и кнопку «Войти»?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(навигация)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.nav-list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flex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list-style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none</a:t>
            </a:r>
            <a:r>
              <a:rPr sz="800">
                <a:solidFill>
                  <a:srgbClr val="71717A"/>
                </a:solidFill>
                <a:latin typeface="Consolas"/>
              </a:rPr>
              <a:t>; /* Убираем маркеры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gap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12px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align-items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center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.nav-link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text-decoration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none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#222222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padding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8px 14px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border-radius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4px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font-weight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500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.nav-link:hover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#007bff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background-color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#eaf2ff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.nav-btn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background-color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#007bff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#ffffff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.nav-btn:hover { background-color: #0056b3;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СТИЛИЗАЦИЯ И ИНТЕРАКТИВНОСТЬ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list-style: none: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Убирает браузерные черные точки у тегов &lt;li&gt;. Меню превращается в аккуратную группу кнопок.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866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828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Псевдокласс :hover: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Срабатывает в момент наведения курсора мыши. Ссылка меняет цвет на синий и получает легкий голубой фон #eaf2ff.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578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540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Кнопка призыва к действию (.nav-btn):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Класс .nav-btn окрашивает кнопку «Войти» в насыщенный цвет #007bff с белым текстом, делая её заметной.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289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51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border-radius: 4px: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Легкое скругление углов придает элементам интерфейса современный мягкий вид.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94070" y="259715"/>
            <a:ext cx="299593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НАВИГАЦИОННОЕ МЕНЮ И КНОПКА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сверстать эффектный презентационный заголовок?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index.html &amp; style.css (Hero)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&lt;!-- Главный баннер (Hero-блок)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&lt;section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"hero-section"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&lt;h1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"hero-title"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Портал бронирования офисных комнат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&lt;span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"brand-highlight"</a:t>
            </a:r>
            <a:r>
              <a:rPr sz="800">
                <a:solidFill>
                  <a:srgbClr val="F472B6"/>
                </a:solidFill>
                <a:latin typeface="Consolas"/>
              </a:rPr>
              <a:t>&gt;«СмартОфис»&lt;/span&gt;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&lt;/h1&gt;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"hero-bottom"</a:t>
            </a:r>
            <a:r>
              <a:rPr sz="800">
                <a:solidFill>
                  <a:srgbClr val="F472B6"/>
                </a:solidFill>
                <a:latin typeface="Consolas"/>
              </a:rPr>
              <a:t>&gt;...&lt;/div&gt;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&lt;/section&gt;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Стили гигантского заголовка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.hero-title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font-size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108px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line-height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0.95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letter-spacing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-0.04em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font-weight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800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#222222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margin-bottom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25px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.brand-highlight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#007bff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ПЛАКАТНАЯ ТИПОГРАФИКА HERO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Единственный заголовок &lt;h1&gt;: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По стандартам веб-доступности и поисковых систем Google/Яндекс на странице должен быть только один &lt;h1&gt;.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177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8796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font-size: 108px: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Смелый плакатный размер сразу приковывает внимание студента и формирует премиальное ощущение от сервиса.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6035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5654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line-height: 0.95 и letter-spacing: -0.04em: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При экстремально больших шрифтах буквы разъезжаются. Отрицательный кернинг и плотный интерлиньяж делают текст монолитным.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3147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766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Подсветка бренда через &lt;span&gt;: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Тег &lt;span&gt; позволяет изменить цвет слова «СмартОфис» на фирменный синий, не разбивая заголовок на части.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96280" y="259715"/>
            <a:ext cx="309372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ГЛАВНЫЙ ЭКРАН (HERO SECTION)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скомпоновать цифры и показатели сервиса в одну линию?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index.html &amp; style.css (Metrics)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"hero-bottom"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&lt;p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"hero-subtitle"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Удобный выбор и быстрое бронирование...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&lt;/p&gt;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"hero-metrics"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"metric-item"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&lt;span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"metric-val"</a:t>
            </a:r>
            <a:r>
              <a:rPr sz="800">
                <a:solidFill>
                  <a:srgbClr val="F472B6"/>
                </a:solidFill>
                <a:latin typeface="Consolas"/>
              </a:rPr>
              <a:t>&gt;24/7&lt;/span&gt;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&lt;span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"metric-lbl"</a:t>
            </a:r>
            <a:r>
              <a:rPr sz="800">
                <a:solidFill>
                  <a:srgbClr val="F472B6"/>
                </a:solidFill>
                <a:latin typeface="Consolas"/>
              </a:rPr>
              <a:t>&gt;Доступ&lt;/span&gt;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"metric-item"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&lt;span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"metric-val"</a:t>
            </a:r>
            <a:r>
              <a:rPr sz="800">
                <a:solidFill>
                  <a:srgbClr val="F472B6"/>
                </a:solidFill>
                <a:latin typeface="Consolas"/>
              </a:rPr>
              <a:t>&gt;от 250 ₽&lt;/span&gt;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&lt;span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"metric-lbl"</a:t>
            </a:r>
            <a:r>
              <a:rPr sz="800">
                <a:solidFill>
                  <a:srgbClr val="F472B6"/>
                </a:solidFill>
                <a:latin typeface="Consolas"/>
              </a:rPr>
              <a:t>&gt;Почасовая аренда&lt;/span&gt;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.hero-bottom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border-top: 2px solid #222222; padding-top: 20px;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display: flex; justify-content: space-between;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.metric-val { font-size: 20px; font-weight: 800; color: #007bff;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АРХИТЕКТУРА НИЖНЕЙ ЧАСТИ HERO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Графическая черта border-top: 2px solid: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Контрастная черная линия отделяет масштабный заголовок от подробностей, задавая строгий журнальный стиль.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43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905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Раскладка justify-content: space-between: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Подзаголовок аккуратно размещается слева (max-width: 600px), а метрики выстраиваются в правой части экрана.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628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590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Вертикальная колонка .metric-item: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Свойство display: flex; flex-direction: column ставит яркую цифру 24/7 строго над маленькой подписью «Доступ».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340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302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Контраст типографики: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Значение (.metric-val): 20px, жирный шрифт 800, синий цвет. Подпись (.metric-lbl): 12px, серый нейтральный цвет #777777.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9650" y="259715"/>
            <a:ext cx="280035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БЛОК ПРЕИМУЩЕСТВ И МЕТРИК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Зачем в стилях классы .page-title и .page-subtitle?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(.page-title)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=========================================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СТИЛИ ДЛЯ ВНУТРЕННИХ СТРАНИЦ ПРОЕКТА     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=========================================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Главный заголовок страниц Каталога и Входа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.page-title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font-size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28px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font-weight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800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letter-spacing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-0.02em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margin-bottom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8px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text-align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center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Серый центрированный подзаголовок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.page-subtitle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#666666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text-align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center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font-size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15px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ПРОЕКТИРОВАНИЕ НА ОПЕРЕЖЕНИЕ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Задел для следующих вебинаров: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На 3 и 4 вебинарах мы создадим catalog.html и login.html. Классы .page-title и .page-subtitle уже готовы для них!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43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905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text-align: center: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Центрирует текст по горизонтали внутри контейнера, создавая симметричную шапку внутренних разделов.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6035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5654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Принцип DRY (Don't Repeat Yourself):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Мы не пишем заново оформление заголовков для каждой страницы. Мы создаем единый переиспользуемый класс.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289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51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Визуальная иерархия: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Крупный жирный заголовок 28px и деликатный серый подзаголовок 15px создают гармоничную композицию.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02910" y="259715"/>
            <a:ext cx="338709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УНИВЕРСАЛЬНЫЕ ЗАГОЛОВКИ СТРАНИЦ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оформить кликабельные контакты и юридический блок?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index.html &amp; style.css (footer)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&lt;footer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"footer"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"container footer-container"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  &lt;!-- Левая колонка: описание и копирайт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"footer-info"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  &lt;p&gt;&lt;strong&gt;СмартОфис&lt;/strong&gt; — Сервис бронирования&lt;/p&gt;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  &lt;p&gt;© 2026 СмартОфис. Все права защищены.&lt;/p&gt;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  &lt;!-- Правая колонка: интерактивные контакты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"footer-contacts"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  &lt;p&gt;Email: &lt;a </a:t>
            </a:r>
            <a:r>
              <a:rPr sz="800">
                <a:solidFill>
                  <a:srgbClr val="A78BFA"/>
                </a:solidFill>
                <a:latin typeface="Consolas"/>
              </a:rPr>
              <a:t>href=</a:t>
            </a:r>
            <a:r>
              <a:rPr sz="800">
                <a:solidFill>
                  <a:srgbClr val="FCD34D"/>
                </a:solidFill>
                <a:latin typeface="Consolas"/>
              </a:rPr>
              <a:t>"mailto:info@smartoffice.ru"</a:t>
            </a:r>
            <a:r>
              <a:rPr sz="800">
                <a:solidFill>
                  <a:srgbClr val="D4D4D8"/>
                </a:solidFill>
                <a:latin typeface="Consolas"/>
              </a:rPr>
              <a:t>&gt;info@smartoffice.ru&lt;/a&gt;&lt;/p&gt;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  &lt;p&gt;Телефон: &lt;a </a:t>
            </a:r>
            <a:r>
              <a:rPr sz="800">
                <a:solidFill>
                  <a:srgbClr val="A78BFA"/>
                </a:solidFill>
                <a:latin typeface="Consolas"/>
              </a:rPr>
              <a:t>href=</a:t>
            </a:r>
            <a:r>
              <a:rPr sz="800">
                <a:solidFill>
                  <a:srgbClr val="FCD34D"/>
                </a:solidFill>
                <a:latin typeface="Consolas"/>
              </a:rPr>
              <a:t>"tel:+78005553535"</a:t>
            </a:r>
            <a:r>
              <a:rPr sz="800">
                <a:solidFill>
                  <a:srgbClr val="D4D4D8"/>
                </a:solidFill>
                <a:latin typeface="Consolas"/>
              </a:rPr>
              <a:t>&gt;+7 (800) 555-35-35&lt;/a&gt;&lt;/p&gt;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&lt;/footer&gt;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.footer { background-color: #f8f9fa; border-top: 1px solid #dddddd; padding: 25px 0; 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.footer-contacts a { color: #007bff; text-decoration: none;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СТАНДАРТЫ ОФОРМЛЕНИЯ ПОДВАЛА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Протокол mailto: в ссылках: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При клике на ссылку href="mailto:..." устройство пользователя автоматически открывает почтовую программу с заполненным адресом.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685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9304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Протокол tel: для быстрых звонков: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Ссылка href="tel:+78005553535" на смартфонах сразу запускает набор телефонного номера. Это стандарт мобильного UX.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705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667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Тег &lt;strong&gt; для акцента: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Выделяет название сервиса жирным шрифтом в первом абзаце футера.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3147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766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Фон #f8f9fa и разделитель #dddddd: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Мягкий светлый фон и тонкая верхняя рамка деликатно завершают страницу в самом низу.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80810" y="259715"/>
            <a:ext cx="240919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ПОДВАЛ САЙТА (FOOTER)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Почему футер не улетает вверх при малом количестве контента?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(Sticky Footer)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ШАГ 1: Тело сайта тянется минимум на 100vh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body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flex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flex-direction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column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min-height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100vh</a:t>
            </a:r>
            <a:r>
              <a:rPr sz="800">
                <a:solidFill>
                  <a:srgbClr val="71717A"/>
                </a:solidFill>
                <a:latin typeface="Consolas"/>
              </a:rPr>
              <a:t>; /* 100% высоты окна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ШАГ 2: Блок main забирает всё свободное место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.main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flex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</a:t>
            </a:r>
            <a:r>
              <a:rPr sz="800">
                <a:solidFill>
                  <a:srgbClr val="71717A"/>
                </a:solidFill>
                <a:latin typeface="Consolas"/>
              </a:rPr>
              <a:t>; /* Жадно растягивается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padding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40px 0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ШАГ 3: Подвал гарантированно прижат вниз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.footer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margin-top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auto</a:t>
            </a:r>
            <a:r>
              <a:rPr sz="800">
                <a:solidFill>
                  <a:srgbClr val="71717A"/>
                </a:solidFill>
                <a:latin typeface="Consolas"/>
              </a:rPr>
              <a:t>; /* Выталкивается вниз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МЕХАНИКА «ЛИПКОГО» ПОДВАЛА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Классическая беда новичков: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Если на странице мало текста, футер поднимается к середине монитора, а под ним висит пустота. Это выглядит непрофессионально.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43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905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Шаг 1: body на 100vh: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Окно браузера делится на флекс-колонку, которая всегда занимает как минимум 100% высоты экрана.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6035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5654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Шаг 2: flex: 1 для .main: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Магическое свойство flex: 1 говорит браузеру: «Растяни блок main на всю оставшуюся пустоту страницы».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289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51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Шаг 3: margin-top: auto: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Финальная страховка. Футер выталкивается в самый нижний край экрана при любом объеме информации!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05121" y="259715"/>
            <a:ext cx="3484879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ТЕХНИКА FLEXBOX: ПРИЖАТИЕ ФУТЕРА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работают всплывающие системные уведомления?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(Toast &amp; Animation)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Контейнер прикреплен к правому нижнему углу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.toast-container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position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fixed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bottom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24px</a:t>
            </a:r>
            <a:r>
              <a:rPr sz="800">
                <a:solidFill>
                  <a:srgbClr val="D4D4D8"/>
                </a:solidFill>
                <a:latin typeface="Consolas"/>
              </a:rPr>
              <a:t>; </a:t>
            </a:r>
            <a:r>
              <a:rPr sz="800">
                <a:solidFill>
                  <a:srgbClr val="A78BFA"/>
                </a:solidFill>
                <a:latin typeface="Consolas"/>
              </a:rPr>
              <a:t>right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24px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z-index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1000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flex</a:t>
            </a:r>
            <a:r>
              <a:rPr sz="800">
                <a:solidFill>
                  <a:srgbClr val="D4D4D8"/>
                </a:solidFill>
                <a:latin typeface="Consolas"/>
              </a:rPr>
              <a:t>; </a:t>
            </a:r>
            <a:r>
              <a:rPr sz="800">
                <a:solidFill>
                  <a:srgbClr val="A78BFA"/>
                </a:solidFill>
                <a:latin typeface="Consolas"/>
              </a:rPr>
              <a:t>flex-direction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column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.toast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background-color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#222222</a:t>
            </a:r>
            <a:r>
              <a:rPr sz="800">
                <a:solidFill>
                  <a:srgbClr val="D4D4D8"/>
                </a:solidFill>
                <a:latin typeface="Consolas"/>
              </a:rPr>
              <a:t>; </a:t>
            </a:r>
            <a:r>
              <a:rPr sz="800">
                <a:solidFill>
                  <a:srgbClr val="A78BFA"/>
                </a:solidFill>
                <a:latin typeface="Consolas"/>
              </a:rPr>
              <a:t>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#ffffff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padding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14px 18px</a:t>
            </a:r>
            <a:r>
              <a:rPr sz="800">
                <a:solidFill>
                  <a:srgbClr val="D4D4D8"/>
                </a:solidFill>
                <a:latin typeface="Consolas"/>
              </a:rPr>
              <a:t>; </a:t>
            </a:r>
            <a:r>
              <a:rPr sz="800">
                <a:solidFill>
                  <a:srgbClr val="A78BFA"/>
                </a:solidFill>
                <a:latin typeface="Consolas"/>
              </a:rPr>
              <a:t>border-radius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6px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animation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toastFadeIn 0.3s ease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.toast-success { border-left: 4px solid #28a745; 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.toast-danger  { border-left: 4px solid #dc3545; 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Плавная анимация всплытия снизу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@keyframes toastFadeIn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4ADE80"/>
                </a:solidFill>
                <a:latin typeface="Consolas"/>
              </a:rPr>
              <a:t>  from { opacity: 0; transform: translateY(15px); 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4ADE80"/>
                </a:solidFill>
                <a:latin typeface="Consolas"/>
              </a:rPr>
              <a:t>  to   { opacity: 1; transform: translateY(0); 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ПОЗИЦИОНИРОВАНИЕ И ЭФФЕКТЫ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position: fixed (Фиксация на экране):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Контейнер уведомлений вырван из общего потока и привязан к углу монитора. При прокрутке страницы он остается на месте.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43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905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Свойство z-index: 1000: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Определяет слой по высоте. Значение 1000 гарантирует, что всплывающее сообщение перекроет любой другой элемент сайта.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654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616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Цветовой индикатор статуса: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border-left: 4px solid #28a745 красит левую грань в зеленый при успехе и в красный #dc3545 при ошибке.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3147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766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Анимация @keyframes toastFadeIn: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Сообщение появляется из прозрачности (opacity: 0 -&gt; 1) и сдвигается на 15px снизу вверх за треть секунды (0.3s).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05121" y="259715"/>
            <a:ext cx="3484879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TOAST-УВЕДОМЛЕНИЯ И CSS-АНИМАЦИИ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На чем чаще всего спотыкаются студенты при первой верстке?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" y="838200"/>
            <a:ext cx="37719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6F03"/>
                </a:solidFill>
                <a:latin typeface="Montserrat"/>
              </a:rPr>
              <a:t>⚠️ Забыли rel="stylesheet"</a:t>
            </a:r>
          </a:p>
        </p:txBody>
      </p:sp>
      <p:sp>
        <p:nvSpPr>
          <p:cNvPr id="5" name="Rectangle 4"/>
          <p:cNvSpPr/>
          <p:nvPr/>
        </p:nvSpPr>
        <p:spPr>
          <a:xfrm>
            <a:off x="482600" y="1117600"/>
            <a:ext cx="37719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82600" y="1193800"/>
            <a:ext cx="3771900" cy="1193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850" b="1">
                <a:solidFill>
                  <a:srgbClr val="222222"/>
                </a:solidFill>
                <a:latin typeface="Inter"/>
              </a:rPr>
              <a:t>Ошибка: </a:t>
            </a:r>
            <a:r>
              <a:rPr sz="850">
                <a:solidFill>
                  <a:srgbClr val="444444"/>
                </a:solidFill>
                <a:latin typeface="Inter"/>
              </a:rPr>
              <a:t>Написали &lt;link href="css/style.css"&gt; без атрибута rel="stylesheet".</a:t>
            </a:r>
          </a:p>
          <a:p>
            <a:pPr>
              <a:spcAft>
                <a:spcPts val="0"/>
              </a:spcAft>
            </a:pPr>
            <a:r>
              <a:rPr sz="850" b="1">
                <a:solidFill>
                  <a:srgbClr val="16A34A"/>
                </a:solidFill>
                <a:latin typeface="Inter"/>
              </a:rPr>
              <a:t>Решение: </a:t>
            </a:r>
            <a:r>
              <a:rPr sz="850">
                <a:solidFill>
                  <a:srgbClr val="444444"/>
                </a:solidFill>
                <a:latin typeface="Inter"/>
              </a:rPr>
              <a:t>Браузер скачает файл, но не поймет, что это таблица стилей. Обязательно пишите rel="stylesheet"!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13300" y="838200"/>
            <a:ext cx="38354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6F03"/>
                </a:solidFill>
                <a:latin typeface="Montserrat"/>
              </a:rPr>
              <a:t>⚠️ Опечатка в пути к стилям или иконке</a:t>
            </a:r>
          </a:p>
        </p:txBody>
      </p:sp>
      <p:sp>
        <p:nvSpPr>
          <p:cNvPr id="8" name="Rectangle 7"/>
          <p:cNvSpPr/>
          <p:nvPr/>
        </p:nvSpPr>
        <p:spPr>
          <a:xfrm>
            <a:off x="4813300" y="1117600"/>
            <a:ext cx="38354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13300" y="1193800"/>
            <a:ext cx="3835400" cy="1193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850" b="1">
                <a:solidFill>
                  <a:srgbClr val="222222"/>
                </a:solidFill>
                <a:latin typeface="Inter"/>
              </a:rPr>
              <a:t>Ошибка: </a:t>
            </a:r>
            <a:r>
              <a:rPr sz="850">
                <a:solidFill>
                  <a:srgbClr val="444444"/>
                </a:solidFill>
                <a:latin typeface="Inter"/>
              </a:rPr>
              <a:t>Указали href="style.css" вместо правильного относительного пути href="css/style.css".</a:t>
            </a:r>
          </a:p>
          <a:p>
            <a:pPr>
              <a:spcAft>
                <a:spcPts val="0"/>
              </a:spcAft>
            </a:pPr>
            <a:r>
              <a:rPr sz="850" b="1">
                <a:solidFill>
                  <a:srgbClr val="16A34A"/>
                </a:solidFill>
                <a:latin typeface="Inter"/>
              </a:rPr>
              <a:t>Решение: </a:t>
            </a:r>
            <a:r>
              <a:rPr sz="850">
                <a:solidFill>
                  <a:srgbClr val="444444"/>
                </a:solidFill>
                <a:latin typeface="Inter"/>
              </a:rPr>
              <a:t>Стили лежат во вложенной папке css/. Проверяйте пути в проводнике VS Code или WebStorm.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600" y="2794000"/>
            <a:ext cx="37719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6F03"/>
                </a:solidFill>
                <a:latin typeface="Montserrat"/>
              </a:rPr>
              <a:t>⚠️ Незакрытые парные теги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2600" y="3073400"/>
            <a:ext cx="37719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2600" y="3149600"/>
            <a:ext cx="3771900" cy="1193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850" b="1">
                <a:solidFill>
                  <a:srgbClr val="222222"/>
                </a:solidFill>
                <a:latin typeface="Inter"/>
              </a:rPr>
              <a:t>Ошибка: </a:t>
            </a:r>
            <a:r>
              <a:rPr sz="850">
                <a:solidFill>
                  <a:srgbClr val="444444"/>
                </a:solidFill>
                <a:latin typeface="Inter"/>
              </a:rPr>
              <a:t>Забыли закрыть тег &lt;/div&gt;, &lt;header&gt;, &lt;section&gt; или &lt;ul&gt;.</a:t>
            </a:r>
          </a:p>
          <a:p>
            <a:pPr>
              <a:spcAft>
                <a:spcPts val="0"/>
              </a:spcAft>
            </a:pPr>
            <a:r>
              <a:rPr sz="850" b="1">
                <a:solidFill>
                  <a:srgbClr val="16A34A"/>
                </a:solidFill>
                <a:latin typeface="Inter"/>
              </a:rPr>
              <a:t>Решение: </a:t>
            </a:r>
            <a:r>
              <a:rPr sz="850">
                <a:solidFill>
                  <a:srgbClr val="444444"/>
                </a:solidFill>
                <a:latin typeface="Inter"/>
              </a:rPr>
              <a:t>Один незакрытый тег ломает всю сетку Flexbox дальше по коду. Пользуйтесь подсветкой парных тегов в IDE.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13300" y="2794000"/>
            <a:ext cx="38354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6F03"/>
                </a:solidFill>
                <a:latin typeface="Montserrat"/>
              </a:rPr>
              <a:t>⚠️ Пропустили сброс box-sizing: border-box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13300" y="3073400"/>
            <a:ext cx="38354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13300" y="3149600"/>
            <a:ext cx="3835400" cy="1193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850" b="1">
                <a:solidFill>
                  <a:srgbClr val="222222"/>
                </a:solidFill>
                <a:latin typeface="Inter"/>
              </a:rPr>
              <a:t>Ошибка: </a:t>
            </a:r>
            <a:r>
              <a:rPr sz="850">
                <a:solidFill>
                  <a:srgbClr val="444444"/>
                </a:solidFill>
                <a:latin typeface="Inter"/>
              </a:rPr>
              <a:t>Не написали сброс * { box-sizing: border-box; } в самом начале CSS.</a:t>
            </a:r>
          </a:p>
          <a:p>
            <a:pPr>
              <a:spcAft>
                <a:spcPts val="0"/>
              </a:spcAft>
            </a:pPr>
            <a:r>
              <a:rPr sz="850" b="1">
                <a:solidFill>
                  <a:srgbClr val="16A34A"/>
                </a:solidFill>
                <a:latin typeface="Inter"/>
              </a:rPr>
              <a:t>Решение: </a:t>
            </a:r>
            <a:r>
              <a:rPr sz="850">
                <a:solidFill>
                  <a:srgbClr val="444444"/>
                </a:solidFill>
                <a:latin typeface="Inter"/>
              </a:rPr>
              <a:t>Любой padding и border будут увеличивать ширину блоков, создавая неприятный горизонтальный скролл.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83020" y="259715"/>
            <a:ext cx="250698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РАЗБОР ТИПИЧНЫХ ОШИБОК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убедиться, что код вебинара написан на 100% правильно?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3600"/>
            <a:ext cx="7620000" cy="279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FF6F03"/>
                </a:solidFill>
                <a:latin typeface="Montserrat"/>
              </a:rPr>
              <a:t>ЧЕК-ЛИСТ ГОТОВНОСТИ ПРАКТИЧЕСКОЙ ЧАСТИ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168400"/>
            <a:ext cx="77724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320800"/>
            <a:ext cx="279400" cy="254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346200"/>
            <a:ext cx="2794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 Symbol"/>
              </a:rPr>
              <a:t>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200" y="1295400"/>
            <a:ext cx="72390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Файловая структура проекта организована корректно:</a:t>
            </a:r>
          </a:p>
          <a:p>
            <a:pPr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Файл index.html находится в корне, таблица стилей в папке css/style.css, векторный логотип в img/logo.svg.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905000"/>
            <a:ext cx="279400" cy="254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930400"/>
            <a:ext cx="2794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 Symbol"/>
              </a:rPr>
              <a:t>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2200" y="1879600"/>
            <a:ext cx="72390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Кодировка и шрифты подключены без сбоев:</a:t>
            </a:r>
          </a:p>
          <a:p>
            <a:pPr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Указан &lt;meta charset="UTF-8"&gt;, шрифт Inter подгружается из Google Fonts, текст не содержит символов-кракозябр.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489200"/>
            <a:ext cx="279400" cy="254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514600"/>
            <a:ext cx="2794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 Symbol"/>
              </a:rPr>
              <a:t>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2200" y="2463800"/>
            <a:ext cx="72390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Семантический каркас страницы валиден:</a:t>
            </a:r>
          </a:p>
          <a:p>
            <a:pPr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Использованы семантические теги HTML5: &lt;header&gt;, &lt;nav&gt;, &lt;main&gt;, &lt;section class="hero-section"&gt;, &lt;footer&gt;.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073400"/>
            <a:ext cx="279400" cy="254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3098800"/>
            <a:ext cx="2794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 Symbol"/>
              </a:rPr>
              <a:t>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2200" y="3048000"/>
            <a:ext cx="72390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Контент центрирован внутри .container на 1200px:</a:t>
            </a:r>
          </a:p>
          <a:p>
            <a:pPr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Шапка, hero-блок и футер аккуратно держатся по центру экрана с полями безопасности благодаря margin: 0 auto.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657600"/>
            <a:ext cx="279400" cy="2540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3683000"/>
            <a:ext cx="2794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 Symbol"/>
              </a:rPr>
              <a:t>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2200" y="3632200"/>
            <a:ext cx="72390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Футер надежно прижат к низу страницы:</a:t>
            </a:r>
          </a:p>
          <a:p>
            <a:pPr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Благодаря связке body { min-height: 100vh; flex-direction: column; } и main { flex: 1; } футер никогда не зависает в воздухе.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98490" y="259715"/>
            <a:ext cx="319151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ИТОГИ И ЧЕК-ЛИСТ САМОПРОВЕРКИ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7239000" y="259715"/>
            <a:ext cx="165100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РЕЗУЛЬТАТ</a:t>
            </a:r>
          </a:p>
        </p:txBody>
      </p:sp>
      <p:pic>
        <p:nvPicPr>
          <p:cNvPr id="13" name="Picture 12" descr="webinar3_result_exa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00" y="863600"/>
            <a:ext cx="6477000" cy="3581400"/>
          </a:xfrm>
          <a:prstGeom prst="rect">
            <a:avLst/>
          </a:prstGeom>
        </p:spPr>
      </p:pic>
      <p:sp>
        <p:nvSpPr>
          <p:cNvPr id="1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A6A1A1"/>
                </a:solidFill>
                <a:latin typeface="Montserrat"/>
              </a:rPr>
              <a:t>Результат: Адаптивная секция популярных предложений с переиспользуемыми компонентами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3"/>
          <p:cNvSpPr/>
          <p:nvPr/>
        </p:nvSpPr>
        <p:spPr>
          <a:xfrm>
            <a:off x="1147350" y="1375225"/>
            <a:ext cx="6849300" cy="2282400"/>
          </a:xfrm>
          <a:prstGeom prst="roundRect">
            <a:avLst>
              <a:gd name="adj" fmla="val 11015"/>
            </a:avLst>
          </a:prstGeom>
          <a:gradFill flip="none" rotWithShape="1">
            <a:gsLst>
              <a:gs pos="0">
                <a:srgbClr val="F08B54"/>
              </a:gs>
              <a:gs pos="50000">
                <a:srgbClr val="F67A26"/>
              </a:gs>
              <a:gs pos="100000">
                <a:srgbClr val="E36A18"/>
              </a:gs>
            </a:gsLst>
            <a:lin ang="10800000" scaled="1"/>
            <a:tileRect/>
          </a:gra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3"/>
          <p:cNvSpPr txBox="1"/>
          <p:nvPr/>
        </p:nvSpPr>
        <p:spPr>
          <a:xfrm>
            <a:off x="1828800" y="1734203"/>
            <a:ext cx="5486400" cy="1292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lt1"/>
                </a:solidFill>
                <a:latin typeface="Montserrat ExtraBold" panose="00000900000000000000" pitchFamily="2" charset="-52"/>
                <a:ea typeface="Proxima Nova"/>
                <a:cs typeface="Proxima Nova"/>
                <a:sym typeface="Proxima Nova"/>
              </a:rPr>
              <a:t>ДО </a:t>
            </a:r>
            <a:r>
              <a:rPr lang="ru-RU" sz="2800">
                <a:solidFill>
                  <a:schemeClr val="lt1"/>
                </a:solidFill>
                <a:latin typeface="Montserrat ExtraBold" panose="00000900000000000000" pitchFamily="2" charset="-52"/>
                <a:ea typeface="Proxima Nova"/>
                <a:cs typeface="Proxima Nova"/>
                <a:sym typeface="Proxima Nova"/>
              </a:rPr>
              <a:t>ВСТРЕЧИ</a:t>
            </a:r>
            <a:r>
              <a:rPr lang="en" sz="3000">
                <a:solidFill>
                  <a:schemeClr val="lt1"/>
                </a:solidFill>
                <a:latin typeface="Montserrat ExtraBold" panose="00000900000000000000" pitchFamily="2" charset="-52"/>
                <a:ea typeface="Proxima Nova"/>
                <a:cs typeface="Proxima Nova"/>
                <a:sym typeface="Proxima Nova"/>
              </a:rPr>
              <a:t>! </a:t>
            </a:r>
            <a:endParaRPr sz="3000">
              <a:solidFill>
                <a:schemeClr val="lt1"/>
              </a:solidFill>
              <a:latin typeface="Montserrat ExtraBold" panose="00000900000000000000" pitchFamily="2" charset="-52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Montserrat ExtraBold" panose="00000900000000000000" pitchFamily="2" charset="-52"/>
                <a:ea typeface="Proxima Nova"/>
                <a:cs typeface="Proxima Nova"/>
                <a:sym typeface="Proxima Nova"/>
              </a:rPr>
              <a:t>УВИДИМСЯ НА СЛЕДУЮЩЕМ ЗАНЯТИИ</a:t>
            </a:r>
            <a:endParaRPr sz="1800">
              <a:solidFill>
                <a:schemeClr val="lt1"/>
              </a:solidFill>
              <a:latin typeface="Montserrat ExtraBold" panose="00000900000000000000" pitchFamily="2" charset="-52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69;p14"/>
          <p:cNvSpPr/>
          <p:nvPr/>
        </p:nvSpPr>
        <p:spPr>
          <a:xfrm>
            <a:off x="6441440" y="259079"/>
            <a:ext cx="244856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ПЕРЕМЕННЫЕ :ROOT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A6A1A1"/>
                </a:solidFill>
                <a:latin typeface="Montserrat"/>
              </a:rPr>
              <a:t>Как работают глобальные CSS-переменные и зачем они нужны?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(:root variables)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Глобальная область видимости :root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:root </a:t>
            </a:r>
            <a:r>
              <a:rPr sz="800">
                <a:solidFill>
                  <a:srgbClr val="D4D4D8"/>
                </a:solidFill>
                <a:latin typeface="Consolas"/>
              </a:rPr>
              <a:t>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--primary-color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#007bff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--primary-hover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#0056b3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--text-color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#222222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--text-muted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#666666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--border-color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#dddddd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--radius-sm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4px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--radius-md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6px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Использование через var()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.btn-primary </a:t>
            </a:r>
            <a:r>
              <a:rPr sz="800">
                <a:solidFill>
                  <a:srgbClr val="D4D4D8"/>
                </a:solidFill>
                <a:latin typeface="Consolas"/>
              </a:rPr>
              <a:t>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background-color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38BDF8"/>
                </a:solidFill>
                <a:latin typeface="Consolas"/>
              </a:rPr>
              <a:t>var</a:t>
            </a:r>
            <a:r>
              <a:rPr sz="800">
                <a:solidFill>
                  <a:srgbClr val="D4D4D8"/>
                </a:solidFill>
                <a:latin typeface="Consolas"/>
              </a:rPr>
              <a:t>(</a:t>
            </a:r>
            <a:r>
              <a:rPr sz="800">
                <a:solidFill>
                  <a:srgbClr val="A78BFA"/>
                </a:solidFill>
                <a:latin typeface="Consolas"/>
              </a:rPr>
              <a:t>--primary-color</a:t>
            </a:r>
            <a:r>
              <a:rPr sz="800">
                <a:solidFill>
                  <a:srgbClr val="D4D4D8"/>
                </a:solidFill>
                <a:latin typeface="Consolas"/>
              </a:rPr>
              <a:t>);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border-radius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38BDF8"/>
                </a:solidFill>
                <a:latin typeface="Consolas"/>
              </a:rPr>
              <a:t>var</a:t>
            </a:r>
            <a:r>
              <a:rPr sz="800">
                <a:solidFill>
                  <a:srgbClr val="D4D4D8"/>
                </a:solidFill>
                <a:latin typeface="Consolas"/>
              </a:rPr>
              <a:t>(</a:t>
            </a:r>
            <a:r>
              <a:rPr sz="800">
                <a:solidFill>
                  <a:srgbClr val="A78BFA"/>
                </a:solidFill>
                <a:latin typeface="Consolas"/>
              </a:rPr>
              <a:t>--radius-sm</a:t>
            </a:r>
            <a:r>
              <a:rPr sz="800">
                <a:solidFill>
                  <a:srgbClr val="D4D4D8"/>
                </a:solidFill>
                <a:latin typeface="Consolas"/>
              </a:rPr>
              <a:t>);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9800" y="685800"/>
            <a:ext cx="4089400" cy="355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00" b="1">
                <a:solidFill>
                  <a:srgbClr val="FF6F03"/>
                </a:solidFill>
                <a:latin typeface="Montserrat"/>
              </a:rPr>
              <a:t>ГЛОБАЛЬНАЯ ОБЛАСТЬ ВИДИМОСТИ И СИНТАКСИС</a:t>
            </a:r>
          </a:p>
        </p:txBody>
      </p:sp>
      <p:sp>
        <p:nvSpPr>
          <p:cNvPr id="9" name="Rectangle 8"/>
          <p:cNvSpPr/>
          <p:nvPr/>
        </p:nvSpPr>
        <p:spPr>
          <a:xfrm>
            <a:off x="4749800" y="1079500"/>
            <a:ext cx="40894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Dot 0"/>
          <p:cNvSpPr/>
          <p:nvPr/>
        </p:nvSpPr>
        <p:spPr>
          <a:xfrm>
            <a:off x="4749800" y="1238250"/>
            <a:ext cx="82550" cy="8255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Bullet 0"/>
          <p:cNvSpPr txBox="1"/>
          <p:nvPr/>
        </p:nvSpPr>
        <p:spPr>
          <a:xfrm>
            <a:off x="4940300" y="1193800"/>
            <a:ext cx="38989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Псевдокласс :root: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Соответствует корневому элементу HTML (&lt;html&gt;). Переменные, объявленные здесь, наследуются всеми элементами на странице без исключений.</a:t>
            </a:r>
          </a:p>
        </p:txBody>
      </p:sp>
      <p:sp>
        <p:nvSpPr>
          <p:cNvPr id="12" name="Rounded Rectangle Dot 1"/>
          <p:cNvSpPr/>
          <p:nvPr/>
        </p:nvSpPr>
        <p:spPr>
          <a:xfrm>
            <a:off x="4749800" y="2025650"/>
            <a:ext cx="82550" cy="8255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Bullet 1"/>
          <p:cNvSpPr txBox="1"/>
          <p:nvPr/>
        </p:nvSpPr>
        <p:spPr>
          <a:xfrm>
            <a:off x="4940300" y="1981200"/>
            <a:ext cx="38989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Синтаксис с двумя дефисами (--):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Имена пользовательских CSS-свойств обязаны начинаться с '--' (например, --primary-color), чтобы исключить конфликт со встроенными стилями.</a:t>
            </a:r>
          </a:p>
        </p:txBody>
      </p:sp>
      <p:sp>
        <p:nvSpPr>
          <p:cNvPr id="14" name="Rounded Rectangle Dot 2"/>
          <p:cNvSpPr/>
          <p:nvPr/>
        </p:nvSpPr>
        <p:spPr>
          <a:xfrm>
            <a:off x="4749800" y="2813050"/>
            <a:ext cx="82550" cy="8255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Bullet 2"/>
          <p:cNvSpPr txBox="1"/>
          <p:nvPr/>
        </p:nvSpPr>
        <p:spPr>
          <a:xfrm>
            <a:off x="4940300" y="2768600"/>
            <a:ext cx="38989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Функция var() для чтения значений: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Значение переменной вызывается через var(--name). Можно передать резервное значение: var(--name, #007bff) на случай отсутствия токена.</a:t>
            </a:r>
          </a:p>
        </p:txBody>
      </p:sp>
      <p:sp>
        <p:nvSpPr>
          <p:cNvPr id="16" name="Rounded Rectangle Dot 3"/>
          <p:cNvSpPr/>
          <p:nvPr/>
        </p:nvSpPr>
        <p:spPr>
          <a:xfrm>
            <a:off x="4749800" y="3600450"/>
            <a:ext cx="82550" cy="8255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Bullet 3"/>
          <p:cNvSpPr txBox="1"/>
          <p:nvPr/>
        </p:nvSpPr>
        <p:spPr>
          <a:xfrm>
            <a:off x="4940300" y="3556000"/>
            <a:ext cx="38989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Мгновенное обновление проекта: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Изменив один цвет в блоке :root, вы моментально перекрашиваете все кнопки, ссылки, карточки и рамки на всем веб-сайте!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69;p14"/>
          <p:cNvSpPr/>
          <p:nvPr/>
        </p:nvSpPr>
        <p:spPr>
          <a:xfrm>
            <a:off x="6690360" y="259079"/>
            <a:ext cx="219964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ДИЗАЙН-СИСТЕМА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A6A1A1"/>
                </a:solidFill>
                <a:latin typeface="Montserrat"/>
              </a:rPr>
              <a:t>Как организовать токены стилей для чистого и масштабируемого кода?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(Дизайн-токены)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:root </a:t>
            </a:r>
            <a:r>
              <a:rPr sz="800">
                <a:solidFill>
                  <a:srgbClr val="D4D4D8"/>
                </a:solidFill>
                <a:latin typeface="Consolas"/>
              </a:rPr>
              <a:t>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/* 1. Цветовая палитра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--color-primary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#007bff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--color-success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#28a745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--color-dark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#222222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--color-gray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#555555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--color-bg-light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#f8f9fa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/* 2. Отступы и геометрия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--gap-grid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20px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--pad-card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15px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--radius-card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6px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--transition-smooth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0.2s ease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9800" y="685800"/>
            <a:ext cx="4089400" cy="355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00" b="1">
                <a:solidFill>
                  <a:srgbClr val="FF6F03"/>
                </a:solidFill>
                <a:latin typeface="Montserrat"/>
              </a:rPr>
              <a:t>ДИЗАЙН-ТОКЕНЫ: МОСТ МЕЖДУ FIGMA И КОДОМ</a:t>
            </a:r>
          </a:p>
        </p:txBody>
      </p:sp>
      <p:sp>
        <p:nvSpPr>
          <p:cNvPr id="9" name="Rectangle 8"/>
          <p:cNvSpPr/>
          <p:nvPr/>
        </p:nvSpPr>
        <p:spPr>
          <a:xfrm>
            <a:off x="4749800" y="1079500"/>
            <a:ext cx="40894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Dot 0"/>
          <p:cNvSpPr/>
          <p:nvPr/>
        </p:nvSpPr>
        <p:spPr>
          <a:xfrm>
            <a:off x="4749800" y="1238250"/>
            <a:ext cx="82550" cy="8255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Bullet 0"/>
          <p:cNvSpPr txBox="1"/>
          <p:nvPr/>
        </p:nvSpPr>
        <p:spPr>
          <a:xfrm>
            <a:off x="4940300" y="1193800"/>
            <a:ext cx="38989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Что такое дизайн-токены: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Это неделимые константы дизайн-системы (цвета, радиусы, интервалы, шрифты), которые стандартизируют внешний вид всех интерфейсов.</a:t>
            </a:r>
          </a:p>
        </p:txBody>
      </p:sp>
      <p:sp>
        <p:nvSpPr>
          <p:cNvPr id="12" name="Rounded Rectangle Dot 1"/>
          <p:cNvSpPr/>
          <p:nvPr/>
        </p:nvSpPr>
        <p:spPr>
          <a:xfrm>
            <a:off x="4749800" y="2025650"/>
            <a:ext cx="82550" cy="8255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Bullet 1"/>
          <p:cNvSpPr txBox="1"/>
          <p:nvPr/>
        </p:nvSpPr>
        <p:spPr>
          <a:xfrm>
            <a:off x="4940300" y="1981200"/>
            <a:ext cx="38989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Группировка по назначениям: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Рекомендуется делить токены на группы: семантические цвета (brand, success, danger), нейтральные оттенки текста, отступы и радиусы.</a:t>
            </a:r>
          </a:p>
        </p:txBody>
      </p:sp>
      <p:sp>
        <p:nvSpPr>
          <p:cNvPr id="14" name="Rounded Rectangle Dot 2"/>
          <p:cNvSpPr/>
          <p:nvPr/>
        </p:nvSpPr>
        <p:spPr>
          <a:xfrm>
            <a:off x="4749800" y="2813050"/>
            <a:ext cx="82550" cy="8255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Bullet 2"/>
          <p:cNvSpPr txBox="1"/>
          <p:nvPr/>
        </p:nvSpPr>
        <p:spPr>
          <a:xfrm>
            <a:off x="4940300" y="2768600"/>
            <a:ext cx="38989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Принцип DRY (Не повторяйся):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Вместо многократного копирования случайных HEX-кодов (#007bff) по файлу стилей, разработчик использует понятные осмысленные имена токенов.</a:t>
            </a:r>
          </a:p>
        </p:txBody>
      </p:sp>
      <p:sp>
        <p:nvSpPr>
          <p:cNvPr id="16" name="Rounded Rectangle Dot 3"/>
          <p:cNvSpPr/>
          <p:nvPr/>
        </p:nvSpPr>
        <p:spPr>
          <a:xfrm>
            <a:off x="4749800" y="3600450"/>
            <a:ext cx="82550" cy="8255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Bullet 3"/>
          <p:cNvSpPr txBox="1"/>
          <p:nvPr/>
        </p:nvSpPr>
        <p:spPr>
          <a:xfrm>
            <a:off x="4940300" y="3556000"/>
            <a:ext cx="38989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Готовность к темной теме: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Дизайн-токены позволяют за 5 минут реализовать темную тему или сменить корпоративную гамму под праздничную акцию сервиса.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69;p14"/>
          <p:cNvSpPr/>
          <p:nvPr/>
        </p:nvSpPr>
        <p:spPr>
          <a:xfrm>
            <a:off x="5819140" y="259079"/>
            <a:ext cx="307086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СХЕМА: 1D VS 2D СЕТКИ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A6A1A1"/>
                </a:solidFill>
                <a:latin typeface="Montserrat"/>
              </a:rPr>
              <a:t>В чем принципиальная разница в логике работы Flexbox и CSS Grid?</a:t>
            </a:r>
          </a:p>
        </p:txBody>
      </p:sp>
      <p:sp>
        <p:nvSpPr>
          <p:cNvPr id="4" name="Card Col 1"/>
          <p:cNvSpPr/>
          <p:nvPr/>
        </p:nvSpPr>
        <p:spPr>
          <a:xfrm>
            <a:off x="304800" y="711200"/>
            <a:ext cx="26670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38200"/>
            <a:ext cx="2362200" cy="406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4ADE80"/>
                </a:solidFill>
                <a:latin typeface="Montserrat"/>
              </a:rPr>
              <a:t>1. FLEXBOX (1D)</a:t>
            </a:r>
          </a:p>
          <a:p>
            <a:r>
              <a:rPr sz="800">
                <a:solidFill>
                  <a:srgbClr val="71717A"/>
                </a:solidFill>
                <a:latin typeface="Inter"/>
              </a:rPr>
              <a:t>Линейная ось (ряд / колонка)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5400"/>
            <a:ext cx="2362200" cy="127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397000"/>
            <a:ext cx="2362200" cy="2235200"/>
          </a:xfrm>
          <a:prstGeom prst="roundRect">
            <a:avLst>
              <a:gd name="adj" fmla="val 4000"/>
            </a:avLst>
          </a:prstGeom>
          <a:solidFill>
            <a:srgbClr val="131418"/>
          </a:solidFill>
          <a:ln w="9525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8000" y="1422400"/>
            <a:ext cx="2260600" cy="177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50">
                <a:solidFill>
                  <a:srgbClr val="71717A"/>
                </a:solidFill>
                <a:latin typeface="Consolas"/>
              </a:rPr>
              <a:t>display: flex; gap: 12px;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8800" y="1651000"/>
            <a:ext cx="2159000" cy="228600"/>
          </a:xfrm>
          <a:prstGeom prst="roundRect">
            <a:avLst>
              <a:gd name="adj" fmla="val 50000"/>
            </a:avLst>
          </a:prstGeom>
          <a:solidFill>
            <a:srgbClr val="1F2422"/>
          </a:solidFill>
          <a:ln w="9525">
            <a:solidFill>
              <a:srgbClr val="4ADE80"/>
            </a:solidFill>
          </a:ln>
        </p:spPr>
        <p:txBody>
          <a:bodyPr rtlCol="0" anchor="ctr"/>
          <a:lstStyle/>
          <a:p>
            <a:pPr algn="ctr"/>
            <a:r>
              <a:rPr sz="750">
                <a:solidFill>
                  <a:srgbClr val="4ADE80"/>
                </a:solidFill>
                <a:latin typeface="Consolas"/>
              </a:rPr>
              <a:t>ГЛАВНАЯ ОСЬ X (row) ──►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8800" y="1955800"/>
            <a:ext cx="647700" cy="9652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4ADE80"/>
            </a:solidFill>
          </a:ln>
        </p:spPr>
        <p:txBody>
          <a:bodyPr rtlCol="0" anchor="ctr" lIns="0" tIns="0" r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Consolas"/>
              </a:rPr>
              <a:t>Item 1</a:t>
            </a:r>
          </a:p>
          <a:p>
            <a:pPr algn="ctr"/>
            <a:r>
              <a:rPr sz="700">
                <a:solidFill>
                  <a:srgbClr val="4ADE80"/>
                </a:solidFill>
                <a:latin typeface="Consolas"/>
              </a:rPr>
              <a:t>auto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95400" y="1955800"/>
            <a:ext cx="647700" cy="9652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4ADE80"/>
            </a:solidFill>
          </a:ln>
        </p:spPr>
        <p:txBody>
          <a:bodyPr rtlCol="0" anchor="ctr" lIns="0" tIns="0" r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Consolas"/>
              </a:rPr>
              <a:t>Item 2</a:t>
            </a:r>
          </a:p>
          <a:p>
            <a:pPr algn="ctr"/>
            <a:r>
              <a:rPr sz="700">
                <a:solidFill>
                  <a:srgbClr val="4ADE80"/>
                </a:solidFill>
                <a:latin typeface="Consolas"/>
              </a:rPr>
              <a:t>flex: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32000" y="1955800"/>
            <a:ext cx="647700" cy="9652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4ADE80"/>
            </a:solidFill>
          </a:ln>
        </p:spPr>
        <p:txBody>
          <a:bodyPr rtlCol="0" anchor="ctr" lIns="0" tIns="0" r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Consolas"/>
              </a:rPr>
              <a:t>Item 3</a:t>
            </a:r>
          </a:p>
          <a:p>
            <a:pPr algn="ctr"/>
            <a:r>
              <a:rPr sz="700">
                <a:solidFill>
                  <a:srgbClr val="4ADE80"/>
                </a:solidFill>
                <a:latin typeface="Consolas"/>
              </a:rPr>
              <a:t>auto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8800" y="3022600"/>
            <a:ext cx="2159000" cy="482600"/>
          </a:xfrm>
          <a:prstGeom prst="rect">
            <a:avLst/>
          </a:prstGeom>
          <a:solidFill>
            <a:srgbClr val="161E24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700">
                <a:solidFill>
                  <a:srgbClr val="D4D4D8"/>
                </a:solidFill>
                <a:latin typeface="Consolas"/>
              </a:rPr>
              <a:t>justify-content: space-between;
align-items: center;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708400"/>
            <a:ext cx="23622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1">
                <a:solidFill>
                  <a:srgbClr val="4ADE80"/>
                </a:solidFill>
                <a:latin typeface="Inter"/>
              </a:rPr>
              <a:t>Одномерная цепочка (1D):
</a:t>
            </a:r>
          </a:p>
          <a:p>
            <a:r>
              <a:rPr sz="750">
                <a:solidFill>
                  <a:srgbClr val="D4D4D8"/>
                </a:solidFill>
                <a:latin typeface="Inter"/>
              </a:rPr>
              <a:t>Идеально выстраивает элементы вдоль одной линии (шапка, меню, ряд кнопок, футер) и делит пустоту.</a:t>
            </a:r>
          </a:p>
        </p:txBody>
      </p:sp>
      <p:sp>
        <p:nvSpPr>
          <p:cNvPr id="15" name="Card Col 2"/>
          <p:cNvSpPr/>
          <p:nvPr/>
        </p:nvSpPr>
        <p:spPr>
          <a:xfrm>
            <a:off x="3238500" y="711200"/>
            <a:ext cx="26670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90900" y="838200"/>
            <a:ext cx="2362200" cy="406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38BDF8"/>
                </a:solidFill>
                <a:latin typeface="Montserrat"/>
              </a:rPr>
              <a:t>2. CSS GRID (2D)</a:t>
            </a:r>
          </a:p>
          <a:p>
            <a:r>
              <a:rPr sz="800">
                <a:solidFill>
                  <a:srgbClr val="71717A"/>
                </a:solidFill>
                <a:latin typeface="Inter"/>
              </a:rPr>
              <a:t>Строки + Столбцы (Матрица)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90900" y="1295400"/>
            <a:ext cx="2362200" cy="127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390900" y="1397000"/>
            <a:ext cx="2362200" cy="2235200"/>
          </a:xfrm>
          <a:prstGeom prst="roundRect">
            <a:avLst>
              <a:gd name="adj" fmla="val 4000"/>
            </a:avLst>
          </a:prstGeom>
          <a:solidFill>
            <a:srgbClr val="131418"/>
          </a:solidFill>
          <a:ln w="9525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41700" y="1422400"/>
            <a:ext cx="2260600" cy="177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50">
                <a:solidFill>
                  <a:srgbClr val="71717A"/>
                </a:solidFill>
                <a:latin typeface="Consolas"/>
              </a:rPr>
              <a:t>grid-template-columns: repeat(3, 1fr);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92500" y="1676400"/>
            <a:ext cx="1003300" cy="838200"/>
          </a:xfrm>
          <a:prstGeom prst="roundRect">
            <a:avLst>
              <a:gd name="adj" fmla="val 8000"/>
            </a:avLst>
          </a:prstGeom>
          <a:solidFill>
            <a:srgbClr val="1B2433"/>
          </a:solidFill>
          <a:ln w="12700">
            <a:solidFill>
              <a:srgbClr val="38BDF8"/>
            </a:solidFill>
          </a:ln>
        </p:spPr>
        <p:txBody>
          <a:bodyPr rtlCol="0" anchor="ctr" lIns="0" tIns="0" r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Consolas"/>
              </a:rPr>
              <a:t>Ячейка 1</a:t>
            </a:r>
          </a:p>
          <a:p>
            <a:pPr algn="ctr"/>
            <a:r>
              <a:rPr sz="650">
                <a:solidFill>
                  <a:srgbClr val="38BDF8"/>
                </a:solidFill>
                <a:latin typeface="Inter"/>
              </a:rPr>
              <a:t>col 1 / row 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10100" y="1676400"/>
            <a:ext cx="1003300" cy="838200"/>
          </a:xfrm>
          <a:prstGeom prst="roundRect">
            <a:avLst>
              <a:gd name="adj" fmla="val 8000"/>
            </a:avLst>
          </a:prstGeom>
          <a:solidFill>
            <a:srgbClr val="1B2433"/>
          </a:solidFill>
          <a:ln w="12700">
            <a:solidFill>
              <a:srgbClr val="38BDF8"/>
            </a:solidFill>
          </a:ln>
        </p:spPr>
        <p:txBody>
          <a:bodyPr rtlCol="0" anchor="ctr" lIns="0" tIns="0" r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Consolas"/>
              </a:rPr>
              <a:t>Ячейка 2</a:t>
            </a:r>
          </a:p>
          <a:p>
            <a:pPr algn="ctr"/>
            <a:r>
              <a:rPr sz="650">
                <a:solidFill>
                  <a:srgbClr val="38BDF8"/>
                </a:solidFill>
                <a:latin typeface="Inter"/>
              </a:rPr>
              <a:t>col 2 / row 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92500" y="2590800"/>
            <a:ext cx="1003300" cy="838200"/>
          </a:xfrm>
          <a:prstGeom prst="roundRect">
            <a:avLst>
              <a:gd name="adj" fmla="val 8000"/>
            </a:avLst>
          </a:prstGeom>
          <a:solidFill>
            <a:srgbClr val="1B2433"/>
          </a:solidFill>
          <a:ln w="12700">
            <a:solidFill>
              <a:srgbClr val="38BDF8"/>
            </a:solidFill>
          </a:ln>
        </p:spPr>
        <p:txBody>
          <a:bodyPr rtlCol="0" anchor="ctr" lIns="0" tIns="0" r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Consolas"/>
              </a:rPr>
              <a:t>Ячейка 3</a:t>
            </a:r>
          </a:p>
          <a:p>
            <a:pPr algn="ctr"/>
            <a:r>
              <a:rPr sz="650">
                <a:solidFill>
                  <a:srgbClr val="38BDF8"/>
                </a:solidFill>
                <a:latin typeface="Inter"/>
              </a:rPr>
              <a:t>col 1 / row 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10100" y="2590800"/>
            <a:ext cx="1003300" cy="838200"/>
          </a:xfrm>
          <a:prstGeom prst="roundRect">
            <a:avLst>
              <a:gd name="adj" fmla="val 8000"/>
            </a:avLst>
          </a:prstGeom>
          <a:solidFill>
            <a:srgbClr val="1B2433"/>
          </a:solidFill>
          <a:ln w="12700">
            <a:solidFill>
              <a:srgbClr val="38BDF8"/>
            </a:solidFill>
          </a:ln>
        </p:spPr>
        <p:txBody>
          <a:bodyPr rtlCol="0" anchor="ctr" lIns="0" tIns="0" r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Consolas"/>
              </a:rPr>
              <a:t>Ячейка 4</a:t>
            </a:r>
          </a:p>
          <a:p>
            <a:pPr algn="ctr"/>
            <a:r>
              <a:rPr sz="650">
                <a:solidFill>
                  <a:srgbClr val="38BDF8"/>
                </a:solidFill>
                <a:latin typeface="Inter"/>
              </a:rPr>
              <a:t>col 2 / row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90900" y="3708400"/>
            <a:ext cx="23622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1">
                <a:solidFill>
                  <a:srgbClr val="38BDF8"/>
                </a:solidFill>
                <a:latin typeface="Inter"/>
              </a:rPr>
              <a:t>Двумерная координатная сетка (2D):
</a:t>
            </a:r>
          </a:p>
          <a:p>
            <a:r>
              <a:rPr sz="750">
                <a:solidFill>
                  <a:srgbClr val="D4D4D8"/>
                </a:solidFill>
                <a:latin typeface="Inter"/>
              </a:rPr>
              <a:t>Управляет строками и колонками одновременно. Незаменима для витрин каталога, дашбордов и фотогалерей.</a:t>
            </a:r>
          </a:p>
        </p:txBody>
      </p:sp>
      <p:sp>
        <p:nvSpPr>
          <p:cNvPr id="25" name="Card Col 3"/>
          <p:cNvSpPr/>
          <p:nvPr/>
        </p:nvSpPr>
        <p:spPr>
          <a:xfrm>
            <a:off x="6172200" y="711200"/>
            <a:ext cx="26670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24600" y="838200"/>
            <a:ext cx="2362200" cy="406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A78BFA"/>
                </a:solidFill>
                <a:latin typeface="Montserrat"/>
              </a:rPr>
              <a:t>3. СИНЕРГИЯ СЕТОК</a:t>
            </a:r>
          </a:p>
          <a:p>
            <a:r>
              <a:rPr sz="800">
                <a:solidFill>
                  <a:srgbClr val="71717A"/>
                </a:solidFill>
                <a:latin typeface="Inter"/>
              </a:rPr>
              <a:t>Совместная работа в UI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24600" y="1295400"/>
            <a:ext cx="2362200" cy="127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24600" y="1397000"/>
            <a:ext cx="2362200" cy="2235200"/>
          </a:xfrm>
          <a:prstGeom prst="roundRect">
            <a:avLst>
              <a:gd name="adj" fmla="val 4000"/>
            </a:avLst>
          </a:prstGeom>
          <a:solidFill>
            <a:srgbClr val="131418"/>
          </a:solidFill>
          <a:ln w="9525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75400" y="1422400"/>
            <a:ext cx="2260600" cy="177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50">
                <a:solidFill>
                  <a:srgbClr val="71717A"/>
                </a:solidFill>
                <a:latin typeface="Consolas"/>
              </a:rPr>
              <a:t>Grid (каталог) + Flex (карточка)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26200" y="1651000"/>
            <a:ext cx="2159000" cy="1854200"/>
          </a:xfrm>
          <a:prstGeom prst="roundRect">
            <a:avLst>
              <a:gd name="adj" fmla="val 6000"/>
            </a:avLst>
          </a:prstGeom>
          <a:solidFill>
            <a:srgbClr val="201A2E"/>
          </a:solidFill>
          <a:ln w="12700">
            <a:solidFill>
              <a:srgbClr val="A78BFA"/>
            </a:solidFill>
          </a:ln>
        </p:spPr>
        <p:txBody>
          <a:bodyPr rtlCol="0" anchor="ctr"/>
          <a:lstStyle/>
          <a:p>
            <a:pPr algn="l"/>
            <a:r>
              <a:rPr sz="700">
                <a:solidFill>
                  <a:srgbClr val="A78BFA"/>
                </a:solidFill>
                <a:latin typeface="Consolas"/>
              </a:rPr>
              <a:t> ВНЕШНИЙ GRID (3 колонки)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27800" y="1905000"/>
            <a:ext cx="1955800" cy="711200"/>
          </a:xfrm>
          <a:prstGeom prst="roundRect">
            <a:avLst>
              <a:gd name="adj" fmla="val 8000"/>
            </a:avLst>
          </a:prstGeom>
          <a:solidFill>
            <a:srgbClr val="2D253F"/>
          </a:solidFill>
          <a:ln w="12700">
            <a:solidFill>
              <a:srgbClr val="6D28D9"/>
            </a:solidFill>
          </a:ln>
        </p:spPr>
        <p:txBody>
          <a:bodyPr rtlCol="0" anchor="ctr"/>
          <a:lstStyle/>
          <a:p>
            <a:pPr algn="ctr"/>
            <a:r>
              <a:rPr sz="700">
                <a:solidFill>
                  <a:srgbClr val="FFFFFF"/>
                </a:solidFill>
                <a:latin typeface="Consolas"/>
              </a:rPr>
              <a:t>🖼️ .card-img (200px)
</a:t>
            </a:r>
            <a:r>
              <a:rPr sz="700">
                <a:solidFill>
                  <a:srgbClr val="38BDF8"/>
                </a:solidFill>
                <a:latin typeface="Consolas"/>
              </a:rPr>
              <a:t>📄 .card-content (flex: 1)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27800" y="2692400"/>
            <a:ext cx="1955800" cy="685800"/>
          </a:xfrm>
          <a:prstGeom prst="roundRect">
            <a:avLst>
              <a:gd name="adj" fmla="val 8000"/>
            </a:avLst>
          </a:prstGeom>
          <a:solidFill>
            <a:srgbClr val="1B2433"/>
          </a:solidFill>
          <a:ln w="12700">
            <a:solidFill>
              <a:srgbClr val="10B981"/>
            </a:solidFill>
          </a:ln>
        </p:spPr>
        <p:txBody>
          <a:bodyPr rtlCol="0" anchor="ctr"/>
          <a:lstStyle/>
          <a:p>
            <a:pPr algn="ctr"/>
            <a:r>
              <a:rPr sz="700">
                <a:solidFill>
                  <a:srgbClr val="FFFFFF"/>
                </a:solidFill>
                <a:latin typeface="Consolas"/>
              </a:rPr>
              <a:t>💰 450 ₽/час  |  [👁️] [Бронь]
</a:t>
            </a:r>
            <a:r>
              <a:rPr sz="650">
                <a:solidFill>
                  <a:srgbClr val="4ADE80"/>
                </a:solidFill>
                <a:latin typeface="Consolas"/>
              </a:rPr>
              <a:t>⚙️ display: flex; space-between;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4600" y="3708400"/>
            <a:ext cx="23622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1">
                <a:solidFill>
                  <a:srgbClr val="A78BFA"/>
                </a:solidFill>
                <a:latin typeface="Inter"/>
              </a:rPr>
              <a:t>Командная работа в реальном коде:
</a:t>
            </a:r>
          </a:p>
          <a:p>
            <a:r>
              <a:rPr sz="750">
                <a:solidFill>
                  <a:srgbClr val="D4D4D8"/>
                </a:solidFill>
                <a:latin typeface="Inter"/>
              </a:rPr>
              <a:t>CSS Grid держит общую 3-колоночную сетку каталога, а Flexbox организует кнопки и контент внутри каждой карточки!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69;p14"/>
          <p:cNvSpPr/>
          <p:nvPr/>
        </p:nvSpPr>
        <p:spPr>
          <a:xfrm>
            <a:off x="6192520" y="259079"/>
            <a:ext cx="269748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FLEXBOX В КАТАЛОГЕ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A6A1A1"/>
                </a:solidFill>
                <a:latin typeface="Montserrat"/>
              </a:rPr>
              <a:t>Как работает Flexbox при верстке витрины карточек каталога?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(.rooms-grid)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Flex-контейнер витрины комнат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.rooms-grid </a:t>
            </a:r>
            <a:r>
              <a:rPr sz="800">
                <a:solidFill>
                  <a:srgbClr val="D4D4D8"/>
                </a:solidFill>
                <a:latin typeface="Consolas"/>
              </a:rPr>
              <a:t>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flex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flex-wrap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wrap</a:t>
            </a:r>
            <a:r>
              <a:rPr sz="800">
                <a:solidFill>
                  <a:srgbClr val="71717A"/>
                </a:solidFill>
                <a:latin typeface="Consolas"/>
              </a:rPr>
              <a:t>; /* Перенос на новую строку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gap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20px</a:t>
            </a:r>
            <a:r>
              <a:rPr sz="800">
                <a:solidFill>
                  <a:srgbClr val="71717A"/>
                </a:solidFill>
                <a:latin typeface="Consolas"/>
              </a:rPr>
              <a:t>;        /* Шаг между карточками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margin-top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30px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margin-bottom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30px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Карточка в 3-колоночной сетке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.room-card </a:t>
            </a:r>
            <a:r>
              <a:rPr sz="800">
                <a:solidFill>
                  <a:srgbClr val="D4D4D8"/>
                </a:solidFill>
                <a:latin typeface="Consolas"/>
              </a:rPr>
              <a:t>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width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373px</a:t>
            </a:r>
            <a:r>
              <a:rPr sz="800">
                <a:solidFill>
                  <a:srgbClr val="71717A"/>
                </a:solidFill>
                <a:latin typeface="Consolas"/>
              </a:rPr>
              <a:t>;     /* (1200 - 2*20) / 3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flex-shrink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0</a:t>
            </a:r>
            <a:r>
              <a:rPr sz="800">
                <a:solidFill>
                  <a:srgbClr val="71717A"/>
                </a:solidFill>
                <a:latin typeface="Consolas"/>
              </a:rPr>
              <a:t>;   /* Защита от сжатия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9800" y="685800"/>
            <a:ext cx="4089400" cy="355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00" b="1">
                <a:solidFill>
                  <a:srgbClr val="FF6F03"/>
                </a:solidFill>
                <a:latin typeface="Montserrat"/>
              </a:rPr>
              <a:t>МЕХАНИКА МНОГОСТРОЧНОГО FLEX-ПОТОКА</a:t>
            </a:r>
          </a:p>
        </p:txBody>
      </p:sp>
      <p:sp>
        <p:nvSpPr>
          <p:cNvPr id="9" name="Rectangle 8"/>
          <p:cNvSpPr/>
          <p:nvPr/>
        </p:nvSpPr>
        <p:spPr>
          <a:xfrm>
            <a:off x="4749800" y="1079500"/>
            <a:ext cx="40894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Dot 0"/>
          <p:cNvSpPr/>
          <p:nvPr/>
        </p:nvSpPr>
        <p:spPr>
          <a:xfrm>
            <a:off x="4749800" y="1238250"/>
            <a:ext cx="82550" cy="8255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Bullet 0"/>
          <p:cNvSpPr txBox="1"/>
          <p:nvPr/>
        </p:nvSpPr>
        <p:spPr>
          <a:xfrm>
            <a:off x="4940300" y="1193800"/>
            <a:ext cx="38989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Свойство flex-wrap: wrap: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По умолчанию флекс сжимает карточки в одну линию. Значение wrap разрешает автоматический перенос карточек на следующую строку.</a:t>
            </a:r>
          </a:p>
        </p:txBody>
      </p:sp>
      <p:sp>
        <p:nvSpPr>
          <p:cNvPr id="12" name="Rounded Rectangle Dot 1"/>
          <p:cNvSpPr/>
          <p:nvPr/>
        </p:nvSpPr>
        <p:spPr>
          <a:xfrm>
            <a:off x="4749800" y="2025650"/>
            <a:ext cx="82550" cy="8255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Bullet 1"/>
          <p:cNvSpPr txBox="1"/>
          <p:nvPr/>
        </p:nvSpPr>
        <p:spPr>
          <a:xfrm>
            <a:off x="4940300" y="1981200"/>
            <a:ext cx="38989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Современное свойство gap: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gap: 20px создает равномерные промежутки между карточками строго внутри контейнера, избавляя от отступов :last-child и хаков.</a:t>
            </a:r>
          </a:p>
        </p:txBody>
      </p:sp>
      <p:sp>
        <p:nvSpPr>
          <p:cNvPr id="14" name="Rounded Rectangle Dot 2"/>
          <p:cNvSpPr/>
          <p:nvPr/>
        </p:nvSpPr>
        <p:spPr>
          <a:xfrm>
            <a:off x="4749800" y="2813050"/>
            <a:ext cx="82550" cy="8255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Bullet 2"/>
          <p:cNvSpPr txBox="1"/>
          <p:nvPr/>
        </p:nvSpPr>
        <p:spPr>
          <a:xfrm>
            <a:off x="4940300" y="2768600"/>
            <a:ext cx="38989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Математика колонок (373px):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Ширина контейнера 1200px минус 2 зазора по 20px (40px) = 1160px. Делим на 3 карточки и получаем ровно 373.33px на элемент.</a:t>
            </a:r>
          </a:p>
        </p:txBody>
      </p:sp>
      <p:sp>
        <p:nvSpPr>
          <p:cNvPr id="16" name="Rounded Rectangle Dot 3"/>
          <p:cNvSpPr/>
          <p:nvPr/>
        </p:nvSpPr>
        <p:spPr>
          <a:xfrm>
            <a:off x="4749800" y="3600450"/>
            <a:ext cx="82550" cy="8255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Bullet 3"/>
          <p:cNvSpPr txBox="1"/>
          <p:nvPr/>
        </p:nvSpPr>
        <p:spPr>
          <a:xfrm>
            <a:off x="4940300" y="3556000"/>
            <a:ext cx="38989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Поведение при добавлении карточек: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Если в каталог добавить 4-ю и 5-ю карточки, они плавно встанут во второй ряд с сохранением идеальной геометрии сетки.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69;p14"/>
          <p:cNvSpPr/>
          <p:nvPr/>
        </p:nvSpPr>
        <p:spPr>
          <a:xfrm>
            <a:off x="6068060" y="259079"/>
            <a:ext cx="282194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CSS GRID В КАТАЛОГЕ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A6A1A1"/>
                </a:solidFill>
                <a:latin typeface="Montserrat"/>
              </a:rPr>
              <a:t>Как построить каталог с помощью двумерной координатной сетки Grid?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(CSS Grid альтернатива)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Альтернативная сетка на CSS Grid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.rooms-grid-grid </a:t>
            </a:r>
            <a:r>
              <a:rPr sz="800">
                <a:solidFill>
                  <a:srgbClr val="D4D4D8"/>
                </a:solidFill>
                <a:latin typeface="Consolas"/>
              </a:rPr>
              <a:t>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grid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grid-template-columns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repeat(3, 1fr)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gap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20px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Автоматическая адаптивность без медиа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.rooms-grid-autofit </a:t>
            </a:r>
            <a:r>
              <a:rPr sz="800">
                <a:solidFill>
                  <a:srgbClr val="D4D4D8"/>
                </a:solidFill>
                <a:latin typeface="Consolas"/>
              </a:rPr>
              <a:t>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grid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grid-template-columns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</a:t>
            </a:r>
            <a:r>
              <a:rPr sz="800">
                <a:solidFill>
                  <a:srgbClr val="38BDF8"/>
                </a:solidFill>
                <a:latin typeface="Consolas"/>
              </a:rPr>
              <a:t>repeat</a:t>
            </a:r>
            <a:r>
              <a:rPr sz="800">
                <a:solidFill>
                  <a:srgbClr val="D4D4D8"/>
                </a:solidFill>
                <a:latin typeface="Consolas"/>
              </a:rPr>
              <a:t>(</a:t>
            </a:r>
            <a:r>
              <a:rPr sz="800">
                <a:solidFill>
                  <a:srgbClr val="4ADE80"/>
                </a:solidFill>
                <a:latin typeface="Consolas"/>
              </a:rPr>
              <a:t>auto-fit</a:t>
            </a:r>
            <a:r>
              <a:rPr sz="800">
                <a:solidFill>
                  <a:srgbClr val="D4D4D8"/>
                </a:solidFill>
                <a:latin typeface="Consolas"/>
              </a:rPr>
              <a:t>, </a:t>
            </a:r>
            <a:r>
              <a:rPr sz="800">
                <a:solidFill>
                  <a:srgbClr val="38BDF8"/>
                </a:solidFill>
                <a:latin typeface="Consolas"/>
              </a:rPr>
              <a:t>minmax</a:t>
            </a:r>
            <a:r>
              <a:rPr sz="800">
                <a:solidFill>
                  <a:srgbClr val="D4D4D8"/>
                </a:solidFill>
                <a:latin typeface="Consolas"/>
              </a:rPr>
              <a:t>(</a:t>
            </a:r>
            <a:r>
              <a:rPr sz="800">
                <a:solidFill>
                  <a:srgbClr val="4ADE80"/>
                </a:solidFill>
                <a:latin typeface="Consolas"/>
              </a:rPr>
              <a:t>320px</a:t>
            </a:r>
            <a:r>
              <a:rPr sz="800">
                <a:solidFill>
                  <a:srgbClr val="D4D4D8"/>
                </a:solidFill>
                <a:latin typeface="Consolas"/>
              </a:rPr>
              <a:t>, </a:t>
            </a:r>
            <a:r>
              <a:rPr sz="800">
                <a:solidFill>
                  <a:srgbClr val="4ADE80"/>
                </a:solidFill>
                <a:latin typeface="Consolas"/>
              </a:rPr>
              <a:t>1fr</a:t>
            </a:r>
            <a:r>
              <a:rPr sz="800">
                <a:solidFill>
                  <a:srgbClr val="D4D4D8"/>
                </a:solidFill>
                <a:latin typeface="Consolas"/>
              </a:rPr>
              <a:t>));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gap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20px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9800" y="762000"/>
            <a:ext cx="4089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1">
                <a:solidFill>
                  <a:srgbClr val="FF6F03"/>
                </a:solidFill>
                <a:latin typeface="Montserrat"/>
              </a:rPr>
              <a:t>ПРЕИМУЩЕСТВА СЕТОК CSS GRID</a:t>
            </a:r>
          </a:p>
        </p:txBody>
      </p:sp>
      <p:sp>
        <p:nvSpPr>
          <p:cNvPr id="9" name="Rectangle 8"/>
          <p:cNvSpPr/>
          <p:nvPr/>
        </p:nvSpPr>
        <p:spPr>
          <a:xfrm>
            <a:off x="4749800" y="1041400"/>
            <a:ext cx="40894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Dot 0"/>
          <p:cNvSpPr/>
          <p:nvPr/>
        </p:nvSpPr>
        <p:spPr>
          <a:xfrm>
            <a:off x="4749800" y="1200150"/>
            <a:ext cx="82550" cy="8255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Bullet 0"/>
          <p:cNvSpPr txBox="1"/>
          <p:nvPr/>
        </p:nvSpPr>
        <p:spPr>
          <a:xfrm>
            <a:off x="4940300" y="1155700"/>
            <a:ext cx="38989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Дисплей grid (Координатная сетка):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Активирует двумерную матричную модель. Браузер берет расчет ширины колонок и рядов полностью на себя без ручных вычислений.</a:t>
            </a:r>
          </a:p>
        </p:txBody>
      </p:sp>
      <p:sp>
        <p:nvSpPr>
          <p:cNvPr id="12" name="Rounded Rectangle Dot 1"/>
          <p:cNvSpPr/>
          <p:nvPr/>
        </p:nvSpPr>
        <p:spPr>
          <a:xfrm>
            <a:off x="4749800" y="1987550"/>
            <a:ext cx="82550" cy="8255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Bullet 1"/>
          <p:cNvSpPr txBox="1"/>
          <p:nvPr/>
        </p:nvSpPr>
        <p:spPr>
          <a:xfrm>
            <a:off x="4940300" y="1943100"/>
            <a:ext cx="38989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Доли пространства (fr - Fraction):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1fr означает 'одну равную долю от остатка места'. repeat(3, 1fr) гарантирует ровно 3 колонки идеальной ширины.</a:t>
            </a:r>
          </a:p>
        </p:txBody>
      </p:sp>
      <p:sp>
        <p:nvSpPr>
          <p:cNvPr id="14" name="Rounded Rectangle Dot 2"/>
          <p:cNvSpPr/>
          <p:nvPr/>
        </p:nvSpPr>
        <p:spPr>
          <a:xfrm>
            <a:off x="4749800" y="2774950"/>
            <a:ext cx="82550" cy="8255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Bullet 2"/>
          <p:cNvSpPr txBox="1"/>
          <p:nvPr/>
        </p:nvSpPr>
        <p:spPr>
          <a:xfrm>
            <a:off x="4940300" y="2730500"/>
            <a:ext cx="38989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Функция repeat() для чистоты кода: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Позволяет не перечислять размеры вручную (1fr 1fr 1fr), сокращая синтаксис и облегчая изменение количества колонок.</a:t>
            </a:r>
          </a:p>
        </p:txBody>
      </p:sp>
      <p:sp>
        <p:nvSpPr>
          <p:cNvPr id="16" name="Rounded Rectangle Dot 3"/>
          <p:cNvSpPr/>
          <p:nvPr/>
        </p:nvSpPr>
        <p:spPr>
          <a:xfrm>
            <a:off x="4749800" y="3562350"/>
            <a:ext cx="82550" cy="8255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Bullet 3"/>
          <p:cNvSpPr txBox="1"/>
          <p:nvPr/>
        </p:nvSpPr>
        <p:spPr>
          <a:xfrm>
            <a:off x="4940300" y="3517900"/>
            <a:ext cx="38989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Связка repeat(auto-fit, minmax):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Продвинутая техника: если экран сужается, колонки сами перестраиваются из 3 в 2 и в 1 без единого медиа-запроса!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69;p14"/>
          <p:cNvSpPr/>
          <p:nvPr/>
        </p:nvSpPr>
        <p:spPr>
          <a:xfrm>
            <a:off x="5445760" y="259079"/>
            <a:ext cx="344424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СХЕМА: АНАТОМИЯ КАРТОЧКИ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A6A1A1"/>
                </a:solidFill>
                <a:latin typeface="Montserrat"/>
              </a:rPr>
              <a:t>Из каких структурных слоев состоит профессиональная карточка каталога?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711200"/>
            <a:ext cx="3556000" cy="3784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DDDD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69900" y="723900"/>
            <a:ext cx="3530600" cy="1524000"/>
          </a:xfrm>
          <a:prstGeom prst="roundRect">
            <a:avLst>
              <a:gd name="adj" fmla="val 4000"/>
            </a:avLst>
          </a:prstGeom>
          <a:solidFill>
            <a:srgbClr val="EEF2F6"/>
          </a:solidFill>
          <a:ln w="12700">
            <a:solidFill>
              <a:srgbClr val="007BFF"/>
            </a:solidFill>
          </a:ln>
        </p:spPr>
        <p:txBody>
          <a:bodyPr rtlCol="0" anchor="ctr"/>
          <a:lstStyle/>
          <a:p>
            <a:pPr algn="ctr"/>
            <a:r>
              <a:rPr sz="800">
                <a:solidFill>
                  <a:srgbClr val="007BFF"/>
                </a:solidFill>
                <a:latin typeface="Consolas"/>
              </a:rPr>
              <a:t>🖼️ .card-img-wrap (height: 200px)
object-fit: cover; overflow: hidden;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2336800"/>
            <a:ext cx="3175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222222"/>
                </a:solidFill>
                <a:latin typeface="Montserrat"/>
              </a:rPr>
              <a:t>Мини-офис Focus (.card-title)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2616200"/>
            <a:ext cx="3175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444444"/>
                </a:solidFill>
                <a:latin typeface="Inter"/>
              </a:rPr>
              <a:t>• Wi-Fi 500 Мбит/с</a:t>
            </a:r>
          </a:p>
          <a:p>
            <a:r>
              <a:rPr sz="800">
                <a:solidFill>
                  <a:srgbClr val="444444"/>
                </a:solidFill>
                <a:latin typeface="Inter"/>
              </a:rPr>
              <a:t>• 4K Монитор</a:t>
            </a:r>
          </a:p>
          <a:p>
            <a:r>
              <a:rPr sz="800">
                <a:solidFill>
                  <a:srgbClr val="444444"/>
                </a:solidFill>
                <a:latin typeface="Inter"/>
              </a:rPr>
              <a:t>• Эргономичное кресло</a:t>
            </a:r>
          </a:p>
        </p:txBody>
      </p:sp>
      <p:sp>
        <p:nvSpPr>
          <p:cNvPr id="8" name="Rectangle 7"/>
          <p:cNvSpPr/>
          <p:nvPr/>
        </p:nvSpPr>
        <p:spPr>
          <a:xfrm>
            <a:off x="469900" y="3365500"/>
            <a:ext cx="3530600" cy="1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9900" y="3403600"/>
            <a:ext cx="3530600" cy="584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3505200"/>
            <a:ext cx="12700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222222"/>
                </a:solidFill>
                <a:latin typeface="Montserrat"/>
              </a:rPr>
              <a:t>450 ₽ </a:t>
            </a:r>
            <a:r>
              <a:rPr sz="800">
                <a:solidFill>
                  <a:srgbClr val="444444"/>
                </a:solidFill>
                <a:latin typeface="Inter"/>
              </a:rPr>
              <a:t>/ час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59000" y="3479800"/>
            <a:ext cx="279400" cy="2794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007BFF"/>
            </a:solidFill>
          </a:ln>
        </p:spPr>
        <p:txBody>
          <a:bodyPr rtlCol="0" anchor="ctr"/>
          <a:lstStyle/>
          <a:p>
            <a:pPr algn="ctr"/>
            <a:r>
              <a:rPr sz="800"/>
              <a:t>👁️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40000" y="3479800"/>
            <a:ext cx="1270000" cy="279400"/>
          </a:xfrm>
          <a:prstGeom prst="roundRect">
            <a:avLst>
              <a:gd name="adj" fmla="val 20000"/>
            </a:avLst>
          </a:prstGeom>
          <a:solidFill>
            <a:srgbClr val="007BFF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Забронировать</a:t>
            </a:r>
          </a:p>
        </p:txBody>
      </p:sp>
      <p:sp>
        <p:nvSpPr>
          <p:cNvPr id="13" name="TextBox 7"/>
          <p:cNvSpPr txBox="1"/>
          <p:nvPr/>
        </p:nvSpPr>
        <p:spPr>
          <a:xfrm>
            <a:off x="4381500" y="762000"/>
            <a:ext cx="4318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4 СЛОЯ КОМПОНЕНТА .ROOM-CARD</a:t>
            </a:r>
          </a:p>
        </p:txBody>
      </p:sp>
      <p:sp>
        <p:nvSpPr>
          <p:cNvPr id="14" name="Rectangle 8"/>
          <p:cNvSpPr/>
          <p:nvPr/>
        </p:nvSpPr>
        <p:spPr>
          <a:xfrm>
            <a:off x="4381500" y="1041400"/>
            <a:ext cx="43180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81500" y="12065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1168400"/>
            <a:ext cx="41275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1. Медиа-контейнер (.card-img-wrap):</a:t>
            </a:r>
          </a:p>
          <a:p>
            <a:pPr>
              <a:lnSpc>
                <a:spcPct val="115000"/>
              </a:lnSpc>
            </a:pPr>
            <a:r>
              <a:rPr sz="850">
                <a:solidFill>
                  <a:srgbClr val="444444"/>
                </a:solidFill>
                <a:latin typeface="Inter"/>
              </a:rPr>
              <a:t>Фиксированная высота 200px с overflow: hidden. Защищает карточку от вылезания картинок разного разрешения и формы.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1500" y="1943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1905000"/>
            <a:ext cx="41275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2. Контентное тело (.card-content):</a:t>
            </a:r>
          </a:p>
          <a:p>
            <a:pPr>
              <a:lnSpc>
                <a:spcPct val="115000"/>
              </a:lnSpc>
            </a:pPr>
            <a:r>
              <a:rPr sz="850">
                <a:solidFill>
                  <a:srgbClr val="444444"/>
                </a:solidFill>
                <a:latin typeface="Inter"/>
              </a:rPr>
              <a:t>Внутренний padding 15px и колоночный Flexbox (display: flex; flex-direction: column; flex: 1;). Гарантирует равную высоту всех карточек в каталоге.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1500" y="26797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2641600"/>
            <a:ext cx="41275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3. Распорка списка (.card-equipment):</a:t>
            </a:r>
          </a:p>
          <a:p>
            <a:pPr>
              <a:lnSpc>
                <a:spcPct val="115000"/>
              </a:lnSpc>
            </a:pPr>
            <a:r>
              <a:rPr sz="850">
                <a:solidFill>
                  <a:srgbClr val="444444"/>
                </a:solidFill>
                <a:latin typeface="Inter"/>
              </a:rPr>
              <a:t>Список тегов или оборудования с flex: 1 забирает излишки пустого места и выталкивает блок стоимости и кнопок строго в нижний край.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1500" y="3416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3378200"/>
            <a:ext cx="41275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4. Подвал действия (.card-footer):</a:t>
            </a:r>
          </a:p>
          <a:p>
            <a:pPr>
              <a:lnSpc>
                <a:spcPct val="115000"/>
              </a:lnSpc>
            </a:pPr>
            <a:r>
              <a:rPr sz="850">
                <a:solidFill>
                  <a:srgbClr val="444444"/>
                </a:solidFill>
                <a:latin typeface="Inter"/>
              </a:rPr>
              <a:t>Flexbox с justify-content: space-between разносит цену налево, а блок кнопок .card-btns (иконка детального просмотра + primary кнопка) — направо.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69;p14"/>
          <p:cNvSpPr/>
          <p:nvPr/>
        </p:nvSpPr>
        <p:spPr>
          <a:xfrm>
            <a:off x="5819140" y="259079"/>
            <a:ext cx="307086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СЕКЦИЯ КАТАЛОГА: HTML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A6A1A1"/>
                </a:solidFill>
                <a:latin typeface="Montserrat"/>
              </a:rPr>
              <a:t>Как семантически грамотно структурировать секцию предложений?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index.html (&lt;section class="popular-section"&gt;)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&lt;!-- Секция популярных комнат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&lt;section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"popular-section"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&lt;h2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"page-title"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Популярные офисные комнаты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&lt;/h2&gt;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&lt;p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"page-subtitle"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Наиболее востребованные пространства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&lt;/p&gt;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&lt;!-- Контейнер сетки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"rooms-grid"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  &lt;!-- 3 карточки .room-card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&lt;!-- Действие внизу секции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"center-action"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&lt;a </a:t>
            </a:r>
            <a:r>
              <a:rPr sz="800">
                <a:solidFill>
                  <a:srgbClr val="A78BFA"/>
                </a:solidFill>
                <a:latin typeface="Consolas"/>
              </a:rPr>
              <a:t>href=</a:t>
            </a:r>
            <a:r>
              <a:rPr sz="800">
                <a:solidFill>
                  <a:srgbClr val="FCD34D"/>
                </a:solidFill>
                <a:latin typeface="Consolas"/>
              </a:rPr>
              <a:t>"pages/catalog.html"</a:t>
            </a:r>
            <a:r>
              <a:rPr sz="800">
                <a:solidFill>
                  <a:srgbClr val="A78BFA"/>
                </a:solidFill>
                <a:latin typeface="Consolas"/>
              </a:rPr>
              <a:t> class=</a:t>
            </a:r>
            <a:r>
              <a:rPr sz="800">
                <a:solidFill>
                  <a:srgbClr val="FCD34D"/>
                </a:solidFill>
                <a:latin typeface="Consolas"/>
              </a:rPr>
              <a:t>"btn btn-outline"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  Больше офисов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&lt;/a&gt;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&lt;/section&gt;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9800" y="685800"/>
            <a:ext cx="4089400" cy="355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00" b="1">
                <a:solidFill>
                  <a:srgbClr val="FF6F03"/>
                </a:solidFill>
                <a:latin typeface="Montserrat"/>
              </a:rPr>
              <a:t>СЕМАНТИЧЕСКАЯ АРХИТЕКТУРА РАЗДЕЛА СТРАНИЦЫ</a:t>
            </a:r>
          </a:p>
        </p:txBody>
      </p:sp>
      <p:sp>
        <p:nvSpPr>
          <p:cNvPr id="9" name="Rectangle 8"/>
          <p:cNvSpPr/>
          <p:nvPr/>
        </p:nvSpPr>
        <p:spPr>
          <a:xfrm>
            <a:off x="4749800" y="1079500"/>
            <a:ext cx="40894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Dot 0"/>
          <p:cNvSpPr/>
          <p:nvPr/>
        </p:nvSpPr>
        <p:spPr>
          <a:xfrm>
            <a:off x="4749800" y="1238250"/>
            <a:ext cx="82550" cy="8255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Bullet 0"/>
          <p:cNvSpPr txBox="1"/>
          <p:nvPr/>
        </p:nvSpPr>
        <p:spPr>
          <a:xfrm>
            <a:off x="4940300" y="1193800"/>
            <a:ext cx="38989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Тег &lt;section&gt; для независимого блока: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Выделяет самостоятельный смысловой раздел каталога. Это улучшает доступность для скринридеров и ранжирование страницы в поисковиках.</a:t>
            </a:r>
          </a:p>
        </p:txBody>
      </p:sp>
      <p:sp>
        <p:nvSpPr>
          <p:cNvPr id="12" name="Rounded Rectangle Dot 1"/>
          <p:cNvSpPr/>
          <p:nvPr/>
        </p:nvSpPr>
        <p:spPr>
          <a:xfrm>
            <a:off x="4749800" y="2025650"/>
            <a:ext cx="82550" cy="8255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Bullet 1"/>
          <p:cNvSpPr txBox="1"/>
          <p:nvPr/>
        </p:nvSpPr>
        <p:spPr>
          <a:xfrm>
            <a:off x="4940300" y="1981200"/>
            <a:ext cx="38989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Иерархия заголовков (h2):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Заголовок h1 зарезервирован для главного экрана (Hero). Все внутренние разделы каталога начинаются строго со второго уровня h2.</a:t>
            </a:r>
          </a:p>
        </p:txBody>
      </p:sp>
      <p:sp>
        <p:nvSpPr>
          <p:cNvPr id="14" name="Rounded Rectangle Dot 2"/>
          <p:cNvSpPr/>
          <p:nvPr/>
        </p:nvSpPr>
        <p:spPr>
          <a:xfrm>
            <a:off x="4749800" y="2813050"/>
            <a:ext cx="82550" cy="8255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Bullet 2"/>
          <p:cNvSpPr txBox="1"/>
          <p:nvPr/>
        </p:nvSpPr>
        <p:spPr>
          <a:xfrm>
            <a:off x="4940300" y="2768600"/>
            <a:ext cx="38989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Служебный подзаголовок .page-subtitle: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Кратко раскрывает ценность предложения. Оформляется единым классом дизайн-системы с приглушенным контрастом текста.</a:t>
            </a:r>
          </a:p>
        </p:txBody>
      </p:sp>
      <p:sp>
        <p:nvSpPr>
          <p:cNvPr id="16" name="Rounded Rectangle Dot 3"/>
          <p:cNvSpPr/>
          <p:nvPr/>
        </p:nvSpPr>
        <p:spPr>
          <a:xfrm>
            <a:off x="4749800" y="3600450"/>
            <a:ext cx="82550" cy="8255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Bullet 3"/>
          <p:cNvSpPr txBox="1"/>
          <p:nvPr/>
        </p:nvSpPr>
        <p:spPr>
          <a:xfrm>
            <a:off x="4940300" y="3556000"/>
            <a:ext cx="38989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Центрирующий блок .center-action: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Изолирует кнопку 'Больше офисов' от сетки карточек, обеспечивая отступ сверху и выравнивание ссылки по центру.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69;p14"/>
          <p:cNvSpPr/>
          <p:nvPr/>
        </p:nvSpPr>
        <p:spPr>
          <a:xfrm>
            <a:off x="5570221" y="259079"/>
            <a:ext cx="3319779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КАРТОЧКА: HTML-РАЗМЕТКА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A6A1A1"/>
                </a:solidFill>
                <a:latin typeface="Montserrat"/>
              </a:rPr>
              <a:t>Как правильно вложить элементы внутрь карточки для удобной стилизации?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index.html (&lt;div class="room-card"&gt;)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"room-card"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&lt;!-- 1. Превью с защитой от сбоя загрузки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"card-img-wrap"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&lt;a </a:t>
            </a:r>
            <a:r>
              <a:rPr sz="800">
                <a:solidFill>
                  <a:srgbClr val="A78BFA"/>
                </a:solidFill>
                <a:latin typeface="Consolas"/>
              </a:rPr>
              <a:t>href=</a:t>
            </a:r>
            <a:r>
              <a:rPr sz="800">
                <a:solidFill>
                  <a:srgbClr val="FCD34D"/>
                </a:solidFill>
                <a:latin typeface="Consolas"/>
              </a:rPr>
              <a:t>"pages/catalog.html"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&lt;img </a:t>
            </a:r>
            <a:r>
              <a:rPr sz="800">
                <a:solidFill>
                  <a:srgbClr val="A78BFA"/>
                </a:solidFill>
                <a:latin typeface="Consolas"/>
              </a:rPr>
              <a:t>src=</a:t>
            </a:r>
            <a:r>
              <a:rPr sz="800">
                <a:solidFill>
                  <a:srgbClr val="FCD34D"/>
                </a:solidFill>
                <a:latin typeface="Consolas"/>
              </a:rPr>
              <a:t>"img/room-1.jpg"</a:t>
            </a:r>
            <a:r>
              <a:rPr sz="800">
                <a:solidFill>
                  <a:srgbClr val="A78BFA"/>
                </a:solidFill>
                <a:latin typeface="Consolas"/>
              </a:rPr>
              <a:t> alt=</a:t>
            </a:r>
            <a:r>
              <a:rPr sz="800">
                <a:solidFill>
                  <a:srgbClr val="FCD34D"/>
                </a:solidFill>
                <a:latin typeface="Consolas"/>
              </a:rPr>
              <a:t>"Мини-офис Focus"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         class=</a:t>
            </a:r>
            <a:r>
              <a:rPr sz="800">
                <a:solidFill>
                  <a:srgbClr val="FCD34D"/>
                </a:solidFill>
                <a:latin typeface="Consolas"/>
              </a:rPr>
              <a:t>"card-img"</a:t>
            </a:r>
            <a:r>
              <a:rPr sz="800">
                <a:solidFill>
                  <a:srgbClr val="A78BFA"/>
                </a:solidFill>
                <a:latin typeface="Consolas"/>
              </a:rPr>
              <a:t> onerror=</a:t>
            </a:r>
            <a:r>
              <a:rPr sz="800">
                <a:solidFill>
                  <a:srgbClr val="FCD34D"/>
                </a:solidFill>
                <a:latin typeface="Consolas"/>
              </a:rPr>
              <a:t>"this.src='img/no-image.svg'"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&lt;/a&gt;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&lt;!-- 2. Контентное тело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"card-content"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&lt;h3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"card-title"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&lt;a </a:t>
            </a:r>
            <a:r>
              <a:rPr sz="800">
                <a:solidFill>
                  <a:srgbClr val="A78BFA"/>
                </a:solidFill>
                <a:latin typeface="Consolas"/>
              </a:rPr>
              <a:t>href=</a:t>
            </a:r>
            <a:r>
              <a:rPr sz="800">
                <a:solidFill>
                  <a:srgbClr val="FCD34D"/>
                </a:solidFill>
                <a:latin typeface="Consolas"/>
              </a:rPr>
              <a:t>"pages/catalog.html"</a:t>
            </a:r>
            <a:r>
              <a:rPr sz="800">
                <a:solidFill>
                  <a:srgbClr val="D4D4D8"/>
                </a:solidFill>
                <a:latin typeface="Consolas"/>
              </a:rPr>
              <a:t>&gt;Мини-офис Focus&lt;/a&gt;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&lt;/h3&gt;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&lt;ul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"card-equipment"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  &lt;li&gt;Wi-Fi 500 Мбит/с&lt;/li&gt;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  &lt;li&gt;4K Монитор&lt;/li&gt;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&lt;/ul&gt;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  &lt;!-- 3. Футер карточки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&lt;/div&gt;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9800" y="762000"/>
            <a:ext cx="4089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1">
                <a:solidFill>
                  <a:srgbClr val="FF6F03"/>
                </a:solidFill>
                <a:latin typeface="Montserrat"/>
              </a:rPr>
              <a:t>СЛОИ РАЗМЕТКИ КАРТОЧКИ ТОВАРА</a:t>
            </a:r>
          </a:p>
        </p:txBody>
      </p:sp>
      <p:sp>
        <p:nvSpPr>
          <p:cNvPr id="9" name="Rectangle 8"/>
          <p:cNvSpPr/>
          <p:nvPr/>
        </p:nvSpPr>
        <p:spPr>
          <a:xfrm>
            <a:off x="4749800" y="1041400"/>
            <a:ext cx="40894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Dot 0"/>
          <p:cNvSpPr/>
          <p:nvPr/>
        </p:nvSpPr>
        <p:spPr>
          <a:xfrm>
            <a:off x="4749800" y="1200150"/>
            <a:ext cx="82550" cy="8255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Bullet 0"/>
          <p:cNvSpPr txBox="1"/>
          <p:nvPr/>
        </p:nvSpPr>
        <p:spPr>
          <a:xfrm>
            <a:off x="4940300" y="1155700"/>
            <a:ext cx="38989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Резервный обработчик onerror: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Если фотография комнаты временно недоступна на сервере, событие onerror мгновенно подставит нейтральную SVG-заглушку no-image.svg.</a:t>
            </a:r>
          </a:p>
        </p:txBody>
      </p:sp>
      <p:sp>
        <p:nvSpPr>
          <p:cNvPr id="12" name="Rounded Rectangle Dot 1"/>
          <p:cNvSpPr/>
          <p:nvPr/>
        </p:nvSpPr>
        <p:spPr>
          <a:xfrm>
            <a:off x="4749800" y="1987550"/>
            <a:ext cx="82550" cy="8255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Bullet 1"/>
          <p:cNvSpPr txBox="1"/>
          <p:nvPr/>
        </p:nvSpPr>
        <p:spPr>
          <a:xfrm>
            <a:off x="4940300" y="1943100"/>
            <a:ext cx="38989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Разделение фото и контента: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Контейнер .card-content позволяет задать внутренний padding для текста, не создавая нежелательных зазоров вокруг фотографии в шапке.</a:t>
            </a:r>
          </a:p>
        </p:txBody>
      </p:sp>
      <p:sp>
        <p:nvSpPr>
          <p:cNvPr id="14" name="Rounded Rectangle Dot 2"/>
          <p:cNvSpPr/>
          <p:nvPr/>
        </p:nvSpPr>
        <p:spPr>
          <a:xfrm>
            <a:off x="4749800" y="2774950"/>
            <a:ext cx="82550" cy="8255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Bullet 2"/>
          <p:cNvSpPr txBox="1"/>
          <p:nvPr/>
        </p:nvSpPr>
        <p:spPr>
          <a:xfrm>
            <a:off x="4940300" y="2730500"/>
            <a:ext cx="38989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Кликабельность фото и заголовка: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Пользователи интуитивно кликают по картинке и тексту. Оборачивание в теги &lt;a&gt; повышает конверсию переходов в каталог.</a:t>
            </a:r>
          </a:p>
        </p:txBody>
      </p:sp>
      <p:sp>
        <p:nvSpPr>
          <p:cNvPr id="16" name="Rounded Rectangle Dot 3"/>
          <p:cNvSpPr/>
          <p:nvPr/>
        </p:nvSpPr>
        <p:spPr>
          <a:xfrm>
            <a:off x="4749800" y="3562350"/>
            <a:ext cx="82550" cy="8255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Bullet 3"/>
          <p:cNvSpPr txBox="1"/>
          <p:nvPr/>
        </p:nvSpPr>
        <p:spPr>
          <a:xfrm>
            <a:off x="4940300" y="3517900"/>
            <a:ext cx="38989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Семантический список &lt;ul&gt; для оснащения: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Характеристики офиса представляют собой перечень фактов, поэтому тег &lt;ul&gt; с элементами &lt;li&gt; является стандартом семантики.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69;p14"/>
          <p:cNvSpPr/>
          <p:nvPr/>
        </p:nvSpPr>
        <p:spPr>
          <a:xfrm>
            <a:off x="5943600" y="259079"/>
            <a:ext cx="294640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КАРТОЧКА: CSS-КАРКАС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A6A1A1"/>
                </a:solidFill>
                <a:latin typeface="Montserrat"/>
              </a:rPr>
              <a:t>Как сформировать белый блок карточки со скруглением и тенью?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(.room-card)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.room-card </a:t>
            </a:r>
            <a:r>
              <a:rPr sz="800">
                <a:solidFill>
                  <a:srgbClr val="D4D4D8"/>
                </a:solidFill>
                <a:latin typeface="Consolas"/>
              </a:rPr>
              <a:t>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width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373px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background-color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#ffffff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border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1px solid #dddddd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border-radius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6px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overflow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hidden</a:t>
            </a:r>
            <a:r>
              <a:rPr sz="800">
                <a:solidFill>
                  <a:srgbClr val="71717A"/>
                </a:solidFill>
                <a:latin typeface="Consolas"/>
              </a:rPr>
              <a:t>; /* Срезать углы фото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/* Вертикальный Flexbox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flex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flex-direction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column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transition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transform 0.2s, box-shadow 0.2s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Эффект парения при наведении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.room-card:hover </a:t>
            </a:r>
            <a:r>
              <a:rPr sz="800">
                <a:solidFill>
                  <a:srgbClr val="D4D4D8"/>
                </a:solidFill>
                <a:latin typeface="Consolas"/>
              </a:rPr>
              <a:t>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transform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translateY(-4px)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box-shadow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0 8px 24px rgba(0,0,0,0.08)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9800" y="685800"/>
            <a:ext cx="4089400" cy="355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00" b="1">
                <a:solidFill>
                  <a:srgbClr val="FF6F03"/>
                </a:solidFill>
                <a:latin typeface="Montserrat"/>
              </a:rPr>
              <a:t>ГЕОМЕТРИЯ И ИНТЕРАКТИВНОСТЬ КАРТОЧКИ</a:t>
            </a:r>
          </a:p>
        </p:txBody>
      </p:sp>
      <p:sp>
        <p:nvSpPr>
          <p:cNvPr id="9" name="Rectangle 8"/>
          <p:cNvSpPr/>
          <p:nvPr/>
        </p:nvSpPr>
        <p:spPr>
          <a:xfrm>
            <a:off x="4749800" y="1079500"/>
            <a:ext cx="40894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Dot 0"/>
          <p:cNvSpPr/>
          <p:nvPr/>
        </p:nvSpPr>
        <p:spPr>
          <a:xfrm>
            <a:off x="4749800" y="1238250"/>
            <a:ext cx="82550" cy="8255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Bullet 0"/>
          <p:cNvSpPr txBox="1"/>
          <p:nvPr/>
        </p:nvSpPr>
        <p:spPr>
          <a:xfrm>
            <a:off x="4940300" y="1193800"/>
            <a:ext cx="38989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overflow: hidden для скругления углов: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Прямоугольная картинка вверху перекрывает border-radius карточки. Свойство overflow: hidden аккуратно обрезает выступающие пиксели.</a:t>
            </a:r>
          </a:p>
        </p:txBody>
      </p:sp>
      <p:sp>
        <p:nvSpPr>
          <p:cNvPr id="12" name="Rounded Rectangle Dot 1"/>
          <p:cNvSpPr/>
          <p:nvPr/>
        </p:nvSpPr>
        <p:spPr>
          <a:xfrm>
            <a:off x="4749800" y="2025650"/>
            <a:ext cx="82550" cy="8255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Bullet 1"/>
          <p:cNvSpPr txBox="1"/>
          <p:nvPr/>
        </p:nvSpPr>
        <p:spPr>
          <a:xfrm>
            <a:off x="4940300" y="1981200"/>
            <a:ext cx="38989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flex-direction: column (Вертикальная ось):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Превращает карточку во внутренний вертикальный флекс-поток: фото крепится сверху, контент растягивается, футер опускается вниз.</a:t>
            </a:r>
          </a:p>
        </p:txBody>
      </p:sp>
      <p:sp>
        <p:nvSpPr>
          <p:cNvPr id="14" name="Rounded Rectangle Dot 2"/>
          <p:cNvSpPr/>
          <p:nvPr/>
        </p:nvSpPr>
        <p:spPr>
          <a:xfrm>
            <a:off x="4749800" y="2813050"/>
            <a:ext cx="82550" cy="8255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Bullet 2"/>
          <p:cNvSpPr txBox="1"/>
          <p:nvPr/>
        </p:nvSpPr>
        <p:spPr>
          <a:xfrm>
            <a:off x="4940300" y="2768600"/>
            <a:ext cx="38989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Микро-анимация при наведении (:hover):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Свойства transform: translateY(-4px) и мягкая тень создают ощущение легкости и отзывчивости интерфейса при взаимодействии.</a:t>
            </a:r>
          </a:p>
        </p:txBody>
      </p:sp>
      <p:sp>
        <p:nvSpPr>
          <p:cNvPr id="16" name="Rounded Rectangle Dot 3"/>
          <p:cNvSpPr/>
          <p:nvPr/>
        </p:nvSpPr>
        <p:spPr>
          <a:xfrm>
            <a:off x="4749800" y="3600450"/>
            <a:ext cx="82550" cy="8255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Bullet 3"/>
          <p:cNvSpPr txBox="1"/>
          <p:nvPr/>
        </p:nvSpPr>
        <p:spPr>
          <a:xfrm>
            <a:off x="4940300" y="3556000"/>
            <a:ext cx="38989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Плавный переход через transition: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Задержка 0.2s сглаживает анимацию, исключая неприятное для глаз резкое мигание теней при быстром движении курсора мыши.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69;p14"/>
          <p:cNvSpPr/>
          <p:nvPr/>
        </p:nvSpPr>
        <p:spPr>
          <a:xfrm>
            <a:off x="6068060" y="259079"/>
            <a:ext cx="282194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ГРАФИКА В КАРТОЧКАХ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A6A1A1"/>
                </a:solidFill>
                <a:latin typeface="Montserrat"/>
              </a:rPr>
              <a:t>Почему фотографии не искажаются даже при разных пропорциях кадров?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(.card-img &amp; object-fit)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Контейнер картинки фиксированной высоты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.card-img-wrap </a:t>
            </a:r>
            <a:r>
              <a:rPr sz="800">
                <a:solidFill>
                  <a:srgbClr val="D4D4D8"/>
                </a:solidFill>
                <a:latin typeface="Consolas"/>
              </a:rPr>
              <a:t>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width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100%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height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200px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overflow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hidden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background-color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#f0f4f8</a:t>
            </a:r>
            <a:r>
              <a:rPr sz="800">
                <a:solidFill>
                  <a:srgbClr val="71717A"/>
                </a:solidFill>
                <a:latin typeface="Consolas"/>
              </a:rPr>
              <a:t>; /* Нейтральный фон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Картинка без сплющивания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.card-img </a:t>
            </a:r>
            <a:r>
              <a:rPr sz="800">
                <a:solidFill>
                  <a:srgbClr val="D4D4D8"/>
                </a:solidFill>
                <a:latin typeface="Consolas"/>
              </a:rPr>
              <a:t>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width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100%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height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100%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object-fit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cover</a:t>
            </a:r>
            <a:r>
              <a:rPr sz="800">
                <a:solidFill>
                  <a:srgbClr val="71717A"/>
                </a:solidFill>
                <a:latin typeface="Consolas"/>
              </a:rPr>
              <a:t>;        /* Сохранять пропорции!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object-position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center</a:t>
            </a:r>
            <a:r>
              <a:rPr sz="800">
                <a:solidFill>
                  <a:srgbClr val="71717A"/>
                </a:solidFill>
                <a:latin typeface="Consolas"/>
              </a:rPr>
              <a:t>;   /* Центрировать кадр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block</a:t>
            </a:r>
            <a:r>
              <a:rPr sz="800">
                <a:solidFill>
                  <a:srgbClr val="71717A"/>
                </a:solidFill>
                <a:latin typeface="Consolas"/>
              </a:rPr>
              <a:t>;           /* Убрать зазор под img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9800" y="685800"/>
            <a:ext cx="4089400" cy="355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00" b="1">
                <a:solidFill>
                  <a:srgbClr val="FF6F03"/>
                </a:solidFill>
                <a:latin typeface="Montserrat"/>
              </a:rPr>
              <a:t>OBJECT-FIT: COVER — СПАСЕНИЕ ВЕРСТКИ КАРТИНОК</a:t>
            </a:r>
          </a:p>
        </p:txBody>
      </p:sp>
      <p:sp>
        <p:nvSpPr>
          <p:cNvPr id="9" name="Rectangle 8"/>
          <p:cNvSpPr/>
          <p:nvPr/>
        </p:nvSpPr>
        <p:spPr>
          <a:xfrm>
            <a:off x="4749800" y="1079500"/>
            <a:ext cx="40894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Dot 0"/>
          <p:cNvSpPr/>
          <p:nvPr/>
        </p:nvSpPr>
        <p:spPr>
          <a:xfrm>
            <a:off x="4749800" y="1238250"/>
            <a:ext cx="82550" cy="8255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Bullet 0"/>
          <p:cNvSpPr txBox="1"/>
          <p:nvPr/>
        </p:nvSpPr>
        <p:spPr>
          <a:xfrm>
            <a:off x="4940300" y="1193800"/>
            <a:ext cx="38989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Опасность сплющивания фото: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Если пользователь загрузит вертикальное фото, а блок карточки горизонтальный, браузер без cover исказит пропорции мебели и людей.</a:t>
            </a:r>
          </a:p>
        </p:txBody>
      </p:sp>
      <p:sp>
        <p:nvSpPr>
          <p:cNvPr id="12" name="Rounded Rectangle Dot 1"/>
          <p:cNvSpPr/>
          <p:nvPr/>
        </p:nvSpPr>
        <p:spPr>
          <a:xfrm>
            <a:off x="4749800" y="2025650"/>
            <a:ext cx="82550" cy="8255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Bullet 1"/>
          <p:cNvSpPr txBox="1"/>
          <p:nvPr/>
        </p:nvSpPr>
        <p:spPr>
          <a:xfrm>
            <a:off x="4940300" y="1981200"/>
            <a:ext cx="38989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Принцип работы object-fit: cover: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Работает аналогично background-size: cover: картинка пропорционально заполняет весь блок 200px, а лишние края деликатно обрезаются.</a:t>
            </a:r>
          </a:p>
        </p:txBody>
      </p:sp>
      <p:sp>
        <p:nvSpPr>
          <p:cNvPr id="14" name="Rounded Rectangle Dot 2"/>
          <p:cNvSpPr/>
          <p:nvPr/>
        </p:nvSpPr>
        <p:spPr>
          <a:xfrm>
            <a:off x="4749800" y="2813050"/>
            <a:ext cx="82550" cy="8255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Bullet 2"/>
          <p:cNvSpPr txBox="1"/>
          <p:nvPr/>
        </p:nvSpPr>
        <p:spPr>
          <a:xfrm>
            <a:off x="4940300" y="2768600"/>
            <a:ext cx="38989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Фокусировка через object-position: center: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Гарантирует, что центр композиции кадра (стол, кресло, переговорка) всегда останется видимым в центре миниатюры карточки.</a:t>
            </a:r>
          </a:p>
        </p:txBody>
      </p:sp>
      <p:sp>
        <p:nvSpPr>
          <p:cNvPr id="16" name="Rounded Rectangle Dot 3"/>
          <p:cNvSpPr/>
          <p:nvPr/>
        </p:nvSpPr>
        <p:spPr>
          <a:xfrm>
            <a:off x="4749800" y="3600450"/>
            <a:ext cx="82550" cy="8255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Bullet 3"/>
          <p:cNvSpPr txBox="1"/>
          <p:nvPr/>
        </p:nvSpPr>
        <p:spPr>
          <a:xfrm>
            <a:off x="4940300" y="3556000"/>
            <a:ext cx="38989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Снятие зазора через display: block: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По умолчанию тег &lt;img&gt; строчный и оставляет под собой невидимый отступ в 3-4px базовой линии. display: block полностью устраняет дефект.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69;p14"/>
          <p:cNvSpPr/>
          <p:nvPr/>
        </p:nvSpPr>
        <p:spPr>
          <a:xfrm>
            <a:off x="5819140" y="259079"/>
            <a:ext cx="307086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КОНТЕНТ КАРТОЧКИ: CSS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A6A1A1"/>
                </a:solidFill>
                <a:latin typeface="Montserrat"/>
              </a:rPr>
              <a:t>Как выровнять карточки по высоте, если длина текста у них разная?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(.card-content &amp; flex: 1)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.card-content </a:t>
            </a:r>
            <a:r>
              <a:rPr sz="800">
                <a:solidFill>
                  <a:srgbClr val="D4D4D8"/>
                </a:solidFill>
                <a:latin typeface="Consolas"/>
              </a:rPr>
              <a:t>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padding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15px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flex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flex-direction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column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flex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</a:t>
            </a:r>
            <a:r>
              <a:rPr sz="800">
                <a:solidFill>
                  <a:srgbClr val="71717A"/>
                </a:solidFill>
                <a:latin typeface="Consolas"/>
              </a:rPr>
              <a:t>; /* Занять всю оставшуюся высоту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.card-title </a:t>
            </a:r>
            <a:r>
              <a:rPr sz="800">
                <a:solidFill>
                  <a:srgbClr val="D4D4D8"/>
                </a:solidFill>
                <a:latin typeface="Consolas"/>
              </a:rPr>
              <a:t>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font-size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18px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font-weight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700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margin-bottom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10px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.card-equipment </a:t>
            </a:r>
            <a:r>
              <a:rPr sz="800">
                <a:solidFill>
                  <a:srgbClr val="D4D4D8"/>
                </a:solidFill>
                <a:latin typeface="Consolas"/>
              </a:rPr>
              <a:t>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flex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</a:t>
            </a:r>
            <a:r>
              <a:rPr sz="800">
                <a:solidFill>
                  <a:srgbClr val="71717A"/>
                </a:solidFill>
                <a:latin typeface="Consolas"/>
              </a:rPr>
              <a:t>; /* Распорка выталкивает футер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margin-bottom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15px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9800" y="762000"/>
            <a:ext cx="4089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1">
                <a:solidFill>
                  <a:srgbClr val="FF6F03"/>
                </a:solidFill>
                <a:latin typeface="Montserrat"/>
              </a:rPr>
              <a:t>МАГИЯ ФЛЕКС-РАСПОРКИ (FLEX: 1)</a:t>
            </a:r>
          </a:p>
        </p:txBody>
      </p:sp>
      <p:sp>
        <p:nvSpPr>
          <p:cNvPr id="9" name="Rectangle 8"/>
          <p:cNvSpPr/>
          <p:nvPr/>
        </p:nvSpPr>
        <p:spPr>
          <a:xfrm>
            <a:off x="4749800" y="1041400"/>
            <a:ext cx="40894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Dot 0"/>
          <p:cNvSpPr/>
          <p:nvPr/>
        </p:nvSpPr>
        <p:spPr>
          <a:xfrm>
            <a:off x="4749800" y="1200150"/>
            <a:ext cx="82550" cy="8255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Bullet 0"/>
          <p:cNvSpPr txBox="1"/>
          <p:nvPr/>
        </p:nvSpPr>
        <p:spPr>
          <a:xfrm>
            <a:off x="4940300" y="1155700"/>
            <a:ext cx="38989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Проблема разной длины текста: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У 'Мини-офиса Focus' заголовок в 1 строку, а у конференц-зала — в 2 строки. Из-за этого кнопки бронирования начинают 'плясать'.</a:t>
            </a:r>
          </a:p>
        </p:txBody>
      </p:sp>
      <p:sp>
        <p:nvSpPr>
          <p:cNvPr id="12" name="Rounded Rectangle Dot 1"/>
          <p:cNvSpPr/>
          <p:nvPr/>
        </p:nvSpPr>
        <p:spPr>
          <a:xfrm>
            <a:off x="4749800" y="1987550"/>
            <a:ext cx="82550" cy="8255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Bullet 1"/>
          <p:cNvSpPr txBox="1"/>
          <p:nvPr/>
        </p:nvSpPr>
        <p:spPr>
          <a:xfrm>
            <a:off x="4940300" y="1943100"/>
            <a:ext cx="38989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flex: 1 у блока .card-content: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Заставляет тело карточки жадно занять всю доступную высоту родителя, уравнивая все карточки в строке по самому высокому соседу.</a:t>
            </a:r>
          </a:p>
        </p:txBody>
      </p:sp>
      <p:sp>
        <p:nvSpPr>
          <p:cNvPr id="14" name="Rounded Rectangle Dot 2"/>
          <p:cNvSpPr/>
          <p:nvPr/>
        </p:nvSpPr>
        <p:spPr>
          <a:xfrm>
            <a:off x="4749800" y="2774950"/>
            <a:ext cx="82550" cy="8255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Bullet 2"/>
          <p:cNvSpPr txBox="1"/>
          <p:nvPr/>
        </p:nvSpPr>
        <p:spPr>
          <a:xfrm>
            <a:off x="4940300" y="2730500"/>
            <a:ext cx="38989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Список оборудования как распорка: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Свойство flex: 1 у списка .card-equipment съедает всю пустоту между текстом и футером, принудительно прижимая кнопки к низу!</a:t>
            </a:r>
          </a:p>
        </p:txBody>
      </p:sp>
      <p:sp>
        <p:nvSpPr>
          <p:cNvPr id="16" name="Rounded Rectangle Dot 3"/>
          <p:cNvSpPr/>
          <p:nvPr/>
        </p:nvSpPr>
        <p:spPr>
          <a:xfrm>
            <a:off x="4749800" y="3562350"/>
            <a:ext cx="82550" cy="8255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Bullet 3"/>
          <p:cNvSpPr txBox="1"/>
          <p:nvPr/>
        </p:nvSpPr>
        <p:spPr>
          <a:xfrm>
            <a:off x="4940300" y="3517900"/>
            <a:ext cx="38989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Эстетика идеального каталога: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 результате все кнопки 'Забронировать' и цены во всех карточках каталога выстраиваются по идеальной горизонтальной линейке.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69;p14"/>
          <p:cNvSpPr/>
          <p:nvPr/>
        </p:nvSpPr>
        <p:spPr>
          <a:xfrm>
            <a:off x="6068060" y="259079"/>
            <a:ext cx="282194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СПИСОК ОБОРУДОВАНИЯ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A6A1A1"/>
                </a:solidFill>
                <a:latin typeface="Montserrat"/>
              </a:rPr>
              <a:t>Как оформить список характеристик комнаты компактно и аккуратно?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(.card-equipment)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Список параметров оснащения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.card-equipment </a:t>
            </a:r>
            <a:r>
              <a:rPr sz="800">
                <a:solidFill>
                  <a:srgbClr val="D4D4D8"/>
                </a:solidFill>
                <a:latin typeface="Consolas"/>
              </a:rPr>
              <a:t>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list-style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none</a:t>
            </a:r>
            <a:r>
              <a:rPr sz="800">
                <a:solidFill>
                  <a:srgbClr val="71717A"/>
                </a:solidFill>
                <a:latin typeface="Consolas"/>
              </a:rPr>
              <a:t>;   /* Убираем стандартные точки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margin-bottom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15px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flex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</a:t>
            </a:r>
            <a:r>
              <a:rPr sz="800">
                <a:solidFill>
                  <a:srgbClr val="71717A"/>
                </a:solidFill>
                <a:latin typeface="Consolas"/>
              </a:rPr>
              <a:t>;          /* Выталкивает футер вниз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.card-equipment li </a:t>
            </a:r>
            <a:r>
              <a:rPr sz="800">
                <a:solidFill>
                  <a:srgbClr val="D4D4D8"/>
                </a:solidFill>
                <a:latin typeface="Consolas"/>
              </a:rPr>
              <a:t>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font-size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13px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#555555</a:t>
            </a:r>
            <a:r>
              <a:rPr sz="800">
                <a:solidFill>
                  <a:srgbClr val="71717A"/>
                </a:solidFill>
                <a:latin typeface="Consolas"/>
              </a:rPr>
              <a:t>;       /* Приглушенный серый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margin-bottom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4px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line-height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1.4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9800" y="685800"/>
            <a:ext cx="4089400" cy="355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00" b="1">
                <a:solidFill>
                  <a:srgbClr val="FF6F03"/>
                </a:solidFill>
                <a:latin typeface="Montserrat"/>
              </a:rPr>
              <a:t>ВТОРИЧНАЯ ТИПОГРАФИКА ХАРАКТЕРИСТИК</a:t>
            </a:r>
          </a:p>
        </p:txBody>
      </p:sp>
      <p:sp>
        <p:nvSpPr>
          <p:cNvPr id="9" name="Rectangle 8"/>
          <p:cNvSpPr/>
          <p:nvPr/>
        </p:nvSpPr>
        <p:spPr>
          <a:xfrm>
            <a:off x="4749800" y="1079500"/>
            <a:ext cx="40894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Dot 0"/>
          <p:cNvSpPr/>
          <p:nvPr/>
        </p:nvSpPr>
        <p:spPr>
          <a:xfrm>
            <a:off x="4749800" y="1238250"/>
            <a:ext cx="82550" cy="8255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Bullet 0"/>
          <p:cNvSpPr txBox="1"/>
          <p:nvPr/>
        </p:nvSpPr>
        <p:spPr>
          <a:xfrm>
            <a:off x="4940300" y="1193800"/>
            <a:ext cx="38989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Сброс браузерных маркеров: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list-style: none удаляет неуправляемые черные буллеты браузера, позволяя полностью контролировать отступы текста.</a:t>
            </a:r>
          </a:p>
        </p:txBody>
      </p:sp>
      <p:sp>
        <p:nvSpPr>
          <p:cNvPr id="12" name="Rounded Rectangle Dot 1"/>
          <p:cNvSpPr/>
          <p:nvPr/>
        </p:nvSpPr>
        <p:spPr>
          <a:xfrm>
            <a:off x="4749800" y="2025650"/>
            <a:ext cx="82550" cy="8255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Bullet 1"/>
          <p:cNvSpPr txBox="1"/>
          <p:nvPr/>
        </p:nvSpPr>
        <p:spPr>
          <a:xfrm>
            <a:off x="4940300" y="1981200"/>
            <a:ext cx="38989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Визуальная иерархия (Кегль 13px):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Технические параметры не должны отвлекать от заголовка и цены. Размер 13px и цвет #555555 делают блок легко сканируемым.</a:t>
            </a:r>
          </a:p>
        </p:txBody>
      </p:sp>
      <p:sp>
        <p:nvSpPr>
          <p:cNvPr id="14" name="Rounded Rectangle Dot 2"/>
          <p:cNvSpPr/>
          <p:nvPr/>
        </p:nvSpPr>
        <p:spPr>
          <a:xfrm>
            <a:off x="4749800" y="2813050"/>
            <a:ext cx="82550" cy="8255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Bullet 2"/>
          <p:cNvSpPr txBox="1"/>
          <p:nvPr/>
        </p:nvSpPr>
        <p:spPr>
          <a:xfrm>
            <a:off x="4940300" y="2768600"/>
            <a:ext cx="38989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Компактный шаг margin-bottom: 4px: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Сжатый межстрочный интервал группирует пункты Wi-Fi, 4K монитор и кресло в монолитный блок преимуществ помещения.</a:t>
            </a:r>
          </a:p>
        </p:txBody>
      </p:sp>
      <p:sp>
        <p:nvSpPr>
          <p:cNvPr id="16" name="Rounded Rectangle Dot 3"/>
          <p:cNvSpPr/>
          <p:nvPr/>
        </p:nvSpPr>
        <p:spPr>
          <a:xfrm>
            <a:off x="4749800" y="3600450"/>
            <a:ext cx="82550" cy="8255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Bullet 3"/>
          <p:cNvSpPr txBox="1"/>
          <p:nvPr/>
        </p:nvSpPr>
        <p:spPr>
          <a:xfrm>
            <a:off x="4940300" y="3556000"/>
            <a:ext cx="38989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Готовность к микро-иконкам: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Структура позволяет легко добавить перед текстом компактные векторные иконки галочек или цветные буллеты через псевдоэлемент ::before.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69;p14"/>
          <p:cNvSpPr/>
          <p:nvPr/>
        </p:nvSpPr>
        <p:spPr>
          <a:xfrm>
            <a:off x="5570221" y="259079"/>
            <a:ext cx="3319779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ФУТЕР КАРТОЧКИ: FLEXBOX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A6A1A1"/>
                </a:solidFill>
                <a:latin typeface="Montserrat"/>
              </a:rPr>
              <a:t>Как разнести стоимость комнаты и кнопки действий по краям блока?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(.card-footer)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Разделительный подвал карточки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.card-footer </a:t>
            </a:r>
            <a:r>
              <a:rPr sz="800">
                <a:solidFill>
                  <a:srgbClr val="D4D4D8"/>
                </a:solidFill>
                <a:latin typeface="Consolas"/>
              </a:rPr>
              <a:t>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flex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justify-content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space-between</a:t>
            </a:r>
            <a:r>
              <a:rPr sz="800">
                <a:solidFill>
                  <a:srgbClr val="71717A"/>
                </a:solidFill>
                <a:latin typeface="Consolas"/>
              </a:rPr>
              <a:t>; /* Разнос краев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align-items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center</a:t>
            </a:r>
            <a:r>
              <a:rPr sz="800">
                <a:solidFill>
                  <a:srgbClr val="71717A"/>
                </a:solidFill>
                <a:latin typeface="Consolas"/>
              </a:rPr>
              <a:t>;        /* Центр по высоте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border-top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1px solid #eeeeee</a:t>
            </a:r>
            <a:r>
              <a:rPr sz="800">
                <a:solidFill>
                  <a:srgbClr val="71717A"/>
                </a:solidFill>
                <a:latin typeface="Consolas"/>
              </a:rPr>
              <a:t>;  /* Тонкая линия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padding-top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10px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gap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10px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Связка кнопок действия справа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.card-btns </a:t>
            </a:r>
            <a:r>
              <a:rPr sz="800">
                <a:solidFill>
                  <a:srgbClr val="D4D4D8"/>
                </a:solidFill>
                <a:latin typeface="Consolas"/>
              </a:rPr>
              <a:t>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flex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align-items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center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gap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8px</a:t>
            </a:r>
            <a:r>
              <a:rPr sz="800">
                <a:solidFill>
                  <a:srgbClr val="71717A"/>
                </a:solidFill>
                <a:latin typeface="Consolas"/>
              </a:rPr>
              <a:t>;           /* Зазор между кнопками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9800" y="685800"/>
            <a:ext cx="4089400" cy="355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00" b="1">
                <a:solidFill>
                  <a:srgbClr val="FF6F03"/>
                </a:solidFill>
                <a:latin typeface="Montserrat"/>
              </a:rPr>
              <a:t>РАЗНОС И ВЫРАВНИВАНИЕ ЭЛЕМЕНТОВ ПРИНЯТИЯ РЕШЕНИЯ</a:t>
            </a:r>
          </a:p>
        </p:txBody>
      </p:sp>
      <p:sp>
        <p:nvSpPr>
          <p:cNvPr id="9" name="Rectangle 8"/>
          <p:cNvSpPr/>
          <p:nvPr/>
        </p:nvSpPr>
        <p:spPr>
          <a:xfrm>
            <a:off x="4749800" y="1079500"/>
            <a:ext cx="40894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Dot 0"/>
          <p:cNvSpPr/>
          <p:nvPr/>
        </p:nvSpPr>
        <p:spPr>
          <a:xfrm>
            <a:off x="4749800" y="1238250"/>
            <a:ext cx="82550" cy="8255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Bullet 0"/>
          <p:cNvSpPr txBox="1"/>
          <p:nvPr/>
        </p:nvSpPr>
        <p:spPr>
          <a:xfrm>
            <a:off x="4940300" y="1193800"/>
            <a:ext cx="38989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justify-content: space-between: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Автоматически прижимает цену (.card-price) к левому краю, а блок кнопок (.card-btns) — к правому краю карточки.</a:t>
            </a:r>
          </a:p>
        </p:txBody>
      </p:sp>
      <p:sp>
        <p:nvSpPr>
          <p:cNvPr id="12" name="Rounded Rectangle Dot 1"/>
          <p:cNvSpPr/>
          <p:nvPr/>
        </p:nvSpPr>
        <p:spPr>
          <a:xfrm>
            <a:off x="4749800" y="2025650"/>
            <a:ext cx="82550" cy="8255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Bullet 1"/>
          <p:cNvSpPr txBox="1"/>
          <p:nvPr/>
        </p:nvSpPr>
        <p:spPr>
          <a:xfrm>
            <a:off x="4940300" y="1981200"/>
            <a:ext cx="38989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Тонкая деликатная линия border-top: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Разделитель цвета #eeeeee визуально отсекает текстовое описание от коммерческого блока целевого действия пользователя.</a:t>
            </a:r>
          </a:p>
        </p:txBody>
      </p:sp>
      <p:sp>
        <p:nvSpPr>
          <p:cNvPr id="14" name="Rounded Rectangle Dot 2"/>
          <p:cNvSpPr/>
          <p:nvPr/>
        </p:nvSpPr>
        <p:spPr>
          <a:xfrm>
            <a:off x="4749800" y="2813050"/>
            <a:ext cx="82550" cy="8255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Bullet 2"/>
          <p:cNvSpPr txBox="1"/>
          <p:nvPr/>
        </p:nvSpPr>
        <p:spPr>
          <a:xfrm>
            <a:off x="4940300" y="2768600"/>
            <a:ext cx="38989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Выравнивание по вертикали (align-items):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Значение center гарантирует, что цифра стоимости и кнопка действия будут строго выровнены по одной горизонтальной оси.</a:t>
            </a:r>
          </a:p>
        </p:txBody>
      </p:sp>
      <p:sp>
        <p:nvSpPr>
          <p:cNvPr id="16" name="Rounded Rectangle Dot 3"/>
          <p:cNvSpPr/>
          <p:nvPr/>
        </p:nvSpPr>
        <p:spPr>
          <a:xfrm>
            <a:off x="4749800" y="3600450"/>
            <a:ext cx="82550" cy="8255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Bullet 3"/>
          <p:cNvSpPr txBox="1"/>
          <p:nvPr/>
        </p:nvSpPr>
        <p:spPr>
          <a:xfrm>
            <a:off x="4940300" y="3556000"/>
            <a:ext cx="38989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Вложенный флекс-ряд .card-btns: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Связывает кнопку-иконку детального просмотра и кнопку 'Забронировать' в компактную аккуратную пару с зазором gap: 8px.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69;p14"/>
          <p:cNvSpPr/>
          <p:nvPr/>
        </p:nvSpPr>
        <p:spPr>
          <a:xfrm>
            <a:off x="6690360" y="259079"/>
            <a:ext cx="219964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БЛОК СТОИМОСТИ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A6A1A1"/>
                </a:solidFill>
                <a:latin typeface="Montserrat"/>
              </a:rPr>
              <a:t>Как оформить цену с четким выделением периода тарификации?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(.card-price)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Базовое начертание суммы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.card-price </a:t>
            </a:r>
            <a:r>
              <a:rPr sz="800">
                <a:solidFill>
                  <a:srgbClr val="D4D4D8"/>
                </a:solidFill>
                <a:latin typeface="Consolas"/>
              </a:rPr>
              <a:t>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font-size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18px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font-weight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700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#222222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letter-spacing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-0.01em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Пояснение периода аренды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.card-price span </a:t>
            </a:r>
            <a:r>
              <a:rPr sz="800">
                <a:solidFill>
                  <a:srgbClr val="D4D4D8"/>
                </a:solidFill>
                <a:latin typeface="Consolas"/>
              </a:rPr>
              <a:t>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font-size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13px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font-weight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400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#666666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9800" y="685800"/>
            <a:ext cx="4089400" cy="355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00" b="1">
                <a:solidFill>
                  <a:srgbClr val="FF6F03"/>
                </a:solidFill>
                <a:latin typeface="Montserrat"/>
              </a:rPr>
              <a:t>АКЦЕНТИРОВАНИЕ ЦИФР В ЭЛЕКТРОННОЙ КОММЕРЦИИ</a:t>
            </a:r>
          </a:p>
        </p:txBody>
      </p:sp>
      <p:sp>
        <p:nvSpPr>
          <p:cNvPr id="9" name="Rectangle 8"/>
          <p:cNvSpPr/>
          <p:nvPr/>
        </p:nvSpPr>
        <p:spPr>
          <a:xfrm>
            <a:off x="4749800" y="1079500"/>
            <a:ext cx="40894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Dot 0"/>
          <p:cNvSpPr/>
          <p:nvPr/>
        </p:nvSpPr>
        <p:spPr>
          <a:xfrm>
            <a:off x="4749800" y="1238250"/>
            <a:ext cx="82550" cy="8255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Bullet 0"/>
          <p:cNvSpPr txBox="1"/>
          <p:nvPr/>
        </p:nvSpPr>
        <p:spPr>
          <a:xfrm>
            <a:off x="4940300" y="1193800"/>
            <a:ext cx="38989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Контраст веса шрифта (700 против 400):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Крупный жирный шрифт 18px мгновенно считывается взглядом, сразу сообщая арендатору стоимость конкретной локации.</a:t>
            </a:r>
          </a:p>
        </p:txBody>
      </p:sp>
      <p:sp>
        <p:nvSpPr>
          <p:cNvPr id="12" name="Rounded Rectangle Dot 1"/>
          <p:cNvSpPr/>
          <p:nvPr/>
        </p:nvSpPr>
        <p:spPr>
          <a:xfrm>
            <a:off x="4749800" y="2025650"/>
            <a:ext cx="82550" cy="8255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Bullet 1"/>
          <p:cNvSpPr txBox="1"/>
          <p:nvPr/>
        </p:nvSpPr>
        <p:spPr>
          <a:xfrm>
            <a:off x="4940300" y="1981200"/>
            <a:ext cx="38989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Изоляция периода через тег &lt;span&gt;: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Тег &lt;span&gt; позволяет изменить размер и цвет надписи '/ час' прямо внутри общей строки без создания лишних блочных элементов.</a:t>
            </a:r>
          </a:p>
        </p:txBody>
      </p:sp>
      <p:sp>
        <p:nvSpPr>
          <p:cNvPr id="14" name="Rounded Rectangle Dot 2"/>
          <p:cNvSpPr/>
          <p:nvPr/>
        </p:nvSpPr>
        <p:spPr>
          <a:xfrm>
            <a:off x="4749800" y="2813050"/>
            <a:ext cx="82550" cy="8255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Bullet 2"/>
          <p:cNvSpPr txBox="1"/>
          <p:nvPr/>
        </p:nvSpPr>
        <p:spPr>
          <a:xfrm>
            <a:off x="4940300" y="2768600"/>
            <a:ext cx="38989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Приглушение тарифа (#666666):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Серый цвет периода аренды дает необходимый контекст расчета, не отвлекая внимания от ключевой суммы в рублях.</a:t>
            </a:r>
          </a:p>
        </p:txBody>
      </p:sp>
      <p:sp>
        <p:nvSpPr>
          <p:cNvPr id="16" name="Rounded Rectangle Dot 3"/>
          <p:cNvSpPr/>
          <p:nvPr/>
        </p:nvSpPr>
        <p:spPr>
          <a:xfrm>
            <a:off x="4749800" y="3600450"/>
            <a:ext cx="82550" cy="8255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Bullet 3"/>
          <p:cNvSpPr txBox="1"/>
          <p:nvPr/>
        </p:nvSpPr>
        <p:spPr>
          <a:xfrm>
            <a:off x="4940300" y="3556000"/>
            <a:ext cx="38989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Отрицательный letter-spacing: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Значение -0.01em слегка уплотняет межбуквенный интервал цифр, делая ценник более монолитным и премиальным.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69;p14"/>
          <p:cNvSpPr/>
          <p:nvPr/>
        </p:nvSpPr>
        <p:spPr>
          <a:xfrm>
            <a:off x="5570221" y="259079"/>
            <a:ext cx="3319779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КНОПКА-ИКОНКА .BTN-ICON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A6A1A1"/>
                </a:solidFill>
                <a:latin typeface="Montserrat"/>
              </a:rPr>
              <a:t>Как сверстать точную квадратную кнопку для SVG-иконки с эффектом наведения?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(.btn-icon)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.btn-icon </a:t>
            </a:r>
            <a:r>
              <a:rPr sz="800">
                <a:solidFill>
                  <a:srgbClr val="D4D4D8"/>
                </a:solidFill>
                <a:latin typeface="Consolas"/>
              </a:rPr>
              <a:t>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inline-flex</a:t>
            </a:r>
            <a:r>
              <a:rPr sz="800">
                <a:solidFill>
                  <a:srgbClr val="71717A"/>
                </a:solidFill>
                <a:latin typeface="Consolas"/>
              </a:rPr>
              <a:t>; /* Центр SVG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align-items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center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justify-content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center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width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36px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height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36px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padding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0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border-radius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4px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border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1px solid #007bff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background-color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transparent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#007bff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cursor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pointer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text-decoration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none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.btn-icon:hover </a:t>
            </a:r>
            <a:r>
              <a:rPr sz="800">
                <a:solidFill>
                  <a:srgbClr val="D4D4D8"/>
                </a:solidFill>
                <a:latin typeface="Consolas"/>
              </a:rPr>
              <a:t>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background-color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#eaf2ff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#0056b3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border-color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#0056b3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9800" y="762000"/>
            <a:ext cx="4089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1">
                <a:solidFill>
                  <a:srgbClr val="FF6F03"/>
                </a:solidFill>
                <a:latin typeface="Montserrat"/>
              </a:rPr>
              <a:t>АНАТОМИЯ ИДЕАЛЬНОЙ КНОПКИ-ИКОНКИ</a:t>
            </a:r>
          </a:p>
        </p:txBody>
      </p:sp>
      <p:sp>
        <p:nvSpPr>
          <p:cNvPr id="9" name="Rectangle 8"/>
          <p:cNvSpPr/>
          <p:nvPr/>
        </p:nvSpPr>
        <p:spPr>
          <a:xfrm>
            <a:off x="4749800" y="1041400"/>
            <a:ext cx="40894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Dot 0"/>
          <p:cNvSpPr/>
          <p:nvPr/>
        </p:nvSpPr>
        <p:spPr>
          <a:xfrm>
            <a:off x="4749800" y="1200150"/>
            <a:ext cx="82550" cy="8255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Bullet 0"/>
          <p:cNvSpPr txBox="1"/>
          <p:nvPr/>
        </p:nvSpPr>
        <p:spPr>
          <a:xfrm>
            <a:off x="4940300" y="1155700"/>
            <a:ext cx="38989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inline-flex для центрирования SVG: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Выравнивает векторную иконку глазка ровно по центру квадрата 36x36px без подбора марджинов и паддингов.</a:t>
            </a:r>
          </a:p>
        </p:txBody>
      </p:sp>
      <p:sp>
        <p:nvSpPr>
          <p:cNvPr id="12" name="Rounded Rectangle Dot 1"/>
          <p:cNvSpPr/>
          <p:nvPr/>
        </p:nvSpPr>
        <p:spPr>
          <a:xfrm>
            <a:off x="4749800" y="1987550"/>
            <a:ext cx="82550" cy="8255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Bullet 1"/>
          <p:cNvSpPr txBox="1"/>
          <p:nvPr/>
        </p:nvSpPr>
        <p:spPr>
          <a:xfrm>
            <a:off x="4940300" y="1943100"/>
            <a:ext cx="38989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Точные габариты (36x36px):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Высота 36px в точности совпадает с высотой соседней кнопки 'Забронировать', обеспечивая гармонию в футере.</a:t>
            </a:r>
          </a:p>
        </p:txBody>
      </p:sp>
      <p:sp>
        <p:nvSpPr>
          <p:cNvPr id="14" name="Rounded Rectangle Dot 2"/>
          <p:cNvSpPr/>
          <p:nvPr/>
        </p:nvSpPr>
        <p:spPr>
          <a:xfrm>
            <a:off x="4749800" y="2774950"/>
            <a:ext cx="82550" cy="8255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Bullet 2"/>
          <p:cNvSpPr txBox="1"/>
          <p:nvPr/>
        </p:nvSpPr>
        <p:spPr>
          <a:xfrm>
            <a:off x="4940300" y="2730500"/>
            <a:ext cx="38989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Доступность для скринридеров: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Поскольку в кнопке нет текстовой подписи, обязательны атрибуты aria-label='Подробнее' и всплывающая подсказка title.</a:t>
            </a:r>
          </a:p>
        </p:txBody>
      </p:sp>
      <p:sp>
        <p:nvSpPr>
          <p:cNvPr id="16" name="Rounded Rectangle Dot 3"/>
          <p:cNvSpPr/>
          <p:nvPr/>
        </p:nvSpPr>
        <p:spPr>
          <a:xfrm>
            <a:off x="4749800" y="3562350"/>
            <a:ext cx="82550" cy="8255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Bullet 3"/>
          <p:cNvSpPr txBox="1"/>
          <p:nvPr/>
        </p:nvSpPr>
        <p:spPr>
          <a:xfrm>
            <a:off x="4940300" y="3517900"/>
            <a:ext cx="38989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Деликатный отклик при наведении: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Мягкий голубой фон #eaf2ff и усиление цвета рамки подтверждают пользователю кликабельность элемента.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69;p14"/>
          <p:cNvSpPr/>
          <p:nvPr/>
        </p:nvSpPr>
        <p:spPr>
          <a:xfrm>
            <a:off x="6690360" y="259079"/>
            <a:ext cx="219964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СИСТЕМА КНОПОК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A6A1A1"/>
                </a:solidFill>
                <a:latin typeface="Montserrat"/>
              </a:rPr>
              <a:t>Как разделить геометрию и цветовую схему для кнопок интерфейса?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(.btn-primary &amp; .btn-outline)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Базовый класс кнопки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.btn </a:t>
            </a:r>
            <a:r>
              <a:rPr sz="800">
                <a:solidFill>
                  <a:srgbClr val="D4D4D8"/>
                </a:solidFill>
                <a:latin typeface="Consolas"/>
              </a:rPr>
              <a:t>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inline-block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padding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8px 16px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font-size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14px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font-weight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600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border-radius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4px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border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1px solid transparent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cursor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pointer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text-decoration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none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Основная акцентная кнопка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.btn-primary </a:t>
            </a:r>
            <a:r>
              <a:rPr sz="800">
                <a:solidFill>
                  <a:srgbClr val="D4D4D8"/>
                </a:solidFill>
                <a:latin typeface="Consolas"/>
              </a:rPr>
              <a:t>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background-color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#007bff</a:t>
            </a:r>
            <a:r>
              <a:rPr sz="800">
                <a:solidFill>
                  <a:srgbClr val="D4D4D8"/>
                </a:solidFill>
                <a:latin typeface="Consolas"/>
              </a:rPr>
              <a:t>; color: #fff;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.btn-primary:hover </a:t>
            </a:r>
            <a:r>
              <a:rPr sz="800">
                <a:solidFill>
                  <a:srgbClr val="D4D4D8"/>
                </a:solidFill>
                <a:latin typeface="Consolas"/>
              </a:rPr>
              <a:t>{</a:t>
            </a:r>
            <a:r>
              <a:rPr sz="800">
                <a:solidFill>
                  <a:srgbClr val="D4D4D8"/>
                </a:solidFill>
                <a:latin typeface="Consolas"/>
              </a:rPr>
              <a:t> background-color: #0056b3; 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Контурная обводная кнопка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.btn-outline </a:t>
            </a:r>
            <a:r>
              <a:rPr sz="800">
                <a:solidFill>
                  <a:srgbClr val="D4D4D8"/>
                </a:solidFill>
                <a:latin typeface="Consolas"/>
              </a:rPr>
              <a:t>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border-color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#007bff</a:t>
            </a:r>
            <a:r>
              <a:rPr sz="800">
                <a:solidFill>
                  <a:srgbClr val="D4D4D8"/>
                </a:solidFill>
                <a:latin typeface="Consolas"/>
              </a:rPr>
              <a:t>; color: #007bff;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.btn-outline:hover </a:t>
            </a:r>
            <a:r>
              <a:rPr sz="800">
                <a:solidFill>
                  <a:srgbClr val="D4D4D8"/>
                </a:solidFill>
                <a:latin typeface="Consolas"/>
              </a:rPr>
              <a:t>{</a:t>
            </a:r>
            <a:r>
              <a:rPr sz="800">
                <a:solidFill>
                  <a:srgbClr val="D4D4D8"/>
                </a:solidFill>
                <a:latin typeface="Consolas"/>
              </a:rPr>
              <a:t> background-color: #007bff; color: #fff;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9800" y="685800"/>
            <a:ext cx="4089400" cy="355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00" b="1">
                <a:solidFill>
                  <a:srgbClr val="FF6F03"/>
                </a:solidFill>
                <a:latin typeface="Montserrat"/>
              </a:rPr>
              <a:t>ПРИНЦИП КОМПОНЕНТНОГО РАЗДЕЛЕНИЯ КНОПОК</a:t>
            </a:r>
          </a:p>
        </p:txBody>
      </p:sp>
      <p:sp>
        <p:nvSpPr>
          <p:cNvPr id="9" name="Rectangle 8"/>
          <p:cNvSpPr/>
          <p:nvPr/>
        </p:nvSpPr>
        <p:spPr>
          <a:xfrm>
            <a:off x="4749800" y="1079500"/>
            <a:ext cx="40894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Dot 0"/>
          <p:cNvSpPr/>
          <p:nvPr/>
        </p:nvSpPr>
        <p:spPr>
          <a:xfrm>
            <a:off x="4749800" y="1238250"/>
            <a:ext cx="82550" cy="8255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Bullet 0"/>
          <p:cNvSpPr txBox="1"/>
          <p:nvPr/>
        </p:nvSpPr>
        <p:spPr>
          <a:xfrm>
            <a:off x="4940300" y="1193800"/>
            <a:ext cx="38989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Базовый класс .btn (Форма):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Определяет общую геометрию: внутренние отступы, начертание шрифта 600, скругление углов 4px и курсор-руку (cursor: pointer).</a:t>
            </a:r>
          </a:p>
        </p:txBody>
      </p:sp>
      <p:sp>
        <p:nvSpPr>
          <p:cNvPr id="12" name="Rounded Rectangle Dot 1"/>
          <p:cNvSpPr/>
          <p:nvPr/>
        </p:nvSpPr>
        <p:spPr>
          <a:xfrm>
            <a:off x="4749800" y="2025650"/>
            <a:ext cx="82550" cy="8255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Bullet 1"/>
          <p:cNvSpPr txBox="1"/>
          <p:nvPr/>
        </p:nvSpPr>
        <p:spPr>
          <a:xfrm>
            <a:off x="4940300" y="1981200"/>
            <a:ext cx="38989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Основное действие (.btn-primary):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Залита фирменным синим цветом, побуждая пользователя к ключевому конверсионному шагу — бронированию рабочего места.</a:t>
            </a:r>
          </a:p>
        </p:txBody>
      </p:sp>
      <p:sp>
        <p:nvSpPr>
          <p:cNvPr id="14" name="Rounded Rectangle Dot 2"/>
          <p:cNvSpPr/>
          <p:nvPr/>
        </p:nvSpPr>
        <p:spPr>
          <a:xfrm>
            <a:off x="4749800" y="2813050"/>
            <a:ext cx="82550" cy="8255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Bullet 2"/>
          <p:cNvSpPr txBox="1"/>
          <p:nvPr/>
        </p:nvSpPr>
        <p:spPr>
          <a:xfrm>
            <a:off x="4940300" y="2768600"/>
            <a:ext cx="38989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Второстепенное действие (.btn-outline):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Прозрачный фон с цветным контуром. Используется внизу секции для перехода к полному каталогу без перегрузки визуала.</a:t>
            </a:r>
          </a:p>
        </p:txBody>
      </p:sp>
      <p:sp>
        <p:nvSpPr>
          <p:cNvPr id="16" name="Rounded Rectangle Dot 3"/>
          <p:cNvSpPr/>
          <p:nvPr/>
        </p:nvSpPr>
        <p:spPr>
          <a:xfrm>
            <a:off x="4749800" y="3600450"/>
            <a:ext cx="82550" cy="8255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Bullet 3"/>
          <p:cNvSpPr txBox="1"/>
          <p:nvPr/>
        </p:nvSpPr>
        <p:spPr>
          <a:xfrm>
            <a:off x="4940300" y="3556000"/>
            <a:ext cx="38989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Универсальность классов: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Классы .btn применимы как к ссылкам &lt;a&gt;, так и к тегам &lt;button&gt; или &lt;input type='submit'&gt;, сохраняя 100% единый вид.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69;p14"/>
          <p:cNvSpPr/>
          <p:nvPr/>
        </p:nvSpPr>
        <p:spPr>
          <a:xfrm>
            <a:off x="6192520" y="259079"/>
            <a:ext cx="269748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АДАПТИВНАЯ ВЕРСТКА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A6A1A1"/>
                </a:solidFill>
                <a:latin typeface="Montserrat"/>
              </a:rPr>
              <a:t>Как медиа-запросы перестраивают сайт под экраны телефонов и планшетов?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(@media синтаксис)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1. Ноутбуки и компактные экраны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@media </a:t>
            </a:r>
            <a:r>
              <a:rPr sz="800">
                <a:solidFill>
                  <a:srgbClr val="F472B6"/>
                </a:solidFill>
                <a:latin typeface="Consolas"/>
              </a:rPr>
              <a:t>(max-width: 992px) </a:t>
            </a:r>
            <a:r>
              <a:rPr sz="800">
                <a:solidFill>
                  <a:srgbClr val="D4D4D8"/>
                </a:solidFill>
                <a:latin typeface="Consolas"/>
              </a:rPr>
              <a:t>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/* Правила до 992px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2. Планшеты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@media </a:t>
            </a:r>
            <a:r>
              <a:rPr sz="800">
                <a:solidFill>
                  <a:srgbClr val="F472B6"/>
                </a:solidFill>
                <a:latin typeface="Consolas"/>
              </a:rPr>
              <a:t>(max-width: 768px) </a:t>
            </a:r>
            <a:r>
              <a:rPr sz="800">
                <a:solidFill>
                  <a:srgbClr val="D4D4D8"/>
                </a:solidFill>
                <a:latin typeface="Consolas"/>
              </a:rPr>
              <a:t>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/* Правила до 768px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3. Мобильные телефоны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@media </a:t>
            </a:r>
            <a:r>
              <a:rPr sz="800">
                <a:solidFill>
                  <a:srgbClr val="F472B6"/>
                </a:solidFill>
                <a:latin typeface="Consolas"/>
              </a:rPr>
              <a:t>(max-width: 480px) </a:t>
            </a:r>
            <a:r>
              <a:rPr sz="800">
                <a:solidFill>
                  <a:srgbClr val="D4D4D8"/>
                </a:solidFill>
                <a:latin typeface="Consolas"/>
              </a:rPr>
              <a:t>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/* Правила до 480px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Обязательный метатег в HTML head: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&lt;!-- &lt;meta name="viewport"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       content="width=device-width, initial-scale=1.0"&gt; --&gt;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9800" y="685800"/>
            <a:ext cx="4089400" cy="355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00" b="1">
                <a:solidFill>
                  <a:srgbClr val="FF6F03"/>
                </a:solidFill>
                <a:latin typeface="Montserrat"/>
              </a:rPr>
              <a:t>МЕХАНИКА МЕДИА-ЗАПРОСОВ И BREAKPOINTS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749800" y="1079500"/>
            <a:ext cx="40894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Dot 0"/>
          <p:cNvSpPr/>
          <p:nvPr/>
        </p:nvSpPr>
        <p:spPr>
          <a:xfrm>
            <a:off x="4749800" y="1238250"/>
            <a:ext cx="82550" cy="8255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Bullet 0"/>
          <p:cNvSpPr txBox="1"/>
          <p:nvPr/>
        </p:nvSpPr>
        <p:spPr>
          <a:xfrm>
            <a:off x="4940300" y="1193800"/>
            <a:ext cx="38989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Директива @media screen: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Инструмент CSS, который активирует заданные свойства стилей только при выполнении условий ширины окна браузера пользователя.</a:t>
            </a:r>
          </a:p>
        </p:txBody>
      </p:sp>
      <p:sp>
        <p:nvSpPr>
          <p:cNvPr id="12" name="Rounded Rectangle Dot 1"/>
          <p:cNvSpPr/>
          <p:nvPr/>
        </p:nvSpPr>
        <p:spPr>
          <a:xfrm>
            <a:off x="4749800" y="2025650"/>
            <a:ext cx="82550" cy="8255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Bullet 1"/>
          <p:cNvSpPr txBox="1"/>
          <p:nvPr/>
        </p:nvSpPr>
        <p:spPr>
          <a:xfrm>
            <a:off x="4940300" y="1981200"/>
            <a:ext cx="38989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Точки останова (Breakpoints):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Индустриальные стандарты контрольных точек: 1200px (десктоп), 992px (ноутбук), 768px (планшет), 480px (смартфон).</a:t>
            </a:r>
          </a:p>
        </p:txBody>
      </p:sp>
      <p:sp>
        <p:nvSpPr>
          <p:cNvPr id="14" name="Rounded Rectangle Dot 2"/>
          <p:cNvSpPr/>
          <p:nvPr/>
        </p:nvSpPr>
        <p:spPr>
          <a:xfrm>
            <a:off x="4749800" y="2813050"/>
            <a:ext cx="82550" cy="8255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Bullet 2"/>
          <p:cNvSpPr txBox="1"/>
          <p:nvPr/>
        </p:nvSpPr>
        <p:spPr>
          <a:xfrm>
            <a:off x="4940300" y="2768600"/>
            <a:ext cx="38989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Критическая важность Viewport: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Без метатега viewport мобильные браузеры отмасштабируют сайт как микроскопическую картинку, сделав текст нечитаемым!</a:t>
            </a:r>
          </a:p>
        </p:txBody>
      </p:sp>
      <p:sp>
        <p:nvSpPr>
          <p:cNvPr id="16" name="Rounded Rectangle Dot 3"/>
          <p:cNvSpPr/>
          <p:nvPr/>
        </p:nvSpPr>
        <p:spPr>
          <a:xfrm>
            <a:off x="4749800" y="3600450"/>
            <a:ext cx="82550" cy="8255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Bullet 3"/>
          <p:cNvSpPr txBox="1"/>
          <p:nvPr/>
        </p:nvSpPr>
        <p:spPr>
          <a:xfrm>
            <a:off x="4940300" y="3556000"/>
            <a:ext cx="38989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Стратегия Desktop-First: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Мы проектируем базовые стили для десктопа (1200px), а директивами max-width шаг за шагом оптимизируем сетку для меньших устройств.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69;p14"/>
          <p:cNvSpPr/>
          <p:nvPr/>
        </p:nvSpPr>
        <p:spPr>
          <a:xfrm>
            <a:off x="5694680" y="259079"/>
            <a:ext cx="319532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АДАПТИВНОСТЬ: ПЛАНШЕТЫ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A6A1A1"/>
                </a:solidFill>
                <a:latin typeface="Montserrat"/>
              </a:rPr>
              <a:t>Как перестроить витрину из 3 колонок в 2 колонки на экране планшета?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(@media max-width: 768px)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@media </a:t>
            </a:r>
            <a:r>
              <a:rPr sz="800">
                <a:solidFill>
                  <a:srgbClr val="F472B6"/>
                </a:solidFill>
                <a:latin typeface="Consolas"/>
              </a:rPr>
              <a:t>(max-width: 768px) </a:t>
            </a:r>
            <a:r>
              <a:rPr sz="800">
                <a:solidFill>
                  <a:srgbClr val="D4D4D8"/>
                </a:solidFill>
                <a:latin typeface="Consolas"/>
              </a:rPr>
              <a:t>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/* 1. Резиновый контейнер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.container </a:t>
            </a:r>
            <a:r>
              <a:rPr sz="800">
                <a:solidFill>
                  <a:srgbClr val="D4D4D8"/>
                </a:solidFill>
                <a:latin typeface="Consolas"/>
              </a:rPr>
              <a:t>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  width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100%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  padding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0 16px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/* 2. 2 колонки вместо 3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.room-card </a:t>
            </a:r>
            <a:r>
              <a:rPr sz="800">
                <a:solidFill>
                  <a:srgbClr val="D4D4D8"/>
                </a:solidFill>
                <a:latin typeface="Consolas"/>
              </a:rPr>
              <a:t>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  width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calc(50% - 10px)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/* 3. Оптимизация заголовка Hero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.hero-title </a:t>
            </a:r>
            <a:r>
              <a:rPr sz="800">
                <a:solidFill>
                  <a:srgbClr val="D4D4D8"/>
                </a:solidFill>
                <a:latin typeface="Consolas"/>
              </a:rPr>
              <a:t>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  font-size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52px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  line-height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1.1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9800" y="685800"/>
            <a:ext cx="4089400" cy="355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00" b="1">
                <a:solidFill>
                  <a:srgbClr val="FF6F03"/>
                </a:solidFill>
                <a:latin typeface="Montserrat"/>
              </a:rPr>
              <a:t>ТАКТИКА АДАПТАЦИИ ДЛЯ СРЕДНИХ ЭКРАНОВ</a:t>
            </a:r>
          </a:p>
        </p:txBody>
      </p:sp>
      <p:sp>
        <p:nvSpPr>
          <p:cNvPr id="9" name="Rectangle 8"/>
          <p:cNvSpPr/>
          <p:nvPr/>
        </p:nvSpPr>
        <p:spPr>
          <a:xfrm>
            <a:off x="4749800" y="1079500"/>
            <a:ext cx="40894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Dot 0"/>
          <p:cNvSpPr/>
          <p:nvPr/>
        </p:nvSpPr>
        <p:spPr>
          <a:xfrm>
            <a:off x="4749800" y="1238250"/>
            <a:ext cx="82550" cy="8255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Bullet 0"/>
          <p:cNvSpPr txBox="1"/>
          <p:nvPr/>
        </p:nvSpPr>
        <p:spPr>
          <a:xfrm>
            <a:off x="4940300" y="1193800"/>
            <a:ext cx="38989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Снятие жесткой ширины 1200px: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На экране шириной 768px фиксированный контейнер 1200px вызовет горизонтальный скролл. width: 100% делает верстку резиновой.</a:t>
            </a:r>
          </a:p>
        </p:txBody>
      </p:sp>
      <p:sp>
        <p:nvSpPr>
          <p:cNvPr id="12" name="Rounded Rectangle Dot 1"/>
          <p:cNvSpPr/>
          <p:nvPr/>
        </p:nvSpPr>
        <p:spPr>
          <a:xfrm>
            <a:off x="4749800" y="2025650"/>
            <a:ext cx="82550" cy="8255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Bullet 1"/>
          <p:cNvSpPr txBox="1"/>
          <p:nvPr/>
        </p:nvSpPr>
        <p:spPr>
          <a:xfrm>
            <a:off x="4940300" y="1981200"/>
            <a:ext cx="38989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Формула calc(50% - 10px):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При промежутке gap: 20px между двумя колонками каждая карточка занимает ровно половину ширины за вычетом половины зазора.</a:t>
            </a:r>
          </a:p>
        </p:txBody>
      </p:sp>
      <p:sp>
        <p:nvSpPr>
          <p:cNvPr id="14" name="Rounded Rectangle Dot 2"/>
          <p:cNvSpPr/>
          <p:nvPr/>
        </p:nvSpPr>
        <p:spPr>
          <a:xfrm>
            <a:off x="4749800" y="2813050"/>
            <a:ext cx="82550" cy="8255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Bullet 2"/>
          <p:cNvSpPr txBox="1"/>
          <p:nvPr/>
        </p:nvSpPr>
        <p:spPr>
          <a:xfrm>
            <a:off x="4940300" y="2768600"/>
            <a:ext cx="38989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Боковые поля безопасности: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padding: 0 16px предотвращает некрасивое прилипание карточек и текста к физическим стеклянным рамкам планшета.</a:t>
            </a:r>
          </a:p>
        </p:txBody>
      </p:sp>
      <p:sp>
        <p:nvSpPr>
          <p:cNvPr id="16" name="Rounded Rectangle Dot 3"/>
          <p:cNvSpPr/>
          <p:nvPr/>
        </p:nvSpPr>
        <p:spPr>
          <a:xfrm>
            <a:off x="4749800" y="3600450"/>
            <a:ext cx="82550" cy="8255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Bullet 3"/>
          <p:cNvSpPr txBox="1"/>
          <p:nvPr/>
        </p:nvSpPr>
        <p:spPr>
          <a:xfrm>
            <a:off x="4940300" y="3556000"/>
            <a:ext cx="38989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Сжатие hero-типографики: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Огромный шрифт 108px на планшете не поместится в одну строку, поэтому кегль уменьшается до гармоничных 52px.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69;p14"/>
          <p:cNvSpPr/>
          <p:nvPr/>
        </p:nvSpPr>
        <p:spPr>
          <a:xfrm>
            <a:off x="6316980" y="259079"/>
            <a:ext cx="257302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МОБИЛЬНАЯ ВЕРСТКА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A6A1A1"/>
                </a:solidFill>
                <a:latin typeface="Montserrat"/>
              </a:rPr>
              <a:t>Как трансформировать карточки в удобную вертикальную ленту для пальца?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(@media max-width: 480px)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@media </a:t>
            </a:r>
            <a:r>
              <a:rPr sz="800">
                <a:solidFill>
                  <a:srgbClr val="F472B6"/>
                </a:solidFill>
                <a:latin typeface="Consolas"/>
              </a:rPr>
              <a:t>(max-width: 480px) </a:t>
            </a:r>
            <a:r>
              <a:rPr sz="800">
                <a:solidFill>
                  <a:srgbClr val="D4D4D8"/>
                </a:solidFill>
                <a:latin typeface="Consolas"/>
              </a:rPr>
              <a:t>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/* Карточка на всю ширину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.room-card </a:t>
            </a:r>
            <a:r>
              <a:rPr sz="800">
                <a:solidFill>
                  <a:srgbClr val="D4D4D8"/>
                </a:solidFill>
                <a:latin typeface="Consolas"/>
              </a:rPr>
              <a:t>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  width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100%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/* Стек шапки сайта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.header-container </a:t>
            </a:r>
            <a:r>
              <a:rPr sz="800">
                <a:solidFill>
                  <a:srgbClr val="D4D4D8"/>
                </a:solidFill>
                <a:latin typeface="Consolas"/>
              </a:rPr>
              <a:t>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  flex-direction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column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  gap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12px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/* Увеличение кнопок под тач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.btn </a:t>
            </a:r>
            <a:r>
              <a:rPr sz="800">
                <a:solidFill>
                  <a:srgbClr val="D4D4D8"/>
                </a:solidFill>
                <a:latin typeface="Consolas"/>
              </a:rPr>
              <a:t>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  padding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10px 18px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  font-size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15px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9800" y="685800"/>
            <a:ext cx="4089400" cy="355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00" b="1">
                <a:solidFill>
                  <a:srgbClr val="FF6F03"/>
                </a:solidFill>
                <a:latin typeface="Montserrat"/>
              </a:rPr>
              <a:t>ПРАВИЛА УДОБСТВА НА ЭКРАНАХ СМАРТФОНОВ</a:t>
            </a:r>
          </a:p>
        </p:txBody>
      </p:sp>
      <p:sp>
        <p:nvSpPr>
          <p:cNvPr id="9" name="Rectangle 8"/>
          <p:cNvSpPr/>
          <p:nvPr/>
        </p:nvSpPr>
        <p:spPr>
          <a:xfrm>
            <a:off x="4749800" y="1079500"/>
            <a:ext cx="40894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Dot 0"/>
          <p:cNvSpPr/>
          <p:nvPr/>
        </p:nvSpPr>
        <p:spPr>
          <a:xfrm>
            <a:off x="4749800" y="1238250"/>
            <a:ext cx="82550" cy="8255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Bullet 0"/>
          <p:cNvSpPr txBox="1"/>
          <p:nvPr/>
        </p:nvSpPr>
        <p:spPr>
          <a:xfrm>
            <a:off x="4940300" y="1193800"/>
            <a:ext cx="38989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Ширина 100% (Одноколоночный поток):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На экране смартфона 360-400px две колонки карточек выглядели бы мелко. 100% ширины превращает витрину в комфортную ленту.</a:t>
            </a:r>
          </a:p>
        </p:txBody>
      </p:sp>
      <p:sp>
        <p:nvSpPr>
          <p:cNvPr id="12" name="Rounded Rectangle Dot 1"/>
          <p:cNvSpPr/>
          <p:nvPr/>
        </p:nvSpPr>
        <p:spPr>
          <a:xfrm>
            <a:off x="4749800" y="2025650"/>
            <a:ext cx="82550" cy="8255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Bullet 1"/>
          <p:cNvSpPr txBox="1"/>
          <p:nvPr/>
        </p:nvSpPr>
        <p:spPr>
          <a:xfrm>
            <a:off x="4940300" y="1981200"/>
            <a:ext cx="38989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Увеличение тач-зон (Touch Targets):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Палец человека больше курсора мыши. Высота кнопок увеличивается (минимум 44px) для безошибочного нажатия в движении.</a:t>
            </a:r>
          </a:p>
        </p:txBody>
      </p:sp>
      <p:sp>
        <p:nvSpPr>
          <p:cNvPr id="14" name="Rounded Rectangle Dot 2"/>
          <p:cNvSpPr/>
          <p:nvPr/>
        </p:nvSpPr>
        <p:spPr>
          <a:xfrm>
            <a:off x="4749800" y="2813050"/>
            <a:ext cx="82550" cy="8255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Bullet 2"/>
          <p:cNvSpPr txBox="1"/>
          <p:nvPr/>
        </p:nvSpPr>
        <p:spPr>
          <a:xfrm>
            <a:off x="4940300" y="2768600"/>
            <a:ext cx="38989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Вертикальная шапка (column):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Логотип и ссылки меню на узком экране не помещаются в ряд и аккуратно выстраиваются друг под другом по центру.</a:t>
            </a:r>
          </a:p>
        </p:txBody>
      </p:sp>
      <p:sp>
        <p:nvSpPr>
          <p:cNvPr id="16" name="Rounded Rectangle Dot 3"/>
          <p:cNvSpPr/>
          <p:nvPr/>
        </p:nvSpPr>
        <p:spPr>
          <a:xfrm>
            <a:off x="4749800" y="3600450"/>
            <a:ext cx="82550" cy="8255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Bullet 3"/>
          <p:cNvSpPr txBox="1"/>
          <p:nvPr/>
        </p:nvSpPr>
        <p:spPr>
          <a:xfrm>
            <a:off x="4940300" y="3556000"/>
            <a:ext cx="38989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Защита от горизонтальной прокрутки: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Каждый блок проверяется на отсутствие фиксированных пиксельных ширин, исключая 'болтанку' страницы влево-вправо.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69;p14"/>
          <p:cNvSpPr/>
          <p:nvPr/>
        </p:nvSpPr>
        <p:spPr>
          <a:xfrm>
            <a:off x="6192520" y="259079"/>
            <a:ext cx="269748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ПЕРЕИСПОЛЬЗУЕМОСТЬ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A6A1A1"/>
                </a:solidFill>
                <a:latin typeface="Montserrat"/>
              </a:rPr>
              <a:t>Как мгновенно изменить цветовую тему проекта заменой одной строчки в :root?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(Динамические темы)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Базовая тема (СмартОфис)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:root </a:t>
            </a:r>
            <a:r>
              <a:rPr sz="800">
                <a:solidFill>
                  <a:srgbClr val="D4D4D8"/>
                </a:solidFill>
                <a:latin typeface="Consolas"/>
              </a:rPr>
              <a:t>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--primary-color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#007bff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--primary-hover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#0056b3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Тема 'Изумрудный Коворкинг'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body.theme-emerald </a:t>
            </a:r>
            <a:r>
              <a:rPr sz="800">
                <a:solidFill>
                  <a:srgbClr val="D4D4D8"/>
                </a:solidFill>
                <a:latin typeface="Consolas"/>
              </a:rPr>
              <a:t>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--primary-color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#10b981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--primary-hover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#059669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Тема 'Премиум Фиолетовый'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body.theme-purple </a:t>
            </a:r>
            <a:r>
              <a:rPr sz="800">
                <a:solidFill>
                  <a:srgbClr val="D4D4D8"/>
                </a:solidFill>
                <a:latin typeface="Consolas"/>
              </a:rPr>
              <a:t>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--primary-color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#8b5cf6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--primary-hover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#7c3aed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9800" y="685800"/>
            <a:ext cx="4089400" cy="355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00" b="1">
                <a:solidFill>
                  <a:srgbClr val="FF6F03"/>
                </a:solidFill>
                <a:latin typeface="Montserrat"/>
              </a:rPr>
              <a:t>КАСКАД ПЕРЕМЕННЫХ И WHITE-LABEL АРХИТЕКТУРА</a:t>
            </a:r>
          </a:p>
        </p:txBody>
      </p:sp>
      <p:sp>
        <p:nvSpPr>
          <p:cNvPr id="9" name="Rectangle 8"/>
          <p:cNvSpPr/>
          <p:nvPr/>
        </p:nvSpPr>
        <p:spPr>
          <a:xfrm>
            <a:off x="4749800" y="1079500"/>
            <a:ext cx="40894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Dot 0"/>
          <p:cNvSpPr/>
          <p:nvPr/>
        </p:nvSpPr>
        <p:spPr>
          <a:xfrm>
            <a:off x="4749800" y="1238250"/>
            <a:ext cx="82550" cy="8255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Bullet 0"/>
          <p:cNvSpPr txBox="1"/>
          <p:nvPr/>
        </p:nvSpPr>
        <p:spPr>
          <a:xfrm>
            <a:off x="4940300" y="1193800"/>
            <a:ext cx="38989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Локальное переопределение токенов: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Селектор body.theme-emerald переопределяет переменные для себя и всех дочерних элементов благодаря каскаду CSS.</a:t>
            </a:r>
          </a:p>
        </p:txBody>
      </p:sp>
      <p:sp>
        <p:nvSpPr>
          <p:cNvPr id="12" name="Rounded Rectangle Dot 1"/>
          <p:cNvSpPr/>
          <p:nvPr/>
        </p:nvSpPr>
        <p:spPr>
          <a:xfrm>
            <a:off x="4749800" y="2025650"/>
            <a:ext cx="82550" cy="8255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Bullet 1"/>
          <p:cNvSpPr txBox="1"/>
          <p:nvPr/>
        </p:nvSpPr>
        <p:spPr>
          <a:xfrm>
            <a:off x="4940300" y="1981200"/>
            <a:ext cx="38989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0% переписывания стилей компонентов: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Кнопки, иконки, ссылки и фокусные рамки карточек читают var(--primary-color) и преображаются автоматически без единой правки.</a:t>
            </a:r>
          </a:p>
        </p:txBody>
      </p:sp>
      <p:sp>
        <p:nvSpPr>
          <p:cNvPr id="14" name="Rounded Rectangle Dot 2"/>
          <p:cNvSpPr/>
          <p:nvPr/>
        </p:nvSpPr>
        <p:spPr>
          <a:xfrm>
            <a:off x="4749800" y="2813050"/>
            <a:ext cx="82550" cy="8255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Bullet 2"/>
          <p:cNvSpPr txBox="1"/>
          <p:nvPr/>
        </p:nvSpPr>
        <p:spPr>
          <a:xfrm>
            <a:off x="4940300" y="2768600"/>
            <a:ext cx="38989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Основа White-label разработки: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Один и тот же движок бронирования офисов можно продавать разным заказчикам, меняя лишь файл переменных брендовой гаммы.</a:t>
            </a:r>
          </a:p>
        </p:txBody>
      </p:sp>
      <p:sp>
        <p:nvSpPr>
          <p:cNvPr id="16" name="Rounded Rectangle Dot 3"/>
          <p:cNvSpPr/>
          <p:nvPr/>
        </p:nvSpPr>
        <p:spPr>
          <a:xfrm>
            <a:off x="4749800" y="3600450"/>
            <a:ext cx="82550" cy="8255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Bullet 3"/>
          <p:cNvSpPr txBox="1"/>
          <p:nvPr/>
        </p:nvSpPr>
        <p:spPr>
          <a:xfrm>
            <a:off x="4940300" y="3556000"/>
            <a:ext cx="38989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Переключение в 1 строчку через JS: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 JavaScript достаточно выполнить document.body.className = 'theme-emerald', чтобы весь интерфейс сменил стиль прямо на лету!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69;p14"/>
          <p:cNvSpPr/>
          <p:nvPr/>
        </p:nvSpPr>
        <p:spPr>
          <a:xfrm>
            <a:off x="6814820" y="259079"/>
            <a:ext cx="207518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РАЗБОР ОШИБОК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A6A1A1"/>
                </a:solidFill>
                <a:latin typeface="Montserrat"/>
              </a:rPr>
              <a:t>На чем чаще всего спотыкаются студенты при первой верстке сеток и карточек?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5600" y="787400"/>
            <a:ext cx="4064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1. Сплющенные и растянутые фото</a:t>
            </a:r>
          </a:p>
        </p:txBody>
      </p:sp>
      <p:sp>
        <p:nvSpPr>
          <p:cNvPr id="5" name="Rectangle 4"/>
          <p:cNvSpPr/>
          <p:nvPr/>
        </p:nvSpPr>
        <p:spPr>
          <a:xfrm>
            <a:off x="355600" y="1066800"/>
            <a:ext cx="40640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5600" y="1168400"/>
            <a:ext cx="4064000" cy="1219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850" b="1">
                <a:solidFill>
                  <a:srgbClr val="222222"/>
                </a:solidFill>
                <a:latin typeface="Inter"/>
              </a:rPr>
              <a:t>Ошибка: </a:t>
            </a:r>
            <a:r>
              <a:rPr sz="850">
                <a:solidFill>
                  <a:srgbClr val="444444"/>
                </a:solidFill>
                <a:latin typeface="Inter"/>
              </a:rPr>
              <a:t>Задание жестких width: 100% и height: 200px тегу &lt;img&gt; без свойства object-fit искажает естественные пропорции интерьеров.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16A34A"/>
                </a:solidFill>
                <a:latin typeface="Inter"/>
              </a:rPr>
              <a:t>Решение: </a:t>
            </a:r>
            <a:r>
              <a:rPr sz="850">
                <a:solidFill>
                  <a:srgbClr val="444444"/>
                </a:solidFill>
                <a:latin typeface="Inter"/>
              </a:rPr>
              <a:t>Всегда оборачивать картинку в .card-img-wrap и задавать object-fit: cover с display: block.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24400" y="787400"/>
            <a:ext cx="4064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2. «Пляшущие» кнопки в футере</a:t>
            </a:r>
          </a:p>
        </p:txBody>
      </p:sp>
      <p:sp>
        <p:nvSpPr>
          <p:cNvPr id="8" name="Rectangle 7"/>
          <p:cNvSpPr/>
          <p:nvPr/>
        </p:nvSpPr>
        <p:spPr>
          <a:xfrm>
            <a:off x="4724400" y="1066800"/>
            <a:ext cx="40640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24400" y="1168400"/>
            <a:ext cx="4064000" cy="1219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850" b="1">
                <a:solidFill>
                  <a:srgbClr val="222222"/>
                </a:solidFill>
                <a:latin typeface="Inter"/>
              </a:rPr>
              <a:t>Ошибка: </a:t>
            </a:r>
            <a:r>
              <a:rPr sz="850">
                <a:solidFill>
                  <a:srgbClr val="444444"/>
                </a:solidFill>
                <a:latin typeface="Inter"/>
              </a:rPr>
              <a:t>Из-за разного количества строк в описании футеры карточек находятся на разной высоте, ломая нижнюю линию витрины.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16A34A"/>
                </a:solidFill>
                <a:latin typeface="Inter"/>
              </a:rPr>
              <a:t>Решение: </a:t>
            </a:r>
            <a:r>
              <a:rPr sz="850">
                <a:solidFill>
                  <a:srgbClr val="444444"/>
                </a:solidFill>
                <a:latin typeface="Inter"/>
              </a:rPr>
              <a:t>Задать карточке flex-direction: column, а контенту или списку оборудования присвоить распорку flex: 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5600" y="2717800"/>
            <a:ext cx="4064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3. Выпадение карточки из строки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5600" y="2997200"/>
            <a:ext cx="40640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5600" y="3098800"/>
            <a:ext cx="4064000" cy="1219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850" b="1">
                <a:solidFill>
                  <a:srgbClr val="222222"/>
                </a:solidFill>
                <a:latin typeface="Inter"/>
              </a:rPr>
              <a:t>Ошибка: </a:t>
            </a:r>
            <a:r>
              <a:rPr sz="850">
                <a:solidFill>
                  <a:srgbClr val="444444"/>
                </a:solidFill>
                <a:latin typeface="Inter"/>
              </a:rPr>
              <a:t>При добавлении border: 1px или padding карточка расширяется на пару пикселей, и третья карточка падает во второй ряд.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16A34A"/>
                </a:solidFill>
                <a:latin typeface="Inter"/>
              </a:rPr>
              <a:t>Решение: </a:t>
            </a:r>
            <a:r>
              <a:rPr sz="850">
                <a:solidFill>
                  <a:srgbClr val="444444"/>
                </a:solidFill>
                <a:latin typeface="Inter"/>
              </a:rPr>
              <a:t>Обязательно подключать box-sizing: border-box в сбросе стилей селектора * в начале файла CSS.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4400" y="2717800"/>
            <a:ext cx="4064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4. Жесткий height у блоков с текстом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24400" y="2997200"/>
            <a:ext cx="40640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24400" y="3098800"/>
            <a:ext cx="4064000" cy="1219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850" b="1">
                <a:solidFill>
                  <a:srgbClr val="222222"/>
                </a:solidFill>
                <a:latin typeface="Inter"/>
              </a:rPr>
              <a:t>Ошибка: </a:t>
            </a:r>
            <a:r>
              <a:rPr sz="850">
                <a:solidFill>
                  <a:srgbClr val="444444"/>
                </a:solidFill>
                <a:latin typeface="Inter"/>
              </a:rPr>
              <a:t>Установка height: 100px для заголовка или списка оборудования приводит к обрезанию или вылезанию текста наружу.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16A34A"/>
                </a:solidFill>
                <a:latin typeface="Inter"/>
              </a:rPr>
              <a:t>Решение: </a:t>
            </a:r>
            <a:r>
              <a:rPr sz="850">
                <a:solidFill>
                  <a:srgbClr val="444444"/>
                </a:solidFill>
                <a:latin typeface="Inter"/>
              </a:rPr>
              <a:t>Задавать только min-height, либо позволять флекс-распоркам автоматически распределять высоту по контенту.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69;p14"/>
          <p:cNvSpPr/>
          <p:nvPr/>
        </p:nvSpPr>
        <p:spPr>
          <a:xfrm>
            <a:off x="6316980" y="259079"/>
            <a:ext cx="257302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ЧЕК-ЛИСТ КАЧЕСТВА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A6A1A1"/>
                </a:solidFill>
                <a:latin typeface="Montserrat"/>
              </a:rPr>
              <a:t>Как убедиться, что секция каталога выполнена на 100% правильно?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3600"/>
            <a:ext cx="7620000" cy="279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FF6F03"/>
                </a:solidFill>
                <a:latin typeface="Montserrat"/>
              </a:rPr>
              <a:t>КРИТЕРИИ КАЧЕСТВА ВЕРСТКИ СЕКЦИИ ПОПУЛЯРНЫХ КОМНАТ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168400"/>
            <a:ext cx="77724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320800"/>
            <a:ext cx="279400" cy="25400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46200"/>
            <a:ext cx="2794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 Symbol"/>
              </a:rPr>
              <a:t>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200" y="1295400"/>
            <a:ext cx="72390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Ровная 3-колоночная сетка витрины:</a:t>
            </a:r>
          </a:p>
          <a:p>
            <a:r>
              <a:rPr sz="850">
                <a:solidFill>
                  <a:srgbClr val="444444"/>
                </a:solidFill>
                <a:latin typeface="Inter"/>
              </a:rPr>
              <a:t>Контейнер .rooms-grid использует Flexbox (или Grid) с аккуратными одинаковыми промежутками gap: 20px.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54200"/>
            <a:ext cx="279400" cy="25400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879600"/>
            <a:ext cx="2794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 Symbol"/>
              </a:rPr>
              <a:t>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2200" y="1828800"/>
            <a:ext cx="72390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Идеальные пропорции всех фотографий:</a:t>
            </a:r>
          </a:p>
          <a:p>
            <a:r>
              <a:rPr sz="850">
                <a:solidFill>
                  <a:srgbClr val="444444"/>
                </a:solidFill>
                <a:latin typeface="Inter"/>
              </a:rPr>
              <a:t>Изображения сохраняют естественные пропорции без сплющивания благодаря свойству object-fit: cover.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387600"/>
            <a:ext cx="279400" cy="25400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413000"/>
            <a:ext cx="2794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 Symbol"/>
              </a:rPr>
              <a:t>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2200" y="2362200"/>
            <a:ext cx="72390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Единая горизонтальная линия кнопок:</a:t>
            </a:r>
          </a:p>
          <a:p>
            <a:r>
              <a:rPr sz="850">
                <a:solidFill>
                  <a:srgbClr val="444444"/>
                </a:solidFill>
                <a:latin typeface="Inter"/>
              </a:rPr>
              <a:t>Подвалы всех карточек находятся на одной высоте благодаря колоночному флексу и распорке flex: 1.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921000"/>
            <a:ext cx="279400" cy="25400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946400"/>
            <a:ext cx="2794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 Symbol"/>
              </a:rPr>
              <a:t>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2200" y="2895600"/>
            <a:ext cx="72390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Интерактивный отклик компонентов (:hover):</a:t>
            </a:r>
          </a:p>
          <a:p>
            <a:r>
              <a:rPr sz="850">
                <a:solidFill>
                  <a:srgbClr val="444444"/>
                </a:solidFill>
                <a:latin typeface="Inter"/>
              </a:rPr>
              <a:t>Карточки приподнимаются при наведении, кнопки плавно меняют цвет фона и контура с переходом transition.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454400"/>
            <a:ext cx="279400" cy="25400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479800"/>
            <a:ext cx="2794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 Symbol"/>
              </a:rPr>
              <a:t>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2200" y="3429000"/>
            <a:ext cx="72390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Централизация палитры через переменные :root:</a:t>
            </a:r>
          </a:p>
          <a:p>
            <a:r>
              <a:rPr sz="850">
                <a:solidFill>
                  <a:srgbClr val="444444"/>
                </a:solidFill>
                <a:latin typeface="Inter"/>
              </a:rPr>
              <a:t>Цвета кнопок, ссылок и акцентов подключены через функцию var(), исключая дублирование HEX-кодов.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987800"/>
            <a:ext cx="279400" cy="25400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013200"/>
            <a:ext cx="2794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 Symbol"/>
              </a:rPr>
              <a:t>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2200" y="3962400"/>
            <a:ext cx="72390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Безупречная адаптивность без полосы скролла:</a:t>
            </a:r>
          </a:p>
          <a:p>
            <a:r>
              <a:rPr sz="850">
                <a:solidFill>
                  <a:srgbClr val="444444"/>
                </a:solidFill>
                <a:latin typeface="Inter"/>
              </a:rPr>
              <a:t>При уменьшении экрана карточки аккуратно перестраиваются, а контейнер растягивается без горизонтального скролла.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Другая 2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00B0F0"/>
      </a:hlink>
      <a:folHlink>
        <a:srgbClr val="96A9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Другая 1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B0F0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2403</TotalTime>
  <Words>5609</Words>
  <Application>Microsoft Office PowerPoint</Application>
  <PresentationFormat>Экран (16:9)</PresentationFormat>
  <Paragraphs>688</Paragraphs>
  <Slides>27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27</vt:i4>
      </vt:variant>
    </vt:vector>
  </HeadingPairs>
  <TitlesOfParts>
    <vt:vector size="39" baseType="lpstr">
      <vt:lpstr>Segoe UI Symbol</vt:lpstr>
      <vt:lpstr>Proxima Nova</vt:lpstr>
      <vt:lpstr>Calibri</vt:lpstr>
      <vt:lpstr>Montserrat ExtraBold</vt:lpstr>
      <vt:lpstr>Montserrat</vt:lpstr>
      <vt:lpstr>PT Sans Caption</vt:lpstr>
      <vt:lpstr>Inter</vt:lpstr>
      <vt:lpstr>Arial</vt:lpstr>
      <vt:lpstr>Consolas</vt:lpstr>
      <vt:lpstr>Montserrat SemiBold</vt:lpstr>
      <vt:lpstr>Inter Medium</vt:lpstr>
      <vt:lpstr>Simple Light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mrsky1001</dc:creator>
  <cp:lastModifiedBy>Keith Allison</cp:lastModifiedBy>
  <cp:revision>259</cp:revision>
  <dcterms:modified xsi:type="dcterms:W3CDTF">2026-09-06T08:47:48Z</dcterms:modified>
</cp:coreProperties>
</file>