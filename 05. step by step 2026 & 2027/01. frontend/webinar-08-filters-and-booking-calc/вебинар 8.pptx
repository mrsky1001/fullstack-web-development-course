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260" r:id="rId27"/>
    <p:sldId id="274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italic r:id="rId40"/>
    </p:embeddedFont>
    <p:embeddedFont>
      <p:font typeface="Montserrat" panose="00000500000000000000" pitchFamily="2" charset="-52"/>
      <p:regular r:id="rId41"/>
      <p:bold r:id="rId42"/>
      <p:italic r:id="rId43"/>
      <p:boldItalic r:id="rId44"/>
    </p:embeddedFont>
    <p:embeddedFont>
      <p:font typeface="Montserrat ExtraBold" panose="00000900000000000000" pitchFamily="2" charset="-52"/>
      <p:bold r:id="rId45"/>
      <p:boldItalic r:id="rId46"/>
    </p:embeddedFont>
    <p:embeddedFont>
      <p:font typeface="Montserrat SemiBold" panose="00000700000000000000" pitchFamily="2" charset="-52"/>
      <p:bold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PT Sans Caption" panose="020B0603020203020204" pitchFamily="34" charset="-52"/>
      <p:regular r:id="rId53"/>
      <p:bold r:id="rId54"/>
    </p:embeddedFont>
    <p:embeddedFont>
      <p:font typeface="Segoe UI Symbol" panose="020B0502040204020203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89" autoAdjust="0"/>
  </p:normalViewPr>
  <p:slideViewPr>
    <p:cSldViewPr snapToGrid="0">
      <p:cViewPr varScale="1">
        <p:scale>
          <a:sx n="136" d="100"/>
          <a:sy n="136" d="100"/>
        </p:scale>
        <p:origin x="824" y="93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font" Target="fonts/font12.fntdata"/><Relationship Id="rId43" Type="http://schemas.openxmlformats.org/officeDocument/2006/relationships/font" Target="fonts/font13.fntdata"/><Relationship Id="rId44" Type="http://schemas.openxmlformats.org/officeDocument/2006/relationships/font" Target="fonts/font14.fntdata"/><Relationship Id="rId45" Type="http://schemas.openxmlformats.org/officeDocument/2006/relationships/font" Target="fonts/font15.fntdata"/><Relationship Id="rId46" Type="http://schemas.openxmlformats.org/officeDocument/2006/relationships/font" Target="fonts/font16.fntdata"/><Relationship Id="rId47" Type="http://schemas.openxmlformats.org/officeDocument/2006/relationships/font" Target="fonts/font17.fntdata"/><Relationship Id="rId48" Type="http://schemas.openxmlformats.org/officeDocument/2006/relationships/font" Target="fonts/font18.fntdata"/><Relationship Id="rId49" Type="http://schemas.openxmlformats.org/officeDocument/2006/relationships/font" Target="fonts/font19.fntdata"/><Relationship Id="rId50" Type="http://schemas.openxmlformats.org/officeDocument/2006/relationships/font" Target="fonts/font20.fntdata"/><Relationship Id="rId51" Type="http://schemas.openxmlformats.org/officeDocument/2006/relationships/font" Target="fonts/font21.fntdata"/><Relationship Id="rId52" Type="http://schemas.openxmlformats.org/officeDocument/2006/relationships/font" Target="fonts/font22.fntdata"/><Relationship Id="rId53" Type="http://schemas.openxmlformats.org/officeDocument/2006/relationships/font" Target="fonts/font23.fntdata"/><Relationship Id="rId54" Type="http://schemas.openxmlformats.org/officeDocument/2006/relationships/font" Target="fonts/font24.fntdata"/><Relationship Id="rId55" Type="http://schemas.openxmlformats.org/officeDocument/2006/relationships/font" Target="fonts/font25.fnt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38.xml"/><Relationship Id="rId71" Type="http://schemas.openxmlformats.org/officeDocument/2006/relationships/slide" Target="slides/slide39.xml"/><Relationship Id="rId72" Type="http://schemas.openxmlformats.org/officeDocument/2006/relationships/slide" Target="slides/slide40.xml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8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8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r>
                <a:rPr sz="1400" b="1">
                  <a:latin typeface="Montserrat"/>
                </a:rPr>
                <a:t>ИНТЕРАКТИВНАЯ ЛОГИКА И РАСЧЕТЫ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t>Проектирование </a:t>
              </a:r>
            </a:p>
            <a:p>
              <a:r>
                <a:t>и разработка интерфейсов пользователя</a:t>
              </a: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Вебинар 8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1. Фильтрация массивов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Метод filter() и поиск подстроки через includes() без регистра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2. Сортировка данных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Метод sort(), функция сравнения компаратора и порядок цен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3. Динамические расчеты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Калькулятор стоимости, обработка событий input и пересчет sum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4. Параметры URL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Чтение query-параметров через URLSearchParams для автовыбора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5. Практика: Бизнес-логика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Интерактивный каталог и оформление бронирования в СмартОфис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wrap="square"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pic>
        <p:nvPicPr>
          <p:cNvPr id="13" name="Picture 12" descr="webinar8_result_ex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863600"/>
            <a:ext cx="6477000" cy="3581400"/>
          </a:xfrm>
          <a:prstGeom prst="rect">
            <a:avLst/>
          </a:prstGeom>
        </p:spPr>
      </p:pic>
      <p:sp>
        <p:nvSpPr>
          <p:cNvPr id="1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Результат: Бизнес-логика клиентской части портала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ФИЛЬТРАЦИЯ ДАННЫХ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метод filter() считается иммутабельным и безопасным для исходных данных?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Метод Array.prototype.filter()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Фильтрация комнат по максимальной цене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61AFEF"/>
                </a:solidFill>
                <a:latin typeface="Consolas"/>
              </a:rPr>
              <a:t>budgetRooms = OFFICE_ROOMS.filter(room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 b="0">
                <a:solidFill>
                  <a:srgbClr val="D4D4D8"/>
                </a:solidFill>
                <a:latin typeface="Consolas"/>
              </a:rPr>
              <a:t>room.pricePerHour &lt;= </a:t>
            </a:r>
            <a:r>
              <a:rPr sz="850" b="0">
                <a:solidFill>
                  <a:srgbClr val="D19A66"/>
                </a:solidFill>
                <a:latin typeface="Consolas"/>
              </a:rPr>
              <a:t>500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'Найдено комнат:'</a:t>
            </a:r>
            <a:r>
              <a:rPr sz="850" b="0">
                <a:solidFill>
                  <a:srgbClr val="D4D4D8"/>
                </a:solidFill>
                <a:latin typeface="Consolas"/>
              </a:rPr>
              <a:t>, budgetRooms.length);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'Исходный массив:'</a:t>
            </a:r>
            <a:r>
              <a:rPr sz="850" b="0">
                <a:solidFill>
                  <a:srgbClr val="D4D4D8"/>
                </a:solidFill>
                <a:latin typeface="Consolas"/>
              </a:rPr>
              <a:t>, OFFICE_ROOMS.length);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Исходный массив OFFICE_ROOMS не изменился!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Иммутабельный отбор filter()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Создание нового массива:
</a:t>
            </a:r>
            <a:r>
              <a:rPr sz="850" b="0">
                <a:solidFill>
                  <a:srgbClr val="555555"/>
                </a:solidFill>
                <a:latin typeface="Inter"/>
              </a:rPr>
              <a:t>filter() создает и возвращает новый массив, не изменяя элементы исходного массива.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Функция-предикат:
</a:t>
            </a:r>
            <a:r>
              <a:rPr sz="850" b="0">
                <a:solidFill>
                  <a:srgbClr val="555555"/>
                </a:solidFill>
                <a:latin typeface="Inter"/>
              </a:rPr>
              <a:t>Колбэк возвращает true (элемент включается в выборку) или false (элемент пропускается).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Сохранение эталона:
</a:t>
            </a:r>
            <a:r>
              <a:rPr sz="850" b="0">
                <a:solidFill>
                  <a:srgbClr val="555555"/>
                </a:solidFill>
                <a:latin typeface="Inter"/>
              </a:rPr>
              <a:t>Исходный массив OFFICE_ROOMS остается нетронутым, что позволяет сбрасывать фильтры.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Основа витрины: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используется для живого поиска по названию, вместимости и оборудованию.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ЖИВОЙ ПОИСК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Зачем при текстовом поиске использовать toLowerCase() и trim()?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Регистронезависимый поиск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Поиск без учета регистра и лишних пробелов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filterRoomsBySearch</a:t>
            </a:r>
            <a:r>
              <a:rPr sz="850" b="0">
                <a:solidFill>
                  <a:srgbClr val="D4D4D8"/>
                </a:solidFill>
                <a:latin typeface="Consolas"/>
              </a:rPr>
              <a:t>(rooms, query)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q = query.toLowerCase().trim();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 b="0">
                <a:solidFill>
                  <a:srgbClr val="61AFEF"/>
                </a:solidFill>
                <a:latin typeface="Consolas"/>
              </a:rPr>
              <a:t>rooms.filter(room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  return </a:t>
            </a:r>
            <a:r>
              <a:rPr sz="850" b="0">
                <a:solidFill>
                  <a:srgbClr val="D4D4D8"/>
                </a:solidFill>
                <a:latin typeface="Consolas"/>
              </a:rPr>
              <a:t>room.title.toLowerCase().includes(q);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Пример: найдет 'Мини-офис Focus'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res = filterRoomsBySearch(OFFICE_ROOMS, </a:t>
            </a:r>
            <a:r>
              <a:rPr sz="850" b="0">
                <a:solidFill>
                  <a:srgbClr val="98C379"/>
                </a:solidFill>
                <a:latin typeface="Consolas"/>
              </a:rPr>
              <a:t>'  FOCUS  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Поиск подстроки через includes()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Метод .includes():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Проверяет, входит ли искомая строка в название комнаты в любой позиции.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toLowerCase():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Приводит текст и запрос к нижнему регистру: «Фокус» совпадет с «фокус» и «FOCUS».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Метод .trim():
</a:t>
            </a:r>
            <a:r>
              <a:rPr sz="850" b="0">
                <a:solidFill>
                  <a:srgbClr val="555555"/>
                </a:solidFill>
                <a:latin typeface="Inter"/>
              </a:rPr>
              <a:t>Удаляет случайные пробелы по краям строки, введенные пользователем.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Реакция на ввод:
</a:t>
            </a:r>
            <a:r>
              <a:rPr sz="850" b="0">
                <a:solidFill>
                  <a:srgbClr val="555555"/>
                </a:solidFill>
                <a:latin typeface="Inter"/>
              </a:rPr>
              <a:t>Вызывается мгновенно при наступлении события input в поисковой строке.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5613400" y="259079"/>
            <a:ext cx="32766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ФИЛЬТРАЦИЯ И СОРТИРОВКА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исходный массив данных трансформируется перед отрисовкой в каталоге?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1AFEF"/>
                </a:solidFill>
                <a:latin typeface="Montserrat"/>
              </a:rPr>
              <a:t>1. ИСХОДНЫЕ ДАННЫЕ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Массив OFFICE_ROOMS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19A66"/>
                </a:solidFill>
                <a:latin typeface="Montserrat"/>
              </a:rPr>
              <a:t>2. ФИЛЬТРАЦИЯ ПОИСКА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.filter() + .includes()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D19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8C379"/>
                </a:solidFill>
                <a:latin typeface="Montserrat"/>
              </a:rPr>
              <a:t>3. СОРТИРОВКА И DOM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.sort() + render()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1F242E"/>
          </a:solidFill>
          <a:ln w="12700">
            <a:solidFill>
              <a:srgbClr val="61AFEF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const rawRooms = [
  ...OFFICE_ROOMS
]; // Клон эталона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74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28241E"/>
          </a:solidFill>
          <a:ln w="12700">
            <a:solidFill>
              <a:srgbClr val="D19A66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const filtered = rawRooms.filter(
  r =&gt; r.title.toLowerCase()
       .includes(q)
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1E2720"/>
          </a:solidFill>
          <a:ln w="12700">
            <a:solidFill>
              <a:srgbClr val="98C379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filtered.sort((a, b) =&gt; {
  return a.pricePerHour - b.pricePerHour;
});
render(filtered);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Иммутабельность базы: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Полный массив комнат импортируется из data.js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Копирование через спред [...] защищает оригинал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База не перезаписывается при поиске и сбросе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Все карточки содержат ID, цены и параметры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Единый источник правды для фильтрации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4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Алгоритм поиска: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Чтение строки поискового запроса из input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Приведение к нижнему регистру toLowerCase()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Очистка концевых пробелов методом trim()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Проверка подстроки методом includes()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Мгновенный отсев нерелевантных объектов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6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Сортировка и рендер: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Числовой компаратор цен (asc / desc)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Сортировка только отобранных поиском комнат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Генерация HTML-разметки карточек .map()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Обновление контейнера #catalogContainer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Показ Empty State при отсутствии совпадений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UX КАТАЛОГА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при разработке поиска критически важно предусматривать Empty State?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Обработка пустого результата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renderCatalog</a:t>
            </a:r>
            <a:r>
              <a:rPr sz="850" b="0">
                <a:solidFill>
                  <a:srgbClr val="D4D4D8"/>
                </a:solidFill>
                <a:latin typeface="Consolas"/>
              </a:rPr>
              <a:t>(rooms)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container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'catalogContainer'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(!rooms.length)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container.innerHTML = </a:t>
            </a:r>
            <a:r>
              <a:rPr sz="850" b="0">
                <a:solidFill>
                  <a:srgbClr val="98C379"/>
                </a:solidFill>
                <a:latin typeface="Consolas"/>
              </a:rPr>
              <a:t>'&lt;p class="empty-msg"&gt;Комнаты не найдены&lt;/p&gt;'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  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container.innerHTML = rooms.map(renderCard).join(</a:t>
            </a:r>
            <a:r>
              <a:rPr sz="850" b="0">
                <a:solidFill>
                  <a:srgbClr val="98C379"/>
                </a:solidFill>
                <a:latin typeface="Consolas"/>
              </a:rPr>
              <a:t>''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Состояние «Ничего не найдено»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Empty State:
</a:t>
            </a:r>
            <a:r>
              <a:rPr sz="850" b="0">
                <a:solidFill>
                  <a:srgbClr val="555555"/>
                </a:solidFill>
                <a:latin typeface="Inter"/>
              </a:rPr>
              <a:t>Специальный блок интерфейса, сообщающий пользователю об отсутствии совпадений.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Понятная обратная связь: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Пользователь видит, что поиск успешно отработал, а страница не сломалась.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пустоты:
</a:t>
            </a:r>
            <a:r>
              <a:rPr sz="850" b="0">
                <a:solidFill>
                  <a:srgbClr val="555555"/>
                </a:solidFill>
                <a:latin typeface="Inter"/>
              </a:rPr>
              <a:t>Исключает появление пустого белого пространства в верстке сетки каталога.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Сброс запроса: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стирании поисковой строки в поле каталог автоматически возвращает все 6 комнат.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СОРТИРОВКА ДАННЫХ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метод sort() без функции сравнения некорректно сортирует числа?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Метод Array.prototype.sort()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Массив цен для сортировки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prices = [</a:t>
            </a:r>
            <a:r>
              <a:rPr sz="850" b="0">
                <a:solidFill>
                  <a:srgbClr val="D19A66"/>
                </a:solidFill>
                <a:latin typeface="Consolas"/>
              </a:rPr>
              <a:t>1200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450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900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250</a:t>
            </a:r>
            <a:r>
              <a:rPr sz="850" b="0">
                <a:solidFill>
                  <a:srgbClr val="D4D4D8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Ошибка по умолчанию: лексикографический порядок!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prices.sort(); // [1200, 250, 450, 900] -&gt; '1' перед '2'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Правильная числовая сортировка с компаратором: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prices.sort((a, b) =&gt; a - b);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console.log(prices);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[250, 450, 900, 1200]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Функция-компаратор в sort()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Лексикографический дефолт:
</a:t>
            </a:r>
            <a:r>
              <a:rPr sz="850" b="0">
                <a:solidFill>
                  <a:srgbClr val="555555"/>
                </a:solidFill>
                <a:latin typeface="Inter"/>
              </a:rPr>
              <a:t>По умолчанию sort() преобразует элементы в строки, поэтому «1200» встает перед «250».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Правило компаратора: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(a, b) возвращает отрицательное число, 0 или положительное число.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Мутирующий метод:
</a:t>
            </a:r>
            <a:r>
              <a:rPr sz="850" b="0">
                <a:solidFill>
                  <a:srgbClr val="555555"/>
                </a:solidFill>
                <a:latin typeface="Inter"/>
              </a:rPr>
              <a:t>sort() сортирует элементы прямо на месте, изменяя порядок ячеек исходного массива.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Безопасное копирование: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Для защиты эталона сортируют копию массива: [...rooms].sort(...).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СОРТИРОВКА ЦЕН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знак разности (a - b против b - a) меняет порядок элементов в массиве?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Сортировка по возрастанию и убыванию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1. По возрастанию (от дешевых к дорогим):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sortByPriceAsc</a:t>
            </a:r>
            <a:r>
              <a:rPr sz="850" b="0">
                <a:solidFill>
                  <a:srgbClr val="D4D4D8"/>
                </a:solidFill>
                <a:latin typeface="Consolas"/>
              </a:rPr>
              <a:t>(rooms)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 b="0">
                <a:solidFill>
                  <a:srgbClr val="61AFEF"/>
                </a:solidFill>
                <a:latin typeface="Consolas"/>
              </a:rPr>
              <a:t>[...rooms].sort((a, b)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  return </a:t>
            </a:r>
            <a:r>
              <a:rPr sz="850" b="0">
                <a:solidFill>
                  <a:srgbClr val="D4D4D8"/>
                </a:solidFill>
                <a:latin typeface="Consolas"/>
              </a:rPr>
              <a:t>a.pricePerHour - b.pricePerHour;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2. По убыванию (от дорогих к дешевым):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sortByPriceDesc</a:t>
            </a:r>
            <a:r>
              <a:rPr sz="850" b="0">
                <a:solidFill>
                  <a:srgbClr val="D4D4D8"/>
                </a:solidFill>
                <a:latin typeface="Consolas"/>
              </a:rPr>
              <a:t>(rooms)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 b="0">
                <a:solidFill>
                  <a:srgbClr val="61AFEF"/>
                </a:solidFill>
                <a:latin typeface="Consolas"/>
              </a:rPr>
              <a:t>[...rooms].sort((a, b)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  return </a:t>
            </a:r>
            <a:r>
              <a:rPr sz="850" b="0">
                <a:solidFill>
                  <a:srgbClr val="D4D4D8"/>
                </a:solidFill>
                <a:latin typeface="Consolas"/>
              </a:rPr>
              <a:t>b.pricePerHour - a.pricePerHour;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Направление сортировки цен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 возрастанию (Asc):
</a:t>
            </a:r>
            <a:r>
              <a:rPr sz="850" b="0">
                <a:solidFill>
                  <a:srgbClr val="555555"/>
                </a:solidFill>
                <a:latin typeface="Inter"/>
              </a:rPr>
              <a:t>Выражение a.price - b.price ставит меньшую стоимость в начало массива.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 убыванию (Desc):
</a:t>
            </a:r>
            <a:r>
              <a:rPr sz="850" b="0">
                <a:solidFill>
                  <a:srgbClr val="555555"/>
                </a:solidFill>
                <a:latin typeface="Inter"/>
              </a:rPr>
              <a:t>Выражение b.price - a.price выводит премиальные конференц-залы наверх.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Спред-оператор [...]:
</a:t>
            </a:r>
            <a:r>
              <a:rPr sz="850" b="0">
                <a:solidFill>
                  <a:srgbClr val="555555"/>
                </a:solidFill>
                <a:latin typeface="Inter"/>
              </a:rPr>
              <a:t>Создает поверхностную копию массива перед сортировкой, предотвращая побочные эффекты.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Интерфейсные кнопки: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Привязаны к кнопкам «Цена: по возрастанию ↑» и «Цена: по убыванию ↓».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405880" y="259079"/>
            <a:ext cx="24841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КОМБИНИРОВАННАЯ ЛОГИКА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каком порядке логичнее выполнять фильтрацию и сортировку: до или после?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Связка поиска и сортировки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let </a:t>
            </a:r>
            <a:r>
              <a:rPr sz="850" b="0">
                <a:solidFill>
                  <a:srgbClr val="D4D4D8"/>
                </a:solidFill>
                <a:latin typeface="Consolas"/>
              </a:rPr>
              <a:t>displayedRooms = [...OFFICE_ROOMS];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Фильтрация текущего набора: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applyFilter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q = searchInput.value.toLowerCase().trim();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displayedRooms = OFFICE_ROOMS.filter(r =&gt; 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r.title.toLowerCase().includes(q)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render(displayedRooms);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Сортировка уже отфильтрованного набора: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sortAscBtn.addEventListener(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'click'</a:t>
            </a:r>
            <a:r>
              <a:rPr sz="850" b="0">
                <a:solidFill>
                  <a:srgbClr val="D4D4D8"/>
                </a:solidFill>
                <a:latin typeface="Consolas"/>
              </a:rPr>
              <a:t>, 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displayedRooms.sort((a, b) =&gt; a.pricePerHour - b.pricePerHour);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render(displayedRooms);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Синхронизация фильтра и сортировки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Последовательность: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Сначала фильтруется оригинальный массив, а затем полученный результат сортируется.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Экономия вычислений:
</a:t>
            </a:r>
            <a:r>
              <a:rPr sz="850" b="0">
                <a:solidFill>
                  <a:srgbClr val="555555"/>
                </a:solidFill>
                <a:latin typeface="Inter"/>
              </a:rPr>
              <a:t>Сортировать отфильтрованный маленький массив гораздо быстрее, чем всю базу.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Сохранение выборки: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клике на сортировку найденные поиском карточки не сбрасываются.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Единая функция render:
</a:t>
            </a:r>
            <a:r>
              <a:rPr sz="850" b="0">
                <a:solidFill>
                  <a:srgbClr val="555555"/>
                </a:solidFill>
                <a:latin typeface="Inter"/>
              </a:rPr>
              <a:t>Отображение в DOM делегировано изолированной функции рендера карточек.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504940" y="259079"/>
            <a:ext cx="23850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КАЛЬКУЛЯТОР СТОИМОСТИ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Зачем при расчете стоимости использовать приведение типов Number() и Math.max()?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Математическая модель расчета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Функция расчета стоимости аренды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calculateTotal</a:t>
            </a:r>
            <a:r>
              <a:rPr sz="850" b="0">
                <a:solidFill>
                  <a:srgbClr val="D4D4D8"/>
                </a:solidFill>
                <a:latin typeface="Consolas"/>
              </a:rPr>
              <a:t>(pricePerHour, hours)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p = Number(pricePerHour) || 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h = Math.max(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, Number(hours) ||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 b="0">
                <a:solidFill>
                  <a:srgbClr val="D4D4D8"/>
                </a:solidFill>
                <a:latin typeface="Consolas"/>
              </a:rPr>
              <a:t>p * h;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Примеры расчета: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sum1 = calculateTotal(</a:t>
            </a:r>
            <a:r>
              <a:rPr sz="850" b="0">
                <a:solidFill>
                  <a:srgbClr val="D19A66"/>
                </a:solidFill>
                <a:latin typeface="Consolas"/>
              </a:rPr>
              <a:t>450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2</a:t>
            </a:r>
            <a:r>
              <a:rPr sz="850" b="0">
                <a:solidFill>
                  <a:srgbClr val="D4D4D8"/>
                </a:solidFill>
                <a:latin typeface="Consolas"/>
              </a:rPr>
              <a:t>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900 ₽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sum2 = calculateTotal(</a:t>
            </a:r>
            <a:r>
              <a:rPr sz="850" b="0">
                <a:solidFill>
                  <a:srgbClr val="D19A66"/>
                </a:solidFill>
                <a:latin typeface="Consolas"/>
              </a:rPr>
              <a:t>1200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3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  <a:r>
              <a:rPr sz="850" b="0">
                <a:solidFill>
                  <a:srgbClr val="5C6370"/>
                </a:solidFill>
                <a:latin typeface="Consolas"/>
              </a:rPr>
              <a:t>// 3600 ₽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Формула стоимости бронирования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Базовая формула:
</a:t>
            </a:r>
            <a:r>
              <a:rPr sz="850" b="0">
                <a:solidFill>
                  <a:srgbClr val="555555"/>
                </a:solidFill>
                <a:latin typeface="Inter"/>
              </a:rPr>
              <a:t>Итоговая сумма вычисляется простым умножением: total = pricePerHour * hours.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Приведение Number():
</a:t>
            </a:r>
            <a:r>
              <a:rPr sz="850" b="0">
                <a:solidFill>
                  <a:srgbClr val="555555"/>
                </a:solidFill>
                <a:latin typeface="Inter"/>
              </a:rPr>
              <a:t>Значения из input.value всегда приходят строками ('2' -&gt; 2), требуя преобразования.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Метод Math.max(1, h):
</a:t>
            </a:r>
            <a:r>
              <a:rPr sz="850" b="0">
                <a:solidFill>
                  <a:srgbClr val="555555"/>
                </a:solidFill>
                <a:latin typeface="Inter"/>
              </a:rPr>
              <a:t>Гарантирует, что количество часов не станет нулевым или отрицательным числом.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Чистая функция: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не привязана к разметке и может использоваться в тестах и на сервере.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СОБЫТИЯ КАЛЬКУЛЯТОРА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чем разница между событиями input и change при работе с полями форм?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Слушатели событий change и input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roomSelect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'roomSelect'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hoursInput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'hoursInput'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При смене комнаты в выпадающем списке: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roomSelect.addEventListener(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'change'</a:t>
            </a:r>
            <a:r>
              <a:rPr sz="850" b="0">
                <a:solidFill>
                  <a:srgbClr val="61AFEF"/>
                </a:solidFill>
                <a:latin typeface="Consolas"/>
              </a:rPr>
              <a:t>, updatePrice);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При вводе или изменении количества часов: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hoursInput.addEventListener(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'input'</a:t>
            </a:r>
            <a:r>
              <a:rPr sz="850" b="0">
                <a:solidFill>
                  <a:srgbClr val="61AFEF"/>
                </a:solidFill>
                <a:latin typeface="Consolas"/>
              </a:rPr>
              <a:t>, updatePrice);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Первичный расчет при загрузке: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updatePrice();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События change vs input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Событие change:
</a:t>
            </a:r>
            <a:r>
              <a:rPr sz="850" b="0">
                <a:solidFill>
                  <a:srgbClr val="555555"/>
                </a:solidFill>
                <a:latin typeface="Inter"/>
              </a:rPr>
              <a:t>Генерируется выпадающим списком &lt;select&gt; при выборе пользователем другого пункта.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Событие input:
</a:t>
            </a:r>
            <a:r>
              <a:rPr sz="850" b="0">
                <a:solidFill>
                  <a:srgbClr val="555555"/>
                </a:solidFill>
                <a:latin typeface="Inter"/>
              </a:rPr>
              <a:t>Срабатывает мгновенно при каждом нажатии клавиши или клике по стрелкам числа.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Реальное время (Realtime):
</a:t>
            </a:r>
            <a:r>
              <a:rPr sz="850" b="0">
                <a:solidFill>
                  <a:srgbClr val="555555"/>
                </a:solidFill>
                <a:latin typeface="Inter"/>
              </a:rPr>
              <a:t>Сумма в блоке #totalPrice пересчитывается без малейших задержек и подвисаний.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Первичный запуск:
</a:t>
            </a:r>
            <a:r>
              <a:rPr sz="850" b="0">
                <a:solidFill>
                  <a:srgbClr val="555555"/>
                </a:solidFill>
                <a:latin typeface="Inter"/>
              </a:rPr>
              <a:t>Вызов updatePrice() на старте сразу рассчитывает стоимость для дефолтных значений.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207760" y="259079"/>
            <a:ext cx="26822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КАЛЬКУЛЯТОР БРОНИ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изменение полей ввода мгновенно пересчитывает итоговую сумму бронирования?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1AFEF"/>
                </a:solidFill>
                <a:latin typeface="Montserrat"/>
              </a:rPr>
              <a:t>1. ВЫБОР КОМНАТЫ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Событие change у &lt;select&gt;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19A66"/>
                </a:solidFill>
                <a:latin typeface="Montserrat"/>
              </a:rPr>
              <a:t>2. ВВОД ЧАСОВ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Событие input у &lt;input&gt;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D19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8C379"/>
                </a:solidFill>
                <a:latin typeface="Montserrat"/>
              </a:rPr>
              <a:t>3. ИТОГОВЫЙ РАСЧЕТ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price * hours -&gt; #totalPrice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1F242E"/>
          </a:solidFill>
          <a:ln w="12700">
            <a:solidFill>
              <a:srgbClr val="61AFEF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const opt = select.options[select.selectedIndex];
const price = Number(
  opt.dataset.price || 0
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74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28241E"/>
          </a:solidFill>
          <a:ln w="12700">
            <a:solidFill>
              <a:srgbClr val="D19A66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const raw = hoursInput.value;
const hours = Math.max(
  1, Number(raw || 1)
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1E2720"/>
          </a:solidFill>
          <a:ln w="12700">
            <a:solidFill>
              <a:srgbClr val="98C379"/>
            </a:solidFill>
          </a:ln>
        </p:spPr>
        <p:txBody>
          <a:bodyPr rtlCol="0" anchor="ctr" tIns="76200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const total = price * hours;
pricePerHourSpan.textContent =
  price + ' ₽';
totalPriceSpan.textContent =
  total + ' ₽';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Чтение тарифа комнаты: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Привязка к событию change выпадающего списка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Извлечение цены из атрибута data-price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Преобразование строки в число через Number()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Авто-выбор комнаты из query-параметра URL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Обновление подписи базового почасового тарифа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4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Обработка времени аренды: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Событие input обеспечивает мгновенный расчет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Защита от некорректного ввода и пустых значений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Метод Math.max(1, hours) гарантирует минимум 1 ч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Максимальное ограничение до 24 часов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Корректная обработка стрелочек инпута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6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Синхронизация с экраном: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Формула расчета: totalPrice = price * hours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Мгновенный вывод суммы без перезагрузки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Подготовка данных для объекта бронирования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Генерация случайного номера заказа при submit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Отправка брони в массив сессии MOCK_BOOKINGS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DATA-АТРИБУТЫ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чем преимущество хранения тарифа комнаты в атрибуте data-price?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Хранение цены в data-атрибутах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Генерация options с ценой в data-атрибуте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&lt;option value="focus-1" data-price="450"&gt;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Мини-офис Focus (450 ₽/час)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&lt;/option&gt;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Чтение значения в JavaScript через dataset: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selectedOpt = roomSelect.options[roomSelect.selectedIndex];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price = Number(selectedOpt.dataset.price || 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'Тариф выбранной комнаты:'</a:t>
            </a:r>
            <a:r>
              <a:rPr sz="850" b="0">
                <a:solidFill>
                  <a:srgbClr val="D4D4D8"/>
                </a:solidFill>
                <a:latin typeface="Consolas"/>
              </a:rPr>
              <a:t>, price);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Метаданные в dataset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Атрибуты data-*:
</a:t>
            </a:r>
            <a:r>
              <a:rPr sz="850" b="0">
                <a:solidFill>
                  <a:srgbClr val="555555"/>
                </a:solidFill>
                <a:latin typeface="Inter"/>
              </a:rPr>
              <a:t>Стандартный способ HTML5 привязать любые вспомогательные данные к DOM-элементу.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Объект dataset:
</a:t>
            </a:r>
            <a:r>
              <a:rPr sz="850" b="0">
                <a:solidFill>
                  <a:srgbClr val="555555"/>
                </a:solidFill>
                <a:latin typeface="Inter"/>
              </a:rPr>
              <a:t>Браузер автоматически собирает атрибуты data-price в свойство element.dataset.price.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Мгновенное чтение: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Не нужно заново сканировать массив и искать объект комнаты по идентификатору.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Целостность данных:
</a:t>
            </a:r>
            <a:r>
              <a:rPr sz="850" b="0">
                <a:solidFill>
                  <a:srgbClr val="555555"/>
                </a:solidFill>
                <a:latin typeface="Inter"/>
              </a:rPr>
              <a:t>Тариф жестко привязан к конкретному элементу выпадающего списка.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URL ПАРАМЕТРЫ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URLSearchParams упрощает извлечение параметров из адресной строки?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Парсинг URLSearchParams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URL страницы: booking.html?room=focus-1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searchString = window.location.search;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'?room=focus-1'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61AFEF"/>
                </a:solidFill>
                <a:latin typeface="Consolas"/>
              </a:rPr>
              <a:t>urlParams = new URLSearchParams(searchString);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Извлечение значения параметра: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roomId = urlParams.get(</a:t>
            </a:r>
            <a:r>
              <a:rPr sz="850" b="0">
                <a:solidFill>
                  <a:srgbClr val="98C379"/>
                </a:solidFill>
                <a:latin typeface="Consolas"/>
              </a:rPr>
              <a:t>'room'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'ID комнаты из URL:'</a:t>
            </a:r>
            <a:r>
              <a:rPr sz="850" b="0">
                <a:solidFill>
                  <a:srgbClr val="D4D4D8"/>
                </a:solidFill>
                <a:latin typeface="Consolas"/>
              </a:rPr>
              <a:t>, roomId);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'focus-1'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Интерфейс URLSearchParams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Параметры запроса (Query):
</a:t>
            </a:r>
            <a:r>
              <a:rPr sz="850" b="0">
                <a:solidFill>
                  <a:srgbClr val="555555"/>
                </a:solidFill>
                <a:latin typeface="Inter"/>
              </a:rPr>
              <a:t>Данные передаются в строке адреса после символа ? в формате ключ=значение.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Встроенный класс:
</a:t>
            </a:r>
            <a:r>
              <a:rPr sz="850" b="0">
                <a:solidFill>
                  <a:srgbClr val="555555"/>
                </a:solidFill>
                <a:latin typeface="Inter"/>
              </a:rPr>
              <a:t>URLSearchParams избавляет от написания сложных и хрупких регулярных выражений.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Метод .get():
</a:t>
            </a:r>
            <a:r>
              <a:rPr sz="850" b="0">
                <a:solidFill>
                  <a:srgbClr val="555555"/>
                </a:solidFill>
                <a:latin typeface="Inter"/>
              </a:rPr>
              <a:t>Возвращает строковое значение указанного параметра или null, если параметра нет.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Связка компонентов: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Позволяет странице бронирования узнать, какую именно комнату выбрал пользователь.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АВТОПОДСТАНОВКА URL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Каким образом связываются кнопка бронирования в каталоге и форма оформления заказа?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Автовыбор комнаты из ссылки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 каталоге ссылка на кнопке формируется так: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&lt;a href="booking.html?room=${room.id}" class="btn btn-primary"&gt;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На странице booking.html считываем параметр: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urlParams = new URLSearchParams(window.location.search);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roomId = urlParams.get(</a:t>
            </a:r>
            <a:r>
              <a:rPr sz="850" b="0">
                <a:solidFill>
                  <a:srgbClr val="98C379"/>
                </a:solidFill>
                <a:latin typeface="Consolas"/>
              </a:rPr>
              <a:t>'room'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if </a:t>
            </a:r>
            <a:r>
              <a:rPr sz="850" b="0">
                <a:solidFill>
                  <a:srgbClr val="D4D4D8"/>
                </a:solidFill>
                <a:latin typeface="Consolas"/>
              </a:rPr>
              <a:t>(roomId &amp;&amp; roomSelect)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roomSelect.value = roomId;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Автовыбор пункта в &lt;select&gt;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updatePrice();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Мгновенный расчет тарифа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Бесшовный переход в бронирование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Динамические ссылки:
</a:t>
            </a:r>
            <a:r>
              <a:rPr sz="850" b="0">
                <a:solidFill>
                  <a:srgbClr val="555555"/>
                </a:solidFill>
                <a:latin typeface="Inter"/>
              </a:rPr>
              <a:t>Кнопки в каталоге генерируются с параметром конкретной комнаты: ?room=focus-1.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Автоподстановка в select:
</a:t>
            </a:r>
            <a:r>
              <a:rPr sz="850" b="0">
                <a:solidFill>
                  <a:srgbClr val="555555"/>
                </a:solidFill>
                <a:latin typeface="Inter"/>
              </a:rPr>
              <a:t>Свойство roomSelect.value = roomId автоматически выбирает нужный пункт в форме.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Инициализация цены:
</a:t>
            </a:r>
            <a:r>
              <a:rPr sz="850" b="0">
                <a:solidFill>
                  <a:srgbClr val="555555"/>
                </a:solidFill>
                <a:latin typeface="Inter"/>
              </a:rPr>
              <a:t>Вызов updatePrice() сразу показывает тариф 450 ₽/час и сумму за 2 часа (900 ₽).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Комфорт клиента: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Пользователю не нужно повторно искать выбранный офис в длинном выпадающем списке.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99300" y="259079"/>
            <a:ext cx="17907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ВАЛИДАЦИЯ ФОРМЫ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Зачем дублировать ограничения min и max в JavaScript-коде калькулятора?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Контроль ввода количества часов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Атрибуты ограничений в HTML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&lt;input type="number" id="hoursInput" min="1" max="24" value="2" required&gt;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Дополнительный контроль в обработчике JS: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hoursInput.addEventListener(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'input'</a:t>
            </a:r>
            <a:r>
              <a:rPr sz="850" b="0">
                <a:solidFill>
                  <a:srgbClr val="D4D4D8"/>
                </a:solidFill>
                <a:latin typeface="Consolas"/>
              </a:rPr>
              <a:t>, 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let </a:t>
            </a:r>
            <a:r>
              <a:rPr sz="850" b="0">
                <a:solidFill>
                  <a:srgbClr val="D4D4D8"/>
                </a:solidFill>
                <a:latin typeface="Consolas"/>
              </a:rPr>
              <a:t>val = parseInt(hoursInput.value, </a:t>
            </a:r>
            <a:r>
              <a:rPr sz="850" b="0">
                <a:solidFill>
                  <a:srgbClr val="D19A66"/>
                </a:solidFill>
                <a:latin typeface="Consolas"/>
              </a:rPr>
              <a:t>10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(val &lt;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) hoursInput.value =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(val &gt; </a:t>
            </a:r>
            <a:r>
              <a:rPr sz="850" b="0">
                <a:solidFill>
                  <a:srgbClr val="D19A66"/>
                </a:solidFill>
                <a:latin typeface="Consolas"/>
              </a:rPr>
              <a:t>24</a:t>
            </a:r>
            <a:r>
              <a:rPr sz="850" b="0">
                <a:solidFill>
                  <a:srgbClr val="D4D4D8"/>
                </a:solidFill>
                <a:latin typeface="Consolas"/>
              </a:rPr>
              <a:t>) hoursInput.value = </a:t>
            </a:r>
            <a:r>
              <a:rPr sz="850" b="0">
                <a:solidFill>
                  <a:srgbClr val="D19A66"/>
                </a:solidFill>
                <a:latin typeface="Consolas"/>
              </a:rPr>
              <a:t>24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updatePrice();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Защита границ калькулятора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HTML-атрибуты min/max:
</a:t>
            </a:r>
            <a:r>
              <a:rPr sz="850" b="0">
                <a:solidFill>
                  <a:srgbClr val="555555"/>
                </a:solidFill>
                <a:latin typeface="Inter"/>
              </a:rPr>
              <a:t>Задают диапазон значений для встроенных стрелочек браузера от 1 до 24 часов.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Ручной ввод с клавиатуры: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Пользователь может вручную напечатать '-5' или '99', обойдя ограничения стрелок.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JS-санитайзер:
</a:t>
            </a:r>
            <a:r>
              <a:rPr sz="850" b="0">
                <a:solidFill>
                  <a:srgbClr val="555555"/>
                </a:solidFill>
                <a:latin typeface="Inter"/>
              </a:rPr>
              <a:t>Скрипт проверяет введенное число и принудительно возвращает его в диапазон 1–24.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Корректность бизнес-логики:
</a:t>
            </a:r>
            <a:r>
              <a:rPr sz="850" b="0">
                <a:solidFill>
                  <a:srgbClr val="555555"/>
                </a:solidFill>
                <a:latin typeface="Inter"/>
              </a:rPr>
              <a:t>Исключает создание броней с нулевой стоимостью или на сотни часов аренды.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КАТАЛОГ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фильтрацию всегда нужно применять к исходному массиву, а не к отфильтрованному?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Функция initCatalogFilters()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initCatalogFilters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container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'catalogContainer'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searchInput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'searchInput'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(!container || typeof OFFICE_ROOMS === 'undefined') return;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let </a:t>
            </a:r>
            <a:r>
              <a:rPr sz="850" b="0">
                <a:solidFill>
                  <a:srgbClr val="D4D4D8"/>
                </a:solidFill>
                <a:latin typeface="Consolas"/>
              </a:rPr>
              <a:t>displayedRooms = [...OFFICE_ROOMS];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applyFilter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q = (searchInput ? searchInput.value : '').toLowerCase().trim();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displayedRooms = OFFICE_ROOMS.filter(r =&gt; r.title.toLowerCase().includes(q));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render(displayedRooms);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Управление фильтрацией каталога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Инициализация модуля: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Проверяет наличие контейнера на странице, защищая другие страницы от ошибок.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Локальное состояние: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Переменная displayedRooms хранит актуальный срез данных, видимый пользователю.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Фильтрация от эталона:
</a:t>
            </a:r>
            <a:r>
              <a:rPr sz="850" b="0">
                <a:solidFill>
                  <a:srgbClr val="555555"/>
                </a:solidFill>
                <a:latin typeface="Inter"/>
              </a:rPr>
              <a:t>Поиск всегда фильтрует оригинальный OFFICE_ROOMS, возвращая карточки при стирании букв.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Слушатель input:
</a:t>
            </a:r>
            <a:r>
              <a:rPr sz="850" b="0">
                <a:solidFill>
                  <a:srgbClr val="555555"/>
                </a:solidFill>
                <a:latin typeface="Inter"/>
              </a:rPr>
              <a:t>searchInput.addEventListener('input', applyFilter) дает отклик без нажатия Enter.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СОРТИРОВКА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обеспечить сохранение результатов поиска при переключении сортировки?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Обработчики кнопок сортировки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sortAscBtn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'sortAsc'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sortDescBtn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'sortDesc'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if </a:t>
            </a:r>
            <a:r>
              <a:rPr sz="850" b="0">
                <a:solidFill>
                  <a:srgbClr val="D4D4D8"/>
                </a:solidFill>
                <a:latin typeface="Consolas"/>
              </a:rPr>
              <a:t>(sortAscBtn)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sortAscBtn.addEventListener(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'click'</a:t>
            </a:r>
            <a:r>
              <a:rPr sz="850" b="0">
                <a:solidFill>
                  <a:srgbClr val="D4D4D8"/>
                </a:solidFill>
                <a:latin typeface="Consolas"/>
              </a:rPr>
              <a:t>, 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displayedRooms.sort((a, b) =&gt; a.pricePerHour - b.pricePerHour);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render(displayedRooms);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if </a:t>
            </a:r>
            <a:r>
              <a:rPr sz="850" b="0">
                <a:solidFill>
                  <a:srgbClr val="D4D4D8"/>
                </a:solidFill>
                <a:latin typeface="Consolas"/>
              </a:rPr>
              <a:t>(sortDescBtn)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sortDescBtn.addEventListener(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'click'</a:t>
            </a:r>
            <a:r>
              <a:rPr sz="850" b="0">
                <a:solidFill>
                  <a:srgbClr val="D4D4D8"/>
                </a:solidFill>
                <a:latin typeface="Consolas"/>
              </a:rPr>
              <a:t>, 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displayedRooms.sort((a, b) =&gt; b.pricePerHour - a.pricePerHour);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render(displayedRooms);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Интерактивная сортировка карточек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Сортировка выборки:
</a:t>
            </a:r>
            <a:r>
              <a:rPr sz="850" b="0">
                <a:solidFill>
                  <a:srgbClr val="555555"/>
                </a:solidFill>
                <a:latin typeface="Inter"/>
              </a:rPr>
              <a:t>Сортируется массив displayedRooms: если применен поиск, порядок меняется внутри найденных.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Числовой порядок:
</a:t>
            </a:r>
            <a:r>
              <a:rPr sz="850" b="0">
                <a:solidFill>
                  <a:srgbClr val="555555"/>
                </a:solidFill>
                <a:latin typeface="Inter"/>
              </a:rPr>
              <a:t>От 250 ₽ до 1200 ₽ (по возрастанию) или от 1200 ₽ до 250 ₽ (по убыванию).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Мгновенный рендер:
</a:t>
            </a:r>
            <a:r>
              <a:rPr sz="850" b="0">
                <a:solidFill>
                  <a:srgbClr val="555555"/>
                </a:solidFill>
                <a:latin typeface="Inter"/>
              </a:rPr>
              <a:t>render(displayedRooms) обновляет DOM-дерево за миллисекунды без мигания экрана.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Готовность карточек:
</a:t>
            </a:r>
            <a:r>
              <a:rPr sz="850" b="0">
                <a:solidFill>
                  <a:srgbClr val="555555"/>
                </a:solidFill>
                <a:latin typeface="Inter"/>
              </a:rPr>
              <a:t>Каждая отрисованная карточка сохраняет корректную ссылку с query-параметром.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504940" y="259079"/>
            <a:ext cx="23850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КАЛЬКУЛЯТОР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ключевые этапы включает в себя инициализация калькулятора бронирования?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Функция initBookingCalc()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initBookingCalc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Проверка авторизации: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currentUser = localStorage.getItem(</a:t>
            </a:r>
            <a:r>
              <a:rPr sz="850" b="0">
                <a:solidFill>
                  <a:srgbClr val="98C379"/>
                </a:solidFill>
                <a:latin typeface="Consolas"/>
              </a:rPr>
              <a:t>'currentUser'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(!currentUser) { window.location.href = </a:t>
            </a:r>
            <a:r>
              <a:rPr sz="850" b="0">
                <a:solidFill>
                  <a:srgbClr val="98C379"/>
                </a:solidFill>
                <a:latin typeface="Consolas"/>
              </a:rPr>
              <a:t>'login.html'</a:t>
            </a:r>
            <a:r>
              <a:rPr sz="850" b="0">
                <a:solidFill>
                  <a:srgbClr val="D4D4D8"/>
                </a:solidFill>
                <a:latin typeface="Consolas"/>
              </a:rPr>
              <a:t>; return;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Генерация &lt;option&gt; из OFFICE_ROOMS: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roomSelect.innerHTML = OFFICE_ROOMS.map(r =&gt; `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&lt;option value="${r.id}" data-price="${r.pricePerHour}"&gt;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${r.title} (${r.pricePerHour} ₽/час)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&lt;/option&gt;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`).join('');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Чтение URL и привязка слушателей: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syncURLParam();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roomSelect.addEventListener('change', updatePrice);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hoursInput.addEventListener('input', updatePrice);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Сборка клиентского калькулятора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авторизацией: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пользователь не залогинен, происходит автоматический редирект на login.html.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Динамический select:
</a:t>
            </a:r>
            <a:r>
              <a:rPr sz="850" b="0">
                <a:solidFill>
                  <a:srgbClr val="555555"/>
                </a:solidFill>
                <a:latin typeface="Inter"/>
              </a:rPr>
              <a:t>Список комнат генерируется из единого массива данных: изменения в data.js сразу видны.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Синхронизация параметров: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переходе по ссылке ?room=focus-1 форма автоматически выбирает нужный офис.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Связка слушателей:
</a:t>
            </a:r>
            <a:r>
              <a:rPr sz="850" b="0">
                <a:solidFill>
                  <a:srgbClr val="555555"/>
                </a:solidFill>
                <a:latin typeface="Inter"/>
              </a:rPr>
              <a:t>Любое действие в форме мгновенно запускает функцию расчета стоимости updatePrice().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ОФОРМЛЕНИЕ ЗАКАЗА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чем преимущество метода unshift() перед push() при сохранении новых заказов?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Обработка отправки формы бронирования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form.addEventListener(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'submit'</a:t>
            </a:r>
            <a:r>
              <a:rPr sz="850" b="0">
                <a:solidFill>
                  <a:srgbClr val="D4D4D8"/>
                </a:solidFill>
                <a:latin typeface="Consolas"/>
              </a:rPr>
              <a:t>, (e)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e.preventDefault();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appNumber = Math.floor(</a:t>
            </a:r>
            <a:r>
              <a:rPr sz="850" b="0">
                <a:solidFill>
                  <a:srgbClr val="D19A66"/>
                </a:solidFill>
                <a:latin typeface="Consolas"/>
              </a:rPr>
              <a:t>10000</a:t>
            </a:r>
            <a:r>
              <a:rPr sz="850" b="0">
                <a:solidFill>
                  <a:srgbClr val="D4D4D8"/>
                </a:solidFill>
                <a:latin typeface="Consolas"/>
              </a:rPr>
              <a:t> + Math.random() * </a:t>
            </a:r>
            <a:r>
              <a:rPr sz="850" b="0">
                <a:solidFill>
                  <a:srgbClr val="D19A66"/>
                </a:solidFill>
                <a:latin typeface="Consolas"/>
              </a:rPr>
              <a:t>90000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selectedRoom = OFFICE_ROOMS.find(r =&gt; r.id === roomSelect.value);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Добавление в массив сессии: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MOCK_BOOKINGS.unshift({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id: String(appNumber),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roomTitle: selectedRoom ? selectedRoom.title : 'Офис',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date: document.getElementById('bookingDate').value,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hours: Math.max(1, Number(hoursInput.value || 1)),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totalPrice: selectedRoom.pricePerHour * hours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showNotification('Бронь создана! Заявка №' + appNumber, 'success');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Создание и регистрация заявки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Перехват submit:
</a:t>
            </a:r>
            <a:r>
              <a:rPr sz="850" b="0">
                <a:solidFill>
                  <a:srgbClr val="555555"/>
                </a:solidFill>
                <a:latin typeface="Inter"/>
              </a:rPr>
              <a:t>Отменяет перезагрузку страницы браузером и передает управление в JavaScript.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Номер заявки:
</a:t>
            </a:r>
            <a:r>
              <a:rPr sz="850" b="0">
                <a:solidFill>
                  <a:srgbClr val="555555"/>
                </a:solidFill>
                <a:latin typeface="Inter"/>
              </a:rPr>
              <a:t>Генерация 5-значного номера через Math.random() создает ощущение реального бэкенда.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Метод unshift():
</a:t>
            </a:r>
            <a:r>
              <a:rPr sz="850" b="0">
                <a:solidFill>
                  <a:srgbClr val="555555"/>
                </a:solidFill>
                <a:latin typeface="Inter"/>
              </a:rPr>
              <a:t>Добавляет новую бронь в начало массива, чтобы свежий заказ сразу отобразился сверху.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Всплывающий Toast:
</a:t>
            </a:r>
            <a:r>
              <a:rPr sz="850" b="0">
                <a:solidFill>
                  <a:srgbClr val="555555"/>
                </a:solidFill>
                <a:latin typeface="Inter"/>
              </a:rPr>
              <a:t>Зеленое уведомление подтверждает успех и переводит клиента в личный кабинет.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207760" y="259079"/>
            <a:ext cx="26822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НАДЕЖНОСТЬ БИЗНЕС-ЛОГИКИ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краевые случаи необходимо учитывать при создании клиентского калькулятора?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Защита от Edge Cases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Защита от отсутствующих или поврежденных данных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updatePrice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selectedOption = roomSelect.options[roomSelect.selectedIndex];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price = selectedOption ? Number(selectedOption.dataset.price || 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) : 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hours = Math.max(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, Number(hoursInput.value ||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));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total = price * hours;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(pricePerHourSpan) pricePerHourSpan.textContent = price + </a:t>
            </a:r>
            <a:r>
              <a:rPr sz="850" b="0">
                <a:solidFill>
                  <a:srgbClr val="98C379"/>
                </a:solidFill>
                <a:latin typeface="Consolas"/>
              </a:rPr>
              <a:t>' ₽'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(totalPriceSpan) totalPriceSpan.textContent = total + </a:t>
            </a:r>
            <a:r>
              <a:rPr sz="850" b="0">
                <a:solidFill>
                  <a:srgbClr val="98C379"/>
                </a:solidFill>
                <a:latin typeface="Consolas"/>
              </a:rPr>
              <a:t>' ₽'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Отказоустойчивость расчетов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undefined: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Проверка selectedOption предотвращает ошибку TypeError при пустом списке комнат.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NaN:
</a:t>
            </a:r>
            <a:r>
              <a:rPr sz="850" b="0">
                <a:solidFill>
                  <a:srgbClr val="555555"/>
                </a:solidFill>
                <a:latin typeface="Inter"/>
              </a:rPr>
              <a:t>Логический оператор || 0 и || 1 спасает от сложения пустых строк и появления NaN.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Проверка элементов: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Условия if (pricePerHourSpan) гарантируют работу кода на любых страницах сайта.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Стабильность приложения: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Приложение работает надежно при любых действиях и случайных ошибках пользователя.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802120" y="259079"/>
            <a:ext cx="20878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ПРОИЗВОДИТЕЛЬНОСТЬ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паттерн Debounce защищает интерфейс от лишних вычислений при быстром наборе текста?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Оптимизация поиска через Debounce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Задержка вызова функции при быстром наборе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debounce</a:t>
            </a:r>
            <a:r>
              <a:rPr sz="850" b="0">
                <a:solidFill>
                  <a:srgbClr val="D4D4D8"/>
                </a:solidFill>
                <a:latin typeface="Consolas"/>
              </a:rPr>
              <a:t>(callback, delay = </a:t>
            </a:r>
            <a:r>
              <a:rPr sz="850" b="0">
                <a:solidFill>
                  <a:srgbClr val="D19A66"/>
                </a:solidFill>
                <a:latin typeface="Consolas"/>
              </a:rPr>
              <a:t>250</a:t>
            </a:r>
            <a:r>
              <a:rPr sz="850" b="0">
                <a:solidFill>
                  <a:srgbClr val="D4D4D8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let </a:t>
            </a:r>
            <a:r>
              <a:rPr sz="850" b="0">
                <a:solidFill>
                  <a:srgbClr val="D4D4D8"/>
                </a:solidFill>
                <a:latin typeface="Consolas"/>
              </a:rPr>
              <a:t>timeoutId = </a:t>
            </a:r>
            <a:r>
              <a:rPr sz="850" b="0">
                <a:solidFill>
                  <a:srgbClr val="C678DD"/>
                </a:solidFill>
                <a:latin typeface="Consolas"/>
              </a:rPr>
              <a:t>null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D4D4D8"/>
                </a:solidFill>
                <a:latin typeface="Consolas"/>
              </a:rPr>
              <a:t>(...args)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clearTimeout(timeoutId);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  timeoutId = setTimeout(()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  callback.apply(this, args);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}, delay);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Применение к поиску в каталоге: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searchInput.addEventListener(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'input'</a:t>
            </a:r>
            <a:r>
              <a:rPr sz="850" b="0">
                <a:solidFill>
                  <a:srgbClr val="D4D4D8"/>
                </a:solidFill>
                <a:latin typeface="Consolas"/>
              </a:rPr>
              <a:t>, debounce(applyFilter, </a:t>
            </a:r>
            <a:r>
              <a:rPr sz="850" b="0">
                <a:solidFill>
                  <a:srgbClr val="D19A66"/>
                </a:solidFill>
                <a:latin typeface="Consolas"/>
              </a:rPr>
              <a:t>250</a:t>
            </a:r>
            <a:r>
              <a:rPr sz="850" b="0">
                <a:solidFill>
                  <a:srgbClr val="D4D4D8"/>
                </a:solidFill>
                <a:latin typeface="Consolas"/>
              </a:rPr>
              <a:t>));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Паттерн Debounce для поиска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Проблема частых вызовов: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быстром наборе 10 букв без debounce фильтрация и перерисовка сработают 10 раз.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Пауза в 250 мс:
</a:t>
            </a:r>
            <a:r>
              <a:rPr sz="850" b="0">
                <a:solidFill>
                  <a:srgbClr val="555555"/>
                </a:solidFill>
                <a:latin typeface="Inter"/>
              </a:rPr>
              <a:t>Debounce ждет паузы в печати пользователя и выполняет поиск ровно 1 раз.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Экономия ресурсов:
</a:t>
            </a:r>
            <a:r>
              <a:rPr sz="850" b="0">
                <a:solidFill>
                  <a:srgbClr val="555555"/>
                </a:solidFill>
                <a:latin typeface="Inter"/>
              </a:rPr>
              <a:t>Снижает нагрузку на процессор браузера и устраняет микрофризы на слабых ноутбуках.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Промышленный стандарт:
</a:t>
            </a:r>
            <a:r>
              <a:rPr sz="850" b="0">
                <a:solidFill>
                  <a:srgbClr val="555555"/>
                </a:solidFill>
                <a:latin typeface="Inter"/>
              </a:rPr>
              <a:t>Обязательный паттерн для всех поисковых строк в коммерческой веб-разработке.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ВЕБИНАРА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ключевые паттерны обеспечивают надежность клиентской бизнес-логики?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Итоги клиентской бизнес-логики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Архитектурный стек вебинара 8: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1. Поиск: .filter() + .toLowerCase() + .includes()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2. Сортировка: .sort((a, b) =&gt; a.price - b.price)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3. Калькулятор: price * hours в реальном времени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4. Связка: URLSearchParams(?room=id)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5. Оформление: генерация заявки + MOCK_BOOKINGS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'Бизнес-логика СмартОфис готова!'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Чек-лист качества бизнес-логики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Иммутабельность: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Оригинальные данные в data.js защищены от случайных изменений при сортировке.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Живой расчет:
</a:t>
            </a:r>
            <a:r>
              <a:rPr sz="850" b="0">
                <a:solidFill>
                  <a:srgbClr val="555555"/>
                </a:solidFill>
                <a:latin typeface="Inter"/>
              </a:rPr>
              <a:t>Калькулятор аренды мгновенно реагирует на изменение комнат и часов без перезагрузки.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Связность сценариев:
</a:t>
            </a:r>
            <a:r>
              <a:rPr sz="850" b="0">
                <a:solidFill>
                  <a:srgbClr val="555555"/>
                </a:solidFill>
                <a:latin typeface="Inter"/>
              </a:rPr>
              <a:t>Клиент выбирает комнату в каталоге и бесшовно переходит к ее бронированию.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Результат достигнут:
</a:t>
            </a:r>
            <a:r>
              <a:rPr sz="850" b="0">
                <a:solidFill>
                  <a:srgbClr val="555555"/>
                </a:solidFill>
                <a:latin typeface="Inter"/>
              </a:rPr>
              <a:t>Клиентская часть портала «СмартОфис» получила полноценную интерактивную логику.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5609</Words>
  <Application>Microsoft Office PowerPoint</Application>
  <PresentationFormat>Экран (16:9)</PresentationFormat>
  <Paragraphs>688</Paragraphs>
  <Slides>27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Segoe UI Symbol</vt:lpstr>
      <vt:lpstr>Proxima Nova</vt:lpstr>
      <vt:lpstr>Calibri</vt:lpstr>
      <vt:lpstr>Montserrat ExtraBold</vt:lpstr>
      <vt:lpstr>Montserrat</vt:lpstr>
      <vt:lpstr>PT Sans Caption</vt:lpstr>
      <vt:lpstr>Inter</vt:lpstr>
      <vt:lpstr>Arial</vt:lpstr>
      <vt:lpstr>Consolas</vt:lpstr>
      <vt:lpstr>Montserrat SemiBold</vt:lpstr>
      <vt:lpstr>Inter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259</cp:revision>
  <dcterms:modified xsi:type="dcterms:W3CDTF">2026-09-06T08:47:48Z</dcterms:modified>
</cp:coreProperties>
</file>