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98" r:id="rId60"/>
    <p:sldId id="299" r:id="rId61"/>
    <p:sldId id="300" r:id="rId62"/>
    <p:sldId id="301" r:id="rId63"/>
    <p:sldId id="302" r:id="rId64"/>
    <p:sldId id="303" r:id="rId65"/>
    <p:sldId id="304" r:id="rId66"/>
    <p:sldId id="305" r:id="rId67"/>
    <p:sldId id="306" r:id="rId68"/>
    <p:sldId id="307" r:id="rId69"/>
    <p:sldId id="308" r:id="rId70"/>
    <p:sldId id="309" r:id="rId71"/>
    <p:sldId id="310" r:id="rId72"/>
    <p:sldId id="311" r:id="rId73"/>
    <p:sldId id="312" r:id="rId74"/>
    <p:sldId id="313" r:id="rId75"/>
    <p:sldId id="314" r:id="rId76"/>
    <p:sldId id="315" r:id="rId77"/>
    <p:sldId id="316" r:id="rId78"/>
    <p:sldId id="317" r:id="rId79"/>
    <p:sldId id="318" r:id="rId80"/>
    <p:sldId id="260" r:id="rId27"/>
    <p:sldId id="274" r:id="rId2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Inter" panose="02000503000000020004" pitchFamily="2" charset="0"/>
      <p:regular r:id="rId35"/>
      <p:bold r:id="rId36"/>
      <p:italic r:id="rId37"/>
      <p:boldItalic r:id="rId38"/>
    </p:embeddedFont>
    <p:embeddedFont>
      <p:font typeface="Inter Medium" panose="02000503000000020004" pitchFamily="2" charset="0"/>
      <p:regular r:id="rId39"/>
      <p:italic r:id="rId40"/>
    </p:embeddedFont>
    <p:embeddedFont>
      <p:font typeface="Montserrat" panose="00000500000000000000" pitchFamily="2" charset="-52"/>
      <p:regular r:id="rId41"/>
      <p:bold r:id="rId42"/>
      <p:italic r:id="rId43"/>
      <p:boldItalic r:id="rId44"/>
    </p:embeddedFont>
    <p:embeddedFont>
      <p:font typeface="Montserrat ExtraBold" panose="00000900000000000000" pitchFamily="2" charset="-52"/>
      <p:bold r:id="rId45"/>
      <p:boldItalic r:id="rId46"/>
    </p:embeddedFont>
    <p:embeddedFont>
      <p:font typeface="Montserrat SemiBold" panose="00000700000000000000" pitchFamily="2" charset="-52"/>
      <p:bold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PT Sans Caption" panose="020B0603020203020204" pitchFamily="34" charset="-52"/>
      <p:regular r:id="rId53"/>
      <p:bold r:id="rId54"/>
    </p:embeddedFont>
    <p:embeddedFont>
      <p:font typeface="Segoe UI Symbol" panose="020B0502040204020203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5">
          <p15:clr>
            <a:srgbClr val="747775"/>
          </p15:clr>
        </p15:guide>
        <p15:guide id="2" pos="723">
          <p15:clr>
            <a:srgbClr val="747775"/>
          </p15:clr>
        </p15:guide>
        <p15:guide id="3" pos="5037">
          <p15:clr>
            <a:srgbClr val="747775"/>
          </p15:clr>
        </p15:guide>
        <p15:guide id="4" pos="1152">
          <p15:clr>
            <a:srgbClr val="747775"/>
          </p15:clr>
        </p15:guide>
        <p15:guide id="5" pos="4608">
          <p15:clr>
            <a:srgbClr val="747775"/>
          </p15:clr>
        </p15:guide>
        <p15:guide id="6" orient="horz" pos="1440">
          <p15:clr>
            <a:srgbClr val="747775"/>
          </p15:clr>
        </p15:guide>
        <p15:guide id="7" orient="horz" pos="1728">
          <p15:clr>
            <a:srgbClr val="747775"/>
          </p15:clr>
        </p15:guide>
        <p15:guide id="8" pos="2808">
          <p15:clr>
            <a:srgbClr val="747775"/>
          </p15:clr>
        </p15:guide>
        <p15:guide id="9" orient="horz" pos="2448">
          <p15:clr>
            <a:srgbClr val="747775"/>
          </p15:clr>
        </p15:guide>
        <p15:guide id="10" orient="horz" pos="2735">
          <p15:clr>
            <a:srgbClr val="747775"/>
          </p15:clr>
        </p15:guide>
        <p15:guide id="11" orient="horz" pos="1080">
          <p15:clr>
            <a:srgbClr val="747775"/>
          </p15:clr>
        </p15:guide>
        <p15:guide id="12" orient="horz" pos="868">
          <p15:clr>
            <a:srgbClr val="747775"/>
          </p15:clr>
        </p15:guide>
        <p15:guide id="13" orient="horz" pos="2391" userDrawn="1">
          <p15:clr>
            <a:srgbClr val="747775"/>
          </p15:clr>
        </p15:guide>
        <p15:guide id="14" pos="288">
          <p15:clr>
            <a:srgbClr val="747775"/>
          </p15:clr>
        </p15:guide>
        <p15:guide id="15" pos="5278">
          <p15:clr>
            <a:srgbClr val="747775"/>
          </p15:clr>
        </p15:guide>
        <p15:guide id="16" pos="5184">
          <p15:clr>
            <a:srgbClr val="747775"/>
          </p15:clr>
        </p15:guide>
        <p15:guide id="17" orient="horz" pos="2304">
          <p15:clr>
            <a:srgbClr val="747775"/>
          </p15:clr>
        </p15:guide>
        <p15:guide id="18" pos="427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03"/>
    <a:srgbClr val="434343"/>
    <a:srgbClr val="F26101"/>
    <a:srgbClr val="F97316"/>
    <a:srgbClr val="FA9046"/>
    <a:srgbClr val="F88B06"/>
    <a:srgbClr val="FFFFFF"/>
    <a:srgbClr val="FF6102"/>
    <a:srgbClr val="FF600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989" autoAdjust="0"/>
  </p:normalViewPr>
  <p:slideViewPr>
    <p:cSldViewPr snapToGrid="0">
      <p:cViewPr varScale="1">
        <p:scale>
          <a:sx n="136" d="100"/>
          <a:sy n="136" d="100"/>
        </p:scale>
        <p:origin x="824" y="93"/>
      </p:cViewPr>
      <p:guideLst>
        <p:guide orient="horz" pos="145"/>
        <p:guide pos="723"/>
        <p:guide pos="5037"/>
        <p:guide pos="1152"/>
        <p:guide pos="4608"/>
        <p:guide orient="horz" pos="1440"/>
        <p:guide orient="horz" pos="1728"/>
        <p:guide pos="2808"/>
        <p:guide orient="horz" pos="2448"/>
        <p:guide orient="horz" pos="2735"/>
        <p:guide orient="horz" pos="1080"/>
        <p:guide orient="horz" pos="868"/>
        <p:guide orient="horz" pos="2391"/>
        <p:guide pos="288"/>
        <p:guide pos="5278"/>
        <p:guide pos="5184"/>
        <p:guide orient="horz" pos="2304"/>
        <p:guide pos="4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2973" y="75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39" Type="http://schemas.openxmlformats.org/officeDocument/2006/relationships/font" Target="fonts/font9.fntdata"/><Relationship Id="rId40" Type="http://schemas.openxmlformats.org/officeDocument/2006/relationships/font" Target="fonts/font10.fntdata"/><Relationship Id="rId41" Type="http://schemas.openxmlformats.org/officeDocument/2006/relationships/font" Target="fonts/font11.fntdata"/><Relationship Id="rId42" Type="http://schemas.openxmlformats.org/officeDocument/2006/relationships/font" Target="fonts/font12.fntdata"/><Relationship Id="rId43" Type="http://schemas.openxmlformats.org/officeDocument/2006/relationships/font" Target="fonts/font13.fntdata"/><Relationship Id="rId44" Type="http://schemas.openxmlformats.org/officeDocument/2006/relationships/font" Target="fonts/font14.fntdata"/><Relationship Id="rId45" Type="http://schemas.openxmlformats.org/officeDocument/2006/relationships/font" Target="fonts/font15.fntdata"/><Relationship Id="rId46" Type="http://schemas.openxmlformats.org/officeDocument/2006/relationships/font" Target="fonts/font16.fntdata"/><Relationship Id="rId47" Type="http://schemas.openxmlformats.org/officeDocument/2006/relationships/font" Target="fonts/font17.fntdata"/><Relationship Id="rId48" Type="http://schemas.openxmlformats.org/officeDocument/2006/relationships/font" Target="fonts/font18.fntdata"/><Relationship Id="rId49" Type="http://schemas.openxmlformats.org/officeDocument/2006/relationships/font" Target="fonts/font19.fntdata"/><Relationship Id="rId50" Type="http://schemas.openxmlformats.org/officeDocument/2006/relationships/font" Target="fonts/font20.fntdata"/><Relationship Id="rId51" Type="http://schemas.openxmlformats.org/officeDocument/2006/relationships/font" Target="fonts/font21.fntdata"/><Relationship Id="rId52" Type="http://schemas.openxmlformats.org/officeDocument/2006/relationships/font" Target="fonts/font22.fntdata"/><Relationship Id="rId53" Type="http://schemas.openxmlformats.org/officeDocument/2006/relationships/font" Target="fonts/font23.fntdata"/><Relationship Id="rId54" Type="http://schemas.openxmlformats.org/officeDocument/2006/relationships/font" Target="fonts/font24.fntdata"/><Relationship Id="rId55" Type="http://schemas.openxmlformats.org/officeDocument/2006/relationships/font" Target="fonts/font25.fntdata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28.xml"/><Relationship Id="rId61" Type="http://schemas.openxmlformats.org/officeDocument/2006/relationships/slide" Target="slides/slide29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32.xml"/><Relationship Id="rId65" Type="http://schemas.openxmlformats.org/officeDocument/2006/relationships/slide" Target="slides/slide33.xml"/><Relationship Id="rId66" Type="http://schemas.openxmlformats.org/officeDocument/2006/relationships/slide" Target="slides/slide34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39.xml"/><Relationship Id="rId72" Type="http://schemas.openxmlformats.org/officeDocument/2006/relationships/slide" Target="slides/slide40.xml"/><Relationship Id="rId73" Type="http://schemas.openxmlformats.org/officeDocument/2006/relationships/slide" Target="slides/slide41.xml"/><Relationship Id="rId74" Type="http://schemas.openxmlformats.org/officeDocument/2006/relationships/slide" Target="slides/slide42.xml"/><Relationship Id="rId75" Type="http://schemas.openxmlformats.org/officeDocument/2006/relationships/slide" Target="slides/slide43.xml"/><Relationship Id="rId76" Type="http://schemas.openxmlformats.org/officeDocument/2006/relationships/slide" Target="slides/slide44.xml"/><Relationship Id="rId77" Type="http://schemas.openxmlformats.org/officeDocument/2006/relationships/slide" Target="slides/slide45.xml"/><Relationship Id="rId78" Type="http://schemas.openxmlformats.org/officeDocument/2006/relationships/slide" Target="slides/slide46.xml"/><Relationship Id="rId79" Type="http://schemas.openxmlformats.org/officeDocument/2006/relationships/slide" Target="slides/slide47.xml"/><Relationship Id="rId80" Type="http://schemas.openxmlformats.org/officeDocument/2006/relationships/slide" Target="slides/slide4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A7DFBAC-B63D-5280-65B6-B690638518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34C276-34E3-4752-F41F-A3446FF2C3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336A-A1AA-4037-A276-A09C8A017BD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8F3828-288C-03B8-F09E-18B8EFBEC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2E26C3A-FE45-0464-1707-5D99E0D66A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F0CBC-02B0-408E-89CC-D1E0D82861D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84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603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d0507c3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6d0507c3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d0507c3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d0507c3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F8C70B8F-B0FF-D376-584D-F24F346B242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>
            <a:extLst>
              <a:ext uri="{FF2B5EF4-FFF2-40B4-BE49-F238E27FC236}">
                <a16:creationId xmlns:a16="http://schemas.microsoft.com/office/drawing/2014/main" id="{D27988DF-5EA2-0147-1D2F-7D331508A08A}"/>
              </a:ext>
            </a:extLst>
          </p:cNvPr>
          <p:cNvSpPr/>
          <p:nvPr userDrawn="1"/>
        </p:nvSpPr>
        <p:spPr>
          <a:xfrm>
            <a:off x="6379159" y="259712"/>
            <a:ext cx="2510249" cy="386122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9;p13">
            <a:extLst>
              <a:ext uri="{FF2B5EF4-FFF2-40B4-BE49-F238E27FC236}">
                <a16:creationId xmlns:a16="http://schemas.microsoft.com/office/drawing/2014/main" id="{A0746FE1-7909-364E-106E-A03CFF905756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6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0F6D521-5D86-6760-69D6-E71DE65F9DE3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9277216-7C7E-E7C1-68E9-2B49D803E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" name="Рисунок 7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8B6CC871-C4C7-BC3A-E4B2-04FB22C86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" name="Рисунок 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4C45FD2B-5227-0D3D-1188-E08C76CFD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1097012B-1A8E-82B3-5458-F0856BCC8605}"/>
              </a:ext>
            </a:extLst>
          </p:cNvPr>
          <p:cNvSpPr/>
          <p:nvPr userDrawn="1"/>
        </p:nvSpPr>
        <p:spPr>
          <a:xfrm>
            <a:off x="7371081" y="4703888"/>
            <a:ext cx="1518328" cy="230700"/>
          </a:xfrm>
          <a:prstGeom prst="roundRect">
            <a:avLst>
              <a:gd name="adj" fmla="val 50000"/>
            </a:avLst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Вебинар </a:t>
            </a:r>
            <a:r>
              <a:rPr lang="en-US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6</a:t>
            </a:r>
            <a:r>
              <a:rPr lang="ru-RU" sz="1000" b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t>  / сл. </a:t>
            </a:r>
            <a:fld id="{D36D2716-0227-4748-B575-C0F681545F9F}" type="slidenum">
              <a:rPr lang="ru-RU" sz="900" b="0" smtClean="0">
                <a:solidFill>
                  <a:schemeClr val="bg2">
                    <a:lumMod val="60000"/>
                    <a:lumOff val="40000"/>
                  </a:schemeClr>
                </a:solidFill>
                <a:latin typeface="Montserrat" panose="00000500000000000000" pitchFamily="2" charset="-52"/>
                <a:ea typeface="Proxima Nova"/>
                <a:cs typeface="Proxima Nova"/>
                <a:sym typeface="Proxima Nova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lang="ru-RU" sz="800" b="0">
              <a:solidFill>
                <a:schemeClr val="bg2">
                  <a:lumMod val="60000"/>
                  <a:lumOff val="40000"/>
                </a:schemeClr>
              </a:solidFill>
              <a:latin typeface="Montserrat" panose="00000500000000000000" pitchFamily="2" charset="-52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106C148-16DA-11C2-72A6-2DA0FE60F5D4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310B86E-76FD-A323-DB10-4DD1D36E2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D4C76F9-53BE-88AC-A08A-6079C484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7" name="Рисунок 6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C4AA954-2B31-6C9A-8DB6-0A9C91B37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58560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preserve="1" userDrawn="1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7;p13">
            <a:extLst>
              <a:ext uri="{FF2B5EF4-FFF2-40B4-BE49-F238E27FC236}">
                <a16:creationId xmlns:a16="http://schemas.microsoft.com/office/drawing/2014/main" id="{7D79FDF7-B782-836A-FFF8-75C0371DE3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09400" y="160772"/>
            <a:ext cx="1481600" cy="490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358944C-C36B-53B2-E5FE-1A8017A396DF}"/>
              </a:ext>
            </a:extLst>
          </p:cNvPr>
          <p:cNvGrpSpPr/>
          <p:nvPr userDrawn="1"/>
        </p:nvGrpSpPr>
        <p:grpSpPr>
          <a:xfrm>
            <a:off x="2205322" y="679814"/>
            <a:ext cx="5344770" cy="3994915"/>
            <a:chOff x="3873362" y="383111"/>
            <a:chExt cx="5344770" cy="3994915"/>
          </a:xfrm>
        </p:grpSpPr>
        <p:pic>
          <p:nvPicPr>
            <p:cNvPr id="3" name="Рисунок 2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0689A308-1BDC-8C47-FBF9-706C2D72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Рисунок 4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9C37A5D0-2C6A-2A78-9DF0-BDA00CE1C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Рисунок 5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A38D3F9-EBE5-61E2-0F17-68765F661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5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6480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0" r:id="rId3"/>
    <p:sldLayoutId id="2147483661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BCAC3359-0D1C-2648-A3CE-8FD94D6624EC}"/>
              </a:ext>
            </a:extLst>
          </p:cNvPr>
          <p:cNvGrpSpPr/>
          <p:nvPr/>
        </p:nvGrpSpPr>
        <p:grpSpPr>
          <a:xfrm>
            <a:off x="4094651" y="586050"/>
            <a:ext cx="5344770" cy="3994915"/>
            <a:chOff x="3873362" y="383111"/>
            <a:chExt cx="5344770" cy="3994915"/>
          </a:xfrm>
        </p:grpSpPr>
        <p:pic>
          <p:nvPicPr>
            <p:cNvPr id="21" name="Рисунок 20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6B1608C3-64B6-A327-1599-2AAD5398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1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5482421" y="383111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0" name="Рисунок 19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3AB0EF07-2DC6-D314-2F23-DA864CFB1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2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4677891" y="544365"/>
              <a:ext cx="3735711" cy="373571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9" name="Рисунок 18" descr="Изображение выглядит как черный, темнота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BD80F8B-785E-2918-7419-1A8EC472B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 trans="4000" detail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rot="1178103">
              <a:off x="3873362" y="642315"/>
              <a:ext cx="3735711" cy="3735711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7" name="Рисунок 16" hidden="1">
            <a:extLst>
              <a:ext uri="{FF2B5EF4-FFF2-40B4-BE49-F238E27FC236}">
                <a16:creationId xmlns:a16="http://schemas.microsoft.com/office/drawing/2014/main" id="{667CD691-B117-44B3-3B0E-B39C202898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 trans="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497">
            <a:off x="3524075" y="-36569"/>
            <a:ext cx="4877481" cy="4877481"/>
          </a:xfrm>
          <a:prstGeom prst="rect">
            <a:avLst/>
          </a:prstGeom>
          <a:ln>
            <a:noFill/>
          </a:ln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4C36EF06-1A0C-80A6-7B2B-DED85B0CE9D3}"/>
              </a:ext>
            </a:extLst>
          </p:cNvPr>
          <p:cNvGrpSpPr>
            <a:grpSpLocks noChangeAspect="1"/>
          </p:cNvGrpSpPr>
          <p:nvPr/>
        </p:nvGrpSpPr>
        <p:grpSpPr>
          <a:xfrm>
            <a:off x="883906" y="1263674"/>
            <a:ext cx="9501187" cy="3444540"/>
            <a:chOff x="485609" y="1513539"/>
            <a:chExt cx="9501187" cy="34445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C1C879-E7C0-BAF6-283A-AFB754867135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513539"/>
              <a:ext cx="9048750" cy="161583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r>
                <a:rPr sz="1500" b="1">
                  <a:latin typeface="Montserrat"/>
                </a:rPr>
                <a:t>КЛИЕНТСКАЯ ВАЛИДАЦИЯ ФОРМ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13DFB2-196B-9781-3BB6-B9E6C2AD5D1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85609" y="1836705"/>
              <a:ext cx="9501187" cy="184665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t>Проектирование </a:t>
              </a:r>
            </a:p>
            <a:p>
              <a:r>
                <a:t>и разработка интерфейсов пользователя</a:t>
              </a:r>
            </a:p>
          </p:txBody>
        </p:sp>
        <p:sp>
          <p:nvSpPr>
            <p:cNvPr id="11" name="Rounded Rectangle 6">
              <a:extLst>
                <a:ext uri="{FF2B5EF4-FFF2-40B4-BE49-F238E27FC236}">
                  <a16:creationId xmlns:a16="http://schemas.microsoft.com/office/drawing/2014/main" id="{FEDD9253-159E-2190-4737-EF5F83889817}"/>
                </a:ext>
              </a:extLst>
            </p:cNvPr>
            <p:cNvSpPr/>
            <p:nvPr/>
          </p:nvSpPr>
          <p:spPr>
            <a:xfrm>
              <a:off x="528139" y="426181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60AF5-DC82-A01F-35B1-F0D212A47FAE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40697" y="4471214"/>
              <a:ext cx="9048750" cy="48686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bg2">
                      <a:lumMod val="40000"/>
                      <a:lumOff val="60000"/>
                    </a:schemeClr>
                  </a:solidFill>
                  <a:latin typeface="Montserrat" panose="00000500000000000000" pitchFamily="2" charset="-52"/>
                  <a:ea typeface="Inter SemiBold" panose="02000503000000020004" pitchFamily="2" charset="0"/>
                </a:rPr>
                <a:t>Преподаватель</a:t>
              </a:r>
              <a:br>
                <a:rPr lang="ru-RU" sz="1200" b="0" i="0" u="none">
                  <a:solidFill>
                    <a:srgbClr val="000000"/>
                  </a:solidFill>
                  <a:latin typeface="Inter"/>
                </a:rPr>
              </a:b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Коляда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Никита</a:t>
              </a:r>
              <a:r>
                <a:rPr sz="1200" b="0" i="0" u="none">
                  <a:solidFill>
                    <a:srgbClr val="1E293B"/>
                  </a:solidFill>
                  <a:latin typeface="Inter Medium"/>
                </a:rPr>
                <a:t> </a:t>
              </a:r>
              <a:r>
                <a:rPr sz="1200" b="0" i="0" u="none" err="1">
                  <a:solidFill>
                    <a:srgbClr val="1E293B"/>
                  </a:solidFill>
                  <a:latin typeface="Inter Medium"/>
                </a:rPr>
                <a:t>Владимирович</a:t>
              </a:r>
              <a:endParaRPr sz="1200" b="0" i="0" u="none">
                <a:solidFill>
                  <a:srgbClr val="1E293B"/>
                </a:solidFill>
                <a:latin typeface="Inter Medium"/>
              </a:endParaRPr>
            </a:p>
          </p:txBody>
        </p:sp>
      </p:grpSp>
      <p:sp>
        <p:nvSpPr>
          <p:cNvPr id="3" name="Google Shape;59;p13">
            <a:extLst>
              <a:ext uri="{FF2B5EF4-FFF2-40B4-BE49-F238E27FC236}">
                <a16:creationId xmlns:a16="http://schemas.microsoft.com/office/drawing/2014/main" id="{917E88D5-EA94-D5A3-686B-9D40CD1F594B}"/>
              </a:ext>
            </a:extLst>
          </p:cNvPr>
          <p:cNvSpPr/>
          <p:nvPr/>
        </p:nvSpPr>
        <p:spPr>
          <a:xfrm>
            <a:off x="7576356" y="4477514"/>
            <a:ext cx="1257300" cy="230700"/>
          </a:xfrm>
          <a:prstGeom prst="roundRect">
            <a:avLst>
              <a:gd name="adj" fmla="val 50000"/>
            </a:avLst>
          </a:prstGeom>
          <a:solidFill>
            <a:srgbClr val="434343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Вебинар 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200184-121F-F05C-E93D-FAE98D6B282D}"/>
              </a:ext>
            </a:extLst>
          </p:cNvPr>
          <p:cNvSpPr/>
          <p:nvPr/>
        </p:nvSpPr>
        <p:spPr>
          <a:xfrm>
            <a:off x="1354281" y="1683158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395AA1B-3D46-8B23-C8C6-17018076BAB4}"/>
              </a:ext>
            </a:extLst>
          </p:cNvPr>
          <p:cNvSpPr/>
          <p:nvPr/>
        </p:nvSpPr>
        <p:spPr>
          <a:xfrm>
            <a:off x="1354281" y="2339341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6399EB-F240-72CC-3353-A3A41459B334}"/>
              </a:ext>
            </a:extLst>
          </p:cNvPr>
          <p:cNvSpPr/>
          <p:nvPr/>
        </p:nvSpPr>
        <p:spPr>
          <a:xfrm>
            <a:off x="1354281" y="2995524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DA3E706-14A3-9E5E-0150-993D92615B2B}"/>
              </a:ext>
            </a:extLst>
          </p:cNvPr>
          <p:cNvSpPr/>
          <p:nvPr/>
        </p:nvSpPr>
        <p:spPr>
          <a:xfrm>
            <a:off x="1354281" y="3651707"/>
            <a:ext cx="6477000" cy="9525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FE3CD0C6-B8FE-3432-6AEB-7276B21E5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618" y="1216879"/>
            <a:ext cx="361950" cy="285750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6021423E-1547-B118-B6ED-FFA0E250049B}"/>
              </a:ext>
            </a:extLst>
          </p:cNvPr>
          <p:cNvSpPr txBox="1"/>
          <p:nvPr/>
        </p:nvSpPr>
        <p:spPr>
          <a:xfrm>
            <a:off x="2021031" y="1169850"/>
            <a:ext cx="34099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1. Контроль отправки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5312261A-8473-F36D-CEA1-EF3D6CBA49EE}"/>
              </a:ext>
            </a:extLst>
          </p:cNvPr>
          <p:cNvSpPr txBox="1"/>
          <p:nvPr/>
        </p:nvSpPr>
        <p:spPr>
          <a:xfrm>
            <a:off x="2021031" y="1388925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Перехват события submit и отмена перезагрузки e.preventDefault()</a:t>
            </a:r>
          </a:p>
        </p:txBody>
      </p:sp>
      <p:pic>
        <p:nvPicPr>
          <p:cNvPr id="13" name="Picture 14">
            <a:extLst>
              <a:ext uri="{FF2B5EF4-FFF2-40B4-BE49-F238E27FC236}">
                <a16:creationId xmlns:a16="http://schemas.microsoft.com/office/drawing/2014/main" id="{DB7D649D-035F-23D7-8FE0-62D36D4C2E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618" y="1873062"/>
            <a:ext cx="361950" cy="285750"/>
          </a:xfrm>
          <a:prstGeom prst="rect">
            <a:avLst/>
          </a:prstGeom>
        </p:spPr>
      </p:pic>
      <p:sp>
        <p:nvSpPr>
          <p:cNvPr id="14" name="TextBox 15">
            <a:extLst>
              <a:ext uri="{FF2B5EF4-FFF2-40B4-BE49-F238E27FC236}">
                <a16:creationId xmlns:a16="http://schemas.microsoft.com/office/drawing/2014/main" id="{FDCDC837-9B52-2ABD-BE72-B99F4CA2105A}"/>
              </a:ext>
            </a:extLst>
          </p:cNvPr>
          <p:cNvSpPr txBox="1"/>
          <p:nvPr/>
        </p:nvSpPr>
        <p:spPr>
          <a:xfrm>
            <a:off x="2021031" y="1826033"/>
            <a:ext cx="42576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2. Алгоритмы валидации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38F3EAC1-CF94-CC80-E491-0A0A8AA37276}"/>
              </a:ext>
            </a:extLst>
          </p:cNvPr>
          <p:cNvSpPr txBox="1"/>
          <p:nvPr/>
        </p:nvSpPr>
        <p:spPr>
          <a:xfrm>
            <a:off x="2021031" y="2045108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Очистка метода .trim(), обязательные поля и совпадение паролей</a:t>
            </a:r>
          </a:p>
        </p:txBody>
      </p:sp>
      <p:pic>
        <p:nvPicPr>
          <p:cNvPr id="16" name="Picture 17">
            <a:extLst>
              <a:ext uri="{FF2B5EF4-FFF2-40B4-BE49-F238E27FC236}">
                <a16:creationId xmlns:a16="http://schemas.microsoft.com/office/drawing/2014/main" id="{6FCC824B-76CC-4AF8-9619-51A75DC9B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668" y="2529246"/>
            <a:ext cx="323850" cy="285750"/>
          </a:xfrm>
          <a:prstGeom prst="rect">
            <a:avLst/>
          </a:prstGeom>
        </p:spPr>
      </p:pic>
      <p:sp>
        <p:nvSpPr>
          <p:cNvPr id="17" name="TextBox 18">
            <a:extLst>
              <a:ext uri="{FF2B5EF4-FFF2-40B4-BE49-F238E27FC236}">
                <a16:creationId xmlns:a16="http://schemas.microsoft.com/office/drawing/2014/main" id="{B44B7737-0986-B05E-A142-78D0B4A97F3F}"/>
              </a:ext>
            </a:extLst>
          </p:cNvPr>
          <p:cNvSpPr txBox="1"/>
          <p:nvPr/>
        </p:nvSpPr>
        <p:spPr>
          <a:xfrm>
            <a:off x="2021031" y="2482216"/>
            <a:ext cx="41624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3. Регулярные выражения</a:t>
            </a:r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0344B22-C18D-2718-3D60-543000748FD6}"/>
              </a:ext>
            </a:extLst>
          </p:cNvPr>
          <p:cNvSpPr txBox="1"/>
          <p:nvPr/>
        </p:nvSpPr>
        <p:spPr>
          <a:xfrm>
            <a:off x="2021031" y="2701291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RegExp: проверка формата Email, телефона и метод .test()</a:t>
            </a:r>
          </a:p>
        </p:txBody>
      </p:sp>
      <p:pic>
        <p:nvPicPr>
          <p:cNvPr id="19" name="Picture 20">
            <a:extLst>
              <a:ext uri="{FF2B5EF4-FFF2-40B4-BE49-F238E27FC236}">
                <a16:creationId xmlns:a16="http://schemas.microsoft.com/office/drawing/2014/main" id="{80BE5282-4324-BB0D-B278-5DB149B206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718" y="3185429"/>
            <a:ext cx="285750" cy="285750"/>
          </a:xfrm>
          <a:prstGeom prst="rect">
            <a:avLst/>
          </a:prstGeom>
        </p:spPr>
      </p:pic>
      <p:sp>
        <p:nvSpPr>
          <p:cNvPr id="20" name="TextBox 21">
            <a:extLst>
              <a:ext uri="{FF2B5EF4-FFF2-40B4-BE49-F238E27FC236}">
                <a16:creationId xmlns:a16="http://schemas.microsoft.com/office/drawing/2014/main" id="{B6E465BC-260C-26E3-31D6-0C45C4AE6C2D}"/>
              </a:ext>
            </a:extLst>
          </p:cNvPr>
          <p:cNvSpPr txBox="1"/>
          <p:nvPr/>
        </p:nvSpPr>
        <p:spPr>
          <a:xfrm>
            <a:off x="2021031" y="3138399"/>
            <a:ext cx="36385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4. Практика: Формы авторизации</a:t>
            </a:r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F0038057-42C9-F769-C0C5-F9AB41E8587B}"/>
              </a:ext>
            </a:extLst>
          </p:cNvPr>
          <p:cNvSpPr txBox="1"/>
          <p:nvPr/>
        </p:nvSpPr>
        <p:spPr>
          <a:xfrm>
            <a:off x="2021031" y="3357474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Настройка форм регистрации и входа в систему СмартОфис</a:t>
            </a:r>
          </a:p>
        </p:txBody>
      </p:sp>
      <p:pic>
        <p:nvPicPr>
          <p:cNvPr id="22" name="Picture 23">
            <a:extLst>
              <a:ext uri="{FF2B5EF4-FFF2-40B4-BE49-F238E27FC236}">
                <a16:creationId xmlns:a16="http://schemas.microsoft.com/office/drawing/2014/main" id="{3EC1D119-6080-BDF3-AF83-63F592656C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668" y="3841612"/>
            <a:ext cx="323850" cy="285750"/>
          </a:xfrm>
          <a:prstGeom prst="rect">
            <a:avLst/>
          </a:prstGeom>
        </p:spPr>
      </p:pic>
      <p:sp>
        <p:nvSpPr>
          <p:cNvPr id="23" name="TextBox 24">
            <a:extLst>
              <a:ext uri="{FF2B5EF4-FFF2-40B4-BE49-F238E27FC236}">
                <a16:creationId xmlns:a16="http://schemas.microsoft.com/office/drawing/2014/main" id="{E915CC21-797D-8D4A-4DA5-A5A9A395DDD8}"/>
              </a:ext>
            </a:extLst>
          </p:cNvPr>
          <p:cNvSpPr txBox="1"/>
          <p:nvPr/>
        </p:nvSpPr>
        <p:spPr>
          <a:xfrm>
            <a:off x="2021031" y="3794582"/>
            <a:ext cx="421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5" b="1">
                <a:solidFill>
                  <a:srgbClr val="181A1F"/>
                </a:solidFill>
                <a:latin typeface="Montserrat SemiBold"/>
              </a:rPr>
              <a:t>5. Результат и итоги</a:t>
            </a:r>
          </a:p>
        </p:txBody>
      </p:sp>
      <p:sp>
        <p:nvSpPr>
          <p:cNvPr id="24" name="TextBox 25">
            <a:extLst>
              <a:ext uri="{FF2B5EF4-FFF2-40B4-BE49-F238E27FC236}">
                <a16:creationId xmlns:a16="http://schemas.microsoft.com/office/drawing/2014/main" id="{27AC8D58-8C59-EA0F-D299-B0D5290F9D54}"/>
              </a:ext>
            </a:extLst>
          </p:cNvPr>
          <p:cNvSpPr txBox="1"/>
          <p:nvPr/>
        </p:nvSpPr>
        <p:spPr>
          <a:xfrm>
            <a:off x="2021031" y="4013657"/>
            <a:ext cx="5715000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267"/>
              </a:lnSpc>
            </a:pPr>
            <a:r>
              <a:rPr sz="975" b="0">
                <a:solidFill>
                  <a:srgbClr val="555555"/>
                </a:solidFill>
                <a:latin typeface="Inter"/>
              </a:rPr>
              <a:t>Визуальная индикация ошибок .is-invalid, уведомления и чек-лист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ПЛАН ЗАНЯТИЯ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6667500" y="259079"/>
            <a:ext cx="22225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HTML И CSS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такое HTML и CSS и по каким правилам они пишутся?</a:t>
            </a:r>
          </a:p>
        </p:txBody>
      </p:sp>
      <p:sp>
        <p:nvSpPr>
          <p:cNvPr id="4" name="Rounded Rectangle HTML"/>
          <p:cNvSpPr/>
          <p:nvPr/>
        </p:nvSpPr>
        <p:spPr>
          <a:xfrm>
            <a:off x="304800" y="711200"/>
            <a:ext cx="4127500" cy="1625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Header HTML"/>
          <p:cNvSpPr txBox="1"/>
          <p:nvPr/>
        </p:nvSpPr>
        <p:spPr>
          <a:xfrm>
            <a:off x="482600" y="7874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1: index.html (Разметка страницы)</a:t>
            </a:r>
          </a:p>
        </p:txBody>
      </p:sp>
      <p:sp>
        <p:nvSpPr>
          <p:cNvPr id="6" name="Rectangle Line HTML"/>
          <p:cNvSpPr/>
          <p:nvPr/>
        </p:nvSpPr>
        <p:spPr>
          <a:xfrm>
            <a:off x="457200" y="10160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Code HTML"/>
          <p:cNvSpPr txBox="1"/>
          <p:nvPr/>
        </p:nvSpPr>
        <p:spPr>
          <a:xfrm>
            <a:off x="457200" y="1079500"/>
            <a:ext cx="38227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&lt;!-- 1. HTML: Каркас и теги элемента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</a:t>
            </a:r>
            <a:r>
              <a:rPr sz="800">
                <a:solidFill>
                  <a:srgbClr val="F472B6"/>
                </a:solidFill>
                <a:latin typeface="Consolas"/>
              </a:rPr>
              <a:t>button </a:t>
            </a:r>
            <a:r>
              <a:rPr sz="800">
                <a:solidFill>
                  <a:srgbClr val="A78BFA"/>
                </a:solidFill>
                <a:latin typeface="Consolas"/>
              </a:rPr>
              <a:t>class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"btn-login" </a:t>
            </a:r>
            <a:r>
              <a:rPr sz="800">
                <a:solidFill>
                  <a:srgbClr val="A78BFA"/>
                </a:solidFill>
                <a:latin typeface="Consolas"/>
              </a:rPr>
              <a:t>id</a:t>
            </a:r>
            <a:r>
              <a:rPr sz="800">
                <a:solidFill>
                  <a:srgbClr val="D4D4D8"/>
                </a:solidFill>
                <a:latin typeface="Consolas"/>
              </a:rPr>
              <a:t>=</a:t>
            </a:r>
            <a:r>
              <a:rPr sz="800">
                <a:solidFill>
                  <a:srgbClr val="FCD34D"/>
                </a:solidFill>
                <a:latin typeface="Consolas"/>
              </a:rPr>
              <a:t>"submitBtn"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Войти в профиль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&lt;/</a:t>
            </a:r>
            <a:r>
              <a:rPr sz="800">
                <a:solidFill>
                  <a:srgbClr val="F472B6"/>
                </a:solidFill>
                <a:latin typeface="Consolas"/>
              </a:rPr>
              <a:t>button</a:t>
            </a:r>
            <a:r>
              <a:rPr sz="800">
                <a:solidFill>
                  <a:srgbClr val="D4D4D8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Теги, атрибуты и контент. Только разметка! --&gt;</a:t>
            </a:r>
          </a:p>
        </p:txBody>
      </p:sp>
      <p:sp>
        <p:nvSpPr>
          <p:cNvPr id="8" name="Rounded Rectangle CSS"/>
          <p:cNvSpPr/>
          <p:nvPr/>
        </p:nvSpPr>
        <p:spPr>
          <a:xfrm>
            <a:off x="304800" y="2514600"/>
            <a:ext cx="4127500" cy="1981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Header CSS"/>
          <p:cNvSpPr txBox="1"/>
          <p:nvPr/>
        </p:nvSpPr>
        <p:spPr>
          <a:xfrm>
            <a:off x="482600" y="2590800"/>
            <a:ext cx="3746500" cy="20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 2: css/style.css (Стили оформления)</a:t>
            </a:r>
          </a:p>
        </p:txBody>
      </p:sp>
      <p:sp>
        <p:nvSpPr>
          <p:cNvPr id="10" name="Rectangle Line CSS"/>
          <p:cNvSpPr/>
          <p:nvPr/>
        </p:nvSpPr>
        <p:spPr>
          <a:xfrm>
            <a:off x="457200" y="28194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Code CSS"/>
          <p:cNvSpPr txBox="1"/>
          <p:nvPr/>
        </p:nvSpPr>
        <p:spPr>
          <a:xfrm>
            <a:off x="457200" y="2882900"/>
            <a:ext cx="3822700" cy="154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CSS: Правило стилизации селектора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.btn-login</a:t>
            </a:r>
            <a:r>
              <a:rPr sz="800">
                <a:solidFill>
                  <a:srgbClr val="D4D4D8"/>
                </a:solidFill>
                <a:latin typeface="Consolas"/>
              </a:rPr>
              <a:t>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#fe6002</a:t>
            </a:r>
            <a:r>
              <a:rPr sz="800">
                <a:solidFill>
                  <a:srgbClr val="71717A"/>
                </a:solidFill>
                <a:latin typeface="Consolas"/>
              </a:rPr>
              <a:t>; /* Фон кнопки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/*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 24px</a:t>
            </a:r>
            <a:r>
              <a:rPr sz="800">
                <a:solidFill>
                  <a:srgbClr val="71717A"/>
                </a:solidFill>
                <a:latin typeface="Consolas"/>
              </a:rPr>
              <a:t>;       /* Внутр.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/* Скругление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ФУНДАМЕНТАЛЬНЫЕ ПРАВИЛА ВЕРСТКИ</a:t>
            </a:r>
          </a:p>
        </p:txBody>
      </p:sp>
      <p:sp>
        <p:nvSpPr>
          <p:cNvPr id="13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HTML — язык гипертекстовой разметки: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«скелет» страницы. Он создает структуру документа: заголовки, параграфы, кнопки, формы и ссылки. HTML не выполняет вычислений — он размечает смысл.</a:t>
            </a:r>
          </a:p>
        </p:txBody>
      </p:sp>
      <p:sp>
        <p:nvSpPr>
          <p:cNvPr id="16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— каскадные таблицы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Это «одежда» и оформление. CSS управляет цветами, шрифтами, фоном, отступами, позиционированием (Flexbox) и адаптивностью под смартфоны.</a:t>
            </a:r>
          </a:p>
        </p:txBody>
      </p:sp>
      <p:sp>
        <p:nvSpPr>
          <p:cNvPr id="18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HTML (Теги и атрибуты):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Большинство тегов парные: &lt;тег&gt;...&lt;/тег&gt;. Внутри открывающего тега задаются атрибуты (класс, id, ссылка). Теги должны строго закрываться в правильном порядке!</a:t>
            </a:r>
          </a:p>
        </p:txBody>
      </p:sp>
      <p:sp>
        <p:nvSpPr>
          <p:cNvPr id="20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6"/>
          <p:cNvSpPr txBox="1"/>
          <p:nvPr/>
        </p:nvSpPr>
        <p:spPr>
          <a:xfrm>
            <a:off x="5003800" y="31242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Правила написания CSS (Селектор и свойства):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Синтаксис: селектор { свойство: значение; }. Селектор (.btn-login) указывает, кому задать стиль, двоеточие отделяет значение, а точка с запятой «;» обязательна!</a:t>
            </a:r>
          </a:p>
        </p:txBody>
      </p:sp>
      <p:sp>
        <p:nvSpPr>
          <p:cNvPr id="22" name="Rounded Rectangle 17"/>
          <p:cNvSpPr/>
          <p:nvPr/>
        </p:nvSpPr>
        <p:spPr>
          <a:xfrm>
            <a:off x="4826000" y="38227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18"/>
          <p:cNvSpPr txBox="1"/>
          <p:nvPr/>
        </p:nvSpPr>
        <p:spPr>
          <a:xfrm>
            <a:off x="5003800" y="37846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разделения ответственности: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Разметка хранится в index.html, а дизайн — в css/style.css. Разделение структуры и стиля делает код профессиональным, чистым и удобным для командной работы.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правильно организовать файлы в веб-разработке?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Файловая система: smart-office / basic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📁 smart-office / basic/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📄 </a:t>
            </a:r>
            <a:r>
              <a:rPr sz="800">
                <a:solidFill>
                  <a:srgbClr val="38BDF8"/>
                </a:solidFill>
                <a:latin typeface="Consolas"/>
              </a:rPr>
              <a:t>index.html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Главная разметка страницы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css/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Стили оформления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style.css</a:t>
            </a:r>
            <a:r>
              <a:rPr sz="800">
                <a:solidFill>
                  <a:srgbClr val="71717A"/>
                </a:solidFill>
                <a:latin typeface="Consolas"/>
              </a:rPr>
              <a:t>        # Таблица каскадных стилей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├──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js/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 # Клиентские скрипты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  └── 📄 </a:t>
            </a:r>
            <a:r>
              <a:rPr sz="800">
                <a:solidFill>
                  <a:srgbClr val="4ADE80"/>
                </a:solidFill>
                <a:latin typeface="Consolas"/>
              </a:rPr>
              <a:t>script.js</a:t>
            </a:r>
            <a:r>
              <a:rPr sz="800">
                <a:solidFill>
                  <a:srgbClr val="71717A"/>
                </a:solidFill>
                <a:latin typeface="Consolas"/>
              </a:rPr>
              <a:t>       # Интерактивная логика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└── 📁 </a:t>
            </a:r>
            <a:r>
              <a:rPr sz="800">
                <a:solidFill>
                  <a:srgbClr val="A78BFA"/>
                </a:solidFill>
                <a:latin typeface="Consolas"/>
              </a:rPr>
              <a:t>img/</a:t>
            </a:r>
            <a:r>
              <a:rPr sz="800">
                <a:solidFill>
                  <a:srgbClr val="71717A"/>
                </a:solidFill>
                <a:latin typeface="Consolas"/>
              </a:rPr>
              <a:t>               # Графика и медиафайлы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├──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logo.svg</a:t>
            </a:r>
            <a:r>
              <a:rPr sz="800">
                <a:solidFill>
                  <a:srgbClr val="71717A"/>
                </a:solidFill>
                <a:latin typeface="Consolas"/>
              </a:rPr>
              <a:t>        # Векторный логотип бренда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└── 🖼️ </a:t>
            </a:r>
            <a:r>
              <a:rPr sz="800">
                <a:solidFill>
                  <a:srgbClr val="D4D4D8"/>
                </a:solidFill>
                <a:latin typeface="Consolas"/>
              </a:rPr>
              <a:t>no-image.svg</a:t>
            </a:r>
            <a:r>
              <a:rPr sz="800">
                <a:solidFill>
                  <a:srgbClr val="71717A"/>
                </a:solidFill>
                <a:latin typeface="Consolas"/>
              </a:rPr>
              <a:t>    # Заглушка для фото комнат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ПРИНЦИП ЧИСТОЙ АРХИТЕКТУРЫ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 index.html в корне: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по умолчанию ищет именно index.html как стартовую страницу. Он лежит в корне проекта.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034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7653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Изоляция стилей в папке css/: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Стили хранятся в файле style.css. Это разделяет разметку (HTML) и визуальный дизайн (CSS).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374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336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Папка js/ для скриптов: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Здесь хранятся файлы JavaScript (script.js). В них пишется логика: клики, слайдеры, фильтры и интерактив.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035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2997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Графика в папке img/: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Все логотипы, иконки и фото комнат лежат отдельно, чтобы не засорять корень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6068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5687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Относительные пути к файлам: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 коде мы пишем путь от текущей папки: css/style.css, js/script.js, img/logo.svg.</a:t>
            </a:r>
          </a:p>
        </p:txBody>
      </p:sp>
      <p:sp>
        <p:nvSpPr>
          <p:cNvPr id="20" name="Google Shape;69;p14">
            <a:extLst>
              <a:ext uri="{FF2B5EF4-FFF2-40B4-BE49-F238E27FC236}">
                <a16:creationId xmlns:a16="http://schemas.microsoft.com/office/drawing/2014/main" id="{71A23B6C-F869-B64D-42C7-20AD29731627}"/>
              </a:ext>
            </a:extLst>
          </p:cNvPr>
          <p:cNvSpPr/>
          <p:nvPr/>
        </p:nvSpPr>
        <p:spPr>
          <a:xfrm>
            <a:off x="6869927" y="259712"/>
            <a:ext cx="2019481" cy="286388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1200" b="0">
                <a:solidFill>
                  <a:srgbClr val="FFFFFF"/>
                </a:solidFill>
                <a:latin typeface="Inter"/>
              </a:rPr>
              <a:t>СТРУКТУРА ПРОЕКТА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Из каких смысловых блоков строится современный сайт?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(семантический каркас)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&lt;!DOCTYPE html&gt;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&lt;html </a:t>
            </a:r>
            <a:r>
              <a:rPr sz="800">
                <a:solidFill>
                  <a:srgbClr val="A78BFA"/>
                </a:solidFill>
                <a:latin typeface="Consolas"/>
              </a:rPr>
              <a:t>lang=</a:t>
            </a:r>
            <a:r>
              <a:rPr sz="800">
                <a:solidFill>
                  <a:srgbClr val="FCD34D"/>
                </a:solidFill>
                <a:latin typeface="Consolas"/>
              </a:rPr>
              <a:t>"ru"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  <a:r>
              <a:rPr sz="800">
                <a:solidFill>
                  <a:srgbClr val="71717A"/>
                </a:solidFill>
                <a:latin typeface="Consolas"/>
              </a:rPr>
              <a:t> ... </a:t>
            </a: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&lt;!-- 1. Шапка сайта (лого + меню)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&lt;/header&gt;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&lt;!-- 2. Главный уникальный контент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&lt;main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"main"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&lt;/main&gt;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&lt;!-- 3. Подвал сайта (копирайт и контакты)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&lt;/body&gt;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&lt;/html&gt;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СЕМАНТИЧЕСКИЕ ТЕГИ HTML5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Зачем нужны &lt;header&gt;, &lt;main&gt;, &lt;footer&gt;?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Раньше сайты верстали сплошными тегами &lt;div&gt;. Семантические теги делают код понятным людям, поисковикам и скринридерам.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&lt;header&gt; (Шапка):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Верхняя часть страницы: содержит бренд, логотип, навигационные ссылки по разделам и кнопки профиля.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&lt;main&gt; (Главный блок):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Центральная область. Здесь располагается уникальное содержимое страницы, не повторяющееся на других вкладках.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&lt;footer&gt; (Подвал):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Нижняя часть сайта: юридическая информация, авторские права (копирайт), контакты техподдержки и соцсети.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67550" y="259715"/>
            <a:ext cx="18224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HTML5 СЕМАНТИКА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Что подключается в невидимой части документа?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(настройка &lt;head&gt;)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charset=</a:t>
            </a:r>
            <a:r>
              <a:rPr sz="800">
                <a:solidFill>
                  <a:srgbClr val="FCD34D"/>
                </a:solidFill>
                <a:latin typeface="Consolas"/>
              </a:rPr>
              <a:t>"UTF-8"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&lt;meta </a:t>
            </a:r>
            <a:r>
              <a:rPr sz="800">
                <a:solidFill>
                  <a:srgbClr val="A78BFA"/>
                </a:solidFill>
                <a:latin typeface="Consolas"/>
              </a:rPr>
              <a:t>name=</a:t>
            </a:r>
            <a:r>
              <a:rPr sz="800">
                <a:solidFill>
                  <a:srgbClr val="FCD34D"/>
                </a:solidFill>
                <a:latin typeface="Consolas"/>
              </a:rPr>
              <a:t>"viewport"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content=</a:t>
            </a:r>
            <a:r>
              <a:rPr sz="800">
                <a:solidFill>
                  <a:srgbClr val="FCD34D"/>
                </a:solidFill>
                <a:latin typeface="Consolas"/>
              </a:rPr>
              <a:t>"width=device-width, initial-scale=1.0"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&lt;title&gt;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 — Бронирование</a:t>
            </a:r>
            <a:r>
              <a:rPr sz="800">
                <a:solidFill>
                  <a:srgbClr val="F472B6"/>
                </a:solidFill>
                <a:latin typeface="Consolas"/>
              </a:rPr>
              <a:t>&lt;/title&gt;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шрифта Inter из Google Fonts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"preconnect"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"https://fonts.gstatic.com"</a:t>
            </a:r>
            <a:r>
              <a:rPr sz="800">
                <a:solidFill>
                  <a:srgbClr val="F472B6"/>
                </a:solidFill>
                <a:latin typeface="Consolas"/>
              </a:rPr>
              <a:t> crossorigin&gt;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"https://fonts.googleapis.com/css2?family=Inter:wght@400;500;600;700;800&amp;display=swap"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 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&lt;!-- Подключение таблицы стилей и иконки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"stylesheet"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"css/style.css"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&lt;link </a:t>
            </a:r>
            <a:r>
              <a:rPr sz="800">
                <a:solidFill>
                  <a:srgbClr val="A78BFA"/>
                </a:solidFill>
                <a:latin typeface="Consolas"/>
              </a:rPr>
              <a:t>rel=</a:t>
            </a:r>
            <a:r>
              <a:rPr sz="800">
                <a:solidFill>
                  <a:srgbClr val="FCD34D"/>
                </a:solidFill>
                <a:latin typeface="Consolas"/>
              </a:rPr>
              <a:t>"icon"</a:t>
            </a:r>
            <a:r>
              <a:rPr sz="800">
                <a:solidFill>
                  <a:srgbClr val="A78BFA"/>
                </a:solidFill>
                <a:latin typeface="Consolas"/>
              </a:rPr>
              <a:t> type=</a:t>
            </a:r>
            <a:r>
              <a:rPr sz="800">
                <a:solidFill>
                  <a:srgbClr val="FCD34D"/>
                </a:solidFill>
                <a:latin typeface="Consolas"/>
              </a:rPr>
              <a:t>"image/svg+xml"</a:t>
            </a:r>
            <a:r>
              <a:rPr sz="800">
                <a:solidFill>
                  <a:srgbClr val="A78BFA"/>
                </a:solidFill>
                <a:latin typeface="Consolas"/>
              </a:rPr>
              <a:t> href=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СЛУЖЕБНЫЕ МЕТАТЕГИ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UTF-8: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Указывает браузеру стандарт символов. Без &lt;meta charset="UTF-8"&gt; кириллические буквы превратятся в иероглифы.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92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5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Метатег Viewport: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браузеру отображать страницу в масштабе 1:1 в соответствии с реальной шириной экрана экрана устройства.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52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14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Google Fonts (Inter):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Шрифт Inter — мировой стандарт интерфейсов (Figma, Linear). preconnect заранее открывает скоростное соединение с сервером.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Фавикон сайта (Favicon):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Векторная иконка img/logo.svg в теге &lt;link rel="icon"&gt; украшает вкладку в браузере и закладки.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СЛУЖЕБНЫЙ БЛОК &lt;HEAD&gt;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4972050" y="259079"/>
            <a:ext cx="39179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BLOCK vs FLEXBOX vs GRID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В чем визуальная разница блочного потока, Flexbox и CSS Grid?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Montserrat"/>
              </a:rPr>
              <a:t>1. BLOCK (Поток)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Вертикальный стек друг под друга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2362200" cy="127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80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Родитель: width: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16510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1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22606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2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2870200"/>
            <a:ext cx="2159000" cy="482600"/>
          </a:xfrm>
          <a:prstGeom prst="roundRect">
            <a:avLst>
              <a:gd name="adj" fmla="val 6000"/>
            </a:avLst>
          </a:prstGeom>
          <a:solidFill>
            <a:srgbClr val="1B2A38"/>
          </a:solidFill>
          <a:ln w="15240">
            <a:solidFill>
              <a:srgbClr val="38BDF8"/>
            </a:solidFill>
          </a:ln>
        </p:spPr>
        <p:txBody>
          <a:bodyPr wrap="square" lIns="762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onsolas"/>
              </a:rPr>
              <a:t>&lt;div&gt; Блок 3</a:t>
            </a:r>
          </a:p>
          <a:p>
            <a:pPr algn="ctr"/>
            <a:r>
              <a:rPr sz="700">
                <a:solidFill>
                  <a:srgbClr val="38BDF8"/>
                </a:solidFill>
                <a:latin typeface="Inter"/>
              </a:rPr>
              <a:t>width: 100% (выталкивает вниз)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Свойство по умолчанию:
</a:t>
            </a:r>
            <a:r>
              <a:rPr sz="750">
                <a:solidFill>
                  <a:srgbClr val="D4D4D8"/>
                </a:solidFill>
                <a:latin typeface="Inter"/>
              </a:rPr>
              <a:t>Каждый тег занимает всю ширину строки и переносит следующий элемент вниз.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909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4ADE80"/>
                </a:solidFill>
                <a:latin typeface="Montserrat"/>
              </a:rPr>
              <a:t>2. FLEXBOX (1D)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Вдоль одной оси (строка / колонка)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1295400"/>
            <a:ext cx="2362200" cy="127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09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17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display: flex; gap: 8px;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2500" y="1651000"/>
            <a:ext cx="2159000" cy="228600"/>
          </a:xfrm>
          <a:prstGeom prst="roundRect">
            <a:avLst>
              <a:gd name="adj" fmla="val 20000"/>
            </a:avLst>
          </a:prstGeom>
          <a:solidFill>
            <a:srgbClr val="132A1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750" b="1">
                <a:solidFill>
                  <a:srgbClr val="4ADE80"/>
                </a:solidFill>
                <a:latin typeface="Consolas"/>
              </a:rPr>
              <a:t>ГЛАВНАЯ ОСЬ X (row) ──►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925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1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91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2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flex: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5700" y="1955800"/>
            <a:ext cx="647700" cy="965200"/>
          </a:xfrm>
          <a:prstGeom prst="roundRect">
            <a:avLst>
              <a:gd name="adj" fmla="val 8000"/>
            </a:avLst>
          </a:prstGeom>
          <a:solidFill>
            <a:srgbClr val="1A3324"/>
          </a:solidFill>
          <a:ln w="15240">
            <a:solidFill>
              <a:srgbClr val="4ADE80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Item 3</a:t>
            </a:r>
          </a:p>
          <a:p>
            <a:pPr algn="ctr"/>
            <a:r>
              <a:rPr sz="700">
                <a:solidFill>
                  <a:srgbClr val="4ADE80"/>
                </a:solidFill>
                <a:latin typeface="Consolas"/>
              </a:rPr>
              <a:t>auto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92500" y="3022600"/>
            <a:ext cx="2159000" cy="482600"/>
          </a:xfrm>
          <a:prstGeom prst="rect">
            <a:avLst/>
          </a:prstGeom>
          <a:solidFill>
            <a:srgbClr val="18222A"/>
          </a:solidFill>
          <a:ln w="9525">
            <a:solidFill>
              <a:srgbClr val="2D3A45"/>
            </a:solidFill>
          </a:ln>
        </p:spPr>
        <p:txBody>
          <a:bodyPr wrap="square" rtlCol="0" anchor="ctr"/>
          <a:lstStyle/>
          <a:p>
            <a:pPr algn="ctr"/>
            <a:r>
              <a:rPr sz="700">
                <a:solidFill>
                  <a:srgbClr val="D4D4D8"/>
                </a:solidFill>
                <a:latin typeface="Consolas"/>
              </a:rPr>
              <a:t>justify-content: space-between;
align-items: center;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909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Одномерное управление (1D):
</a:t>
            </a:r>
            <a:r>
              <a:rPr sz="750">
                <a:solidFill>
                  <a:srgbClr val="D4D4D8"/>
                </a:solidFill>
                <a:latin typeface="Inter"/>
              </a:rPr>
              <a:t>Идеально выстраивает элементы в одну линию (шапка, меню, ряд кнопок) и делит пустоту.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711200"/>
            <a:ext cx="26670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4600" y="838200"/>
            <a:ext cx="2362200" cy="40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78BFA"/>
                </a:solidFill>
                <a:latin typeface="Montserrat"/>
              </a:rPr>
              <a:t>3. CSS GRID (2D)</a:t>
            </a:r>
          </a:p>
          <a:p>
            <a:r>
              <a:rPr sz="800">
                <a:solidFill>
                  <a:srgbClr val="71717A"/>
                </a:solidFill>
                <a:latin typeface="Inter"/>
              </a:rPr>
              <a:t>Строки + Столбцы (Сетка матрица)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4600" y="1295400"/>
            <a:ext cx="2362200" cy="127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4600" y="1397000"/>
            <a:ext cx="2362200" cy="22352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3B4252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5400" y="1422400"/>
            <a:ext cx="2260600" cy="177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750">
                <a:solidFill>
                  <a:srgbClr val="71717A"/>
                </a:solidFill>
                <a:latin typeface="Consolas"/>
              </a:rPr>
              <a:t>grid-template-columns: 1fr 1fr;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262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1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16764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2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262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3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1 / row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2590800"/>
            <a:ext cx="1003300" cy="838200"/>
          </a:xfrm>
          <a:prstGeom prst="roundRect">
            <a:avLst>
              <a:gd name="adj" fmla="val 8000"/>
            </a:avLst>
          </a:prstGeom>
          <a:solidFill>
            <a:srgbClr val="271F3D"/>
          </a:solidFill>
          <a:ln w="15240">
            <a:solidFill>
              <a:srgbClr val="A78BFA"/>
            </a:solidFill>
          </a:ln>
        </p:spPr>
        <p:txBody>
          <a:bodyPr wrap="square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onsolas"/>
              </a:rPr>
              <a:t>Ячейка 4</a:t>
            </a:r>
          </a:p>
          <a:p>
            <a:pPr algn="ctr"/>
            <a:r>
              <a:rPr sz="650">
                <a:solidFill>
                  <a:srgbClr val="A78BFA"/>
                </a:solidFill>
                <a:latin typeface="Inter"/>
              </a:rPr>
              <a:t>col 2 / row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4600" y="3708400"/>
            <a:ext cx="23622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 b="1">
                <a:solidFill>
                  <a:srgbClr val="222222"/>
                </a:solidFill>
                <a:latin typeface="Inter"/>
              </a:rPr>
              <a:t>Двумерная матрица (2D):
</a:t>
            </a:r>
            <a:r>
              <a:rPr sz="750">
                <a:solidFill>
                  <a:srgbClr val="D4D4D8"/>
                </a:solidFill>
                <a:latin typeface="Inter"/>
              </a:rPr>
              <a:t>Управляет строками и колонками одновременно. Идеально для каталогов карточек и фото.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295900" y="259079"/>
            <a:ext cx="35941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ТЕОРИЯ: ВЫБОР МОДЕЛИ ВЕРСТКИ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Какую модель верстки выбрать для конкретной задачи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(Выбор модели)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ОБЫЧНЫЙ ТЕКСТ И АБЗАЦЫ (Block)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.article-text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block</a:t>
            </a:r>
            <a:r>
              <a:rPr sz="800">
                <a:solidFill>
                  <a:srgbClr val="71717A"/>
                </a:solidFill>
                <a:latin typeface="Consolas"/>
              </a:rPr>
              <a:t>; /* Поток сверху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ШАПКА И НАВИГАЦИЯ В РЯД (Flexbox)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.header-nav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3. КАТАЛОГ КОМНАТ 3x3 (CSS 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.rooms-grid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Отступы сетки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ПРАВИЛА И СЦЕНАРИИ ПРИМЕНЕНИЯ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Dot 0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Bullet 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Block — для текстовых смысловых блоков: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Теги &lt;p&gt;, &lt;h1&gt;, &lt;div&gt; по умолчанию блочные. Они естественным образом формируют классический вертикальный поток документа для чтения.</a:t>
            </a:r>
          </a:p>
        </p:txBody>
      </p:sp>
      <p:sp>
        <p:nvSpPr>
          <p:cNvPr id="12" name="Rounded Rectangle Dot 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Bullet 1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Flexbox — для линейных цепочек (1D):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Идеален, когда элементы нужно расположить вдоль одной оси: шапка сайта, меню ссылок, строка с тегами или кнопка с иконкой.</a:t>
            </a:r>
          </a:p>
        </p:txBody>
      </p:sp>
      <p:sp>
        <p:nvSpPr>
          <p:cNvPr id="14" name="Rounded Rectangle Dot 2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Bullet 2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CSS Grid — для сложных сеток каталогов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Используется, когда нужно контролировать и строки, и столбцы одновременно: галерея фото, витрина товаров, сетка переговорных комнат.</a:t>
            </a:r>
          </a:p>
        </p:txBody>
      </p:sp>
      <p:sp>
        <p:nvSpPr>
          <p:cNvPr id="16" name="Rounded Rectangle Dot 3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Bullet 3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Командная работа технологий: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организует общую 3-колоночную сетку каталога, Flexbox центрирует содержимое внутри каждой карточки, а Block держит описание.</a:t>
            </a:r>
          </a:p>
        </p:txBody>
      </p:sp>
      <p:sp>
        <p:nvSpPr>
          <p:cNvPr id="18" name="Rounded Rectangle Dot 4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Bullet 4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Итог: как выбирать инструмент: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Ряд кнопок или выравнивание шапки? → Flexbox. Матрица карточек 3х3 или дашборд? → Grid. Стандартный текст статьи? → Block!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БЛОЧНАЯ МОДЕЛЬ: BOX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устроена блочная модель и почему важен box-sizing?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(Box Model Anatomy)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ЛЮБОГО HTML-ЭЛЕМЕНТА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 АНАТОМИЯ БЛОЧНОЙ КОРОБКИ 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┌───────────────────────────────────┐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│ MARGIN (Внешний отступ от соседей)│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┌─────────────────────────────┐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│  │ BORDER (Видимая рамка/грань)│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┌───────────────────────┐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CD34D"/>
                </a:solidFill>
                <a:latin typeface="Consolas"/>
              </a:rPr>
              <a:t>│  │  │ PADDING (Внутр. поля)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┌─────────────────┐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    CONTENT    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│  │  │  │ (Текст, иконка) │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│  └─────────────────┘  │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│  └───────────────────────┘  │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│  └─────────────────────────────┘  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└───────────────────────────────────┘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Главное правило сброса в начале CSS: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71717A"/>
                </a:solidFill>
                <a:latin typeface="Consolas"/>
              </a:rPr>
              <a:t>; /* Честный расчет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Content (Контент / Содержимое):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Сердцевина элемента — сам текст, изображение или векторная иконка. Его базовые размеры определяются свойствами width и height.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4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03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 (Внутренние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Воздушная подушка безопасности внутри блока от контента до его рамки. Заливается фоновым цветом блока (background-color).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476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38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 (Граница / Рамка):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Линия, очерчивающая блок. Имеет толщину, стиль и цвет (например, border: 1px solid #fe6002). Завершает физическое тело элемента.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Margin (Внешние отступы):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Пространство снаружи блока, отталкивающее соседей. Margin всегда абсолютно прозрачен и не имеет цвета фона.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211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683000"/>
            <a:ext cx="3619500" cy="635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Спасение через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Без этого правила любой padding раздувает блок наружу и ломает верстку. С border-box ширина 300px всегда строго 300px!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FLEXBOX: ОДНОМЕРНЫЙ МАКЕТ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работает Flexbox и почему он незаменим в верстке?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(Flexbox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И СИЛА ТЕХНОЛОГИИ FLEXBOX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РОДИТЕЛЬ (Flex-контейнер)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.navbar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флекс-режим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row</a:t>
            </a:r>
            <a:r>
              <a:rPr sz="800">
                <a:solidFill>
                  <a:srgbClr val="71717A"/>
                </a:solidFill>
                <a:latin typeface="Consolas"/>
              </a:rPr>
              <a:t>;     /* Ось X: слева направо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71717A"/>
                </a:solidFill>
                <a:latin typeface="Consolas"/>
              </a:rPr>
              <a:t>; /* Разнос краев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71717A"/>
                </a:solidFill>
                <a:latin typeface="Consolas"/>
              </a:rPr>
              <a:t>;        /* Центр по высоте Y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71717A"/>
                </a:solidFill>
                <a:latin typeface="Consolas"/>
              </a:rPr>
              <a:t>;                /* Шаг между детьми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ПОТОМОК (Flex-элемент)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Занимает всю пустоту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flex-shrink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71717A"/>
                </a:solidFill>
                <a:latin typeface="Consolas"/>
              </a:rPr>
              <a:t>; /* Не сжиматься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Родитель (Container) и дети (Items):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 пишется у родительского блока, но мгновенно подчиняет всех прямых потомков, выстраивая их в ряд.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Главная (Main) и поперечная (Cross) оси: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элементы строятся слева направо (row). Но с flex-direction: column ось легко поворачивается сверху вниз.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Выравнивание: justify-content и align-items: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justify-content выравнивает вдоль главной оси (center, space-between), а align-items — центрирует по высоте без костылей.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62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124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 — идеальные отступы: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Заменяет мучения с margin-right и :last-child. Одной командой gap: 20px создает равные промежутки между дочерними блоками.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973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592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Магический flex: 1 (Жадное растяжение):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Говорит элементу: «Забери всё свободное место!». Именно благодаря этому блок .main выталкивает футер в самый низ экрана.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9;p14"/>
          <p:cNvSpPr/>
          <p:nvPr/>
        </p:nvSpPr>
        <p:spPr>
          <a:xfrm>
            <a:off x="5619750" y="259079"/>
            <a:ext cx="327025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</p:spPr>
        <p:txBody>
          <a:bodyPr wrap="none" lIns="101600" tIns="25400" rIns="1016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 GRID: ДВУМЕРНЫЕ СЕТКИ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Когда и зачем использовать CSS Grid вместо Flexbox?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(CSS Grid Syntax)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ДВУМЕРНЫЙ СЕТОЧНЫЙ КАРКАС</a:t>
            </a:r>
          </a:p>
        </p:txBody>
      </p:sp>
      <p:sp>
        <p:nvSpPr>
          <p:cNvPr id="8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1. СЕТОЧНЫЙ КОНТЕЙНЕР (Grid)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.rooms-catalog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grid</a:t>
            </a:r>
            <a:r>
              <a:rPr sz="800">
                <a:solidFill>
                  <a:srgbClr val="71717A"/>
                </a:solidFill>
                <a:latin typeface="Consolas"/>
              </a:rPr>
              <a:t>; /* Включаем 2D-сетку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3 равные колонки по 1 доле (fr):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grid-template-columns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repeat(3, 1fr)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71717A"/>
                </a:solidFill>
                <a:latin typeface="Consolas"/>
              </a:rPr>
              <a:t>; /* Отступ строк и колонок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2. ОСОБАЯ КАРТОЧКА (Grid-элемент)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.card-featured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span 2</a:t>
            </a:r>
            <a:r>
              <a:rPr sz="800">
                <a:solidFill>
                  <a:srgbClr val="71717A"/>
                </a:solidFill>
                <a:latin typeface="Consolas"/>
              </a:rPr>
              <a:t>; /* Растянуть на 2 ячейки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.card-full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grid-column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 / -1</a:t>
            </a:r>
            <a:r>
              <a:rPr sz="800">
                <a:solidFill>
                  <a:srgbClr val="71717A"/>
                </a:solidFill>
                <a:latin typeface="Consolas"/>
              </a:rPr>
              <a:t>; /* На всю ширину ряда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Двумерная координатная плоскость (2D):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Grid одновременно управляет и строками, и столбцами. Элементы распределяются по ячейкам, как на шахматной доске.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Шаблон колонок: repeat(3, 1fr):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Команда repeat(3, 1fr) делит ширину родителя на 3 абсолютно равные колонки. Браузер сам пересчитывает ширину ячеек!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0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463800"/>
            <a:ext cx="36195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Единица измерения fr (Fraction):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Доля от свободного места. Шаблон 1fr 2fr создаст две колонки, где правая будет ровно в два раза шире левой.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1115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073400"/>
            <a:ext cx="3619500" cy="60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Объединение ячеек через span: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grid-column: span 2 позволяет карточке переговорной или баннеру занять сразу две ячейки, не ломая соседей.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6000" y="3771900"/>
            <a:ext cx="81280" cy="8128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03800" y="373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 в веб-разработке: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Витрины интернет-магазинов, каталоги комнат и услуг, галереи фото и дашборды с графиками создаются именно на CSS Grid!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сбрасывать стандартные отступы браузеров?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(базовый сброс)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СБРОС СТИЛЕЙ И БАЗОВЫЕ НАСТРОЙКИ   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Селектор * выбирает абсолютно все теги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*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Включаем padding и border в общую ширину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box-sizing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border-box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внешние отступы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Сбрасываем браузерные внутренние поля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МАГИЯ BOX-SIZING: BORDER-BOX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Проблема браузерных стилей: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 каждого браузера (Chrome, Safari, Firefox, Edge) свои отступы для &lt;body&gt;, &lt;h1&gt;, &lt;p&gt;, &lt;ul&gt;. Сброс делает их одинаковыми.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Что делает margin: 0; padding: 0;?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паразитные белые поля по краям экрана и у списков, давая нам полный контроль над каждым пикселем.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Главное свойство — box-sizing: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умолчанию (content-box) если блоку шириной 100px задать padding: 20px, он станет 140px! Это ломает сетку верстки.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Результат border-box: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Ширина блока всегда остается ровно 100px, а внутренние отступы аккуратно сжимают контент внутри него.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CSS: СБРОС СТИЛЕЙ (*)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настроить тело страницы и заложить прижатие подвала?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(body)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Базовый шрифт и цвет текста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font-family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'Inter', sans-serif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1.5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Flexbox-раскладка для прижатия футера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ФУНДАМЕНТ СТРАНИЦЫ (BODY)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font-family: 'Inter', sans-serif: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Браузер использует загруженный шрифт Inter, а если интернета нет — системный шрифт без засечек sans-serif.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1.5 (Интерлиньяж):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Полуторный межстрочный интервал делает даже длинный текст легким и приятным для чтения студентами.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min-height: 100vh (Высота viewport):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100vh означает 100% высоты экрана. Страница гарантированно не сожмется, даже если на ней всего одно слово.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63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25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flex; flex-direction: column: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Выстраивает шапку, контент и футер вертикально друг под другом, подготавливая почву для идеального прижатия футера.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БАЗОВЫЕ НАСТРОЙКИ BODY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удержать контент в центре экрана на любом мониторе?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(.container)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Ограничивающий и центрирующий контейнер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Фиксированная ширина контентной зоны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width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1200px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Автоматическое центрирование по горизонтали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auto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/* Внутренние поля безопасности слева и справа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 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АНАТОМИЯ КЛАССА .CONTAINER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width: 1200px (Ширина контента):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мониторах 2K и 4K текст без контейнера растянулся бы на 2 метра. 1200px — золотой стандарт читаемости.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Секрет margin: 0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Первое значение (0) — отступы сверху и снизу. Второе (auto) — браузер делит оставшееся место поровну слева и справа!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padding: 0 15px (Боковые поля):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окно уменьшится, текст не упрется в край экрана, а сохранит эстетичный зазор в 15 пикселей.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Где применяется: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оборачиваем в .container контент внутри &lt;header&gt;, &lt;main&gt; и &lt;footer&gt;, выстраивая всю страницу по единой линейке.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ЦЕНТРИРУЮЩИЙ КОНТЕЙНЕР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структурировать элементы внутри шапки сайта?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(&lt;header&gt;)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&lt;header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"header"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header-container"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Логотип со ссылкой на Главную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&lt;img </a:t>
            </a:r>
            <a:r>
              <a:rPr sz="800">
                <a:solidFill>
                  <a:srgbClr val="A78BFA"/>
                </a:solidFill>
                <a:latin typeface="Consolas"/>
              </a:rPr>
              <a:t>src=</a:t>
            </a:r>
            <a:r>
              <a:rPr sz="800">
                <a:solidFill>
                  <a:srgbClr val="FCD34D"/>
                </a:solidFill>
                <a:latin typeface="Consolas"/>
              </a:rPr>
              <a:t>"img/logo.svg"</a:t>
            </a:r>
            <a:r>
              <a:rPr sz="800">
                <a:solidFill>
                  <a:srgbClr val="A78BFA"/>
                </a:solidFill>
                <a:latin typeface="Consolas"/>
              </a:rPr>
              <a:t> alt=</a:t>
            </a:r>
            <a:r>
              <a:rPr sz="800">
                <a:solidFill>
                  <a:srgbClr val="FCD34D"/>
                </a:solidFill>
                <a:latin typeface="Consolas"/>
              </a:rPr>
              <a:t>"Логотип"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"logo-icon"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&lt;span&gt;</a:t>
            </a:r>
            <a:r>
              <a:rPr sz="800">
                <a:solidFill>
                  <a:srgbClr val="D4D4D8"/>
                </a:solidFill>
                <a:latin typeface="Consolas"/>
              </a:rPr>
              <a:t>СмартОфис</a:t>
            </a:r>
            <a:r>
              <a:rPr sz="800">
                <a:solidFill>
                  <a:srgbClr val="F472B6"/>
                </a:solidFill>
                <a:latin typeface="Consolas"/>
              </a:rPr>
              <a:t>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&lt;/a&gt;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Навигационное меню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&lt;nav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&lt;ul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"nav-list"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"index.html"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active"</a:t>
            </a:r>
            <a:r>
              <a:rPr sz="800">
                <a:solidFill>
                  <a:srgbClr val="F472B6"/>
                </a:solidFill>
                <a:latin typeface="Consolas"/>
              </a:rPr>
              <a:t>&gt;Главная&lt;/a&gt;&lt;/li&gt;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"pages/catalog.html"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"nav-link"</a:t>
            </a:r>
            <a:r>
              <a:rPr sz="800">
                <a:solidFill>
                  <a:srgbClr val="F472B6"/>
                </a:solidFill>
                <a:latin typeface="Consolas"/>
              </a:rPr>
              <a:t>&gt;Каталог&lt;/a&gt;&lt;/li&gt;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  &lt;li&gt;&lt;a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"pages/login.html"</a:t>
            </a:r>
            <a:r>
              <a:rPr sz="800">
                <a:solidFill>
                  <a:srgbClr val="A78BFA"/>
                </a:solidFill>
                <a:latin typeface="Consolas"/>
              </a:rPr>
              <a:t> class=</a:t>
            </a:r>
            <a:r>
              <a:rPr sz="800">
                <a:solidFill>
                  <a:srgbClr val="FCD34D"/>
                </a:solidFill>
                <a:latin typeface="Consolas"/>
              </a:rPr>
              <a:t>"nav-link nav-btn"</a:t>
            </a:r>
            <a:r>
              <a:rPr sz="800">
                <a:solidFill>
                  <a:srgbClr val="F472B6"/>
                </a:solidFill>
                <a:latin typeface="Consolas"/>
              </a:rPr>
              <a:t>&gt;Войти&lt;/a&gt;&lt;/li&gt;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&lt;/ul&gt;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&lt;/nav&gt;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&lt;/header&gt;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СТРУКТУРА И ВЛОЖЕННОСТЬ ШАПКИ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Двухуровневая обертка: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Внешний тег &lt;header&gt; отвечает за фон и нижнюю границу на всю ширину. Внутренний .header-container центрирует элементы.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Логотип как ссылка (&lt;a&gt;):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Логотип объединяет SVG-иконку и текст. Клик по любой его части перезагружает сайт или возвращает пользователя на главную.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тег &lt;nav&gt;: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Группирует основные ссылки сайта. Поисковые роботы сразу понимают, что здесь находится карта разделов.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 .active и кнопка .nav-btn: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.active показывает пользователю, на какой странице он находится. .nav-btn превращает третью ссылку в акцентную кнопку.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 (HEADER): 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разнести логотип и меню по противоположным краям?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(header flexbox)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1px solid #dddddd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18px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.header-container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justify-content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space-between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.logo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20px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.logo-icon { width: 32px; height: 32px;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СИЛА FLEXBOX В ДЕЙСТВИИ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display: flex (Включаем гибкую сетку):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Превращает .header-container в флекс-контейнер. Все прямые потомки (логотип и меню) встают в одну ровную линию.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Главный трюк верстки! Первый элемент (лого) прижимается к левой стенке, последний (меню) — к правой стенке.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align-items: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Выравнивает элементы по вертикальной оси. Логотип и кнопки встают строго по центру без ручных отступов.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gap: 10px в .logo: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Современный способ задать отступ ровно в 10px между иконкой логотипа и текстом бренда без margin-right.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1860" y="259715"/>
            <a:ext cx="289814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ШАПКА САЙТА: CSS &amp; FLEXBOX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ссылки, состояния hover и кнопку «Войти»?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(навигация)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list-style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71717A"/>
                </a:solidFill>
                <a:latin typeface="Consolas"/>
              </a:rPr>
              <a:t>; /* Убираем маркеры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gap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12px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align-items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text-decoration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none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 14px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500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.nav-link:hover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#eaf2ff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.nav-btn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.nav-btn:hover { background-color: #0056b3;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СТИЛИЗАЦИЯ И ИНТЕРАКТИВНОСТЬ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list-style: none: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Убирает браузерные черные точки у тегов &lt;li&gt;. Меню превращается в аккуратную группу кнопок.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866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28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Псевдокласс :hover: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Срабатывает в момент наведения курсора мыши. Ссылка меняет цвет на синий и получает легкий голубой фон #eaf2ff.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578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40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Кнопка призыва к действию (.nav-btn):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Класс .nav-btn окрашивает кнопку «Войти» в насыщенный цвет #007bff с белым текстом, делая её заметной.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border-radius: 4px: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Легкое скругление углов придает элементам интерфейса современный мягкий вид.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4070" y="259715"/>
            <a:ext cx="299593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НАВИГАЦИОННОЕ МЕНЮ И КНОПКА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сверстать эффектный презентационный заголовок?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(Hero)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&lt;!-- Главный баннер (Hero-блок)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&lt;section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"hero-section"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&lt;h1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Портал бронирования офисных комнат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"brand-highlight"</a:t>
            </a:r>
            <a:r>
              <a:rPr sz="800">
                <a:solidFill>
                  <a:srgbClr val="F472B6"/>
                </a:solidFill>
                <a:latin typeface="Consolas"/>
              </a:rPr>
              <a:t>&gt;«СмартОфис»&lt;/span&gt;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&lt;/h1&gt;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&gt;...&lt;/div&gt;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&lt;/section&gt;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гигантского заголовка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line-height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0.95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-0.04em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.brand-highlight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#007bff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ПЛАКАТНАЯ ТИПОГРАФИКА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Единственный заголовок &lt;h1&gt;: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 стандартам веб-доступности и поисковых систем Google/Яндекс на странице должен быть только один &lt;h1&gt;.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17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879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font-size: 108px: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Смелый плакатный размер сразу приковывает внимание студента и формирует премиальное ощущение от сервиса.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line-height: 0.95 и letter-spacing: -0.04em: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экстремально больших шрифтах буквы разъезжаются. Отрицательный кернинг и плотный интерлиньяж делают текст монолитным.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Подсветка бренда через &lt;span&gt;: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Тег &lt;span&gt; позволяет изменить цвет слова «СмартОфис» на фирменный синий, не разбивая заголовок на части.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96280" y="259715"/>
            <a:ext cx="309372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ГЛАВНЫЙ ЭКРАН (HERO SECTION)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скомпоновать цифры и показатели сервиса в одну линию?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(Metrics)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"hero-bottom"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&lt;p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"hero-subtitle"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Удобный выбор и быстрое бронирование...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"hero-metrics"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&gt;24/7&lt;/span&gt;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&gt;Доступ&lt;/span&gt;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"metric-item"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"metric-val"</a:t>
            </a:r>
            <a:r>
              <a:rPr sz="800">
                <a:solidFill>
                  <a:srgbClr val="F472B6"/>
                </a:solidFill>
                <a:latin typeface="Consolas"/>
              </a:rPr>
              <a:t>&gt;от 250 ₽&lt;/span&gt;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  &lt;span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"metric-lbl"</a:t>
            </a:r>
            <a:r>
              <a:rPr sz="800">
                <a:solidFill>
                  <a:srgbClr val="F472B6"/>
                </a:solidFill>
                <a:latin typeface="Consolas"/>
              </a:rPr>
              <a:t>&gt;Почасовая аренда&lt;/span&gt;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.hero-bottom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border-top: 2px solid #222222; padding-top: 20px;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display: flex; justify-content: space-between;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.metric-val { font-size: 20px; font-weight: 800; color: #007bff;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АРХИТЕКТУРА НИЖНЕЙ ЧАСТИ HERO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Графическая черта border-top: 2px solid: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Контрастная черная линия отделяет масштабный заголовок от подробностей, задавая строгий журнальный стиль.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Раскладка justify-content: space-between: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Подзаголовок аккуратно размещается слева (max-width: 600px), а метрики выстраиваются в правой части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28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90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Вертикальная колонка .metric-item: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Свойство display: flex; flex-direction: column ставит яркую цифру 24/7 строго над маленькой подписью «Доступ».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40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302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Контраст типографики: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Значение (.metric-val): 20px, жирный шрифт 800, синий цвет. Подпись (.metric-lbl): 12px, серый нейтральный цвет #777777.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650" y="259715"/>
            <a:ext cx="280035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БЛОК ПРЕИМУЩЕСТВ И МЕТРИК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Зачем в стилях классы .page-title и .page-subtitle?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(.page-title)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СТИЛИ ДЛЯ ВНУТРЕННИХ СТРАНИЦ ПРОЕКТА     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=========================================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Главный заголовок страниц Каталога и Входа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font-weight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letter-spacing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-0.02em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8px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Серый центрированный подзаголовок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.page-subtitle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#666666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text-align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center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font-size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15px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ПРОЕКТИРОВАНИЕ НА ОПЕРЕЖЕНИЕ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Задел для следующих вебинаров: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На 3 и 4 вебинарах мы создадим catalog.html и login.html. Классы .page-title и .page-subtitle уже готовы для них!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text-align: center: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Центрирует текст по горизонтали внутри контейнера, создавая симметричную шапку внутренних разделов.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Принцип DRY (Don't Repeat Yourself):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Мы не пишем заново оформление заголовков для каждой страницы. Мы создаем единый переиспользуемый класс.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Визуальная иерархия: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Крупный жирный заголовок 28px и деликатный серый подзаголовок 15px создают гармоничную композицию.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02910" y="259715"/>
            <a:ext cx="33870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УНИВЕРСАЛЬНЫЕ ЗАГОЛОВКИ СТРАНИЦ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оформить кликабельные контакты и юридический блок?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index.html &amp; style.css 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&lt;footer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"container footer-container"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Левая колонка: описание и копирайт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"footer-info"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&lt;p&gt;&lt;strong&gt;СмартОфис&lt;/strong&gt; — Сервис бронирования&lt;/p&gt;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&lt;p&gt;© 2026 СмартОфис. Все права защищены.&lt;/p&gt;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    &lt;!-- Правая колонка: интерактивные контакты --&gt;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&lt;div </a:t>
            </a:r>
            <a:r>
              <a:rPr sz="800">
                <a:solidFill>
                  <a:srgbClr val="A78BFA"/>
                </a:solidFill>
                <a:latin typeface="Consolas"/>
              </a:rPr>
              <a:t>class=</a:t>
            </a:r>
            <a:r>
              <a:rPr sz="800">
                <a:solidFill>
                  <a:srgbClr val="FCD34D"/>
                </a:solidFill>
                <a:latin typeface="Consolas"/>
              </a:rPr>
              <a:t>"footer-contacts"</a:t>
            </a:r>
            <a:r>
              <a:rPr sz="800">
                <a:solidFill>
                  <a:srgbClr val="F472B6"/>
                </a:solidFill>
                <a:latin typeface="Consolas"/>
              </a:rPr>
              <a:t>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&lt;p&gt;Email: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"mailto:info@smartoffice.ru"</a:t>
            </a:r>
            <a:r>
              <a:rPr sz="800">
                <a:solidFill>
                  <a:srgbClr val="D4D4D8"/>
                </a:solidFill>
                <a:latin typeface="Consolas"/>
              </a:rPr>
              <a:t>&gt;info@smartoffice.ru&lt;/a&gt;&lt;/p&gt;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     &lt;p&gt;Телефон: &lt;a </a:t>
            </a:r>
            <a:r>
              <a:rPr sz="800">
                <a:solidFill>
                  <a:srgbClr val="A78BFA"/>
                </a:solidFill>
                <a:latin typeface="Consolas"/>
              </a:rPr>
              <a:t>href=</a:t>
            </a:r>
            <a:r>
              <a:rPr sz="800">
                <a:solidFill>
                  <a:srgbClr val="FCD34D"/>
                </a:solidFill>
                <a:latin typeface="Consolas"/>
              </a:rPr>
              <a:t>"tel:+78005553535"</a:t>
            </a:r>
            <a:r>
              <a:rPr sz="800">
                <a:solidFill>
                  <a:srgbClr val="D4D4D8"/>
                </a:solidFill>
                <a:latin typeface="Consolas"/>
              </a:rPr>
              <a:t>&gt;+7 (800) 555-35-35&lt;/a&gt;&lt;/p&gt;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  &lt;/div&gt;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F472B6"/>
                </a:solidFill>
                <a:latin typeface="Consolas"/>
              </a:rPr>
              <a:t>&lt;/footer&gt;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 { background-color: #f8f9fa; border-top: 1px solid #dddddd; padding: 25px 0;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.footer-contacts a { color: #007bff; text-decoration: none;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СТАНДАРТЫ ОФОРМЛЕНИЯ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mailto: в ссылках: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При клике на ссылку href="mailto:..." устройство пользователя автоматически открывает почтовую программу с заполненным адресом.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68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30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Протокол tel: для быстрых звонков: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Ссылка href="tel:+78005553535" на смартфонах сразу запускает набор телефонного номера. Это стандарт мобильного 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705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67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Тег &lt;strong&gt; для акцента: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Выделяет название сервиса жирным шрифтом в первом абзаце футера.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Фон #f8f9fa и разделитель #dddddd: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Мягкий светлый фон и тонкая верхняя рамка деликатно завершают страницу в самом низу.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810" y="259715"/>
            <a:ext cx="240919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ПОДВАЛ САЙТА (FOOTER)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Почему футер не улетает вверх при малом количестве контента?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(Sticky 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1: Тело сайта тянется минимум на 100vh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body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min-height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100vh</a:t>
            </a:r>
            <a:r>
              <a:rPr sz="800">
                <a:solidFill>
                  <a:srgbClr val="71717A"/>
                </a:solidFill>
                <a:latin typeface="Consolas"/>
              </a:rPr>
              <a:t>; /* 100% высоты окна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2: Блок main забирает всё свободное место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.main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flex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</a:t>
            </a:r>
            <a:r>
              <a:rPr sz="800">
                <a:solidFill>
                  <a:srgbClr val="71717A"/>
                </a:solidFill>
                <a:latin typeface="Consolas"/>
              </a:rPr>
              <a:t>; /* Жадно растягивается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40px 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D4D4D8"/>
                </a:solidFill>
                <a:latin typeface="Consolas"/>
              </a:rPr>
              <a:t> 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ШАГ 3: Подвал гарантированно прижат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.footer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margin-top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auto</a:t>
            </a:r>
            <a:r>
              <a:rPr sz="800">
                <a:solidFill>
                  <a:srgbClr val="71717A"/>
                </a:solidFill>
                <a:latin typeface="Consolas"/>
              </a:rPr>
              <a:t>; /* Выталкивается вниз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МЕХАНИКА «ЛИПКОГО» ПОДВАЛА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Классическая беда новичков: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Если на странице мало текста, футер поднимается к середине монитора, а под ним висит пустота. Это выглядит непрофессионально.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1: body на 100vh: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Окно браузера делится на флекс-колонку, которая всегда занимает как минимум 100% высоты экрана.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035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5654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2: flex: 1 для .main: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Магическое свойство flex: 1 говорит браузеру: «Растяни блок main на всю оставшуюся пустоту страницы».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289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51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Шаг 3: margin-top: auto: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Финальная страховка. Футер выталкивается в самый нижний край экрана при любом объеме информации!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ТЕХНИКА FLEXBOX: ПРИЖАТИЕ ФУТЕРА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работают всплывающие системные уведомления?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711200"/>
            <a:ext cx="4127500" cy="37846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600" y="812800"/>
            <a:ext cx="37465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93C5FD"/>
                </a:solidFill>
                <a:latin typeface="Consolas"/>
              </a:rPr>
              <a:t>📄 css/style.css (Toast &amp; Animation)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66800"/>
            <a:ext cx="38227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822700" cy="325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Контейнер прикреплен к правому нижнему углу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.toast-container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position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fixed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bottom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right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24px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z-index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1000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display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flex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flex-direction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column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.toast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background-color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#222222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color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#ffffff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padding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14px 18px</a:t>
            </a:r>
            <a:r>
              <a:rPr sz="800">
                <a:solidFill>
                  <a:srgbClr val="D4D4D8"/>
                </a:solidFill>
                <a:latin typeface="Consolas"/>
              </a:rPr>
              <a:t>; </a:t>
            </a:r>
            <a:r>
              <a:rPr sz="800">
                <a:solidFill>
                  <a:srgbClr val="A78BFA"/>
                </a:solidFill>
                <a:latin typeface="Consolas"/>
              </a:rPr>
              <a:t>border-radius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6px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A78BFA"/>
                </a:solidFill>
                <a:latin typeface="Consolas"/>
              </a:rPr>
              <a:t>  animation</a:t>
            </a:r>
            <a:r>
              <a:rPr sz="800">
                <a:solidFill>
                  <a:srgbClr val="D4D4D8"/>
                </a:solidFill>
                <a:latin typeface="Consolas"/>
              </a:rPr>
              <a:t>: </a:t>
            </a:r>
            <a:r>
              <a:rPr sz="800">
                <a:solidFill>
                  <a:srgbClr val="4ADE80"/>
                </a:solidFill>
                <a:latin typeface="Consolas"/>
              </a:rPr>
              <a:t>toastFadeIn 0.3s ease</a:t>
            </a:r>
            <a:r>
              <a:rPr sz="800">
                <a:solidFill>
                  <a:srgbClr val="D4D4D8"/>
                </a:solidFill>
                <a:latin typeface="Consolas"/>
              </a:rPr>
              <a:t>;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.toast-success { border-left: 4px solid #28a745;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.toast-danger  { border-left: 4px solid #dc3545;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71717A"/>
                </a:solidFill>
                <a:latin typeface="Consolas"/>
              </a:rPr>
              <a:t>/* Плавная анимация всплытия снизу */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@keyframes toastFadeIn {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from { opacity: 0; transform: translateY(15px);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4ADE80"/>
                </a:solidFill>
                <a:latin typeface="Consolas"/>
              </a:rPr>
              <a:t>  to   { opacity: 1; transform: translateY(0); }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800">
                <a:solidFill>
                  <a:srgbClr val="38BDF8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8382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6F03"/>
                </a:solidFill>
                <a:latin typeface="Montserrat"/>
              </a:rPr>
              <a:t>ПОЗИЦИОНИРОВАНИЕ И ЭФФЕКТЫ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4826000" y="1104900"/>
            <a:ext cx="38100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26000" y="12319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03800" y="11938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position: fixed (Фиксация на экране):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Контейнер уведомлений вырван из общего потока и привязан к углу монитора. При прокрутке страницы он остается на месте.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6000" y="19431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03800" y="19050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Свойство z-index: 1000: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Определяет слой по высоте. Значение 1000 гарантирует, что всплывающее сообщение перекроет любой другой элемент сайта.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26000" y="26543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03800" y="26162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Цветовой индикатор статуса: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border-left: 4px solid #28a745 красит левую грань в зеленый при успехе и в красный #dc3545 при ошибке.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26000" y="3314700"/>
            <a:ext cx="81280" cy="81280"/>
          </a:xfrm>
          <a:prstGeom prst="roundRect">
            <a:avLst/>
          </a:prstGeom>
          <a:solidFill>
            <a:srgbClr val="FE60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03800" y="3276600"/>
            <a:ext cx="3619500" cy="584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Анимация @keyframes toastFadeIn: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Сообщение появляется из прозрачности (opacity: 0 -&gt; 1) и сдвигается на 15px снизу вверх за треть секунды (0.3s).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5121" y="259715"/>
            <a:ext cx="3484879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TOAST-УВЕДОМЛЕНИЯ И CSS-АНИМАЦИИ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первой верстке?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Забыли rel="stylesheet"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Написали &lt;link href="css/style.css"&gt; без атрибута rel="stylesheet".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Браузер скачает файл, но не поймет, что это таблица стилей. Обязательно пишите rel="stylesheet"!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Опечатка в пути к стилям или иконке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Указали href="style.css" вместо правильного относительного пути href="css/style.css".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Стили лежат во вложенной папке css/. Проверяйте пути в проводнике VS Code или WebStorm.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Незакрытые парные теги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Забыли закрыть тег &lt;/div&gt;, &lt;header&gt;, &lt;section&gt; или &lt;ul&gt;.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Один незакрытый тег ломает всю сетку Flexbox дальше по коду. Пользуйтесь подсветкой парных тегов в 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F6F03"/>
                </a:solidFill>
                <a:latin typeface="Montserrat"/>
              </a:rPr>
              <a:t>⚠️ Пропустили сброс box-sizing: border-box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222222"/>
                </a:solidFill>
                <a:latin typeface="Inter"/>
              </a:rPr>
              <a:t>Ошибка: </a:t>
            </a:r>
            <a:r>
              <a:rPr sz="850">
                <a:solidFill>
                  <a:srgbClr val="444444"/>
                </a:solidFill>
                <a:latin typeface="Inter"/>
              </a:rPr>
              <a:t>Не написали сброс * { box-sizing: border-box; } в самом начале CSS.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16A34A"/>
                </a:solidFill>
                <a:latin typeface="Inter"/>
              </a:rPr>
              <a:t>Решение: </a:t>
            </a:r>
            <a:r>
              <a:rPr sz="850">
                <a:solidFill>
                  <a:srgbClr val="444444"/>
                </a:solidFill>
                <a:latin typeface="Inter"/>
              </a:rPr>
              <a:t>Любой padding и border будут увеличивать ширину блоков, создавая неприятный горизонтальный скролл.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3020" y="259715"/>
            <a:ext cx="250698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ТИПИЧНЫХ ОШИБОК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6070" y="467487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>
                <a:solidFill>
                  <a:srgbClr val="A6A1A1"/>
                </a:solidFill>
              </a:defRPr>
            </a:pPr>
            <a:r>
              <a:rPr sz="1000">
                <a:solidFill>
                  <a:srgbClr val="A6A1A1"/>
                </a:solidFill>
                <a:latin typeface="Montserrat"/>
              </a:rPr>
              <a:t>Как убедиться, что код вебинара написан на 100% правильно?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3600"/>
            <a:ext cx="7620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6F03"/>
                </a:solidFill>
                <a:latin typeface="Montserrat"/>
              </a:rPr>
              <a:t>ЧЕК-ЛИСТ ГОТОВНОСТИ ПРАКТИЧЕСКОЙ ЧАСТИ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68400"/>
            <a:ext cx="7772400" cy="12700"/>
          </a:xfrm>
          <a:prstGeom prst="rect">
            <a:avLst/>
          </a:prstGeom>
          <a:solidFill>
            <a:srgbClr val="FF6F0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208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62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200" y="12954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Файловая структура проекта организована корректно: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Файл index.html находится в корне, таблица стилей в папке css/style.css, векторный логотип в img/logo.svg.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050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9304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200" y="18796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Кодировка и шрифты подключены без сбоев: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Указан &lt;meta charset="UTF-8"&gt;, шрифт Inter подгружается из Google Fonts, текст не содержит символов-кракозябр.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92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146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200" y="24638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Семантический каркас страницы валиден: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Использованы семантические теги HTML5: &lt;header&gt;, &lt;nav&gt;, &lt;main&gt;, &lt;section class="hero-section"&gt;, &lt;footer&gt;.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34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988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200" y="30480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Контент центрирован внутри .container на 1200px: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Шапка, hero-блок и футер аккуратно держатся по центру экрана с полями безопасности благодаря margin: 0 auto.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279400" cy="2540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683000"/>
            <a:ext cx="279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2200" y="3632200"/>
            <a:ext cx="7239000" cy="482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222222"/>
                </a:solidFill>
                <a:latin typeface="Montserrat"/>
              </a:rPr>
              <a:t>Футер надежно прижат к низу страницы:</a:t>
            </a:r>
          </a:p>
          <a:p>
            <a:pPr>
              <a:spcAft>
                <a:spcPts val="0"/>
              </a:spcAft>
            </a:pPr>
            <a:r>
              <a:rPr sz="850">
                <a:solidFill>
                  <a:srgbClr val="444444"/>
                </a:solidFill>
                <a:latin typeface="Inter"/>
              </a:rPr>
              <a:t>Благодаря связке body { min-height: 100vh; flex-direction: column; } и main { flex: 1; } футер никогда не зависает в воздухе.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8490" y="259715"/>
            <a:ext cx="319151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ИТОГИ И ЧЕК-ЛИСТ САМОПРОВЕРКИ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7239000" y="259715"/>
            <a:ext cx="1651000" cy="286385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9525">
            <a:solidFill>
              <a:srgbClr val="EEEEEE"/>
            </a:solidFill>
          </a:ln>
          <a:effectLst/>
        </p:spPr>
        <p:txBody>
          <a:bodyPr wrap="none" tIns="25400" bIns="25400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РЕЗУЛЬТАТ</a:t>
            </a:r>
          </a:p>
        </p:txBody>
      </p:sp>
      <p:pic>
        <p:nvPicPr>
          <p:cNvPr id="13" name="Picture 12" descr="webinar6_result_ex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863600"/>
            <a:ext cx="6477000" cy="358140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A6A1A1"/>
                </a:solidFill>
                <a:latin typeface="Montserrat"/>
              </a:rPr>
              <a:t>Результат: Полностью валидируемые интерфейсы авторизации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1147350" y="1375225"/>
            <a:ext cx="6849300" cy="2282400"/>
          </a:xfrm>
          <a:prstGeom prst="roundRect">
            <a:avLst>
              <a:gd name="adj" fmla="val 11015"/>
            </a:avLst>
          </a:prstGeom>
          <a:gradFill flip="none" rotWithShape="1">
            <a:gsLst>
              <a:gs pos="0">
                <a:srgbClr val="F08B54"/>
              </a:gs>
              <a:gs pos="50000">
                <a:srgbClr val="F67A26"/>
              </a:gs>
              <a:gs pos="100000">
                <a:srgbClr val="E36A18"/>
              </a:gs>
            </a:gsLst>
            <a:lin ang="10800000" scaled="1"/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 txBox="1"/>
          <p:nvPr/>
        </p:nvSpPr>
        <p:spPr>
          <a:xfrm>
            <a:off x="1828800" y="1734203"/>
            <a:ext cx="5486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ДО </a:t>
            </a:r>
            <a:r>
              <a:rPr lang="ru-RU" sz="2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ВСТРЕЧИ</a:t>
            </a:r>
            <a:r>
              <a:rPr lang="en" sz="30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! </a:t>
            </a:r>
            <a:endParaRPr sz="30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ExtraBold" panose="00000900000000000000" pitchFamily="2" charset="-52"/>
                <a:ea typeface="Proxima Nova"/>
                <a:cs typeface="Proxima Nova"/>
                <a:sym typeface="Proxima Nova"/>
              </a:rPr>
              <a:t>УВИДИМСЯ НА СЛЕДУЮЩЕМ ЗАНЯТИИ</a:t>
            </a:r>
            <a:endParaRPr sz="1800">
              <a:solidFill>
                <a:schemeClr val="lt1"/>
              </a:solidFill>
              <a:latin typeface="Montserrat ExtraBold" panose="00000900000000000000" pitchFamily="2" charset="-52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КОНТРОЛЬ ОТПРАВКИ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Почему браузер перезагружает страницу при отправке формы?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(Перехват submit)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Перехват стандартного поведения формы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form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('registerForm');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form.</a:t>
            </a:r>
            <a:r>
              <a:rPr sz="850">
                <a:solidFill>
                  <a:srgbClr val="61AFEF"/>
                </a:solidFill>
                <a:latin typeface="Consolas"/>
              </a:rPr>
              <a:t>addEventListener</a:t>
            </a:r>
            <a:r>
              <a:rPr sz="850">
                <a:solidFill>
                  <a:srgbClr val="98C379"/>
                </a:solidFill>
                <a:latin typeface="Consolas"/>
              </a:rPr>
              <a:t>('submit', (event)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1. Отменяем перезагрузку страницы!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event.</a:t>
            </a:r>
            <a:r>
              <a:rPr sz="850">
                <a:solidFill>
                  <a:srgbClr val="61AFEF"/>
                </a:solidFill>
                <a:latin typeface="Consolas"/>
              </a:rPr>
              <a:t>preventDefault</a:t>
            </a:r>
            <a:r>
              <a:rPr sz="850">
                <a:solidFill>
                  <a:srgbClr val="D4D4D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2. Теперь мы можем безопасно проверить данные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console.</a:t>
            </a:r>
            <a:r>
              <a:rPr sz="850">
                <a:solidFill>
                  <a:srgbClr val="61AFEF"/>
                </a:solidFill>
                <a:latin typeface="Consolas"/>
              </a:rPr>
              <a:t>log</a:t>
            </a:r>
            <a:r>
              <a:rPr sz="850">
                <a:solidFill>
                  <a:srgbClr val="98C379"/>
                </a:solidFill>
                <a:latin typeface="Consolas"/>
              </a:rPr>
              <a:t>('Форма перехвачена скриптом!');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КОНТРОЛЬ ОТПРАВКИ: СОБЫТИЕ SUBMIT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Поведение формы по умолчанию:
</a:t>
            </a:r>
            <a:r>
              <a:rPr sz="850" b="0">
                <a:solidFill>
                  <a:srgbClr val="555555"/>
                </a:solidFill>
                <a:latin typeface="Inter"/>
              </a:rPr>
              <a:t>Исторически HTML-форма отправляет GET/POST запрос на сервер с полной перезагрузкой документа.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Метод event.preventDefault():
</a:t>
            </a:r>
            <a:r>
              <a:rPr sz="850" b="0">
                <a:solidFill>
                  <a:srgbClr val="555555"/>
                </a:solidFill>
                <a:latin typeface="Inter"/>
              </a:rPr>
              <a:t>Отменяет действие браузера по умолчанию, позволяя выполнить клиентскую валидацию перед отправкой.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Слушатель на форме, а не на кнопке:
</a:t>
            </a:r>
            <a:r>
              <a:rPr sz="850" b="0">
                <a:solidFill>
                  <a:srgbClr val="555555"/>
                </a:solidFill>
                <a:latin typeface="Inter"/>
              </a:rPr>
              <a:t>Событие submit срабатывает как при клике на кнопку «Отправить», так и при нажатии клавиши Enter в поле.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Сохранение введенных данных: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 ошибке страница не перезагружается, сохраняя введенные пользователем значения в полях.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ОЧИСТКА ВВОДА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предотвратить отправку формы, если пользователь ввел одни пробелы?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(Метод String.trim)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Проверка поля с очисткой от пробелов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input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('login');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rawVal = input.value;        </a:t>
            </a:r>
            <a:r>
              <a:rPr sz="850">
                <a:solidFill>
                  <a:srgbClr val="5C6370"/>
                </a:solidFill>
                <a:latin typeface="Consolas"/>
              </a:rPr>
              <a:t>// '   admin   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cleanVal = rawVal.</a:t>
            </a:r>
            <a:r>
              <a:rPr sz="850">
                <a:solidFill>
                  <a:srgbClr val="61AFEF"/>
                </a:solidFill>
                <a:latin typeface="Consolas"/>
              </a:rPr>
              <a:t>trim</a:t>
            </a:r>
            <a:r>
              <a:rPr sz="850">
                <a:solidFill>
                  <a:srgbClr val="D4D4D8"/>
                </a:solidFill>
                <a:latin typeface="Consolas"/>
              </a:rPr>
              <a:t>();     </a:t>
            </a:r>
            <a:r>
              <a:rPr sz="850">
                <a:solidFill>
                  <a:srgbClr val="5C6370"/>
                </a:solidFill>
                <a:latin typeface="Consolas"/>
              </a:rPr>
              <a:t>// 'admin'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(!cleanVal)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Поле пустое или содержало одни пробелы!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add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 </a:t>
            </a:r>
            <a:r>
              <a:rPr sz="850">
                <a:solidFill>
                  <a:srgbClr val="C678DD"/>
                </a:solidFill>
                <a:latin typeface="Consolas"/>
              </a:rPr>
              <a:t>else </a:t>
            </a:r>
            <a:r>
              <a:rPr sz="85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remove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САНИТИЗАЦИЯ СТРОК: МЕТОД .TRIM()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Опасность ложной заполненности:
</a:t>
            </a:r>
            <a:r>
              <a:rPr sz="850" b="0">
                <a:solidFill>
                  <a:srgbClr val="555555"/>
                </a:solidFill>
                <a:latin typeface="Inter"/>
              </a:rPr>
              <a:t>Строка из пробелов ('   ') имеет длину больше нуля, и простая проверка if (val) сочтет поле валидным.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Очистка граничных пробелов: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.trim() удаляет пробельные символы в начале и в конце строки, не затрагивая пробелы внутри текста.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Проверка истинной пустоты:
</a:t>
            </a:r>
            <a:r>
              <a:rPr sz="850" b="0">
                <a:solidFill>
                  <a:srgbClr val="555555"/>
                </a:solidFill>
                <a:latin typeface="Inter"/>
              </a:rPr>
              <a:t>Конструкция !input.value.trim() безошибочно выявляет пустые поля и попытки обмана формы.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Чистота передаваемых данных:
</a:t>
            </a:r>
            <a:r>
              <a:rPr sz="850" b="0">
                <a:solidFill>
                  <a:srgbClr val="555555"/>
                </a:solidFill>
                <a:latin typeface="Inter"/>
              </a:rPr>
              <a:t>Очищенное значение гарантирует, что логин и пароль запишутся в базу без случайных хвостовых пробелов.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ВАЛИДАЦИЯ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Каков полный пошаговый цикл клиентской валидации данных формы?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Montserrat"/>
              </a:rPr>
              <a:t>1. ПЕРЕХВАТ SUBMIT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Отмена перезагрузки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6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61AFEF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Consolas"/>
              </a:rPr>
              <a:t>form.addEventListener(
  'submit', (e) =&gt; {
    e.preventDefault();
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Полный контроль браузера:
• Пользователь жмет кнопку отправки
• Браузер генерирует событие submit
• e.preventDefault() отменяет reload
• Страница сохраняет введенный ввод
• Управление переходит к JavaScript
• Исключена потеря данных формы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D19A66"/>
                </a:solidFill>
                <a:latin typeface="Montserrat"/>
              </a:rPr>
              <a:t>2. ПРОВЕРКА ДАННЫХ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Алгоритм валидации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19A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28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D19A66"/>
            </a:solidFill>
          </a:ln>
        </p:spPr>
        <p:txBody>
          <a:bodyPr rtlCol="0" anchor="ctr"/>
          <a:lstStyle/>
          <a:p>
            <a:pPr algn="ctr"/>
            <a:r>
              <a:rPr sz="650">
                <a:solidFill>
                  <a:srgbClr val="D19A66"/>
                </a:solidFill>
                <a:latin typeface="Consolas"/>
              </a:rPr>
              <a:t>val = input.value.trim();
isValid = val.length &gt; 0;
pass === confirmPass;
regex.test(email);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Многоуровневый фильтр:
• Очистка пробелов через .trim()
• Проверка на пустые обязательные поля
• Сравнение паролей на идентичность
• Проверка минимальной длины (6 симв.)
• Регулярные выражения для Email
• Аккумуляция флага let isValid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8C379"/>
                </a:solidFill>
                <a:latin typeface="Montserrat"/>
              </a:rPr>
              <a:t>3. РЕАКЦИЯ ИНТЕРФЕЙСА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UX ошибок и успеха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30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98C379"/>
            </a:solidFill>
          </a:ln>
        </p:spPr>
        <p:txBody>
          <a:bodyPr rtlCol="0" anchor="ctr"/>
          <a:lstStyle/>
          <a:p>
            <a:pPr algn="ctr"/>
            <a:r>
              <a:rPr sz="650">
                <a:solidFill>
                  <a:srgbClr val="98C379"/>
                </a:solidFill>
                <a:latin typeface="Consolas"/>
              </a:rPr>
              <a:t>if (!isValid) {
  input.classList.add('is-invalid');
} else {
  showNotification('Успех!');
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Визуальный отклик интерфейса:
• ОШИБКА: красная рамка у полей
• Сообщение под полем или в алерте
• УСПЕХ: всплывающий Toast 'Успешно'
• Сохранение сессии в localStorage
• Очистка формы form.reset()
• Плавный редирект в личный кабинет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604000" y="259079"/>
            <a:ext cx="2286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РЕГУЛЯРНЫЕ ВЫРАЖЕНИЯ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работают регулярные выражения и метод .test() в JavaScript?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(Основы RegExp)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Создание регулярного выражения (литерал)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19A66"/>
                </a:solidFill>
                <a:latin typeface="Consolas"/>
              </a:rPr>
              <a:t>emailRegex = /^[^\s@]+@[^\s@]+\.[^\s@]+$/;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Метод .test() возвращает true или false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isValidEmail = emailRegex.</a:t>
            </a:r>
            <a:r>
              <a:rPr sz="850">
                <a:solidFill>
                  <a:srgbClr val="61AFEF"/>
                </a:solidFill>
                <a:latin typeface="Consolas"/>
              </a:rPr>
              <a:t>test</a:t>
            </a:r>
            <a:r>
              <a:rPr sz="850">
                <a:solidFill>
                  <a:srgbClr val="98C379"/>
                </a:solidFill>
                <a:latin typeface="Consolas"/>
              </a:rPr>
              <a:t>('user@mail.ru');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console.</a:t>
            </a:r>
            <a:r>
              <a:rPr sz="850">
                <a:solidFill>
                  <a:srgbClr val="61AFEF"/>
                </a:solidFill>
                <a:latin typeface="Consolas"/>
              </a:rPr>
              <a:t>log</a:t>
            </a:r>
            <a:r>
              <a:rPr sz="850">
                <a:solidFill>
                  <a:srgbClr val="D4D4D8"/>
                </a:solidFill>
                <a:latin typeface="Consolas"/>
              </a:rPr>
              <a:t>(isValidEmail); </a:t>
            </a:r>
            <a:r>
              <a:rPr sz="850">
                <a:solidFill>
                  <a:srgbClr val="5C6370"/>
                </a:solidFill>
                <a:latin typeface="Consolas"/>
              </a:rPr>
              <a:t>// true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isBad = emailRegex.</a:t>
            </a:r>
            <a:r>
              <a:rPr sz="850">
                <a:solidFill>
                  <a:srgbClr val="61AFEF"/>
                </a:solidFill>
                <a:latin typeface="Consolas"/>
              </a:rPr>
              <a:t>test</a:t>
            </a:r>
            <a:r>
              <a:rPr sz="850">
                <a:solidFill>
                  <a:srgbClr val="98C379"/>
                </a:solidFill>
                <a:latin typeface="Consolas"/>
              </a:rPr>
              <a:t>('wrong-email');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console.</a:t>
            </a:r>
            <a:r>
              <a:rPr sz="850">
                <a:solidFill>
                  <a:srgbClr val="61AFEF"/>
                </a:solidFill>
                <a:latin typeface="Consolas"/>
              </a:rPr>
              <a:t>log</a:t>
            </a:r>
            <a:r>
              <a:rPr sz="850">
                <a:solidFill>
                  <a:srgbClr val="D4D4D8"/>
                </a:solidFill>
                <a:latin typeface="Consolas"/>
              </a:rPr>
              <a:t>(isBad); </a:t>
            </a:r>
            <a:r>
              <a:rPr sz="850">
                <a:solidFill>
                  <a:srgbClr val="5C6370"/>
                </a:solidFill>
                <a:latin typeface="Consolas"/>
              </a:rPr>
              <a:t>// false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РЕГУЛЯРНЫЕ ВЫРАЖЕНИЯ: МЕТОД REGEXP.TEST()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Что такое RegExp (Регулярные выражения):
</a:t>
            </a:r>
            <a:r>
              <a:rPr sz="850" b="0">
                <a:solidFill>
                  <a:srgbClr val="555555"/>
                </a:solidFill>
                <a:latin typeface="Inter"/>
              </a:rPr>
              <a:t>Специальный шаблон для поиска и проверки соответствия строк определенному синтаксическому формату.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Быстрый метод regex.test():
</a:t>
            </a:r>
            <a:r>
              <a:rPr sz="850" b="0">
                <a:solidFill>
                  <a:srgbClr val="555555"/>
                </a:solidFill>
                <a:latin typeface="Inter"/>
              </a:rPr>
              <a:t>Принимает строку и возвращает булево true, если строка соответствует паттерну, либо false при ошибке.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Символы привязки ^ и $:
</a:t>
            </a:r>
            <a:r>
              <a:rPr sz="850" b="0">
                <a:solidFill>
                  <a:srgbClr val="555555"/>
                </a:solidFill>
                <a:latin typeface="Inter"/>
              </a:rPr>
              <a:t>Символ ^ обозначает начало строки, а $ — конец. Они гарантируют проверку всей строки целиком.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Эффективность в веб-формах:
</a:t>
            </a:r>
            <a:r>
              <a:rPr sz="850" b="0">
                <a:solidFill>
                  <a:srgbClr val="555555"/>
                </a:solidFill>
                <a:latin typeface="Inter"/>
              </a:rPr>
              <a:t>Позволяет за одну строчку кода проверить корректность адреса почты, номера телефона или сложности пароля.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99300" y="259079"/>
            <a:ext cx="17907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МАСКИ И ШАБЛОНЫ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регулярные выражения используются для стандартных контактных данных?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(Паттерны контактов)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Паттерн адреса электронной почты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19A66"/>
                </a:solidFill>
                <a:latin typeface="Consolas"/>
              </a:rPr>
              <a:t>EMAIL_REGEX = /^[^\s@]+@[^\s@]+\.[^\s@]+$/;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Паттерн номера телефона (от 10 до 15 цифр)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19A66"/>
                </a:solidFill>
                <a:latin typeface="Consolas"/>
              </a:rPr>
              <a:t>PHONE_REGEX = /^\+?[0-9\s\-\(\)]{10,18}$/;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>
                <a:solidFill>
                  <a:srgbClr val="61AFEF"/>
                </a:solidFill>
                <a:latin typeface="Consolas"/>
              </a:rPr>
              <a:t>validateContact</a:t>
            </a:r>
            <a:r>
              <a:rPr sz="850">
                <a:solidFill>
                  <a:srgbClr val="D4D4D8"/>
                </a:solidFill>
                <a:latin typeface="Consolas"/>
              </a:rPr>
              <a:t>(email, phone)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validMail = EMAIL_REGEX.</a:t>
            </a:r>
            <a:r>
              <a:rPr sz="850">
                <a:solidFill>
                  <a:srgbClr val="61AFEF"/>
                </a:solidFill>
                <a:latin typeface="Consolas"/>
              </a:rPr>
              <a:t>test</a:t>
            </a:r>
            <a:r>
              <a:rPr sz="850">
                <a:solidFill>
                  <a:srgbClr val="98C379"/>
                </a:solidFill>
                <a:latin typeface="Consolas"/>
              </a:rPr>
              <a:t>(email.trim());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validPhone = PHONE_REGEX.</a:t>
            </a:r>
            <a:r>
              <a:rPr sz="850">
                <a:solidFill>
                  <a:srgbClr val="61AFEF"/>
                </a:solidFill>
                <a:latin typeface="Consolas"/>
              </a:rPr>
              <a:t>test</a:t>
            </a:r>
            <a:r>
              <a:rPr sz="850">
                <a:solidFill>
                  <a:srgbClr val="98C379"/>
                </a:solidFill>
                <a:latin typeface="Consolas"/>
              </a:rPr>
              <a:t>(phone.trim());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return </a:t>
            </a:r>
            <a:r>
              <a:rPr sz="850">
                <a:solidFill>
                  <a:srgbClr val="D4D4D8"/>
                </a:solidFill>
                <a:latin typeface="Consolas"/>
              </a:rPr>
              <a:t>validMail &amp;&amp; validPhone;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ВАЛИДАЦИЯ EMAIL И НОМЕРА ТЕЛЕФОНА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Структура почтового паттерна: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Проверяет наличие имени пользователя, знака @, доменного имени и точки перед зоной (например, .ru / .com).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Гибкость телефонного паттерна:
</a:t>
            </a:r>
            <a:r>
              <a:rPr sz="850" b="0">
                <a:solidFill>
                  <a:srgbClr val="555555"/>
                </a:solidFill>
                <a:latin typeface="Inter"/>
              </a:rPr>
              <a:t>Разрешает международный знак плюс (+), пробелы, скобки и дефисы, проверяя минимальную длину цифр.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Предотвращение некорректных лидов:
</a:t>
            </a:r>
            <a:r>
              <a:rPr sz="850" b="0">
                <a:solidFill>
                  <a:srgbClr val="555555"/>
                </a:solidFill>
                <a:latin typeface="Inter"/>
              </a:rPr>
              <a:t>Исключает попадание случайных текстовых опечаток в базу данных клиентов коворкинга.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Обратная совместимость: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Клиентская регулярка дает быстрый отклик, но обязательно должна дублироваться проверкой на сервере.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СВЕРКА ПАРОЛЕЙ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алгоритмически проверить совпадение пароля и его подтверждения?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(Сравнение паролей)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Сверка основного пароля и подтверждения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pass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('password');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confirm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('confirmPassword');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(pass &amp;&amp; confirm)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(pass.value !== confirm.value)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  // Пароли не совпадают!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confirm.classList.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add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isValid = false;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 </a:t>
            </a:r>
            <a:r>
              <a:rPr sz="850">
                <a:solidFill>
                  <a:srgbClr val="C678DD"/>
                </a:solidFill>
                <a:latin typeface="Consolas"/>
              </a:rPr>
              <a:t>else </a:t>
            </a:r>
            <a:r>
              <a:rPr sz="85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confirm.classList.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remove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АЛГОРИТМ ПОДТВЕРЖДЕНИЯ ПАРОЛЯ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Защита от опечаток пользователя:
</a:t>
            </a:r>
            <a:r>
              <a:rPr sz="850" b="0">
                <a:solidFill>
                  <a:srgbClr val="555555"/>
                </a:solidFill>
                <a:latin typeface="Inter"/>
              </a:rPr>
              <a:t>Скрытые символы пароля легко набрать с ошибкой. Поле подтверждения гарантирует осознанный ввод.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Строгое неравенство (!==):
</a:t>
            </a:r>
            <a:r>
              <a:rPr sz="850" b="0">
                <a:solidFill>
                  <a:srgbClr val="555555"/>
                </a:solidFill>
                <a:latin typeface="Inter"/>
              </a:rPr>
              <a:t>Оператор !== проверяет точное посимвольное совпадение строк с учетом регистра букв.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Таргетированная подсветка ошибки:
</a:t>
            </a:r>
            <a:r>
              <a:rPr sz="850" b="0">
                <a:solidFill>
                  <a:srgbClr val="555555"/>
                </a:solidFill>
                <a:latin typeface="Inter"/>
              </a:rPr>
              <a:t>Класс ошибки .is-invalid вешается именно на поле confirmPassword, подсказывая, где произошла нестыковка.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Проверка обоих полей на заполненность:
</a:t>
            </a:r>
            <a:r>
              <a:rPr sz="850" b="0">
                <a:solidFill>
                  <a:srgbClr val="555555"/>
                </a:solidFill>
                <a:latin typeface="Inter"/>
              </a:rPr>
              <a:t>Сравнение имеет смысл только если оба поля уже заполнены, исключая ложные срабатывания.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99300" y="259079"/>
            <a:ext cx="17907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КРИТЕРИИ ПАРОЛЯ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установить ограничение на длину пароля (не менее 6 символов)?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(Проверка длины пароля)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Проверка минимальной длины пароля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passwordInput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('password');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password = passwordInput.value;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(password.length &lt; 6)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passwordInput.classList.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add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showNotification(</a:t>
            </a:r>
            <a:r>
              <a:rPr sz="850">
                <a:solidFill>
                  <a:srgbClr val="98C379"/>
                </a:solidFill>
                <a:latin typeface="Consolas"/>
              </a:rPr>
              <a:t>'Пароль должен содержать от 6 символов'</a:t>
            </a:r>
            <a:r>
              <a:rPr sz="850">
                <a:solidFill>
                  <a:srgbClr val="98C379"/>
                </a:solidFill>
                <a:latin typeface="Consolas"/>
              </a:rPr>
              <a:t>, 'danger');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isValid = false;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 </a:t>
            </a:r>
            <a:r>
              <a:rPr sz="850">
                <a:solidFill>
                  <a:srgbClr val="C678DD"/>
                </a:solidFill>
                <a:latin typeface="Consolas"/>
              </a:rPr>
              <a:t>else </a:t>
            </a:r>
            <a:r>
              <a:rPr sz="85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passwordInput.classList.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remove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ТРЕБОВАНИЯ БЕЗОПАСНОСТИ К ПАРОЛЮ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Свойство string.length:
</a:t>
            </a:r>
            <a:r>
              <a:rPr sz="850" b="0">
                <a:solidFill>
                  <a:srgbClr val="555555"/>
                </a:solidFill>
                <a:latin typeface="Inter"/>
              </a:rPr>
              <a:t>Свойство .length возвращает количество введенных символов, позволяя легко ограничить минимальную длину.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Стандарт 6+ символов для обучения: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Для студенческих проектов порог в 6 символов оптимален: он учит валидации, не перегружая студента.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Точечный Toast-алерт:
</a:t>
            </a:r>
            <a:r>
              <a:rPr sz="850" b="0">
                <a:solidFill>
                  <a:srgbClr val="555555"/>
                </a:solidFill>
                <a:latin typeface="Inter"/>
              </a:rPr>
              <a:t>Помимо рамки, функция showNotification выводит конкретную причину ошибки в углу экрана.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Подсказка в placeholder:
</a:t>
            </a:r>
            <a:r>
              <a:rPr sz="850" b="0">
                <a:solidFill>
                  <a:srgbClr val="555555"/>
                </a:solidFill>
                <a:latin typeface="Inter"/>
              </a:rPr>
              <a:t>В HTML атрибут placeholder="Минимум 6 символов" заранее предупреждает пользователя о правиле.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ИНДИКАЦИЯ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визуально показать пользователю, в каком именно поле допущена ошибка?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(Класс .is-invalid)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Динамическое переключение статуса поля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>
                <a:solidFill>
                  <a:srgbClr val="61AFEF"/>
                </a:solidFill>
                <a:latin typeface="Consolas"/>
              </a:rPr>
              <a:t>setFieldError</a:t>
            </a:r>
            <a:r>
              <a:rPr sz="850">
                <a:solidFill>
                  <a:srgbClr val="D4D4D8"/>
                </a:solidFill>
                <a:latin typeface="Consolas"/>
              </a:rPr>
              <a:t>(input, hasError)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(hasError)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add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input.</a:t>
            </a:r>
            <a:r>
              <a:rPr sz="850">
                <a:solidFill>
                  <a:srgbClr val="61AFEF"/>
                </a:solidFill>
                <a:latin typeface="Consolas"/>
              </a:rPr>
              <a:t>focus</a:t>
            </a:r>
            <a:r>
              <a:rPr sz="850">
                <a:solidFill>
                  <a:srgbClr val="D4D4D8"/>
                </a:solidFill>
                <a:latin typeface="Consolas"/>
              </a:rPr>
              <a:t>(); </a:t>
            </a:r>
            <a:r>
              <a:rPr sz="850">
                <a:solidFill>
                  <a:srgbClr val="5C6370"/>
                </a:solidFill>
                <a:latin typeface="Consolas"/>
              </a:rPr>
              <a:t>// Переводим фокус на проблемное поле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 </a:t>
            </a:r>
            <a:r>
              <a:rPr sz="850">
                <a:solidFill>
                  <a:srgbClr val="C678DD"/>
                </a:solidFill>
                <a:latin typeface="Consolas"/>
              </a:rPr>
              <a:t>else </a:t>
            </a:r>
            <a:r>
              <a:rPr sz="85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remove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ИНДИКАЦИЯ ОШИБОК ЧЕРЕЗ CLASSLIST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Класс состояния .is-invalid:
</a:t>
            </a:r>
            <a:r>
              <a:rPr sz="850" b="0">
                <a:solidFill>
                  <a:srgbClr val="555555"/>
                </a:solidFill>
                <a:latin typeface="Inter"/>
              </a:rPr>
              <a:t>Общепринятый в вебе класс модификатора, сообщающий стилям CSS о наличии ошибки ввода.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Фокус на первом ошибочном поле:
</a:t>
            </a:r>
            <a:r>
              <a:rPr sz="850" b="0">
                <a:solidFill>
                  <a:srgbClr val="555555"/>
                </a:solidFill>
                <a:latin typeface="Inter"/>
              </a:rPr>
              <a:t>Вызов input.focus() автоматически ставит курсор в поле с ошибкой, экономя время пользователя.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Своевременная очистка статуса: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ошибка исправлена, класс .is-invalid должен быть немедленно удален через .classList.remove().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Доступность для скринридеров:
</a:t>
            </a:r>
            <a:r>
              <a:rPr sz="850" b="0">
                <a:solidFill>
                  <a:srgbClr val="555555"/>
                </a:solidFill>
                <a:latin typeface="Inter"/>
              </a:rPr>
              <a:t>В паре с классом можно добавлять атрибут aria-invalid="true" для людей с ограниченными возможностями.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CSS-ОФОРМЛЕНИЕ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стилизовать ошибочное состояние поля в css/style.css?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css/style.css (Стили валидации)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/* Красная граница и фон при ошибке */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.form-control.is-invalid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border-color: </a:t>
            </a:r>
            <a:r>
              <a:rPr sz="850">
                <a:solidFill>
                  <a:srgbClr val="DC2626"/>
                </a:solidFill>
                <a:latin typeface="Consolas"/>
              </a:rPr>
              <a:t>#DC2626 !important;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background-color: </a:t>
            </a:r>
            <a:r>
              <a:rPr sz="850">
                <a:solidFill>
                  <a:srgbClr val="DC2626"/>
                </a:solidFill>
                <a:latin typeface="Consolas"/>
              </a:rPr>
              <a:t>#FEF2F2;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/* Текст ошибки под полем */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.invalid-feedback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>
                <a:solidFill>
                  <a:srgbClr val="D4D4D8"/>
                </a:solidFill>
                <a:latin typeface="Consolas"/>
              </a:rPr>
              <a:t>none;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color: </a:t>
            </a:r>
            <a:r>
              <a:rPr sz="850">
                <a:solidFill>
                  <a:srgbClr val="DC2626"/>
                </a:solidFill>
                <a:latin typeface="Consolas"/>
              </a:rPr>
              <a:t>#DC2626;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font-size: </a:t>
            </a:r>
            <a:r>
              <a:rPr sz="850">
                <a:solidFill>
                  <a:srgbClr val="D19A66"/>
                </a:solidFill>
                <a:latin typeface="Consolas"/>
              </a:rPr>
              <a:t>12px;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margin-top: </a:t>
            </a:r>
            <a:r>
              <a:rPr sz="850">
                <a:solidFill>
                  <a:srgbClr val="D19A66"/>
                </a:solidFill>
                <a:latin typeface="Consolas"/>
              </a:rPr>
              <a:t>4px;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.is-invalid ~ .invalid-feedback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display: </a:t>
            </a:r>
            <a:r>
              <a:rPr sz="850">
                <a:solidFill>
                  <a:srgbClr val="D4D4D8"/>
                </a:solidFill>
                <a:latin typeface="Consolas"/>
              </a:rPr>
              <a:t>block;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ДИЗАЙН ОШИБОК: CSS-СЕЛЕКТОРЫ СОСТОЯНИЙ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Контрастный красный акцент #DC2626:
</a:t>
            </a:r>
            <a:r>
              <a:rPr sz="850" b="0">
                <a:solidFill>
                  <a:srgbClr val="555555"/>
                </a:solidFill>
                <a:latin typeface="Inter"/>
              </a:rPr>
              <a:t>Стандартный сигнальный цвет опасности сразу выделяет ошибочные поля среди остального контента.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Мягкий фоновый оттенок #FEF2F2:
</a:t>
            </a:r>
            <a:r>
              <a:rPr sz="850" b="0">
                <a:solidFill>
                  <a:srgbClr val="555555"/>
                </a:solidFill>
                <a:latin typeface="Inter"/>
              </a:rPr>
              <a:t>Тонирование внутренней области поля делает индикацию заметной даже боковым зрением.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Соседский селектор (~):
</a:t>
            </a:r>
            <a:r>
              <a:rPr sz="850" b="0">
                <a:solidFill>
                  <a:srgbClr val="555555"/>
                </a:solidFill>
                <a:latin typeface="Inter"/>
              </a:rPr>
              <a:t>Селектор .is-invalid ~ .invalid-feedback автоматически отображает подсказку только при наличии ошибки.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Плавные переходы transition:
</a:t>
            </a:r>
            <a:r>
              <a:rPr sz="850" b="0">
                <a:solidFill>
                  <a:srgbClr val="555555"/>
                </a:solidFill>
                <a:latin typeface="Inter"/>
              </a:rPr>
              <a:t>Свойство transition: border-color 0.2s делает смену состояний аккуратной и приятной для глаз.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00240" y="259079"/>
            <a:ext cx="188976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СХЕМА: СОСТОЯНИЯ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трансформируется визуальный статус поля ввода в процессе валидации?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Montserrat"/>
              </a:rPr>
              <a:t>1. DEFAULT / FOCUS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Нейтральное состояние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0000"/>
            <a:ext cx="2362200" cy="1270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26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FFFFFF"/>
                </a:solidFill>
                <a:latin typeface="Consolas"/>
              </a:rPr>
              <a:t>[ Логин: Введите логин... ]
border: 1px solid #E2E8F0;
outline: none;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6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Исходный вид поля ввода:
• Нейтральная тонкая серая граница
• Серый плейсхолдер с подсказкой
• Синее кольцо фокуса при клике
• Отсутствие тревожных цветов
• Подготовка к комфортному вводу
• Поддержка автозаполнения браузера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0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74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DC2626"/>
                </a:solidFill>
                <a:latin typeface="Montserrat"/>
              </a:rPr>
              <a:t>2. INVALID (ОШИБКА)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Класс .is-invalid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27400" y="1270000"/>
            <a:ext cx="2362200" cy="127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528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3B141A"/>
          </a:solidFill>
          <a:ln w="19050">
            <a:solidFill>
              <a:srgbClr val="DC2626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F87171"/>
                </a:solidFill>
                <a:latin typeface="Consolas"/>
              </a:rPr>
              <a:t>[ Пароль: ••••••       ! ]
border-color: #DC2626;
background: #FEF2F2;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Индикация ошибки (.is-invalid):
• Яркая красная граница 1.5px
• Светло-розовый оттенок фона
• Мгновенно привлекает внимание
• Снятие ошибки по событию input
• Подсказка с конкретной причиной
• Блокировка отправки формы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5200" y="711200"/>
            <a:ext cx="26670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7600" y="838200"/>
            <a:ext cx="2362200" cy="40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98C379"/>
                </a:solidFill>
                <a:latin typeface="Montserrat"/>
              </a:rPr>
              <a:t>3. VALID (УСПЕХ)</a:t>
            </a:r>
          </a:p>
          <a:p>
            <a:r>
              <a:rPr sz="750">
                <a:solidFill>
                  <a:srgbClr val="D4D4D8"/>
                </a:solidFill>
                <a:latin typeface="Inter"/>
              </a:rPr>
              <a:t>Данные корректны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7600" y="1270000"/>
            <a:ext cx="2362200" cy="1270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23000" y="1397000"/>
            <a:ext cx="2311400" cy="685800"/>
          </a:xfrm>
          <a:prstGeom prst="roundRect">
            <a:avLst>
              <a:gd name="adj" fmla="val 10000"/>
            </a:avLst>
          </a:prstGeom>
          <a:solidFill>
            <a:srgbClr val="142E22"/>
          </a:solidFill>
          <a:ln w="12700">
            <a:solidFill>
              <a:srgbClr val="98C379"/>
            </a:solidFill>
          </a:ln>
        </p:spPr>
        <p:txBody>
          <a:bodyPr rtlCol="0" anchor="ctr"/>
          <a:lstStyle/>
          <a:p>
            <a:pPr algn="ctr"/>
            <a:r>
              <a:rPr sz="700">
                <a:solidFill>
                  <a:srgbClr val="98C379"/>
                </a:solidFill>
                <a:latin typeface="Consolas"/>
              </a:rPr>
              <a:t>[ Логин: admin         ✔ ]
border-color: #0E9F6E;
status: VALID;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3000" y="2235200"/>
            <a:ext cx="2311400" cy="177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00">
                <a:solidFill>
                  <a:srgbClr val="D4D4D8"/>
                </a:solidFill>
                <a:latin typeface="Inter"/>
              </a:rPr>
              <a:t>Успешная валидация:
• Зеленая граница подтверждения
• Символ галочки завершения ввода
• Разрешение отправки на сервер
• Показ всплывающего Toast
• Запись сессии в localStorage
• Редирект в защищенный раздел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ПЕРЕБОР ПОЛЕЙ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проверить 6 полей формы регистрации без дублирования кода?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(Массовая проверка)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Массив идентификаторов всех обязательных полей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fields = [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'login', 'password', 'confirmPassword',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'fullName', 'email', 'phone'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fields.</a:t>
            </a:r>
            <a:r>
              <a:rPr sz="850">
                <a:solidFill>
                  <a:srgbClr val="61AFEF"/>
                </a:solidFill>
                <a:latin typeface="Consolas"/>
              </a:rPr>
              <a:t>forEach</a:t>
            </a:r>
            <a:r>
              <a:rPr sz="850">
                <a:solidFill>
                  <a:srgbClr val="D4D4D8"/>
                </a:solidFill>
                <a:latin typeface="Consolas"/>
              </a:rPr>
              <a:t>(id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input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(id);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(!input) return;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(!input.value.</a:t>
            </a:r>
            <a:r>
              <a:rPr sz="850">
                <a:solidFill>
                  <a:srgbClr val="61AFEF"/>
                </a:solidFill>
                <a:latin typeface="Consolas"/>
              </a:rPr>
              <a:t>trim</a:t>
            </a:r>
            <a:r>
              <a:rPr sz="850">
                <a:solidFill>
                  <a:srgbClr val="D4D4D8"/>
                </a:solidFill>
                <a:latin typeface="Consolas"/>
              </a:rPr>
              <a:t>())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add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isValid = false;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 </a:t>
            </a:r>
            <a:r>
              <a:rPr sz="850">
                <a:solidFill>
                  <a:srgbClr val="C678DD"/>
                </a:solidFill>
                <a:latin typeface="Consolas"/>
              </a:rPr>
              <a:t>else </a:t>
            </a:r>
            <a:r>
              <a:rPr sz="85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remove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АВТОМАТИЗАЦИЯ ПРОВЕРКИ ЧЕРЕЗ FOREACH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Принцип DRY (Don't Repeat Yourself):
</a:t>
            </a:r>
            <a:r>
              <a:rPr sz="850" b="0">
                <a:solidFill>
                  <a:srgbClr val="555555"/>
                </a:solidFill>
                <a:latin typeface="Inter"/>
              </a:rPr>
              <a:t>Вместо 6 копий однотипного кода мы описываем массив ID и обходим его в компактном цикле .forEach().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Масштабируемость формы:
</a:t>
            </a:r>
            <a:r>
              <a:rPr sz="850" b="0">
                <a:solidFill>
                  <a:srgbClr val="555555"/>
                </a:solidFill>
                <a:latin typeface="Inter"/>
              </a:rPr>
              <a:t>Чтобы добавить новое поле в форму (например, промокод), достаточно просто дописать его ID в массив.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Защитная проверка if (!input):
</a:t>
            </a:r>
            <a:r>
              <a:rPr sz="850" b="0">
                <a:solidFill>
                  <a:srgbClr val="555555"/>
                </a:solidFill>
                <a:latin typeface="Inter"/>
              </a:rPr>
              <a:t>Предотвращает фатальные ошибки консоли, если разметка какого-то поля временно отсутствует на странице.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Синхронная подсветка всех ошибок: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Пользователь за один клик видит сразу все пропущенные поля, а не исправляет их по одному.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99300" y="259079"/>
            <a:ext cx="17907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ФЛАГ ВАЛИДНОСТИ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определить, что хотя бы одно поле заполнено неверно?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(Флаг isValid)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Паттерн флага-аккумулятора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let </a:t>
            </a:r>
            <a:r>
              <a:rPr sz="850">
                <a:solidFill>
                  <a:srgbClr val="D4D4D8"/>
                </a:solidFill>
                <a:latin typeface="Consolas"/>
              </a:rPr>
              <a:t>isValid = true; </a:t>
            </a:r>
            <a:r>
              <a:rPr sz="850">
                <a:solidFill>
                  <a:srgbClr val="5C6370"/>
                </a:solidFill>
                <a:latin typeface="Consolas"/>
              </a:rPr>
              <a:t>// Предполагаем, что всё верно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Если хотя бы одна проверка упала: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(!loginVal)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isValid = false;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(pass !== confirm)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isValid = false;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Финальное решение об отправке: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(isValid)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Успех! Переходим к отправке или редиректу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submitRegistration();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ПАТТЕРН ФЛАГА: НАКОПЛЕНИЕ СТАТУСА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Оптимистичный старт (isValid = true):
</a:t>
            </a:r>
            <a:r>
              <a:rPr sz="850" b="0">
                <a:solidFill>
                  <a:srgbClr val="555555"/>
                </a:solidFill>
                <a:latin typeface="Inter"/>
              </a:rPr>
              <a:t>Изначально переменная устанавливается в true. Любая найденная ошибка переключает ее в false.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Необратимость сброса:
</a:t>
            </a:r>
            <a:r>
              <a:rPr sz="850" b="0">
                <a:solidFill>
                  <a:srgbClr val="555555"/>
                </a:solidFill>
                <a:latin typeface="Inter"/>
              </a:rPr>
              <a:t>Если флаг переключился в false, последующие корректные поля не должны возвращать его в true.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Единая точка принятия решения:
</a:t>
            </a:r>
            <a:r>
              <a:rPr sz="850" b="0">
                <a:solidFill>
                  <a:srgbClr val="555555"/>
                </a:solidFill>
                <a:latin typeface="Inter"/>
              </a:rPr>
              <a:t>Проверка if (isValid) в самом конце функции разделяет поток выполнения на успех и блокировку.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Чистота архитектуры:
</a:t>
            </a:r>
            <a:r>
              <a:rPr sz="850" b="0">
                <a:solidFill>
                  <a:srgbClr val="555555"/>
                </a:solidFill>
                <a:latin typeface="Inter"/>
              </a:rPr>
              <a:t>Избавляет от запутанных вложенных конструкций if-else и упрощает отладку валидации.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СБРОС ФОРМЫ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очистить все поля формы после успешной регистрации пользователя?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(Метод form.reset)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(isValid)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1. Показываем сообщение об успехе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showNotification('Пользователь зарегистрирован!', 'success');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2. Очищаем форму встроенным методом браузера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form.</a:t>
            </a:r>
            <a:r>
              <a:rPr sz="850">
                <a:solidFill>
                  <a:srgbClr val="61AFEF"/>
                </a:solidFill>
                <a:latin typeface="Consolas"/>
              </a:rPr>
              <a:t>reset</a:t>
            </a:r>
            <a:r>
              <a:rPr sz="850">
                <a:solidFill>
                  <a:srgbClr val="D4D4D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3. Снимаем возможные оставшиеся классы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fields.forEach(id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document.getElementById(id)?.classList.remove('is-invalid');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4. Редирект на страницу входа через 1.2 сек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setTimeout(() =&gt; location.href = 'login.html', 1200);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ОЧИСТКА СОСТОЯНИЯ: МЕТОД FORM.RESET()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Нативный метод form.reset():
</a:t>
            </a:r>
            <a:r>
              <a:rPr sz="850" b="0">
                <a:solidFill>
                  <a:srgbClr val="555555"/>
                </a:solidFill>
                <a:latin typeface="Inter"/>
              </a:rPr>
              <a:t>Сбрасывает значения всех полей формы к исходным значениям по умолчанию за одну команду.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Очистка классов ошибок:
</a:t>
            </a:r>
            <a:r>
              <a:rPr sz="850" b="0">
                <a:solidFill>
                  <a:srgbClr val="555555"/>
                </a:solidFill>
                <a:latin typeface="Inter"/>
              </a:rPr>
              <a:t>Метод reset() не удаляет CSS-классы, поэтому вызов classList.remove('is-invalid') обязателен.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Предотвращение повторной отправки:
</a:t>
            </a:r>
            <a:r>
              <a:rPr sz="850" b="0">
                <a:solidFill>
                  <a:srgbClr val="555555"/>
                </a:solidFill>
                <a:latin typeface="Inter"/>
              </a:rPr>
              <a:t>Очистка формы защищает от случайного дублирования данных при случайном двойном клике.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Плавный переход на шаг входа:
</a:t>
            </a:r>
            <a:r>
              <a:rPr sz="850" b="0">
                <a:solidFill>
                  <a:srgbClr val="555555"/>
                </a:solidFill>
                <a:latin typeface="Inter"/>
              </a:rPr>
              <a:t>Задержка 1200 мс дает пользователю прочитать уведомление об успехе перед переходом на login.html.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АВТОРИЗАЦИЯ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реализовать клиентскую проверку учетных данных (admin / 12345)?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(Функция initLoginForm)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>
                <a:solidFill>
                  <a:srgbClr val="61AFEF"/>
                </a:solidFill>
                <a:latin typeface="Consolas"/>
              </a:rPr>
              <a:t>initLoginForm</a:t>
            </a:r>
            <a:r>
              <a:rPr sz="85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form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('loginForm');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(!form) return;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form.</a:t>
            </a:r>
            <a:r>
              <a:rPr sz="850">
                <a:solidFill>
                  <a:srgbClr val="61AFEF"/>
                </a:solidFill>
                <a:latin typeface="Consolas"/>
              </a:rPr>
              <a:t>addEventListener</a:t>
            </a:r>
            <a:r>
              <a:rPr sz="850">
                <a:solidFill>
                  <a:srgbClr val="98C379"/>
                </a:solidFill>
                <a:latin typeface="Consolas"/>
              </a:rPr>
              <a:t>('submit', (e)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e.</a:t>
            </a:r>
            <a:r>
              <a:rPr sz="850">
                <a:solidFill>
                  <a:srgbClr val="61AFEF"/>
                </a:solidFill>
                <a:latin typeface="Consolas"/>
              </a:rPr>
              <a:t>preventDefault</a:t>
            </a:r>
            <a:r>
              <a:rPr sz="850">
                <a:solidFill>
                  <a:srgbClr val="D4D4D8"/>
                </a:solidFill>
                <a:latin typeface="Consolas"/>
              </a:rPr>
              <a:t>();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  const </a:t>
            </a:r>
            <a:r>
              <a:rPr sz="850">
                <a:solidFill>
                  <a:srgbClr val="D4D4D8"/>
                </a:solidFill>
                <a:latin typeface="Consolas"/>
              </a:rPr>
              <a:t>login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('login').value.trim();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  const </a:t>
            </a:r>
            <a:r>
              <a:rPr sz="850">
                <a:solidFill>
                  <a:srgbClr val="D4D4D8"/>
                </a:solidFill>
                <a:latin typeface="Consolas"/>
              </a:rPr>
              <a:t>pass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('password').value.trim();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  if </a:t>
            </a:r>
            <a:r>
              <a:rPr sz="850">
                <a:solidFill>
                  <a:srgbClr val="98C379"/>
                </a:solidFill>
                <a:latin typeface="Consolas"/>
              </a:rPr>
              <a:t>(login === 'admin' &amp;&amp; pass === '12345')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    // Успешная авторизация тестового аккаунта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  localStorage.setItem('currentUser', login);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  window.location.href = '../index.html';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ПРОВЕРКА ВХОДА: ТЕСТОВЫЙ ПОЛЬЗОВАТЕЛЬ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Эталонная учетная запись admin / 12345:
</a:t>
            </a:r>
            <a:r>
              <a:rPr sz="850" b="0">
                <a:solidFill>
                  <a:srgbClr val="555555"/>
                </a:solidFill>
                <a:latin typeface="Inter"/>
              </a:rPr>
              <a:t>Учебный mock-пользователь позволяет отладить весь цикл входа и выхода без подключения сложного сервера.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Обязательный .trim() логина и пароля:
</a:t>
            </a:r>
            <a:r>
              <a:rPr sz="850" b="0">
                <a:solidFill>
                  <a:srgbClr val="555555"/>
                </a:solidFill>
                <a:latin typeface="Inter"/>
              </a:rPr>
              <a:t>Предотвращает случайные ошибки авторизации из-за пробелов, скопированных из буфера обмена.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Сохранение сессии в браузере:
</a:t>
            </a:r>
            <a:r>
              <a:rPr sz="850" b="0">
                <a:solidFill>
                  <a:srgbClr val="555555"/>
                </a:solidFill>
                <a:latin typeface="Inter"/>
              </a:rPr>
              <a:t>Команда localStorage.setItem запоминает пользователя, активируя кнопку «Выйти» и личный кабинет.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Редирект на главную страницу:
</a:t>
            </a:r>
            <a:r>
              <a:rPr sz="850" b="0">
                <a:solidFill>
                  <a:srgbClr val="555555"/>
                </a:solidFill>
                <a:latin typeface="Inter"/>
              </a:rPr>
              <a:t>После успешного входа пользователь мгновенно перенаправляется на главную страницу или в бронирования.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099300" y="259079"/>
            <a:ext cx="17907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СИСТЕМНЫЙ АЛЕРТ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вывести общее предупреждение «Неверный логин или пароль»?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(Блок loginAlert)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Вывод сообщения об ошибке авторизации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const </a:t>
            </a:r>
            <a:r>
              <a:rPr sz="850">
                <a:solidFill>
                  <a:srgbClr val="D4D4D8"/>
                </a:solidFill>
                <a:latin typeface="Consolas"/>
              </a:rPr>
              <a:t>alertBox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('loginAlert');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98C379"/>
                </a:solidFill>
                <a:latin typeface="Consolas"/>
              </a:rPr>
              <a:t>(login === 'admin' &amp;&amp; pass === '12345')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(alertBox) alertBox.style.display = 'none';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showNotification('Успешный вход!', 'success');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 </a:t>
            </a:r>
            <a:r>
              <a:rPr sz="850">
                <a:solidFill>
                  <a:srgbClr val="C678DD"/>
                </a:solidFill>
                <a:latin typeface="Consolas"/>
              </a:rPr>
              <a:t>else </a:t>
            </a:r>
            <a:r>
              <a:rPr sz="85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(alertBox)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alertBox.</a:t>
            </a:r>
            <a:r>
              <a:rPr sz="850">
                <a:solidFill>
                  <a:srgbClr val="61AFEF"/>
                </a:solidFill>
                <a:latin typeface="Consolas"/>
              </a:rPr>
              <a:t>textContent</a:t>
            </a:r>
            <a:r>
              <a:rPr sz="850">
                <a:solidFill>
                  <a:srgbClr val="98C379"/>
                </a:solidFill>
                <a:latin typeface="Consolas"/>
              </a:rPr>
              <a:t> = 'Неверный логин или пароль';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alertBox.</a:t>
            </a:r>
            <a:r>
              <a:rPr sz="850">
                <a:solidFill>
                  <a:srgbClr val="61AFEF"/>
                </a:solidFill>
                <a:latin typeface="Consolas"/>
              </a:rPr>
              <a:t>className</a:t>
            </a:r>
            <a:r>
              <a:rPr sz="850">
                <a:solidFill>
                  <a:srgbClr val="98C379"/>
                </a:solidFill>
                <a:latin typeface="Consolas"/>
              </a:rPr>
              <a:t> = 'form-alert alert-danger';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alertBox.style.</a:t>
            </a:r>
            <a:r>
              <a:rPr sz="850">
                <a:solidFill>
                  <a:srgbClr val="61AFEF"/>
                </a:solidFill>
                <a:latin typeface="Consolas"/>
              </a:rPr>
              <a:t>display</a:t>
            </a:r>
            <a:r>
              <a:rPr sz="850">
                <a:solidFill>
                  <a:srgbClr val="98C379"/>
                </a:solidFill>
                <a:latin typeface="Consolas"/>
              </a:rPr>
              <a:t> = 'block';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showNotification('Неверный логин или пароль', 'danger');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ОБЩЕЕ ОПОВЕЩЕНИЕ: БЛОК LOGINALERT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Вывод над полями формы:
</a:t>
            </a:r>
            <a:r>
              <a:rPr sz="850" b="0">
                <a:solidFill>
                  <a:srgbClr val="555555"/>
                </a:solidFill>
                <a:latin typeface="Inter"/>
              </a:rPr>
              <a:t>Блок #loginAlert расположен прямо над полями ввода, сразу объясняя пользователю причину отказа.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Управление свойством style.display:
</a:t>
            </a:r>
            <a:r>
              <a:rPr sz="850" b="0">
                <a:solidFill>
                  <a:srgbClr val="555555"/>
                </a:solidFill>
                <a:latin typeface="Inter"/>
              </a:rPr>
              <a:t>Изначально скрытый через display: none блок проявляется только при неверной комбинации логина и пароля.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Безопасное сообщение об ошибке:
</a:t>
            </a:r>
            <a:r>
              <a:rPr sz="850" b="0">
                <a:solidFill>
                  <a:srgbClr val="555555"/>
                </a:solidFill>
                <a:latin typeface="Inter"/>
              </a:rPr>
              <a:t>Формулировка «Неверный логин или пароль» не подсказывает злоумышленнику, что именно было неверно.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Дублирование через системный Toast:
</a:t>
            </a:r>
            <a:r>
              <a:rPr sz="850" b="0">
                <a:solidFill>
                  <a:srgbClr val="555555"/>
                </a:solidFill>
                <a:latin typeface="Inter"/>
              </a:rPr>
              <a:t>Совместная работа локального алерта и всплывающего Toast гарантирует, что пользователь заметит статус.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703060" y="259079"/>
            <a:ext cx="218694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СЕССИЯ ПОЛЬЗОВАТЕЛЯ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зафиксировать факт успешного входа для остальных страниц сайта?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(Запись в localStorage)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Запись имени авторизованного пользователя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localStorage.</a:t>
            </a:r>
            <a:r>
              <a:rPr sz="850">
                <a:solidFill>
                  <a:srgbClr val="61AFEF"/>
                </a:solidFill>
                <a:latin typeface="Consolas"/>
              </a:rPr>
              <a:t>setItem</a:t>
            </a:r>
            <a:r>
              <a:rPr sz="850">
                <a:solidFill>
                  <a:srgbClr val="98C379"/>
                </a:solidFill>
                <a:latin typeface="Consolas"/>
              </a:rPr>
              <a:t>('currentUser', login);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Проверка авторизации на любой другой странице: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function </a:t>
            </a:r>
            <a:r>
              <a:rPr sz="850">
                <a:solidFill>
                  <a:srgbClr val="61AFEF"/>
                </a:solidFill>
                <a:latin typeface="Consolas"/>
              </a:rPr>
              <a:t>checkAuth</a:t>
            </a:r>
            <a:r>
              <a:rPr sz="850">
                <a:solidFill>
                  <a:srgbClr val="D4D4D8"/>
                </a:solidFill>
                <a:latin typeface="Consolas"/>
              </a:rPr>
              <a:t>()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user = localStorage.</a:t>
            </a:r>
            <a:r>
              <a:rPr sz="850">
                <a:solidFill>
                  <a:srgbClr val="61AFEF"/>
                </a:solidFill>
                <a:latin typeface="Consolas"/>
              </a:rPr>
              <a:t>getItem</a:t>
            </a:r>
            <a:r>
              <a:rPr sz="850">
                <a:solidFill>
                  <a:srgbClr val="98C379"/>
                </a:solidFill>
                <a:latin typeface="Consolas"/>
              </a:rPr>
              <a:t>('currentUser');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(user)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  console.</a:t>
            </a:r>
            <a:r>
              <a:rPr sz="850">
                <a:solidFill>
                  <a:srgbClr val="61AFEF"/>
                </a:solidFill>
                <a:latin typeface="Consolas"/>
              </a:rPr>
              <a:t>log</a:t>
            </a:r>
            <a:r>
              <a:rPr sz="850">
                <a:solidFill>
                  <a:srgbClr val="98C379"/>
                </a:solidFill>
                <a:latin typeface="Consolas"/>
              </a:rPr>
              <a:t>('В системе пользователь:', user);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 </a:t>
            </a:r>
            <a:r>
              <a:rPr sz="850">
                <a:solidFill>
                  <a:srgbClr val="C678DD"/>
                </a:solidFill>
                <a:latin typeface="Consolas"/>
              </a:rPr>
              <a:t>else </a:t>
            </a:r>
            <a:r>
              <a:rPr sz="850">
                <a:solidFill>
                  <a:srgbClr val="D4D4D8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61AFEF"/>
                </a:solidFill>
                <a:latin typeface="Consolas"/>
              </a:rPr>
              <a:t>    console.</a:t>
            </a:r>
            <a:r>
              <a:rPr sz="850">
                <a:solidFill>
                  <a:srgbClr val="61AFEF"/>
                </a:solidFill>
                <a:latin typeface="Consolas"/>
              </a:rPr>
              <a:t>log</a:t>
            </a:r>
            <a:r>
              <a:rPr sz="850">
                <a:solidFill>
                  <a:srgbClr val="98C379"/>
                </a:solidFill>
                <a:latin typeface="Consolas"/>
              </a:rPr>
              <a:t>('Гостевой режим (не авторизован)');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ХРАНЕНИЕ СОСТОЯНИЯ: LOCALSTORAGE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Связь между страницами:
</a:t>
            </a:r>
            <a:r>
              <a:rPr sz="850" b="0">
                <a:solidFill>
                  <a:srgbClr val="555555"/>
                </a:solidFill>
                <a:latin typeface="Inter"/>
              </a:rPr>
              <a:t>Хранилище localStorage сохраняет ключ currentUser даже после закрытия вкладки и перехода по ссылкам.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Реакция навигационной шапки:
</a:t>
            </a:r>
            <a:r>
              <a:rPr sz="850" b="0">
                <a:solidFill>
                  <a:srgbClr val="555555"/>
                </a:solidFill>
                <a:latin typeface="Inter"/>
              </a:rPr>
              <a:t>Функция updateAuthNav() считывает этот ключ, показывая вкладку «Мои бронирования» и кнопку «Выйти».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Простой строковый формат:
</a:t>
            </a:r>
            <a:r>
              <a:rPr sz="850" b="0">
                <a:solidFill>
                  <a:srgbClr val="555555"/>
                </a:solidFill>
                <a:latin typeface="Inter"/>
              </a:rPr>
              <a:t>Для авторизации достаточно сохранить имя пользователя; пароли в открытом виде в localStorage никогда не хранят.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Очистка при выходе (Logout):
</a:t>
            </a:r>
            <a:r>
              <a:rPr sz="850" b="0">
                <a:solidFill>
                  <a:srgbClr val="555555"/>
                </a:solidFill>
                <a:latin typeface="Inter"/>
              </a:rPr>
              <a:t>По нажатию на кнопку «Выйти» команда localStorage.removeItem('currentUser') сбрасывает сессию.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ЖИВАЯ РЕАКЦИЯ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убрать красную рамку сразу же, когда пользователь начал печатать?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(Событие 'input')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Снятие ошибки сразу при начале исправления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fields.</a:t>
            </a:r>
            <a:r>
              <a:rPr sz="850">
                <a:solidFill>
                  <a:srgbClr val="61AFEF"/>
                </a:solidFill>
                <a:latin typeface="Consolas"/>
              </a:rPr>
              <a:t>forEach</a:t>
            </a:r>
            <a:r>
              <a:rPr sz="850">
                <a:solidFill>
                  <a:srgbClr val="D4D4D8"/>
                </a:solidFill>
                <a:latin typeface="Consolas"/>
              </a:rPr>
              <a:t>(id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input = document.</a:t>
            </a:r>
            <a:r>
              <a:rPr sz="850">
                <a:solidFill>
                  <a:srgbClr val="61AFEF"/>
                </a:solidFill>
                <a:latin typeface="Consolas"/>
              </a:rPr>
              <a:t>getElementById</a:t>
            </a:r>
            <a:r>
              <a:rPr sz="850">
                <a:solidFill>
                  <a:srgbClr val="98C379"/>
                </a:solidFill>
                <a:latin typeface="Consolas"/>
              </a:rPr>
              <a:t>(id);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if </a:t>
            </a:r>
            <a:r>
              <a:rPr sz="850">
                <a:solidFill>
                  <a:srgbClr val="D4D4D8"/>
                </a:solidFill>
                <a:latin typeface="Consolas"/>
              </a:rPr>
              <a:t>(!input) return;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Слушаем каждое нажатие клавиши в поле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input.</a:t>
            </a:r>
            <a:r>
              <a:rPr sz="850">
                <a:solidFill>
                  <a:srgbClr val="61AFEF"/>
                </a:solidFill>
                <a:latin typeface="Consolas"/>
              </a:rPr>
              <a:t>addEventListener</a:t>
            </a:r>
            <a:r>
              <a:rPr sz="850">
                <a:solidFill>
                  <a:srgbClr val="98C379"/>
                </a:solidFill>
                <a:latin typeface="Consolas"/>
              </a:rPr>
              <a:t>('input', ()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  if </a:t>
            </a:r>
            <a:r>
              <a:rPr sz="850">
                <a:solidFill>
                  <a:srgbClr val="D4D4D8"/>
                </a:solidFill>
                <a:latin typeface="Consolas"/>
              </a:rPr>
              <a:t>(input.classList.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contains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  input.classList.</a:t>
            </a:r>
            <a:r>
              <a:rPr sz="850">
                <a:solidFill>
                  <a:srgbClr val="61AFEF"/>
                </a:solidFill>
                <a:latin typeface="Consolas"/>
              </a:rPr>
              <a:t>remove</a:t>
            </a:r>
            <a:r>
              <a:rPr sz="850">
                <a:solidFill>
                  <a:srgbClr val="98C379"/>
                </a:solidFill>
                <a:latin typeface="Consolas"/>
              </a:rPr>
              <a:t>('is-invalid');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});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});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МГНОВЕННЫЙ ОТКЛИК: СОБЫТИЕ INPUT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Разница между change и input:
</a:t>
            </a:r>
            <a:r>
              <a:rPr sz="850" b="0">
                <a:solidFill>
                  <a:srgbClr val="555555"/>
                </a:solidFill>
                <a:latin typeface="Inter"/>
              </a:rPr>
              <a:t>Событие change ждет потери фокуса, а событие input срабатывает мгновенно при каждом нажатии клавиши.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Снятие психологического барьера: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Пользователь видит, что интерфейс реагирует на исправление, и красная рамка не висит понапрасну.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Проверка методом .contains():
</a:t>
            </a:r>
            <a:r>
              <a:rPr sz="850" b="0">
                <a:solidFill>
                  <a:srgbClr val="555555"/>
                </a:solidFill>
                <a:latin typeface="Inter"/>
              </a:rPr>
              <a:t>Снятие класса выполняется только если класс действительно был добавлен, экономя вызовы браузера.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Современный стандарт UX:
</a:t>
            </a:r>
            <a:r>
              <a:rPr sz="850" b="0">
                <a:solidFill>
                  <a:srgbClr val="555555"/>
                </a:solidFill>
                <a:latin typeface="Inter"/>
              </a:rPr>
              <a:t>Подход «ошибка при отправке, очистка при вводе» признан лучшей практикой в мировом веб-дизайне.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УВЕДОМЛЕНИЯ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плавно показать сообщение об успехе перед переходом на другую страницу?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js/main.js (Toast и задержка)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// Комбинация уведомления и отложенного перехода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if </a:t>
            </a:r>
            <a:r>
              <a:rPr sz="850">
                <a:solidFill>
                  <a:srgbClr val="D4D4D8"/>
                </a:solidFill>
                <a:latin typeface="Consolas"/>
              </a:rPr>
              <a:t>(isValid)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1. Показываем зеленое всплывающее окно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98C379"/>
                </a:solidFill>
                <a:latin typeface="Consolas"/>
              </a:rPr>
              <a:t>  showNotification('Регистрация прошла успешно!', 'success');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2. Блокируем кнопку, чтобы не было повторных кликов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const </a:t>
            </a:r>
            <a:r>
              <a:rPr sz="850">
                <a:solidFill>
                  <a:srgbClr val="D4D4D8"/>
                </a:solidFill>
                <a:latin typeface="Consolas"/>
              </a:rPr>
              <a:t>btn = form.querySelector('button[type="submit"]');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if (btn) btn.disabled = true;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  // 3. Через 1 секунду направляем на форму входа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setTimeout(() =&gt; {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    window.location.href = 'login.html';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19A66"/>
                </a:solidFill>
                <a:latin typeface="Consolas"/>
              </a:rPr>
              <a:t>  }, 1000);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D4D4D8"/>
                </a:solidFill>
                <a:latin typeface="Consolas"/>
              </a:rPr>
              <a:t>}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ПОДТВЕРЖДЕНИЕ УСПЕХА И ПЕРЕНАПРАВЛЕНИЕ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Визуальное подтверждение действия:
</a:t>
            </a:r>
            <a:r>
              <a:rPr sz="850" b="0">
                <a:solidFill>
                  <a:srgbClr val="555555"/>
                </a:solidFill>
                <a:latin typeface="Inter"/>
              </a:rPr>
              <a:t>Зеленый Toast информирует студента об успешном создании профиля, создавая чувство завершенности.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Блокировка кнопки (btn.disabled):
</a:t>
            </a:r>
            <a:r>
              <a:rPr sz="850" b="0">
                <a:solidFill>
                  <a:srgbClr val="555555"/>
                </a:solidFill>
                <a:latin typeface="Inter"/>
              </a:rPr>
              <a:t>Защищает сервер и локальное хранилище от повторных отправок при нервных множественных кликах.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Задержка через setTimeout():
</a:t>
            </a:r>
            <a:r>
              <a:rPr sz="850" b="0">
                <a:solidFill>
                  <a:srgbClr val="555555"/>
                </a:solidFill>
                <a:latin typeface="Inter"/>
              </a:rPr>
              <a:t>Пауза в 1000–1200 миллисекунд позволяет прочитать текст сообщения до смены страницы.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Естественный переход по воронке:
</a:t>
            </a:r>
            <a:r>
              <a:rPr sz="850" b="0">
                <a:solidFill>
                  <a:srgbClr val="555555"/>
                </a:solidFill>
                <a:latin typeface="Inter"/>
              </a:rPr>
              <a:t>Пользователь логично попадает на страницу входа, где может сразу протестировать новый логин.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802120" y="259079"/>
            <a:ext cx="208788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ДОСТУПНОСТЬ И HTML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Какие атрибуты тегов &lt;input&gt; и &lt;label&gt; делают форму профессиональной?</a:t>
            </a:r>
          </a:p>
        </p:txBody>
      </p:sp>
      <p:sp>
        <p:nvSpPr>
          <p:cNvPr id="5" name="Rounded Rectangle 3"/>
          <p:cNvSpPr/>
          <p:nvPr/>
        </p:nvSpPr>
        <p:spPr>
          <a:xfrm>
            <a:off x="304800" y="711200"/>
            <a:ext cx="4127500" cy="3759200"/>
          </a:xfrm>
          <a:prstGeom prst="roundRect">
            <a:avLst>
              <a:gd name="adj" fmla="val 4000"/>
            </a:avLst>
          </a:prstGeom>
          <a:solidFill>
            <a:srgbClr val="181A1F"/>
          </a:solidFill>
          <a:ln w="12700">
            <a:solidFill>
              <a:srgbClr val="2D313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4"/>
          <p:cNvSpPr txBox="1"/>
          <p:nvPr/>
        </p:nvSpPr>
        <p:spPr>
          <a:xfrm>
            <a:off x="482600" y="838200"/>
            <a:ext cx="37719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50" b="1">
                <a:solidFill>
                  <a:srgbClr val="61AFEF"/>
                </a:solidFill>
                <a:latin typeface="Consolas"/>
              </a:rPr>
              <a:t>📄 pages/login.html (Атрибуты доступности)</a:t>
            </a:r>
          </a:p>
        </p:txBody>
      </p:sp>
      <p:sp>
        <p:nvSpPr>
          <p:cNvPr id="7" name="Rectangle 5"/>
          <p:cNvSpPr/>
          <p:nvPr/>
        </p:nvSpPr>
        <p:spPr>
          <a:xfrm>
            <a:off x="482600" y="10922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6"/>
          <p:cNvSpPr txBox="1"/>
          <p:nvPr/>
        </p:nvSpPr>
        <p:spPr>
          <a:xfrm>
            <a:off x="482600" y="1168400"/>
            <a:ext cx="37719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C6370"/>
                </a:solidFill>
                <a:latin typeface="Consolas"/>
              </a:rPr>
              <a:t>&lt;!-- Правильная семантическая связка --&gt;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&lt;div class="form-group"&gt;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&lt;label for="userLogin"&gt;Логин&lt;/label&gt;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&lt;input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  type="text"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  id="userLogin"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  name="login"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  autocomplete="username"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  placeholder="admin"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C678DD"/>
                </a:solidFill>
                <a:latin typeface="Consolas"/>
              </a:rPr>
              <a:t>    required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  class="form-control"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  &gt;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E06C75"/>
                </a:solidFill>
                <a:latin typeface="Consolas"/>
              </a:rPr>
              <a:t>&lt;/div&gt;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4635500" y="838200"/>
            <a:ext cx="4191000" cy="279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E6002"/>
                </a:solidFill>
                <a:latin typeface="Montserrat"/>
              </a:rPr>
              <a:t>ПРОФЕССИОНАЛЬНАЯ ВЕРСТКА ПОЛЕЙ ВВОДА</a:t>
            </a:r>
          </a:p>
        </p:txBody>
      </p:sp>
      <p:sp>
        <p:nvSpPr>
          <p:cNvPr id="10" name="Rectangle 8"/>
          <p:cNvSpPr/>
          <p:nvPr/>
        </p:nvSpPr>
        <p:spPr>
          <a:xfrm>
            <a:off x="4635500" y="1155700"/>
            <a:ext cx="4191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Dot 0"/>
          <p:cNvSpPr/>
          <p:nvPr/>
        </p:nvSpPr>
        <p:spPr>
          <a:xfrm>
            <a:off x="4635500" y="13081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Bullet 0"/>
          <p:cNvSpPr txBox="1"/>
          <p:nvPr/>
        </p:nvSpPr>
        <p:spPr>
          <a:xfrm>
            <a:off x="4813300" y="12700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Связка label for и input id:
</a:t>
            </a:r>
            <a:r>
              <a:rPr sz="850" b="0">
                <a:solidFill>
                  <a:srgbClr val="555555"/>
                </a:solidFill>
                <a:latin typeface="Inter"/>
              </a:rPr>
              <a:t>Клик по текстовой подписи &lt;label&gt; автоматически фокусирует курсор в соответствующем поле ввода.</a:t>
            </a:r>
          </a:p>
        </p:txBody>
      </p:sp>
      <p:sp>
        <p:nvSpPr>
          <p:cNvPr id="13" name="Rounded Rectangle Dot 1"/>
          <p:cNvSpPr/>
          <p:nvPr/>
        </p:nvSpPr>
        <p:spPr>
          <a:xfrm>
            <a:off x="4635500" y="18923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Bullet 1"/>
          <p:cNvSpPr txBox="1"/>
          <p:nvPr/>
        </p:nvSpPr>
        <p:spPr>
          <a:xfrm>
            <a:off x="4813300" y="18542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Атрибут autocomplete:
</a:t>
            </a:r>
            <a:r>
              <a:rPr sz="850" b="0">
                <a:solidFill>
                  <a:srgbClr val="555555"/>
                </a:solidFill>
                <a:latin typeface="Inter"/>
              </a:rPr>
              <a:t>Значения 'username' и 'current-password' позволяют браузеру и менеджерам паролей безопасно подставлять данные.</a:t>
            </a:r>
          </a:p>
        </p:txBody>
      </p:sp>
      <p:sp>
        <p:nvSpPr>
          <p:cNvPr id="15" name="Rounded Rectangle Dot 2"/>
          <p:cNvSpPr/>
          <p:nvPr/>
        </p:nvSpPr>
        <p:spPr>
          <a:xfrm>
            <a:off x="4635500" y="24765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Bullet 2"/>
          <p:cNvSpPr txBox="1"/>
          <p:nvPr/>
        </p:nvSpPr>
        <p:spPr>
          <a:xfrm>
            <a:off x="4813300" y="24384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Атрибуты type="email" и type="password":
</a:t>
            </a:r>
            <a:r>
              <a:rPr sz="850" b="0">
                <a:solidFill>
                  <a:srgbClr val="555555"/>
                </a:solidFill>
                <a:latin typeface="Inter"/>
              </a:rPr>
              <a:t>На смартфонах активируют специализированные клавиатуры (с символом @ или скрытыми точками ввода).</a:t>
            </a:r>
          </a:p>
        </p:txBody>
      </p:sp>
      <p:sp>
        <p:nvSpPr>
          <p:cNvPr id="17" name="Rounded Rectangle Dot 3"/>
          <p:cNvSpPr/>
          <p:nvPr/>
        </p:nvSpPr>
        <p:spPr>
          <a:xfrm>
            <a:off x="4635500" y="3060700"/>
            <a:ext cx="88900" cy="88900"/>
          </a:xfrm>
          <a:prstGeom prst="roundRect">
            <a:avLst>
              <a:gd name="adj" fmla="val 20000"/>
            </a:avLst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Bullet 3"/>
          <p:cNvSpPr txBox="1"/>
          <p:nvPr/>
        </p:nvSpPr>
        <p:spPr>
          <a:xfrm>
            <a:off x="4813300" y="3022600"/>
            <a:ext cx="4013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50" b="1">
                <a:solidFill>
                  <a:srgbClr val="181A1F"/>
                </a:solidFill>
                <a:latin typeface="Montserrat"/>
              </a:rPr>
              <a:t>Атрибут required как базовый барьер:
</a:t>
            </a:r>
            <a:r>
              <a:rPr sz="850" b="0">
                <a:solidFill>
                  <a:srgbClr val="555555"/>
                </a:solidFill>
                <a:latin typeface="Inter"/>
              </a:rPr>
              <a:t>Встроенная браузерная валидация служит дополнительной подстраховкой для клиентского JavaScript.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7112000" y="259079"/>
            <a:ext cx="177800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РАЗБОР ОШИБОК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На чем чаще всего спотыкаются студенты при написании валидации?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711200"/>
            <a:ext cx="4127500" cy="180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2600" y="8382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E6002"/>
                </a:solidFill>
                <a:latin typeface="Montserrat"/>
              </a:rPr>
              <a:t>1. Забытый вызов event.preventDefault()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600" y="11176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600" y="11938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81A1F"/>
                </a:solidFill>
                <a:latin typeface="Inter"/>
              </a:rPr>
              <a:t>Ошибка: </a:t>
            </a:r>
            <a:r>
              <a:rPr sz="800">
                <a:solidFill>
                  <a:srgbClr val="555555"/>
                </a:solidFill>
                <a:latin typeface="Inter"/>
              </a:rPr>
              <a:t>При клике на кнопку форма моментально перезагружает страницу, стирая всё, что студент написал в полях.</a:t>
            </a:r>
          </a:p>
          <a:p>
            <a:r>
              <a:rPr sz="850" b="1">
                <a:solidFill>
                  <a:srgbClr val="0E9F6E"/>
                </a:solidFill>
                <a:latin typeface="Inter"/>
              </a:rPr>
              <a:t>Решение: </a:t>
            </a:r>
            <a:r>
              <a:rPr sz="800">
                <a:solidFill>
                  <a:srgbClr val="555555"/>
                </a:solidFill>
                <a:latin typeface="Inter"/>
              </a:rPr>
              <a:t>Всегда принимать объект события (e) в слушателе submit и первой строчкой вызывать e.preventDefault().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5500" y="711200"/>
            <a:ext cx="4191000" cy="180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13300" y="8382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E6002"/>
                </a:solidFill>
                <a:latin typeface="Montserrat"/>
              </a:rPr>
              <a:t>2. Проверка значения без метода .trim()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3300" y="1117600"/>
            <a:ext cx="38354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13300" y="11938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81A1F"/>
                </a:solidFill>
                <a:latin typeface="Inter"/>
              </a:rPr>
              <a:t>Ошибка: </a:t>
            </a:r>
            <a:r>
              <a:rPr sz="800">
                <a:solidFill>
                  <a:srgbClr val="555555"/>
                </a:solidFill>
                <a:latin typeface="Inter"/>
              </a:rPr>
              <a:t>Если в поле ввести одни пробелы, обычная проверка if (input.value) посчитает поле корректно заполненным.</a:t>
            </a:r>
          </a:p>
          <a:p>
            <a:r>
              <a:rPr sz="850" b="1">
                <a:solidFill>
                  <a:srgbClr val="0E9F6E"/>
                </a:solidFill>
                <a:latin typeface="Inter"/>
              </a:rPr>
              <a:t>Решение: </a:t>
            </a:r>
            <a:r>
              <a:rPr sz="800">
                <a:solidFill>
                  <a:srgbClr val="555555"/>
                </a:solidFill>
                <a:latin typeface="Inter"/>
              </a:rPr>
              <a:t>Всегда проверять очищенную строку: if (!input.value.trim()) с добавлением класса ошибки .is-invalid.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00" y="2667000"/>
            <a:ext cx="4127500" cy="180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600" y="2794000"/>
            <a:ext cx="37719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E6002"/>
                </a:solidFill>
                <a:latin typeface="Montserrat"/>
              </a:rPr>
              <a:t>3. Слушатель 'click' на кнопке вместо 'submit' на форме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2600" y="3073400"/>
            <a:ext cx="37719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600" y="3149600"/>
            <a:ext cx="37719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81A1F"/>
                </a:solidFill>
                <a:latin typeface="Inter"/>
              </a:rPr>
              <a:t>Ошибка: </a:t>
            </a:r>
            <a:r>
              <a:rPr sz="800">
                <a:solidFill>
                  <a:srgbClr val="555555"/>
                </a:solidFill>
                <a:latin typeface="Inter"/>
              </a:rPr>
              <a:t>Если пользователь отправляет форму клавишей Enter, валидация не запускается и страница ломается.</a:t>
            </a:r>
          </a:p>
          <a:p>
            <a:r>
              <a:rPr sz="850" b="1">
                <a:solidFill>
                  <a:srgbClr val="0E9F6E"/>
                </a:solidFill>
                <a:latin typeface="Inter"/>
              </a:rPr>
              <a:t>Решение: </a:t>
            </a:r>
            <a:r>
              <a:rPr sz="800">
                <a:solidFill>
                  <a:srgbClr val="555555"/>
                </a:solidFill>
                <a:latin typeface="Inter"/>
              </a:rPr>
              <a:t>Всегда вешать слушатель события 'submit' на сам тег &lt;form&gt;, перехватывая все способы отправки.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35500" y="2667000"/>
            <a:ext cx="4191000" cy="180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EE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3300" y="2794000"/>
            <a:ext cx="38354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FE6002"/>
                </a:solidFill>
                <a:latin typeface="Montserrat"/>
              </a:rPr>
              <a:t>4. Отсутствие снятия класса .is-invalid при вводе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3300" y="3073400"/>
            <a:ext cx="38354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3300" y="3149600"/>
            <a:ext cx="3835400" cy="1193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850" b="1">
                <a:solidFill>
                  <a:srgbClr val="181A1F"/>
                </a:solidFill>
                <a:latin typeface="Inter"/>
              </a:rPr>
              <a:t>Ошибка: </a:t>
            </a:r>
            <a:r>
              <a:rPr sz="800">
                <a:solidFill>
                  <a:srgbClr val="555555"/>
                </a:solidFill>
                <a:latin typeface="Inter"/>
              </a:rPr>
              <a:t>Студент подсветил ошибку красным, но забыл снять класс, и поле остается красным даже после исправления.</a:t>
            </a:r>
          </a:p>
          <a:p>
            <a:r>
              <a:rPr sz="850" b="1">
                <a:solidFill>
                  <a:srgbClr val="0E9F6E"/>
                </a:solidFill>
                <a:latin typeface="Inter"/>
              </a:rPr>
              <a:t>Решение: </a:t>
            </a:r>
            <a:r>
              <a:rPr sz="800">
                <a:solidFill>
                  <a:srgbClr val="555555"/>
                </a:solidFill>
                <a:latin typeface="Inter"/>
              </a:rPr>
              <a:t>Добавлять слушатель 'input' на каждое поле, вызывая input.classList.remove('is-invalid') при печати.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Google Shape;69;p14"/>
          <p:cNvSpPr/>
          <p:nvPr/>
        </p:nvSpPr>
        <p:spPr>
          <a:xfrm>
            <a:off x="6901180" y="259079"/>
            <a:ext cx="1988820" cy="287020"/>
          </a:xfrm>
          <a:prstGeom prst="roundRect">
            <a:avLst>
              <a:gd name="adj" fmla="val 50000"/>
            </a:avLst>
          </a:prstGeom>
          <a:solidFill>
            <a:srgbClr val="FE6002"/>
          </a:solidFill>
          <a:ln w="12700">
            <a:solidFill>
              <a:srgbClr val="EEEEEE"/>
            </a:solidFill>
          </a:ln>
        </p:spPr>
        <p:txBody>
          <a:bodyPr rtlCol="0" anchor="ctr" wrap="none" lIns="0" tIns="0" rIns="0" bIns="0"/>
          <a:lstStyle/>
          <a:p>
            <a:pPr algn="ctr"/>
            <a:r>
              <a:rPr sz="1200" b="0">
                <a:solidFill>
                  <a:srgbClr val="FFFFFF"/>
                </a:solidFill>
                <a:latin typeface="Inter"/>
              </a:rPr>
              <a:t>ЧЕК-ЛИСТ КАЧЕСТВА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306070" y="4674870"/>
            <a:ext cx="8255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A6A1A1"/>
                </a:solidFill>
                <a:latin typeface="Montserrat"/>
              </a:rPr>
              <a:t>Как убедиться, что валидация форм авторизации работает на 100% надежно?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711200"/>
            <a:ext cx="8509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E6002"/>
                </a:solidFill>
                <a:latin typeface="Montserrat"/>
              </a:rPr>
              <a:t>КРИТЕРИИ КАЧЕСТВА ВАЛИДАЦИИ ИНТЕРФЕЙСОВ АВТОРИЗАЦИИ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1016000"/>
            <a:ext cx="8509000" cy="12700"/>
          </a:xfrm>
          <a:prstGeom prst="rect">
            <a:avLst/>
          </a:prstGeom>
          <a:solidFill>
            <a:srgbClr val="FE600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4800" y="11938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" y="11684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Отправка формы перехвачена через e.preventDefault():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При клике на кнопку или нажатии Enter страница не перезагружается, сохраняя введенный текст.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" y="17526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600" y="17272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Все пустые обязательные поля подсвечиваются красным: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Метод .trim() выявляет пробелы, добавляя класс .is-invalid и активируя красную границу.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4800" y="23114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22860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Несовпадающие пароли вызывают ошибку подтверждения: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Поле confirmPassword помечается ошибкой, если пароли расходятся хотя бы на один символ.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00" y="28702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28448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Красная подсветка исчезает сразу в процессе ввода: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Слушатель события input автоматически снимает класс .is-invalid, улучшая восприятие формы.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4800" y="34290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600" y="34036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Вход с данными admin / 12345 перенаправляет в систему: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Успешная авторизация сохраняет currentUser в localStorage и переводит пользователя на главную.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4800" y="3987800"/>
            <a:ext cx="304800" cy="304800"/>
          </a:xfrm>
          <a:prstGeom prst="roundRect">
            <a:avLst>
              <a:gd name="adj" fmla="val 20000"/>
            </a:avLst>
          </a:prstGeom>
          <a:solidFill>
            <a:srgbClr val="0E9F6E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Segoe U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00" y="3962400"/>
            <a:ext cx="8077200" cy="50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181A1F"/>
                </a:solidFill>
                <a:latin typeface="Montserrat"/>
              </a:rPr>
              <a:t>Неверные данные выводят понятный алерт над формой: </a:t>
            </a:r>
          </a:p>
          <a:p>
            <a:r>
              <a:rPr sz="850">
                <a:solidFill>
                  <a:srgbClr val="555555"/>
                </a:solidFill>
                <a:latin typeface="Inter"/>
              </a:rPr>
              <a:t>Блок loginAlert корректно отображает текст 'Неверный логин или пароль' без раскрытия деталей.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Другая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B0F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Другая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B0F0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5609</Words>
  <Application>Microsoft Office PowerPoint</Application>
  <PresentationFormat>Экран (16:9)</PresentationFormat>
  <Paragraphs>688</Paragraphs>
  <Slides>27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9" baseType="lpstr">
      <vt:lpstr>Segoe UI Symbol</vt:lpstr>
      <vt:lpstr>Proxima Nova</vt:lpstr>
      <vt:lpstr>Calibri</vt:lpstr>
      <vt:lpstr>Montserrat ExtraBold</vt:lpstr>
      <vt:lpstr>Montserrat</vt:lpstr>
      <vt:lpstr>PT Sans Caption</vt:lpstr>
      <vt:lpstr>Inter</vt:lpstr>
      <vt:lpstr>Arial</vt:lpstr>
      <vt:lpstr>Consolas</vt:lpstr>
      <vt:lpstr>Montserrat SemiBold</vt:lpstr>
      <vt:lpstr>Inter Medium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mrsky1001</dc:creator>
  <cp:lastModifiedBy>Keith Allison</cp:lastModifiedBy>
  <cp:revision>259</cp:revision>
  <dcterms:modified xsi:type="dcterms:W3CDTF">2026-09-06T08:47:48Z</dcterms:modified>
</cp:coreProperties>
</file>